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43040229b84a6f" /><Relationship Type="http://schemas.openxmlformats.org/officeDocument/2006/relationships/extended-properties" Target="/docProps/app.xml" Id="R6967dc9339cc4a7e" /><Relationship Type="http://schemas.openxmlformats.org/officeDocument/2006/relationships/officeDocument" Target="/ppt/presentation.xml" Id="R7c411d3cb13142a6" /></Relationships>
</file>

<file path=ppt/presentation.xml><?xml version="1.0" encoding="utf-8"?>
<p:presentation xmlns:p="http://schemas.openxmlformats.org/presentationml/2006/main">
  <p:sldMasterIdLst>
    <p:sldMasterId xmlns:r="http://schemas.openxmlformats.org/officeDocument/2006/relationships" id="2147483648" r:id="R35b5bb5cfa7e4a7e"/>
  </p:sldMasterIdLst>
  <p:notesMasterIdLst>
    <p:notesMasterId xmlns:r="http://schemas.openxmlformats.org/officeDocument/2006/relationships" r:id="R9e7add333af440ae"/>
  </p:notesMasterIdLst>
  <p:sldIdLst>
    <p:sldId xmlns:r="http://schemas.openxmlformats.org/officeDocument/2006/relationships" id="256" r:id="Re0541dfafb83409a"/>
    <p:sldId xmlns:r="http://schemas.openxmlformats.org/officeDocument/2006/relationships" id="257" r:id="R1d5c5239a31745b3"/>
    <p:sldId xmlns:r="http://schemas.openxmlformats.org/officeDocument/2006/relationships" id="258" r:id="Rb9c790d2b96047a7"/>
    <p:sldId xmlns:r="http://schemas.openxmlformats.org/officeDocument/2006/relationships" id="259" r:id="R087f5f2675a044e5"/>
    <p:sldId xmlns:r="http://schemas.openxmlformats.org/officeDocument/2006/relationships" id="260" r:id="R0f7a2730ca094990"/>
    <p:sldId xmlns:r="http://schemas.openxmlformats.org/officeDocument/2006/relationships" id="261" r:id="R946af777cb384365"/>
    <p:sldId xmlns:r="http://schemas.openxmlformats.org/officeDocument/2006/relationships" id="262" r:id="Rde6a5a98626d47bb"/>
    <p:sldId xmlns:r="http://schemas.openxmlformats.org/officeDocument/2006/relationships" id="263" r:id="Rb4daf5a15e5a4f98"/>
    <p:sldId xmlns:r="http://schemas.openxmlformats.org/officeDocument/2006/relationships" id="264" r:id="Re5539855749d4c57"/>
    <p:sldId xmlns:r="http://schemas.openxmlformats.org/officeDocument/2006/relationships" id="265" r:id="R26a2fe7df6c5473a"/>
    <p:sldId xmlns:r="http://schemas.openxmlformats.org/officeDocument/2006/relationships" id="266" r:id="R273b51f8c433486f"/>
    <p:sldId xmlns:r="http://schemas.openxmlformats.org/officeDocument/2006/relationships" id="267" r:id="R1ca6dfd4842148bc"/>
    <p:sldId xmlns:r="http://schemas.openxmlformats.org/officeDocument/2006/relationships" id="268" r:id="R352de47944454592"/>
    <p:sldId xmlns:r="http://schemas.openxmlformats.org/officeDocument/2006/relationships" id="269" r:id="Rf297b73d0c764fab"/>
    <p:sldId xmlns:r="http://schemas.openxmlformats.org/officeDocument/2006/relationships" id="270" r:id="R5e372ad035a848c3"/>
    <p:sldId xmlns:r="http://schemas.openxmlformats.org/officeDocument/2006/relationships" id="271" r:id="Rcbd6d0a3ad7f4578"/>
    <p:sldId xmlns:r="http://schemas.openxmlformats.org/officeDocument/2006/relationships" id="272" r:id="Rfbf54c03283141f4"/>
    <p:sldId xmlns:r="http://schemas.openxmlformats.org/officeDocument/2006/relationships" id="273" r:id="R099ee172fe644e71"/>
    <p:sldId xmlns:r="http://schemas.openxmlformats.org/officeDocument/2006/relationships" id="274" r:id="R1a2b9541226342ca"/>
    <p:sldId xmlns:r="http://schemas.openxmlformats.org/officeDocument/2006/relationships" id="275" r:id="R775d65936f0b4242"/>
    <p:sldId xmlns:r="http://schemas.openxmlformats.org/officeDocument/2006/relationships" id="276" r:id="Rcb70b003a7844909"/>
    <p:sldId xmlns:r="http://schemas.openxmlformats.org/officeDocument/2006/relationships" id="277" r:id="Rf1db7350358647bd"/>
    <p:sldId xmlns:r="http://schemas.openxmlformats.org/officeDocument/2006/relationships" id="278" r:id="R30693bc1af7b45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867c943f32e47ba" /><Relationship Type="http://schemas.openxmlformats.org/officeDocument/2006/relationships/slideMaster" Target="/ppt/slideMasters/slideMaster1.xml" Id="R35b5bb5cfa7e4a7e" /><Relationship Type="http://schemas.openxmlformats.org/officeDocument/2006/relationships/notesMaster" Target="/ppt/notesMasters/notesMaster1.xml" Id="R9e7add333af440ae" /><Relationship Type="http://schemas.openxmlformats.org/officeDocument/2006/relationships/presProps" Target="/ppt/presProps.xml" Id="Rf6e56c80466f4ac2" /><Relationship Type="http://schemas.openxmlformats.org/officeDocument/2006/relationships/viewProps" Target="/ppt/viewProps.xml" Id="Rec5c4637628d4e20" /><Relationship Type="http://schemas.openxmlformats.org/officeDocument/2006/relationships/tableStyles" Target="/ppt/tableStyles.xml" Id="R7df689b89bbe4a35" /><Relationship Type="http://schemas.openxmlformats.org/officeDocument/2006/relationships/slide" Target="/ppt/slides/slide1.xml" Id="Re0541dfafb83409a" /><Relationship Type="http://schemas.openxmlformats.org/officeDocument/2006/relationships/slide" Target="/ppt/slides/slide2.xml" Id="R1d5c5239a31745b3" /><Relationship Type="http://schemas.openxmlformats.org/officeDocument/2006/relationships/slide" Target="/ppt/slides/slide3.xml" Id="Rb9c790d2b96047a7" /><Relationship Type="http://schemas.openxmlformats.org/officeDocument/2006/relationships/slide" Target="/ppt/slides/slide4.xml" Id="R087f5f2675a044e5" /><Relationship Type="http://schemas.openxmlformats.org/officeDocument/2006/relationships/slide" Target="/ppt/slides/slide5.xml" Id="R0f7a2730ca094990" /><Relationship Type="http://schemas.openxmlformats.org/officeDocument/2006/relationships/slide" Target="/ppt/slides/slide6.xml" Id="R946af777cb384365" /><Relationship Type="http://schemas.openxmlformats.org/officeDocument/2006/relationships/slide" Target="/ppt/slides/slide7.xml" Id="Rde6a5a98626d47bb" /><Relationship Type="http://schemas.openxmlformats.org/officeDocument/2006/relationships/slide" Target="/ppt/slides/slide8.xml" Id="Rb4daf5a15e5a4f98" /><Relationship Type="http://schemas.openxmlformats.org/officeDocument/2006/relationships/slide" Target="/ppt/slides/slide9.xml" Id="Re5539855749d4c57" /><Relationship Type="http://schemas.openxmlformats.org/officeDocument/2006/relationships/slide" Target="/ppt/slides/slide10.xml" Id="R26a2fe7df6c5473a" /><Relationship Type="http://schemas.openxmlformats.org/officeDocument/2006/relationships/slide" Target="/ppt/slides/slide11.xml" Id="R273b51f8c433486f" /><Relationship Type="http://schemas.openxmlformats.org/officeDocument/2006/relationships/slide" Target="/ppt/slides/slide12.xml" Id="R1ca6dfd4842148bc" /><Relationship Type="http://schemas.openxmlformats.org/officeDocument/2006/relationships/slide" Target="/ppt/slides/slide13.xml" Id="R352de47944454592" /><Relationship Type="http://schemas.openxmlformats.org/officeDocument/2006/relationships/slide" Target="/ppt/slides/slide14.xml" Id="Rf297b73d0c764fab" /><Relationship Type="http://schemas.openxmlformats.org/officeDocument/2006/relationships/slide" Target="/ppt/slides/slide15.xml" Id="R5e372ad035a848c3" /><Relationship Type="http://schemas.openxmlformats.org/officeDocument/2006/relationships/slide" Target="/ppt/slides/slide16.xml" Id="Rcbd6d0a3ad7f4578" /><Relationship Type="http://schemas.openxmlformats.org/officeDocument/2006/relationships/slide" Target="/ppt/slides/slide17.xml" Id="Rfbf54c03283141f4" /><Relationship Type="http://schemas.openxmlformats.org/officeDocument/2006/relationships/slide" Target="/ppt/slides/slide18.xml" Id="R099ee172fe644e71" /><Relationship Type="http://schemas.openxmlformats.org/officeDocument/2006/relationships/slide" Target="/ppt/slides/slide19.xml" Id="R1a2b9541226342ca" /><Relationship Type="http://schemas.openxmlformats.org/officeDocument/2006/relationships/slide" Target="/ppt/slides/slide20.xml" Id="R775d65936f0b4242" /><Relationship Type="http://schemas.openxmlformats.org/officeDocument/2006/relationships/slide" Target="/ppt/slides/slide21.xml" Id="Rcb70b003a7844909" /><Relationship Type="http://schemas.openxmlformats.org/officeDocument/2006/relationships/slide" Target="/ppt/slides/slide22.xml" Id="Rf1db7350358647bd" /><Relationship Type="http://schemas.openxmlformats.org/officeDocument/2006/relationships/slide" Target="/ppt/slides/slide23.xml" Id="R30693bc1af7b45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4b891d464845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e66d8db38d419a" /><Relationship Type="http://schemas.openxmlformats.org/officeDocument/2006/relationships/notesMaster" Target="/ppt/notesMasters/notesMaster1.xml" Id="R47bc48a0c710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39aeca436b481e" /><Relationship Type="http://schemas.openxmlformats.org/officeDocument/2006/relationships/notesMaster" Target="/ppt/notesMasters/notesMaster1.xml" Id="R37b5eac18a7945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66ad2167b5451a" /><Relationship Type="http://schemas.openxmlformats.org/officeDocument/2006/relationships/notesMaster" Target="/ppt/notesMasters/notesMaster1.xml" Id="R2c0f8865319b46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7e1d9b75364e9e" /><Relationship Type="http://schemas.openxmlformats.org/officeDocument/2006/relationships/notesMaster" Target="/ppt/notesMasters/notesMaster1.xml" Id="Ra3b88055409447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8d28317c1e4d3b" /><Relationship Type="http://schemas.openxmlformats.org/officeDocument/2006/relationships/notesMaster" Target="/ppt/notesMasters/notesMaster1.xml" Id="Re7b5dbf1d43741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9ae78d158b4ae4" /><Relationship Type="http://schemas.openxmlformats.org/officeDocument/2006/relationships/notesMaster" Target="/ppt/notesMasters/notesMaster1.xml" Id="R8850ee16565b40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d56495d7ab4b42" /><Relationship Type="http://schemas.openxmlformats.org/officeDocument/2006/relationships/notesMaster" Target="/ppt/notesMasters/notesMaster1.xml" Id="R6b8bd55f5bdd4c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3dee6fd7364f00" /><Relationship Type="http://schemas.openxmlformats.org/officeDocument/2006/relationships/notesMaster" Target="/ppt/notesMasters/notesMaster1.xml" Id="Rbfdf2334e11342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768f38e6674453" /><Relationship Type="http://schemas.openxmlformats.org/officeDocument/2006/relationships/notesMaster" Target="/ppt/notesMasters/notesMaster1.xml" Id="Rea5f93f6d0914e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24981bc916456b" /><Relationship Type="http://schemas.openxmlformats.org/officeDocument/2006/relationships/notesMaster" Target="/ppt/notesMasters/notesMaster1.xml" Id="R2aae63789f6f40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d9a250ca874f0d" /><Relationship Type="http://schemas.openxmlformats.org/officeDocument/2006/relationships/notesMaster" Target="/ppt/notesMasters/notesMaster1.xml" Id="R22d06e9d5a5f44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a52e199e8a44e6" /><Relationship Type="http://schemas.openxmlformats.org/officeDocument/2006/relationships/notesMaster" Target="/ppt/notesMasters/notesMaster1.xml" Id="Rf292c10ff39f48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33cd854fe547fd" /><Relationship Type="http://schemas.openxmlformats.org/officeDocument/2006/relationships/notesMaster" Target="/ppt/notesMasters/notesMaster1.xml" Id="R77022ae49ce44d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454d530e2944e7" /><Relationship Type="http://schemas.openxmlformats.org/officeDocument/2006/relationships/notesMaster" Target="/ppt/notesMasters/notesMaster1.xml" Id="Rc0562f9350d742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306fbe02fa476f" /><Relationship Type="http://schemas.openxmlformats.org/officeDocument/2006/relationships/notesMaster" Target="/ppt/notesMasters/notesMaster1.xml" Id="R87595d57f28c45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734eea6cb447e8" /><Relationship Type="http://schemas.openxmlformats.org/officeDocument/2006/relationships/notesMaster" Target="/ppt/notesMasters/notesMaster1.xml" Id="Rb4e17e2901d44a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f6b7ac8a6e4fea" /><Relationship Type="http://schemas.openxmlformats.org/officeDocument/2006/relationships/notesMaster" Target="/ppt/notesMasters/notesMaster1.xml" Id="Rcdc7b9bf6d6348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fffd6d7cf545b3" /><Relationship Type="http://schemas.openxmlformats.org/officeDocument/2006/relationships/notesMaster" Target="/ppt/notesMasters/notesMaster1.xml" Id="Rabbaec12033a47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b17d50f23d43fc" /><Relationship Type="http://schemas.openxmlformats.org/officeDocument/2006/relationships/notesMaster" Target="/ppt/notesMasters/notesMaster1.xml" Id="R19d24a5a32b742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97a0e3c3914a09" /><Relationship Type="http://schemas.openxmlformats.org/officeDocument/2006/relationships/notesMaster" Target="/ppt/notesMasters/notesMaster1.xml" Id="R99bbdfb8566749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f6800847c04ccb" /><Relationship Type="http://schemas.openxmlformats.org/officeDocument/2006/relationships/notesMaster" Target="/ppt/notesMasters/notesMaster1.xml" Id="R44a63b4554074d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95ae2b4b0b4d9b" /><Relationship Type="http://schemas.openxmlformats.org/officeDocument/2006/relationships/notesMaster" Target="/ppt/notesMasters/notesMaster1.xml" Id="R003692a6b92547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982b181d5a4ed1" /><Relationship Type="http://schemas.openxmlformats.org/officeDocument/2006/relationships/notesMaster" Target="/ppt/notesMasters/notesMaster1.xml" Id="R6e09a3153b654b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Core value hypothesis: achieve agreed task quality and coverage with fewer independent robot roots or lower total work than a competent comparator. Data quality and data selection are the central proposed contribution, while model architecture, controller and latency can still be bottlenecks.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Figure Index, August 25, 2026: https://www.figure.ai/news/introducing-index . 16 million uploaded videos and USD 15 million creator payouts. Payout is not total dataset cost. The previously supplied video https://www.youtube.com/watch?v=zKaeODg7xeE was checked against transcript/source descriptions, not audited frame by frame.</a:t>
            </a:r>
          </a:p>
          <a:p xmlns:a="http://schemas.openxmlformats.org/drawingml/2006/main">
            <a:r>
              <a:t>FOCA, arXiv:2606.20867v1, section 5 Q2, Table 2, Appendix D.3. https://arxiv.org/html/2606.20867v1 . LIBERO 40% demonstrations (approximately 20/task): pi0 89.9%, FOCA + DreamGen 95.7%. Action-free generated video phase learns future alignment with a frozen future target encoder. Robot adaptation still uses action supervision plus the implicit objective. These are external results in their own protocol.</a:t>
            </a:r>
          </a:p>
          <a:p xmlns:a="http://schemas.openxmlformats.org/drawingml/2006/main">
            <a:r>
              <a:t>Do not infer causality for the proposed flywheel from these results. The two columns are independent studies, not comparable benchmarks.</a:t>
            </a:r>
          </a:p>
          <a:p xmlns:a="http://schemas.openxmlformats.org/drawingml/2006/main">
            <a:r>
              <a:t>Problem hypothesis for the engineer developing a new or changed robot skill. Do not claim measured DENSO time loss or cost savings. External evidence and exact limitations appear in appendix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Li et al. (2026), FluxVLA Engine, arXiv:2609.17210v1. https://arxiv.org/html/2609.17210v1 . Original extracted Figures 1 and 2, CC BY 4.0. Figures and upstream results belong to the authors. Integrations use different budgets and are not a controlled leaderboard for A1. Figure 1, page 2, full original figure. Right-hand benchmarks are author results with different integration budgets.</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 The reason to select FluxVLA is the common lifecycle from data/training to simulation evaluation and real-world inference runners/operators. Upstream support is not evidence that our A1 robot integration exists.</a:t>
            </a:r>
          </a:p>
          <a:p xmlns:a="http://schemas.openxmlformats.org/drawingml/2006/main">
            <a:r>
              <a:t>QA, lineage, active selection, simulation generation and train/eval loops individually are established practices. The proposal claims a task-specific integrated decision workflow, not a new foundation model or global novelty. Intervention choices also include reuse, repair, defer and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AI-generated explanatory robot scene retained from original deck, not a real rollout. No native episode E0 or measured diagnosis exists. A dropped object establishes full-task failure, not its cause. Replay sent commands and measured response before considering a data/model intervention. A matched expert-grasp transport test can support, but not conclusively prove, a grasp-context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Concept illustration generated with the built-in imagegen tool and saved to docs/assets/data-flywheel-concept.png. Prompt: clean editorial cutaway of a physical flywheel with six connected components, central humanoid, camera frame, trajectory, dataset folder and AI processor, clockwise blue/green ribbon on white, no text or logo. Image is a conceptual metaphor, not a model or implemented system diagram. The numbered native text defines the proposed workflow. Evidence acquisition may lead to repair or deferral, skipping release/training. Final held-out data never drives this adaptive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et al. (2026), FluxVLA Engine, arXiv:2609.17210v1. https://arxiv.org/html/2609.17210v1 . Original extracted Figures 1 and 2, CC BY 4.0. Figures and upstream results belong to the authors. Integrations use different budgets and are not a controlled leaderboard for A1. Figure 1, page 2, full original figure. Right-hand benchmarks are author results with different integration budgets.</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 The reason to select FluxVLA is the common lifecycle from data/training to simulation evaluation and real-world inference runners/operators. Upstream support is not evidence that our A1 robot integration exists.</a:t>
            </a:r>
          </a:p>
          <a:p xmlns:a="http://schemas.openxmlformats.org/drawingml/2006/main">
            <a:r>
              <a:t>The full unmodified original Figure 1 is retained. Benchmark panels belong to the paper authors, not this project. Our A1 adaptation and real robot integration are pending. Data Core determines the release and intervention scope, rather than claiming ownership of this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Li et al. (2026), FluxVLA Engine, arXiv:2609.17210v1. https://arxiv.org/html/2609.17210v1 . Original extracted Figures 1 and 2, CC BY 4.0. Figures and upstream results belong to the authors. Integrations use different budgets and are not a controlled leaderboard for A1. Figure 2, original full region.</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 MP4 frames are decoded and sampled with synchronized state/action. Prompt tokenization and image transforms produce model inputs. Normalization, action chunk horizons and masks must match the checkpoint. Future target actions are for training, never inference inputs.</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a:t>
            </a:r>
          </a:p>
          <a:p xmlns:a="http://schemas.openxmlformats.org/drawingml/2006/main">
            <a:r>
              <a:t>FOCA, arXiv:2606.20867v1, section 5 Q2, Table 2, Appendix D.3. https://arxiv.org/html/2606.20867v1 . LIBERO 40% demonstrations (approximately 20/task): pi0 89.9%, FOCA + DreamGen 95.7%. Action-free generated video phase learns future alignment with a frozen future target encoder. Robot adaptation still uses action supervision plus the implicit objective. These are external results in their own protocol.</a:t>
            </a:r>
          </a:p>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Training flow target is executed future actions minus sampled noise, under the selected interpolation convention and action masks. N1.5 selected input example: state padded 64, active action 29 / padded 32, horizon 16. Verify actual tensor semantics rather than inventing shapes. Official N1.5 frozen-VLM learning is distinct from the selected Flux visual-unfreeze recipe. Human comparator R_common versus R_common+H keeps architecture, robot wrist objective and VLM freeze identical. Human loss updates the common head/shared trunk, not the native robot decoder directly. FOCA/H are unintegrated research branches with separate gates and budgets.</a:t>
            </a:r>
          </a:p>
          <a:p xmlns:a="http://schemas.openxmlformats.org/drawingml/2006/main">
            <a:r>
              <a:t>R_A1 and S_exec are proposed, not existing collected data. S_exec derives from train roots by controlled transformation and re-execution, producing fresh images, measured states and executed actions. Loader constructs conditioning from current observations and targets from future actions. At training, DiT also receives noisy action chunks and interpolation time. Flow-velocity target is action minus noise under the pinned convention. No action labels or future targets enter runtime inference. This slide summarizes the MVP robot-action recipe; human and video branches are separate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Illustrative conditional example only. Assumptions: binding checks pass, controlled tests support a grasp-pose coverage hypothesis, an expert provides a successful correction in the matched context, and sim variants have not yet passed contact/action QA. The example therefore chooses the eligible correction first and defers S_exec. It does not assert that correction always outperforms simulation. Reconsider S_exec after it passes QA if expected benefit and cost fit the acquisition cap. No native result, actual contact diagnosis, collected sample count, measured gain or saved cost is asserted. Correction episodes contain current RGB, measured state and executed future actions for the complete grasp-lift-transport context. Split roots before variants and keep rights and QA records. Failed policy trajectories remain evidence, not positive behavior cloning targets. A fixed-recipe R vs R+S comparison is a source test, while adaptive decision-loop benefit needs a separate competent workflow comparator.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a:t>
            </a:r>
          </a:p>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A latent is an actual encoder vector with a known hook, source and version. Do not invent grounding text or claim a latent probe establishes causality. Log prediction, command and response separately. Reload parity and upstream GR1 smoke tests precede A1 trials. Real-robot inference is an upstream capability requiring a separate local integration and acceptance protocol.</a:t>
            </a:r>
          </a:p>
          <a:p xmlns:a="http://schemas.openxmlformats.org/drawingml/2006/main">
            <a:r>
              <a:t>Current RGB and text become Eagle features. DiT conditions on features, measured state and its sampling noise/time. No future ground-truth action is an inference input. Controller executes the pinned action prefix and the policy observes again. Independent scorer may use privileged object/contact state but those scorer-only fields must not leak into policy input. Failure evidence is a hypothesis input, not automatic attribution or retraining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Independent final is outside the adaptive flywheel. Fix task strata, seeds, scorer, binding and recipe before opening final. Both arms passing a quality gate is not statistical equivalence. Under true success 95%, probability of passing the draft gate is about 43.6%; under 97%, about 81.8%, so task owner must accept the power tradeoff. Reference: examples/engineering-loop/README.md, linear 35x4 predictor with ideal sim state, scripted sequence and proximity-weld grasp, 32 tests; S 12/12, R 0/12, C 0/12 final in that restricted scope. These are not GR00T/GR1 performance or data efficiency evidence.</a:t>
            </a:r>
          </a:p>
          <a:p xmlns:a="http://schemas.openxmlformats.org/drawingml/2006/main">
            <a:r>
              <a:t>Competent ordinary engineering workflow is an empirical comparator, not an assumed practice of blindly collecting more data. Use matched parent/case pairs, equal budgets and intervention access, and counterbalance case order. Log negative/no-gain decisions. Report quality and cost separately until a comparable acceptance level is reached. Data-budget curves are needed to claim fewer robot roots, rather than a single fixed-budget result. Initial setup cost is separate from marginal effort for task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Budget assumptions from deliverables/DENSO-Noi-dung-form-y-tuong.md and docs/implementation-plan/skill-a1/04-evaluation-and-cost.md. Capture/reset 40 attempts x 6 minutes = 4 operator hours. QA 40 x 3 minutes = 2 engineer hours. Labor rates, yield and integration hours are editable planning assumptions, not DENSO/Vietnam wages. Public Runpod pricing checked October 6, 2026: https://www.runpod.io/pricing . 180 GPU hours is a capacity cap, not a measured runtime forecast. Total: 40 + 40 + 4800 + 286.20 + 21 = 5187.20 USD. H, FOCA and real hardware have separate gates/caps.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Four stages, each estimated 2–3 weeks, total 8–12 conditional weeks. No committed date or production deployment promise. Team and task ownership are not yet named. Separate optional human/action-free/workflow studies and hardware acceptance may require additional resources and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proposal: IDEA.md sections 6, 9 and 10; docs/implementation-plan/skill-a1/05-data-decision-and-run-contracts.md; idea-v3-2026-10-05/16-model-ai-va-data-flywheel.md. Proposed workflow and illustrative decisions, not measured native A1 results. Engineers approve hypotheses and interventions. Root splits precede augmentation, failed trajectories are not positive BC labels, independent final evaluation remains outside the adaptive development loop.</a:t>
            </a:r>
          </a:p>
          <a:p xmlns:a="http://schemas.openxmlformats.org/drawingml/2006/main">
            <a:r>
              <a:t>Core pitch closes on measured data utility and total work, not simply the availability of a VLA engine. Current evidence is a small reference and specifications. Native A1, human/video transfer, savings, real-world robot performance and production readiness remain unproven. Detailed dataset, training, evaluation, sources, model alternatives and submission checklist follow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Existing AI illustration, not a recorded GR1 rollout. Draft geometry: object 40 x 25 x 15 mm, A1 interior 80 x 60 mm, timeout 30 s and stable 2 s. Task owner must calibrate before final protocol. Fixed torso, no walking or precision assembly in the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Index, August 25, 2026: https://www.figure.ai/news/introducing-index . 16 million uploaded videos and USD 15 million creator payouts. Payout is not total dataset cost. The previously supplied video https://www.youtube.com/watch?v=zKaeODg7xeE was checked against transcript/source descriptions, not audited frame by frame.</a:t>
            </a:r>
          </a:p>
          <a:p xmlns:a="http://schemas.openxmlformats.org/drawingml/2006/main">
            <a:r>
              <a:t>FOCA, arXiv:2606.20867v1, section 5 Q2, Table 2, Appendix D.3. https://arxiv.org/html/2606.20867v1 . LIBERO 40% demonstrations (approximately 20/task): pi0 89.9%, FOCA + DreamGen 95.7%. Action-free generated video phase learns future alignment with a frozen future target encoder. Robot adaptation still uses action supervision plus the implicit objective. These are external results in their own protocol.</a:t>
            </a:r>
          </a:p>
          <a:p xmlns:a="http://schemas.openxmlformats.org/drawingml/2006/main">
            <a:r>
              <a:t>Do not infer causality for the proposed flywheel from these results. The two columns are independent studies, not comparable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 FluxVLAData public GR1 setting has 256x256 RGB at 20 fps, 29-D active robot state/action. These are compatibility examples and do not determine the pending A1 binding. R_A1 is proposed data, not an already collected 20-root dataset. Appearance augmentation preserves labels only when semantics are invariant. Generated video usually lacks native action labels. Human wrist motion is not robot joint action or contact/finger supervision.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et al. (2026), FluxVLA Engine, arXiv:2609.17210v1. https://arxiv.org/html/2609.17210v1 . Original extracted Figures 1 and 2, CC BY 4.0. Figures and upstream results belong to the authors. Integrations use different budgets and are not a controlled leaderboard for A1. Figure 2, original full region.</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 MP4 frames are decoded and sampled with synchronized state/action. Prompt tokenization and image transforms produce model inputs. Normalization, action chunk horizons and masks must match the checkpoint. Future target actions are for training, never inference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a:t>
            </a:r>
          </a:p>
          <a:p xmlns:a="http://schemas.openxmlformats.org/drawingml/2006/main">
            <a:r>
              <a:t>FOCA, arXiv:2606.20867v1, section 5 Q2, Table 2, Appendix D.3. https://arxiv.org/html/2606.20867v1 . LIBERO 40% demonstrations (approximately 20/task): pi0 89.9%, FOCA + DreamGen 95.7%. Action-free generated video phase learns future alignment with a frozen future target encoder. Robot adaptation still uses action supervision plus the implicit objective. These are external results in their own protocol.</a:t>
            </a:r>
          </a:p>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Training flow target is executed future actions minus sampled noise, under the selected interpolation convention and action masks. N1.5 selected input example: state padded 64, active action 29 / padded 32, horizon 16. Verify actual tensor semantics rather than inventing shapes. Official N1.5 frozen-VLM learning is distinct from the selected Flux visual-unfreeze recipe. Human comparator R_common versus R_common+H keeps architecture, robot wrist objective and VLM freeze identical. Human loss updates the common head/shared trunk, not the native robot decoder directly. FOCA/H are unintegrated research branches with separate gates and budgets.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a:t>
            </a:r>
          </a:p>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A latent is an actual encoder vector with a known hook, source and version. Do not invent grounding text or claim a latent probe establishes causality. Log prediction, command and response separately. Reload parity and upstream GR1 smoke tests precede A1 trials. Real-robot inference is an upstream capability requiring a separate local integration and acceptance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Independent final is outside the adaptive flywheel. Fix task strata, seeds, scorer, binding and recipe before opening final. Both arms passing a quality gate is not statistical equivalence. Under true success 95%, probability of passing the draft gate is about 43.6%; under 97%, about 81.8%, so task owner must accept the power tradeoff. Reference: examples/engineering-loop/README.md, linear 35x4 predictor with ideal sim state, scripted sequence and proximity-weld grasp, 32 tests; S 12/12, R 0/12, C 0/12 final in that restricted scope. These are not GR00T/GR1 performance or data efficiency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FOCA, arXiv:2606.20867v1, section 5 Q2, Table 2, Appendix D.3. https://arxiv.org/html/2606.20867v1 . LIBERO 40% demonstrations (approximately 20/task): pi0 89.9%, FOCA + DreamGen 95.7%. Action-free generated video phase learns future alignment with a frozen future target encoder. Robot adaptation still uses action supervision plus the implicit objective. These are external results in their own protocol.</a:t>
            </a:r>
          </a:p>
          <a:p xmlns:a="http://schemas.openxmlformats.org/drawingml/2006/main">
            <a:r>
              <a:t>Selected public FluxVLA GR00T N1.5 recipe: https://github.com/FluxVLA/FluxVLA/blob/main/configs/gr00tn15/gr00tn15_eagle_3b_robocasa_30_eps_full_finetune.py . Pin commit, checkpoint, transforms, optimizer groups and gradient manifest before running. Official NVIDIA N1.5 uses a frozen VLM; selected Flux recipe permits visual adaptation and freezes language. https://research.nvidia.com/labs/gear/gr00t-n1_5/ . A1 integration has not run.</a:t>
            </a:r>
          </a:p>
          <a:p xmlns:a="http://schemas.openxmlformats.org/drawingml/2006/main">
            <a:r>
              <a:t>OpenVLA: https://arxiv.org/abs/2406.09246 . pi0: https://arxiv.org/abs/2410.24164 . DreamGen: https://research.nvidia.com/labs/gear/dreamgen/ . DreamZero: source catalog in idea-v3-2026-10-05/15-dataset-training-blueprint.md . DreamerV3: https://arxiv.org/abs/2301.04104 . Project synthesis: idea-v3-2026-10-05/15-dataset-training-blueprint.md and the website research catalog. Do not present any optional branch as integrated functionality.</a:t>
            </a:r>
          </a:p>
          <a:p xmlns:a="http://schemas.openxmlformats.org/drawingml/2006/main">
            <a:r>
              <a:t>FOCA single-task A1 needs train-only task-mismatched negatives or an explicit objective adaptation. Code/interface and extra generation/learning compute remain gates. Human wrist transfer does not establish native finger/contact skill.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Official DENSO submission checklist preserved. This is a review draft. Team identities and capability evidence are still missing. Interests can include data while the challenge topic remains Humanoid &amp; Robot.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specification: IDEA.md, docs/implementation-plan/skill-a1/README.md, 04-evaluation-and-cost.md, 05-data-decision-and-run-contracts.md and idea-v3-2026-10-05/16-model-ai-va-data-flywheel.md. Proposed native pilot, not measured native success or saving. Team names, member capabilities and ownership have not been supplied. Listed roles describe required work, not verified team credentials.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813e29e33c4c5b" /><Relationship Type="http://schemas.openxmlformats.org/officeDocument/2006/relationships/image" Target="/ppt/media/image2.png" Id="Re088da159ea14f71" /><Relationship Type="http://schemas.openxmlformats.org/officeDocument/2006/relationships/image" Target="/ppt/media/image3.png" Id="Rc7668f955d1c41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fd91c0d4754d6a" /><Relationship Type="http://schemas.openxmlformats.org/officeDocument/2006/relationships/image" Target="/ppt/media/image.png" Id="R4baf2347eb6449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87b8e3c76240f3" /><Relationship Type="http://schemas.openxmlformats.org/officeDocument/2006/relationships/image" Target="/ppt/media/image4.png" Id="R34621eb87aba48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149413221e4530" /><Relationship Type="http://schemas.openxmlformats.org/officeDocument/2006/relationships/image" Target="/ppt/media/image5.png" Id="Rc6b61f92966647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67dce489254a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731d853c9f423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7dc3cbfa95415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11b2762a2b04df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722bfbb1f754d4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8af623702374fc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e8a93db8b524b7c" /><Relationship Type="http://schemas.openxmlformats.org/officeDocument/2006/relationships/image" Target="/ppt/media/image4.png" Id="R6ee1bfb58d574da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a12007fc1754971" /><Relationship Type="http://schemas.openxmlformats.org/officeDocument/2006/relationships/image" Target="/ppt/media/image5.png" Id="R78547f5bae83462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d953485889a467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2976a544284458e" /><Relationship Type="http://schemas.openxmlformats.org/officeDocument/2006/relationships/image" Target="/ppt/media/image.jpeg" Id="Ra89c43070809478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12df2c1da4541e8" /><Relationship Type="http://schemas.openxmlformats.org/officeDocument/2006/relationships/image" Target="/ppt/media/image6.png" Id="R519ddb4cf8ab401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1c145f26cdfe450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6cf03e8058e24812" /><Relationship Type="http://schemas.openxmlformats.org/officeDocument/2006/relationships/image" Target="/ppt/media/image.png" Id="Rda7bfebf6510452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cda0faed379f4491" /><Relationship Type="http://schemas.openxmlformats.org/officeDocument/2006/relationships/image" Target="/ppt/media/image2.jpeg" Id="R6aeda9ec7356462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50dc8ae07ee485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6cfbb5cc8f84cc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bdfff80bef644b5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1518ddcc99da41b1" /><Relationship Type="http://schemas.openxmlformats.org/officeDocument/2006/relationships/image" Target="/ppt/media/image7.png" Id="Ra394f6ac7ae3444f"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ed20f5b47af84f33"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e088da159ea14f71">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DD476EAB-5135-4168-A526-1281A15F2E54}"/>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CD26953-F69F-42C2-A54B-F597330672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B744D73-302D-4A28-90DE-C5E45A7C1A5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57E0E6-AABA-4ACA-8BEA-B428EC9A8A3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12" name="Picture 1">
            <a:extLst xmlns:a="http://schemas.openxmlformats.org/drawingml/2006/main">
              <a:ext uri="{FF2B5EF4-FFF2-40B4-BE49-F238E27FC236}">
                <a16:creationId xmlns:a16="http://schemas.microsoft.com/office/drawing/2014/main" id="{565AF039-958E-4451-A46A-2F72C36FBB1F}"/>
              </a:ext>
            </a:extLst>
          </p:cNvPr>
          <p:cNvPicPr>
            <a:picLocks xmlns:a="http://schemas.openxmlformats.org/drawingml/2006/main" noChangeAspect="1"/>
          </p:cNvPicPr>
          <p:nvPr/>
        </p:nvPicPr>
        <p:blipFill>
          <a:blip xmlns:r="http://schemas.openxmlformats.org/officeDocument/2006/relationships" xmlns:a="http://schemas.openxmlformats.org/drawingml/2006/main" r:embed="Rc7668f955d1c41e0">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4baf2347eb6449d8">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0885E91C-B279-4771-A6D6-01AFC370A44D}"/>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B1BF17-92F7-4792-899A-1F2D73C445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97F976D0-EE37-4B31-87EA-7820D621EFC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F7B01B-9930-4C02-B383-AC141BAF99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6F02C4A0-0C71-49A5-8AAA-D9E10FC4DBEE}"/>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34621eb87aba480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B0906D-35BC-4927-92F8-905C043059E6}"/>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C8699B3-7648-4820-9323-C443BD59035B}"/>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82630805-DDF8-4EF7-A3AB-8C678FE2761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30D1CF93-1484-4C82-8055-C750BCE2DB2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6BD413-0DD9-48B2-9BF9-7F0162A354E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c6b61f92966647b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F9477B-8FA0-4E2E-A411-CEC74214AA9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565F1BA-8F75-4BED-97D1-C251B77DEC27}"/>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B5CA33D-41D7-40DC-A274-8FC51B8212FC}"/>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AD8451D-EDDF-4006-9B3A-830C2DE1A60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D79FCCC-B709-4F98-9C0A-BFADD1048C2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E9937E2-6B2D-496B-AD46-366C8AB48D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23868D-1D5E-4FB3-B9FE-4C5AEA810C2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BA2360F-8409-4B7C-A1BA-23F94EC04AE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8F2CC6F3-6DFE-4EE5-9764-0A5BDB6A113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0BF3DB0-DA2D-4F21-9AEA-32AB9CEEAB9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735B704-75BC-42AD-B346-4C42C2A14A9B}"/>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C3AE045-0DF1-4911-98B6-B7D2A377959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913BC8A-5FD7-4283-A9EC-B9084264E18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87D74A-B972-4C78-B025-F598CD59A409}"/>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064ED1-440E-41DD-80C2-5A260F32D936}"/>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DFCF4AA-6B43-4D37-869F-726FE35BC881}"/>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73BB77D6-496C-4B12-8E6A-7F9AD8C4A680}"/>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0F75702-FB53-48E4-A4F7-4FE3F5EFB04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35C7EA-54A0-485D-9B98-80FBABA005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E029DB-84DD-4499-8643-849CF0ABD2B3}"/>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7BECDC3-4C71-4F83-B92A-EE0E8443A808}"/>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EE44B493-DE98-432C-A8D0-B319DCF088D6}"/>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04A26AD4-6475-4AAF-A74D-BDE08160083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865FF541-011C-415E-988A-7E0FCAD5D78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AE6748-3AE2-4F8D-9126-E7640F1FEDD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D1A92D-AC44-49A7-9BF6-6AD60256CE3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FD0966E-7D30-406A-8EAB-1F2F2A0966B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F52D9B5-3042-405B-87AA-60D30995EAC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34EED6B-86B8-4FB0-8663-DB3BC67054F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CC2184-4DBC-454D-9C7B-828A9D44E2A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D053A5-0BBB-43F5-B10F-91FEA6C7ACEF}"/>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D0E8C3B-B826-4987-8FD1-E44A4150069D}"/>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6DA0FD5-0058-4319-864D-46A863D791E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04B44F6C-6464-41A7-AF8E-F94E0E93AB9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6304FC-4637-47E2-86A8-2B63B60D13D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6ee1bfb58d574da7">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46F9509-30BC-4B1E-AB26-4D6575FF7C13}"/>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321C82D-046B-4F75-A935-16BA527BB45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C4331828-D716-48E2-B6F2-6910EEF7EB6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95B2B34-A3F0-4BD7-99E1-421064E7BB19}"/>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A82D4EB4-8C3F-4B6D-8BF9-EA7BA03E7E04}"/>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34F31488-1555-49F3-82E1-EA4271F890A4}"/>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78547f5bae83462e">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A34909E-DA60-4937-9B3C-7EA971D96B0B}"/>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7A90903-4F05-4E4E-B136-237F7630618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7AE810D-9F46-4331-96BF-4958EC4E103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5B6C0DB-065F-4CDD-943C-D9FF8788BC18}"/>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009DE2FE-42C5-4634-9725-3F525B22B8B5}"/>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10C268A3-DF84-4F52-8726-DE9F389CEA06}"/>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6402517A-AE40-46CB-83E3-257A504B9F9A}"/>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1EC34D21-2348-4A83-9CBD-617A7D6F5AE3}"/>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ED3A0E9-C29A-4837-B2B7-1A538248CE8C}"/>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5" name="Picture 3">
            <a:extLst xmlns:a="http://schemas.openxmlformats.org/drawingml/2006/main">
              <a:ext uri="{FF2B5EF4-FFF2-40B4-BE49-F238E27FC236}">
                <a16:creationId xmlns:a16="http://schemas.microsoft.com/office/drawing/2014/main" id="{C1680D55-3A6A-44E4-87BC-F6ECD67CA589}"/>
              </a:ext>
            </a:extLst>
          </p:cNvPr>
          <p:cNvPicPr>
            <a:picLocks xmlns:a="http://schemas.openxmlformats.org/drawingml/2006/main" noChangeAspect="1"/>
          </p:cNvPicPr>
          <p:nvPr/>
        </p:nvPicPr>
        <p:blipFill>
          <a:blip xmlns:r="http://schemas.openxmlformats.org/officeDocument/2006/relationships" xmlns:a="http://schemas.openxmlformats.org/drawingml/2006/main" r:embed="Ra89c430708094786"/>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E62F9C0-FC99-427B-BB04-CD2171584D6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923DDDB2-505E-4FF7-B1B7-0743890AB5FB}"/>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92" name="Google Shape;405;g2893b70371c_0_1188">
            <a:extLst xmlns:a="http://schemas.openxmlformats.org/drawingml/2006/main">
              <a:ext uri="{FF2B5EF4-FFF2-40B4-BE49-F238E27FC236}">
                <a16:creationId xmlns:a16="http://schemas.microsoft.com/office/drawing/2014/main" id="{9F50626F-D10A-4A82-9E62-8D2C0BC723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9ddb4cf8ab401a">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28993DE7-7A48-434E-8EF1-1446046D94E8}"/>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F513FFFE-0615-4FA0-8487-355DBC22CF28}"/>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da7bfebf65104527">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4077064-1AE9-437D-96EA-CF89EA62BF72}"/>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86BF1113-9B20-4A36-B1E2-DFC2899C37F7}"/>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05961A3D-EB02-4034-9D32-0A3A2012E959}"/>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DC7BE9C6-3B6A-4C36-B01A-FBC0D943DD01}"/>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27B3D72C-BDC5-4960-914B-9FD0208ECCDD}"/>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101" name="Google Shape;270;g2893b70371c_0_651">
            <a:extLst xmlns:a="http://schemas.openxmlformats.org/drawingml/2006/main">
              <a:ext uri="{FF2B5EF4-FFF2-40B4-BE49-F238E27FC236}">
                <a16:creationId xmlns:a16="http://schemas.microsoft.com/office/drawing/2014/main" id="{DFDF0806-1348-48D4-BC42-D8E99A583C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eda9ec73564622">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09FF9530-9044-4A29-A8A0-FDEC06515A38}"/>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4E447481-1FA0-42B4-9F3B-6C27C599EABC}"/>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3D128BF5-C85B-415A-9C09-758F81429373}"/>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757E8AE4-54E0-4D4D-AAAA-2A1D5CD4FD40}"/>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6925189-82B4-48B7-A58B-57CE6AAA98BD}"/>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A129D591-916E-42CE-9BAB-4754C3C5C5B5}"/>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cap="none">
                <a:solidFill>
                  <a:srgbClr val="595959"/>
                </a:solidFill>
                <a:latin typeface="Arial"/>
                <a:ea typeface="Arial"/>
                <a:cs typeface="Arial"/>
              </a:defRPr>
            </a:lvl1pPr>
            <a:lvl2pPr marL="0" marR="0" indent="0" algn="r">
              <a:buClr>
                <a:srgbClr val="000000"/>
              </a:buClr>
              <a:buSzPts val="1333"/>
              <a:buFont typeface="Arial"/>
              <a:buNone/>
              <a:defRPr sz="1333" b="0" i="0" u="none" cap="none">
                <a:solidFill>
                  <a:srgbClr val="595959"/>
                </a:solidFill>
                <a:latin typeface="Arial"/>
                <a:ea typeface="Arial"/>
                <a:cs typeface="Arial"/>
              </a:defRPr>
            </a:lvl2pPr>
            <a:lvl3pPr marL="0" marR="0" indent="0" algn="r">
              <a:buClr>
                <a:srgbClr val="000000"/>
              </a:buClr>
              <a:buSzPts val="1333"/>
              <a:buFont typeface="Arial"/>
              <a:buNone/>
              <a:defRPr sz="1333" b="0" i="0" u="none" cap="none">
                <a:solidFill>
                  <a:srgbClr val="595959"/>
                </a:solidFill>
                <a:latin typeface="Arial"/>
                <a:ea typeface="Arial"/>
                <a:cs typeface="Arial"/>
              </a:defRPr>
            </a:lvl3pPr>
            <a:lvl4pPr marL="0" marR="0" indent="0" algn="r">
              <a:buClr>
                <a:srgbClr val="000000"/>
              </a:buClr>
              <a:buSzPts val="1333"/>
              <a:buFont typeface="Arial"/>
              <a:buNone/>
              <a:defRPr sz="1333" b="0" i="0" u="none" cap="none">
                <a:solidFill>
                  <a:srgbClr val="595959"/>
                </a:solidFill>
                <a:latin typeface="Arial"/>
                <a:ea typeface="Arial"/>
                <a:cs typeface="Arial"/>
              </a:defRPr>
            </a:lvl4pPr>
            <a:lvl5pPr marL="0" marR="0" indent="0" algn="r">
              <a:buClr>
                <a:srgbClr val="000000"/>
              </a:buClr>
              <a:buSzPts val="1333"/>
              <a:buFont typeface="Arial"/>
              <a:buNone/>
              <a:defRPr sz="1333" b="0" i="0" u="none" cap="none">
                <a:solidFill>
                  <a:srgbClr val="595959"/>
                </a:solidFill>
                <a:latin typeface="Arial"/>
                <a:ea typeface="Arial"/>
                <a:cs typeface="Arial"/>
              </a:defRPr>
            </a:lvl5pPr>
            <a:lvl6pPr marL="0" marR="0" indent="0" algn="r">
              <a:buClr>
                <a:srgbClr val="000000"/>
              </a:buClr>
              <a:buSzPts val="1333"/>
              <a:buFont typeface="Arial"/>
              <a:buNone/>
              <a:defRPr sz="1333" b="0" i="0" u="none" cap="none">
                <a:solidFill>
                  <a:srgbClr val="595959"/>
                </a:solidFill>
                <a:latin typeface="Arial"/>
                <a:ea typeface="Arial"/>
                <a:cs typeface="Arial"/>
              </a:defRPr>
            </a:lvl6pPr>
            <a:lvl7pPr marL="0" marR="0" indent="0" algn="r">
              <a:buClr>
                <a:srgbClr val="000000"/>
              </a:buClr>
              <a:buSzPts val="1333"/>
              <a:buFont typeface="Arial"/>
              <a:buNone/>
              <a:defRPr sz="1333" b="0" i="0" u="none" cap="none">
                <a:solidFill>
                  <a:srgbClr val="595959"/>
                </a:solidFill>
                <a:latin typeface="Arial"/>
                <a:ea typeface="Arial"/>
                <a:cs typeface="Arial"/>
              </a:defRPr>
            </a:lvl7pPr>
            <a:lvl8pPr marL="0" marR="0" indent="0" algn="r">
              <a:buClr>
                <a:srgbClr val="000000"/>
              </a:buClr>
              <a:buSzPts val="1333"/>
              <a:buFont typeface="Arial"/>
              <a:buNone/>
              <a:defRPr sz="1333" b="0" i="0" u="none" cap="none">
                <a:solidFill>
                  <a:srgbClr val="595959"/>
                </a:solidFill>
                <a:latin typeface="Arial"/>
                <a:ea typeface="Arial"/>
                <a:cs typeface="Arial"/>
              </a:defRPr>
            </a:lvl8pPr>
            <a:lvl9pPr marL="0" marR="0" indent="0" algn="r">
              <a:buClr>
                <a:srgbClr val="000000"/>
              </a:buClr>
              <a:buSzPts val="1333"/>
              <a:buFont typeface="Arial"/>
              <a:buNone/>
              <a:defRPr sz="1333" b="0" i="0" u="non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CEB5612-64C5-4907-A736-6A3E1FF8270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18B5C147-FB1E-41ED-81E0-899FC292CA8B}"/>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18370E5-D010-40F8-B639-08BD8325DAB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a394f6ac7ae3444f">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64936E-CF30-45D0-9285-9620AED5D30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E9DA252-1D22-4C05-975C-A699B87B0D9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63CA32C-393B-4F33-898F-D503954CB19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02334E5-BF0C-43BE-941E-57E96CC40D0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DD2478C4-6D32-4C9E-97E9-F99A5866CFA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429B990-DC85-4EC0-B3DE-7EE61F6EC1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A496D77F-D50E-4A0F-ACD6-57D0CBD16D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D883289-3713-4137-9AA6-70519C5A9F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346a7967e0b4ace" /><Relationship Type="http://schemas.openxmlformats.org/officeDocument/2006/relationships/theme" Target="/ppt/slideMasters/theme/theme2.xml" Id="Rf061b8cfd9514253" /><Relationship Type="http://schemas.openxmlformats.org/officeDocument/2006/relationships/slideLayout" Target="/ppt/slideLayouts/slideLayout1.xml" Id="R45a7e15ab9bd48af" /><Relationship Type="http://schemas.openxmlformats.org/officeDocument/2006/relationships/slideLayout" Target="/ppt/slideLayouts/slideLayout2.xml" Id="R0f56973a21a9407b" /><Relationship Type="http://schemas.openxmlformats.org/officeDocument/2006/relationships/slideLayout" Target="/ppt/slideLayouts/slideLayout3.xml" Id="R5d10baa9897a4835" /><Relationship Type="http://schemas.openxmlformats.org/officeDocument/2006/relationships/slideLayout" Target="/ppt/slideLayouts/slideLayout4.xml" Id="R2b9a46930c914a90" /><Relationship Type="http://schemas.openxmlformats.org/officeDocument/2006/relationships/slideLayout" Target="/ppt/slideLayouts/slideLayout5.xml" Id="R4affb2941f7340b2" /><Relationship Type="http://schemas.openxmlformats.org/officeDocument/2006/relationships/slideLayout" Target="/ppt/slideLayouts/slideLayout6.xml" Id="R72120c335d3e4dee" /><Relationship Type="http://schemas.openxmlformats.org/officeDocument/2006/relationships/slideLayout" Target="/ppt/slideLayouts/slideLayout7.xml" Id="R10a332904b594338" /><Relationship Type="http://schemas.openxmlformats.org/officeDocument/2006/relationships/slideLayout" Target="/ppt/slideLayouts/slideLayout8.xml" Id="R448a978ce0914e47" /><Relationship Type="http://schemas.openxmlformats.org/officeDocument/2006/relationships/slideLayout" Target="/ppt/slideLayouts/slideLayout9.xml" Id="Rc5c7653a2c034ba8" /><Relationship Type="http://schemas.openxmlformats.org/officeDocument/2006/relationships/slideLayout" Target="/ppt/slideLayouts/slideLayout10.xml" Id="R67406575966a4493" /><Relationship Type="http://schemas.openxmlformats.org/officeDocument/2006/relationships/slideLayout" Target="/ppt/slideLayouts/slideLayout11.xml" Id="Re19d2a24482b42ee" /><Relationship Type="http://schemas.openxmlformats.org/officeDocument/2006/relationships/slideLayout" Target="/ppt/slideLayouts/slideLayout12.xml" Id="R4c3fb2abef214872" /><Relationship Type="http://schemas.openxmlformats.org/officeDocument/2006/relationships/slideLayout" Target="/ppt/slideLayouts/slideLayout13.xml" Id="Rb18a5cacdfec4110" /><Relationship Type="http://schemas.openxmlformats.org/officeDocument/2006/relationships/slideLayout" Target="/ppt/slideLayouts/slideLayout14.xml" Id="R9b9fd0671db84fa2" /><Relationship Type="http://schemas.openxmlformats.org/officeDocument/2006/relationships/slideLayout" Target="/ppt/slideLayouts/slideLayout15.xml" Id="R60b46c646e5a405d" /><Relationship Type="http://schemas.openxmlformats.org/officeDocument/2006/relationships/slideLayout" Target="/ppt/slideLayouts/slideLayout16.xml" Id="R4d5a02bea10d4fde" /><Relationship Type="http://schemas.openxmlformats.org/officeDocument/2006/relationships/slideLayout" Target="/ppt/slideLayouts/slideLayout17.xml" Id="R7915638f52774cbb" /><Relationship Type="http://schemas.openxmlformats.org/officeDocument/2006/relationships/slideLayout" Target="/ppt/slideLayouts/slideLayout18.xml" Id="R2f6a00ed6a4d458c" /><Relationship Type="http://schemas.openxmlformats.org/officeDocument/2006/relationships/slideLayout" Target="/ppt/slideLayouts/slideLayout19.xml" Id="R30a175c2f4c54f3b" /><Relationship Type="http://schemas.openxmlformats.org/officeDocument/2006/relationships/slideLayout" Target="/ppt/slideLayouts/slideLayout20.xml" Id="Rda35ba978a6a4b21" /><Relationship Type="http://schemas.openxmlformats.org/officeDocument/2006/relationships/slideLayout" Target="/ppt/slideLayouts/slideLayout21.xml" Id="Ref532debff5c4f9d" /><Relationship Type="http://schemas.openxmlformats.org/officeDocument/2006/relationships/slideLayout" Target="/ppt/slideLayouts/slideLayout22.xml" Id="Rb1c67c5c426344d8" /><Relationship Type="http://schemas.openxmlformats.org/officeDocument/2006/relationships/slideLayout" Target="/ppt/slideLayouts/slideLayout23.xml" Id="R737bc09e51554aae"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6346a7967e0b4ace">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818"/>
            <a:ext cx="1285875" cy="1619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7B233B"/>
                </a:solidFill>
                <a:latin typeface="Arial"/>
                <a:ea typeface="Arial"/>
                <a:cs typeface="Arial"/>
              </a:defRPr>
            </a:pPr>
            <a:r>
              <a:rPr sz="900" b="0">
                <a:solidFill>
                  <a:srgbClr val="7B233B"/>
                </a:solidFill>
                <a:latin typeface="Arial"/>
                <a:ea typeface="Arial"/>
                <a:cs typeface="Arial"/>
              </a:rPr>
              <a:t>CONFIDENTIAL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a7e15ab9bd48af"/>
    <p:sldLayoutId xmlns:r="http://schemas.openxmlformats.org/officeDocument/2006/relationships" id="2147483650" r:id="R0f56973a21a9407b"/>
    <p:sldLayoutId xmlns:r="http://schemas.openxmlformats.org/officeDocument/2006/relationships" id="2147483651" r:id="R5d10baa9897a4835"/>
    <p:sldLayoutId xmlns:r="http://schemas.openxmlformats.org/officeDocument/2006/relationships" id="2147483652" r:id="R2b9a46930c914a90"/>
    <p:sldLayoutId xmlns:r="http://schemas.openxmlformats.org/officeDocument/2006/relationships" id="2147483653" r:id="R4affb2941f7340b2"/>
    <p:sldLayoutId xmlns:r="http://schemas.openxmlformats.org/officeDocument/2006/relationships" id="2147483654" r:id="R72120c335d3e4dee"/>
    <p:sldLayoutId xmlns:r="http://schemas.openxmlformats.org/officeDocument/2006/relationships" id="2147483655" r:id="R10a332904b594338"/>
    <p:sldLayoutId xmlns:r="http://schemas.openxmlformats.org/officeDocument/2006/relationships" id="2147483656" r:id="R448a978ce0914e47"/>
    <p:sldLayoutId xmlns:r="http://schemas.openxmlformats.org/officeDocument/2006/relationships" id="2147483657" r:id="Rc5c7653a2c034ba8"/>
    <p:sldLayoutId xmlns:r="http://schemas.openxmlformats.org/officeDocument/2006/relationships" id="2147483658" r:id="R67406575966a4493"/>
    <p:sldLayoutId xmlns:r="http://schemas.openxmlformats.org/officeDocument/2006/relationships" id="2147483659" r:id="Re19d2a24482b42ee"/>
    <p:sldLayoutId xmlns:r="http://schemas.openxmlformats.org/officeDocument/2006/relationships" id="2147483660" r:id="R4c3fb2abef214872"/>
    <p:sldLayoutId xmlns:r="http://schemas.openxmlformats.org/officeDocument/2006/relationships" id="2147483661" r:id="Rb18a5cacdfec4110"/>
    <p:sldLayoutId xmlns:r="http://schemas.openxmlformats.org/officeDocument/2006/relationships" id="2147483662" r:id="R9b9fd0671db84fa2"/>
    <p:sldLayoutId xmlns:r="http://schemas.openxmlformats.org/officeDocument/2006/relationships" id="2147483663" r:id="R60b46c646e5a405d"/>
    <p:sldLayoutId xmlns:r="http://schemas.openxmlformats.org/officeDocument/2006/relationships" id="2147483664" r:id="R4d5a02bea10d4fde"/>
    <p:sldLayoutId xmlns:r="http://schemas.openxmlformats.org/officeDocument/2006/relationships" id="2147483665" r:id="R7915638f52774cbb"/>
    <p:sldLayoutId xmlns:r="http://schemas.openxmlformats.org/officeDocument/2006/relationships" id="2147483666" r:id="R2f6a00ed6a4d458c"/>
    <p:sldLayoutId xmlns:r="http://schemas.openxmlformats.org/officeDocument/2006/relationships" id="2147483667" r:id="R30a175c2f4c54f3b"/>
    <p:sldLayoutId xmlns:r="http://schemas.openxmlformats.org/officeDocument/2006/relationships" id="2147483668" r:id="Rda35ba978a6a4b21"/>
    <p:sldLayoutId xmlns:r="http://schemas.openxmlformats.org/officeDocument/2006/relationships" id="2147483669" r:id="Ref532debff5c4f9d"/>
    <p:sldLayoutId xmlns:r="http://schemas.openxmlformats.org/officeDocument/2006/relationships" id="2147483670" r:id="Rb1c67c5c426344d8"/>
    <p:sldLayoutId xmlns:r="http://schemas.openxmlformats.org/officeDocument/2006/relationships" id="2147483671" r:id="R737bc09e51554aae"/>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e104fd4f7546c5" /><Relationship Type="http://schemas.openxmlformats.org/officeDocument/2006/relationships/notesSlide" Target="/ppt/notesSlides/notesSlide1.xml" Id="Ref4352598dae4d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7.xml" Id="Re217417189ba44ad" /><Relationship Type="http://schemas.openxmlformats.org/officeDocument/2006/relationships/image" Target="/ppt/media/image8.png" Id="Rca0a82eead8c4961" /><Relationship Type="http://schemas.openxmlformats.org/officeDocument/2006/relationships/notesSlide" Target="/ppt/notesSlides/notesSlide2.xml" Id="R36e9892fe4ee43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639ad403fd494e2f" /><Relationship Type="http://schemas.openxmlformats.org/officeDocument/2006/relationships/image" Target="/ppt/media/image8.png" Id="R658d3e7752fa4bd2" /><Relationship Type="http://schemas.openxmlformats.org/officeDocument/2006/relationships/notesSlide" Target="/ppt/notesSlides/notesSlide3.xml" Id="Rf5cd643d19d143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4911c4a72ea042ca" /><Relationship Type="http://schemas.openxmlformats.org/officeDocument/2006/relationships/image" Target="/ppt/media/image8.png" Id="R1af75c97dbe74a93" /><Relationship Type="http://schemas.openxmlformats.org/officeDocument/2006/relationships/image" Target="/ppt/media/image9.png" Id="R73099cad157048d8" /><Relationship Type="http://schemas.openxmlformats.org/officeDocument/2006/relationships/notesSlide" Target="/ppt/notesSlides/notesSlide4.xml" Id="Re25d3d6ff737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a53633e2853c4765" /><Relationship Type="http://schemas.openxmlformats.org/officeDocument/2006/relationships/image" Target="/ppt/media/image8.png" Id="R05ed6b3191d74de2" /><Relationship Type="http://schemas.openxmlformats.org/officeDocument/2006/relationships/image" Target="/ppt/media/image10.png" Id="R08533238956c47eb" /><Relationship Type="http://schemas.openxmlformats.org/officeDocument/2006/relationships/notesSlide" Target="/ppt/notesSlides/notesSlide5.xml" Id="Reea274c1554b45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8e4b71612d6c48ce" /><Relationship Type="http://schemas.openxmlformats.org/officeDocument/2006/relationships/image" Target="/ppt/media/image8.png" Id="R65321766f4484d2c" /><Relationship Type="http://schemas.openxmlformats.org/officeDocument/2006/relationships/image" Target="/ppt/media/image11.png" Id="Rd65f693d53fa4368" /><Relationship Type="http://schemas.openxmlformats.org/officeDocument/2006/relationships/notesSlide" Target="/ppt/notesSlides/notesSlide6.xml" Id="R9ee9ced1dc9c45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a3e99751651549e3" /><Relationship Type="http://schemas.openxmlformats.org/officeDocument/2006/relationships/image" Target="/ppt/media/image8.png" Id="Rb16d65a935774dcb" /><Relationship Type="http://schemas.openxmlformats.org/officeDocument/2006/relationships/notesSlide" Target="/ppt/notesSlides/notesSlide7.xml" Id="R91cd436758f34d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5a9d251874ec46cb" /><Relationship Type="http://schemas.openxmlformats.org/officeDocument/2006/relationships/image" Target="/ppt/media/image8.png" Id="Rb12e27cda17c4a81" /><Relationship Type="http://schemas.openxmlformats.org/officeDocument/2006/relationships/notesSlide" Target="/ppt/notesSlides/notesSlide8.xml" Id="R36d0e125af284c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848c6b2c13fc49da" /><Relationship Type="http://schemas.openxmlformats.org/officeDocument/2006/relationships/image" Target="/ppt/media/image8.png" Id="R17f395b2ea694cf9" /><Relationship Type="http://schemas.openxmlformats.org/officeDocument/2006/relationships/notesSlide" Target="/ppt/notesSlides/notesSlide9.xml" Id="R834c5e0d5bab4c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4f63a9efc0c24141" /><Relationship Type="http://schemas.openxmlformats.org/officeDocument/2006/relationships/image" Target="/ppt/media/image8.png" Id="R1ebe22c700644e00" /><Relationship Type="http://schemas.openxmlformats.org/officeDocument/2006/relationships/notesSlide" Target="/ppt/notesSlides/notesSlide10.xml" Id="R578627c8e042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c152af76c3084186" /><Relationship Type="http://schemas.openxmlformats.org/officeDocument/2006/relationships/image" Target="/ppt/media/image8.png" Id="Rdb58ecd3b7d4416b" /><Relationship Type="http://schemas.openxmlformats.org/officeDocument/2006/relationships/notesSlide" Target="/ppt/notesSlides/notesSlide11.xml" Id="R0c5c96f81ef240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4d25568c67344241" /><Relationship Type="http://schemas.openxmlformats.org/officeDocument/2006/relationships/image" Target="/ppt/media/image12.png" Id="R41aef4e23219418d" /><Relationship Type="http://schemas.openxmlformats.org/officeDocument/2006/relationships/notesSlide" Target="/ppt/notesSlides/notesSlide12.xml" Id="Rcd304eb527f941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2.xml" Id="Rf22013b830ed4765" /><Relationship Type="http://schemas.openxmlformats.org/officeDocument/2006/relationships/image" Target="/ppt/media/image13.png" Id="R78ae138f0da84c5b" /><Relationship Type="http://schemas.openxmlformats.org/officeDocument/2006/relationships/notesSlide" Target="/ppt/notesSlides/notesSlide13.xml" Id="Rdd11061172a644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7.xml" Id="R851a178bc29e4962" /><Relationship Type="http://schemas.openxmlformats.org/officeDocument/2006/relationships/image" Target="/ppt/media/image8.png" Id="R256a624aabf247ec" /><Relationship Type="http://schemas.openxmlformats.org/officeDocument/2006/relationships/image" Target="/ppt/media/image14.png" Id="R22a0904875684f22" /><Relationship Type="http://schemas.openxmlformats.org/officeDocument/2006/relationships/notesSlide" Target="/ppt/notesSlides/notesSlide14.xml" Id="R8630871d38ca46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c715a53907c64cc9" /><Relationship Type="http://schemas.openxmlformats.org/officeDocument/2006/relationships/image" Target="/ppt/media/image8.png" Id="R94a7bc51fb4f493c" /><Relationship Type="http://schemas.openxmlformats.org/officeDocument/2006/relationships/notesSlide" Target="/ppt/notesSlides/notesSlide15.xml" Id="Rd85dedb1ce6942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7.xml" Id="Rc1364164bfc040cf" /><Relationship Type="http://schemas.openxmlformats.org/officeDocument/2006/relationships/image" Target="/ppt/media/image8.png" Id="R4a9d114125604025" /><Relationship Type="http://schemas.openxmlformats.org/officeDocument/2006/relationships/notesSlide" Target="/ppt/notesSlides/notesSlide16.xml" Id="R6094f1e67bf249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7.xml" Id="Re70b457e0b934e68" /><Relationship Type="http://schemas.openxmlformats.org/officeDocument/2006/relationships/image" Target="/ppt/media/image8.png" Id="R7e4603f0b3e94716" /><Relationship Type="http://schemas.openxmlformats.org/officeDocument/2006/relationships/image" Target="/ppt/media/image15.png" Id="Rdfc9439b7f04444c" /><Relationship Type="http://schemas.openxmlformats.org/officeDocument/2006/relationships/notesSlide" Target="/ppt/notesSlides/notesSlide17.xml" Id="Rf4c25ca77df54c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7.xml" Id="R4915f70e46ee400f" /><Relationship Type="http://schemas.openxmlformats.org/officeDocument/2006/relationships/image" Target="/ppt/media/image8.png" Id="R73863a8844bc45cc" /><Relationship Type="http://schemas.openxmlformats.org/officeDocument/2006/relationships/notesSlide" Target="/ppt/notesSlides/notesSlide18.xml" Id="Rcc820fb23c4748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7.xml" Id="R16cb05df20c043d1" /><Relationship Type="http://schemas.openxmlformats.org/officeDocument/2006/relationships/image" Target="/ppt/media/image8.png" Id="R32ecb07c9e8e4c87" /><Relationship Type="http://schemas.openxmlformats.org/officeDocument/2006/relationships/notesSlide" Target="/ppt/notesSlides/notesSlide19.xml" Id="R86aafe63694c49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7.xml" Id="R964ab8530cf34f01" /><Relationship Type="http://schemas.openxmlformats.org/officeDocument/2006/relationships/image" Target="/ppt/media/image16.png" Id="Rc9e76a77c70b4299" /><Relationship Type="http://schemas.openxmlformats.org/officeDocument/2006/relationships/notesSlide" Target="/ppt/notesSlides/notesSlide20.xml" Id="R10bb195fc1684e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7.xml" Id="R1c2782a0260e41ae" /><Relationship Type="http://schemas.openxmlformats.org/officeDocument/2006/relationships/image" Target="/ppt/media/image8.png" Id="Rbe1f1f7e37c848cf" /><Relationship Type="http://schemas.openxmlformats.org/officeDocument/2006/relationships/notesSlide" Target="/ppt/notesSlides/notesSlide21.xml" Id="R0010f1830a4a40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3.xml" Id="R9327552efa6249da" /><Relationship Type="http://schemas.openxmlformats.org/officeDocument/2006/relationships/image" Target="/ppt/media/image8.png" Id="Rd0048d7fcc0a464c" /><Relationship Type="http://schemas.openxmlformats.org/officeDocument/2006/relationships/image" Target="/ppt/media/image17.png" Id="R61a48d801f9f4710" /><Relationship Type="http://schemas.openxmlformats.org/officeDocument/2006/relationships/image" Target="/ppt/media/image18.png" Id="R6d2e6e5d2d874ee4" /><Relationship Type="http://schemas.openxmlformats.org/officeDocument/2006/relationships/notesSlide" Target="/ppt/notesSlides/notesSlide22.xml" Id="R0bac358cf60242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7.xml" Id="R3a3f52e4bc8142c6" /><Relationship Type="http://schemas.openxmlformats.org/officeDocument/2006/relationships/image" Target="/ppt/media/image8.png" Id="Rcc5ff709d3d84245" /><Relationship Type="http://schemas.openxmlformats.org/officeDocument/2006/relationships/notesSlide" Target="/ppt/notesSlides/notesSlide23.xml" Id="Rf2758e701d1e4ce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3BFDC539-FE20-43A3-91DA-DC6AC6A72CAE}"/>
              </a:ext>
            </a:extLst>
          </p:cNvPr>
          <p:cNvSpPr>
            <a:spLocks xmlns:a="http://schemas.openxmlformats.org/drawingml/2006/main" noGrp="1"/>
          </p:cNvSpPr>
          <p:nvPr>
            <p:ph type="subTitle" idx="1"/>
          </p:nvPr>
        </p:nvSpPr>
        <p:spPr>
          <a:xfrm xmlns:a="http://schemas.openxmlformats.org/drawingml/2006/main">
            <a:off x="5810250" y="4143375"/>
            <a:ext cx="5905500" cy="12382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DATA FLYWHEEL</a:t>
            </a:r>
            <a:endParaRPr/>
          </a:p>
        </p:txBody>
      </p:sp>
      <p:sp>
        <p:nvSpPr>
          <p:cNvPr id="5" name="content">
            <a:extLst xmlns:a="http://schemas.openxmlformats.org/drawingml/2006/main">
              <a:ext uri="{FF2B5EF4-FFF2-40B4-BE49-F238E27FC236}">
                <a16:creationId xmlns:a16="http://schemas.microsoft.com/office/drawing/2014/main" id="{59783F51-B372-43C7-9A2A-011FB2420147}"/>
              </a:ext>
            </a:extLst>
          </p:cNvPr>
          <p:cNvSpPr>
            <a:spLocks xmlns:a="http://schemas.openxmlformats.org/drawingml/2006/main" noGrp="1"/>
          </p:cNvSpPr>
          <p:nvPr/>
        </p:nvSpPr>
        <p:spPr>
          <a:xfrm xmlns:a="http://schemas.openxmlformats.org/drawingml/2006/main">
            <a:off x="5810250" y="55435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Chọn dữ liệu có ích cho lần</a:t>
            </a:r>
          </a:p>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cải thiện kỹ năng tiếp theo</a:t>
            </a:r>
          </a:p>
        </p:txBody>
      </p:sp>
      <p:sp>
        <p:nvSpPr>
          <p:cNvPr id="6" name="content">
            <a:extLst xmlns:a="http://schemas.openxmlformats.org/drawingml/2006/main">
              <a:ext uri="{FF2B5EF4-FFF2-40B4-BE49-F238E27FC236}">
                <a16:creationId xmlns:a16="http://schemas.microsoft.com/office/drawing/2014/main" id="{7DB7453C-BEF1-46D6-B7D3-DC09EF978A76}"/>
              </a:ext>
            </a:extLst>
          </p:cNvPr>
          <p:cNvSpPr>
            <a:spLocks xmlns:a="http://schemas.openxmlformats.org/drawingml/2006/main" noGrp="1"/>
          </p:cNvSpPr>
          <p:nvPr/>
        </p:nvSpPr>
        <p:spPr>
          <a:xfrm xmlns:a="http://schemas.openxmlformats.org/drawingml/2006/main">
            <a:off x="5810250" y="64484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defPPr>
          </a:lstStyle>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Model Engine: GR00T N1.5 qua FluxVLA</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ca0a82eead8c4961"/>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Chi phí của mỗi vòng cải thiện</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Chưa có baseline chi phí DENSO. Pilot cần đo quy trình thực tế cùng task owner.</a:t>
            </a:r>
          </a:p>
        </p:txBody>
      </p:sp>
      <p:sp>
        <p:nvSpPr>
          <p:cNvPr id="11" name="content">
            <a:extLst xmlns:a="http://schemas.openxmlformats.org/drawingml/2006/main">
              <a:ext uri="{FF2B5EF4-FFF2-40B4-BE49-F238E27FC236}">
                <a16:creationId xmlns:a16="http://schemas.microsoft.com/office/drawing/2014/main" id="{AD1BA7D0-5084-4A3C-A780-5B317C99EE4F}"/>
              </a:ext>
            </a:extLst>
          </p:cNvPr>
          <p:cNvSpPr>
            <a:spLocks xmlns:a="http://schemas.openxmlformats.org/drawingml/2006/main" noGrp="1"/>
          </p:cNvSpPr>
          <p:nvPr/>
        </p:nvSpPr>
        <p:spPr>
          <a:xfrm xmlns:a="http://schemas.openxmlformats.org/drawingml/2006/main">
            <a:off x="533400" y="16002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451"/>
                </a:solidFill>
                <a:latin typeface="Arial"/>
                <a:ea typeface="Arial"/>
                <a:cs typeface="Arial"/>
              </a:defRPr>
            </a:defPPr>
          </a:lstStyle>
          <a:p xmlns:a="http://schemas.openxmlformats.org/drawingml/2006/main">
            <a:pPr>
              <a:defRPr sz="2550" b="1">
                <a:solidFill>
                  <a:srgbClr val="173451"/>
                </a:solidFill>
                <a:latin typeface="Arial"/>
                <a:ea typeface="Arial"/>
                <a:cs typeface="Arial"/>
              </a:defRPr>
            </a:pPr>
            <a:r>
              <a:rPr sz="2550" b="1">
                <a:solidFill>
                  <a:srgbClr val="173451"/>
                </a:solidFill>
                <a:latin typeface="Arial"/>
                <a:ea typeface="Arial"/>
                <a:cs typeface="Arial"/>
              </a:rPr>
              <a:t>Kỹ sư phải quyết định nên sửa gì và cần thêm dữ liệu nào</a:t>
            </a:r>
          </a:p>
        </p:txBody>
      </p:sp>
      <p:sp>
        <p:nvSpPr>
          <p:cNvPr id="12" name="content">
            <a:extLst xmlns:a="http://schemas.openxmlformats.org/drawingml/2006/main">
              <a:ext uri="{FF2B5EF4-FFF2-40B4-BE49-F238E27FC236}">
                <a16:creationId xmlns:a16="http://schemas.microsoft.com/office/drawing/2014/main" id="{838AD1E3-3A6F-4228-B640-D3F653EE4DC9}"/>
              </a:ext>
            </a:extLst>
          </p:cNvPr>
          <p:cNvSpPr>
            <a:spLocks xmlns:a="http://schemas.openxmlformats.org/drawingml/2006/main" noGrp="1"/>
          </p:cNvSpPr>
          <p:nvPr/>
        </p:nvSpPr>
        <p:spPr>
          <a:xfrm xmlns:a="http://schemas.openxmlformats.org/drawingml/2006/main">
            <a:off x="533400" y="22002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46627D"/>
                </a:solidFill>
                <a:latin typeface="Arial"/>
                <a:ea typeface="Arial"/>
                <a:cs typeface="Arial"/>
              </a:defRPr>
            </a:defPPr>
          </a:lstStyle>
          <a:p xmlns:a="http://schemas.openxmlformats.org/drawingml/2006/main">
            <a:pPr>
              <a:defRPr sz="1500" b="0">
                <a:solidFill>
                  <a:srgbClr val="46627D"/>
                </a:solidFill>
                <a:latin typeface="Arial"/>
                <a:ea typeface="Arial"/>
                <a:cs typeface="Arial"/>
              </a:defRPr>
            </a:pPr>
            <a:r>
              <a:rPr sz="1500" b="0">
                <a:solidFill>
                  <a:srgbClr val="46627D"/>
                </a:solidFill>
                <a:latin typeface="Arial"/>
                <a:ea typeface="Arial"/>
                <a:cs typeface="Arial"/>
              </a:rPr>
              <a:t>Figure Index: 16 triệu video, 15 triệu USD trả creators. Payout chỉ là một phần chi phí dataset.</a:t>
            </a:r>
          </a:p>
        </p:txBody>
      </p:sp>
      <p:graphicFrame>
        <p:nvGraphicFramePr>
          <p:cNvPr id="13" name="">
            <a:extLst xmlns:a="http://schemas.openxmlformats.org/drawingml/2006/main">
              <a:ext uri="{FF2B5EF4-FFF2-40B4-BE49-F238E27FC236}">
                <a16:creationId xmlns:a16="http://schemas.microsoft.com/office/drawing/2014/main" id="{77961845-A4AC-40E2-AB5D-07E43DF17C21}"/>
              </a:ext>
            </a:extLst>
          </p:cNvPr>
          <p:cNvGraphicFramePr/>
          <p:nvPr/>
        </p:nvGraphicFramePr>
        <p:xfrm>
          <a:off xmlns:a="http://schemas.openxmlformats.org/drawingml/2006/main" x="533400" y="2609850"/>
          <a:ext xmlns:a="http://schemas.openxmlformats.org/drawingml/2006/main" cx="11125200" cy="2133600"/>
        </p:xfrm>
        <a:graphic xmlns:a="http://schemas.openxmlformats.org/drawingml/2006/main">
          <a:graphicData uri="http://schemas.openxmlformats.org/drawingml/2006/table">
            <a:tbl>
              <a:tblPr/>
              <a:tblGrid>
                <a:gridCol w="3143250"/>
                <a:gridCol w="3429000"/>
                <a:gridCol w="4552950"/>
              </a:tblGrid>
              <a:tr h="711200">
                <a:tc>
                  <a:txBody>
                    <a:bodyPr/>
                    <a:lstStyle/>
                    <a:p>
                      <a:r>
                        <a:rPr sz="1875" b="1">
                          <a:solidFill>
                            <a:srgbClr val="FFFFFF"/>
                          </a:solidFill>
                          <a:latin typeface="Arial"/>
                          <a:ea typeface="Arial"/>
                          <a:cs typeface="Arial"/>
                        </a:rPr>
                        <a:t>Công việc</a:t>
                      </a:r>
                    </a:p>
                  </a:txBody>
                  <a:tcPr marL="91440" marR="91440" marT="45720" marB="45720">
                    <a:solidFill>
                      <a:srgbClr val="173451"/>
                    </a:solidFill>
                  </a:tcPr>
                </a:tc>
                <a:tc>
                  <a:txBody>
                    <a:bodyPr/>
                    <a:lstStyle/>
                    <a:p>
                      <a:r>
                        <a:rPr sz="1875" b="1">
                          <a:solidFill>
                            <a:srgbClr val="FFFFFF"/>
                          </a:solidFill>
                          <a:latin typeface="Arial"/>
                          <a:ea typeface="Arial"/>
                          <a:cs typeface="Arial"/>
                        </a:rPr>
                        <a:t>Chi phí phải ghi</a:t>
                      </a:r>
                    </a:p>
                  </a:txBody>
                  <a:tcPr marL="91440" marR="91440" marT="45720" marB="45720">
                    <a:solidFill>
                      <a:srgbClr val="173451"/>
                    </a:solidFill>
                  </a:tcPr>
                </a:tc>
                <a:tc>
                  <a:txBody>
                    <a:bodyPr/>
                    <a:lstStyle/>
                    <a:p>
                      <a:r>
                        <a:rPr sz="1875" b="1">
                          <a:solidFill>
                            <a:srgbClr val="FFFFFF"/>
                          </a:solidFill>
                          <a:latin typeface="Arial"/>
                          <a:ea typeface="Arial"/>
                          <a:cs typeface="Arial"/>
                        </a:rPr>
                        <a:t>Quyết định còn thiếu</a:t>
                      </a:r>
                    </a:p>
                  </a:txBody>
                  <a:tcPr marL="91440" marR="91440" marT="45720" marB="45720">
                    <a:solidFill>
                      <a:srgbClr val="173451"/>
                    </a:solidFill>
                  </a:tcPr>
                </a:tc>
              </a:tr>
              <a:tr h="711200">
                <a:tc>
                  <a:txBody>
                    <a:bodyPr/>
                    <a:lstStyle/>
                    <a:p>
                      <a:r>
                        <a:rPr sz="1875" b="0">
                          <a:solidFill>
                            <a:srgbClr val="173451"/>
                          </a:solidFill>
                          <a:latin typeface="Arial"/>
                          <a:ea typeface="Arial"/>
                          <a:cs typeface="Arial"/>
                        </a:rPr>
                        <a:t>Thu mẫu và reset</a:t>
                      </a:r>
                    </a:p>
                  </a:txBody>
                  <a:tcPr marL="91440" marR="91440" marT="45720" marB="45720">
                    <a:solidFill>
                      <a:srgbClr val="FFFFFF"/>
                    </a:solidFill>
                  </a:tcPr>
                </a:tc>
                <a:tc>
                  <a:txBody>
                    <a:bodyPr/>
                    <a:lstStyle/>
                    <a:p>
                      <a:r>
                        <a:rPr sz="1875" b="0">
                          <a:solidFill>
                            <a:srgbClr val="173451"/>
                          </a:solidFill>
                          <a:latin typeface="Arial"/>
                          <a:ea typeface="Arial"/>
                          <a:cs typeface="Arial"/>
                        </a:rPr>
                        <a:t>Giờ operator, thiết bị</a:t>
                      </a:r>
                    </a:p>
                  </a:txBody>
                  <a:tcPr marL="91440" marR="91440" marT="45720" marB="45720">
                    <a:solidFill>
                      <a:srgbClr val="FFFFFF"/>
                    </a:solidFill>
                  </a:tcPr>
                </a:tc>
                <a:tc>
                  <a:txBody>
                    <a:bodyPr/>
                    <a:lstStyle/>
                    <a:p>
                      <a:r>
                        <a:rPr sz="1875" b="0">
                          <a:solidFill>
                            <a:srgbClr val="173451"/>
                          </a:solidFill>
                          <a:latin typeface="Arial"/>
                          <a:ea typeface="Arial"/>
                          <a:cs typeface="Arial"/>
                        </a:rPr>
                        <a:t>Mẫu nào bổ sung tình huống cần học?</a:t>
                      </a:r>
                    </a:p>
                  </a:txBody>
                  <a:tcPr marL="91440" marR="91440" marT="45720" marB="45720">
                    <a:solidFill>
                      <a:srgbClr val="FFFFFF"/>
                    </a:solidFill>
                  </a:tcPr>
                </a:tc>
              </a:tr>
              <a:tr h="711200">
                <a:tc>
                  <a:txBody>
                    <a:bodyPr/>
                    <a:lstStyle/>
                    <a:p>
                      <a:r>
                        <a:rPr sz="1875" b="0">
                          <a:solidFill>
                            <a:srgbClr val="173451"/>
                          </a:solidFill>
                          <a:latin typeface="Arial"/>
                          <a:ea typeface="Arial"/>
                          <a:cs typeface="Arial"/>
                        </a:rPr>
                        <a:t>QA, debug và training</a:t>
                      </a:r>
                    </a:p>
                  </a:txBody>
                  <a:tcPr marL="91440" marR="91440" marT="45720" marB="45720">
                    <a:solidFill>
                      <a:srgbClr val="FFFFFF"/>
                    </a:solidFill>
                  </a:tcPr>
                </a:tc>
                <a:tc>
                  <a:txBody>
                    <a:bodyPr/>
                    <a:lstStyle/>
                    <a:p>
                      <a:r>
                        <a:rPr sz="1875" b="0">
                          <a:solidFill>
                            <a:srgbClr val="173451"/>
                          </a:solidFill>
                          <a:latin typeface="Arial"/>
                          <a:ea typeface="Arial"/>
                          <a:cs typeface="Arial"/>
                        </a:rPr>
                        <a:t>Giờ kỹ sư, GPU, lượt thử</a:t>
                      </a:r>
                    </a:p>
                  </a:txBody>
                  <a:tcPr marL="91440" marR="91440" marT="45720" marB="45720">
                    <a:solidFill>
                      <a:srgbClr val="FFFFFF"/>
                    </a:solidFill>
                  </a:tcPr>
                </a:tc>
                <a:tc>
                  <a:txBody>
                    <a:bodyPr/>
                    <a:lstStyle/>
                    <a:p>
                      <a:r>
                        <a:rPr sz="1875" b="0">
                          <a:solidFill>
                            <a:srgbClr val="173451"/>
                          </a:solidFill>
                          <a:latin typeface="Arial"/>
                          <a:ea typeface="Arial"/>
                          <a:cs typeface="Arial"/>
                        </a:rPr>
                        <a:t>Sửa dữ liệu, model hay controller?</a:t>
                      </a:r>
                    </a:p>
                  </a:txBody>
                  <a:tcPr marL="91440" marR="91440" marT="45720" marB="45720">
                    <a:solidFill>
                      <a:srgbClr val="FFFFFF"/>
                    </a:solidFill>
                  </a:tcPr>
                </a:tc>
              </a:tr>
            </a:tbl>
          </a:graphicData>
        </a:graphic>
      </p:graphicFrame>
      <p:sp>
        <p:nvSpPr>
          <p:cNvPr id="14" name="content">
            <a:extLst xmlns:a="http://schemas.openxmlformats.org/drawingml/2006/main">
              <a:ext uri="{FF2B5EF4-FFF2-40B4-BE49-F238E27FC236}">
                <a16:creationId xmlns:a16="http://schemas.microsoft.com/office/drawing/2014/main" id="{17545F41-4A07-42B2-A391-A3A7718CACCA}"/>
              </a:ext>
            </a:extLst>
          </p:cNvPr>
          <p:cNvSpPr>
            <a:spLocks xmlns:a="http://schemas.openxmlformats.org/drawingml/2006/main" noGrp="1"/>
          </p:cNvSpPr>
          <p:nvPr/>
        </p:nvSpPr>
        <p:spPr>
          <a:xfrm xmlns:a="http://schemas.openxmlformats.org/drawingml/2006/main">
            <a:off x="533400" y="52387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Giả thuyết: giảm các vòng thu mẫu và training sai hướng</a:t>
            </a:r>
          </a:p>
        </p:txBody>
      </p:sp>
      <p:sp>
        <p:nvSpPr>
          <p:cNvPr id="15" name="content">
            <a:extLst xmlns:a="http://schemas.openxmlformats.org/drawingml/2006/main">
              <a:ext uri="{FF2B5EF4-FFF2-40B4-BE49-F238E27FC236}">
                <a16:creationId xmlns:a16="http://schemas.microsoft.com/office/drawing/2014/main" id="{358A9E6C-166F-47B6-B590-A014698914A6}"/>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02 / 23</a:t>
            </a:r>
          </a:p>
        </p:txBody>
      </p:sp>
    </p:spTree>
    <p:extLst>
      <p:ext uri="{BB962C8B-B14F-4D97-AF65-F5344CB8AC3E}">
        <p14:creationId xmlns:p14="http://schemas.microsoft.com/office/powerpoint/2010/main" val="41914443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658d3e7752fa4bd2"/>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Đóng góp của idea</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Đây là đóng góp hệ thống dự kiến. Ưu thế cần đo với quy trình kỹ sư có năng lực tương đương.</a:t>
            </a:r>
          </a:p>
        </p:txBody>
      </p:sp>
      <p:sp>
        <p:nvSpPr>
          <p:cNvPr id="11" name="content">
            <a:extLst xmlns:a="http://schemas.openxmlformats.org/drawingml/2006/main">
              <a:ext uri="{FF2B5EF4-FFF2-40B4-BE49-F238E27FC236}">
                <a16:creationId xmlns:a16="http://schemas.microsoft.com/office/drawing/2014/main" id="{AC0AAB3E-0ECC-480A-A3FB-9F8D01A2ACEE}"/>
              </a:ext>
            </a:extLst>
          </p:cNvPr>
          <p:cNvSpPr>
            <a:spLocks xmlns:a="http://schemas.openxmlformats.org/drawingml/2006/main" noGrp="1"/>
          </p:cNvSpPr>
          <p:nvPr/>
        </p:nvSpPr>
        <p:spPr>
          <a:xfrm xmlns:a="http://schemas.openxmlformats.org/drawingml/2006/main">
            <a:off x="533400" y="1619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451"/>
                </a:solidFill>
                <a:latin typeface="Arial"/>
                <a:ea typeface="Arial"/>
                <a:cs typeface="Arial"/>
              </a:defRPr>
            </a:defPPr>
          </a:lstStyle>
          <a:p xmlns:a="http://schemas.openxmlformats.org/drawingml/2006/main">
            <a:pPr>
              <a:defRPr sz="2400" b="1">
                <a:solidFill>
                  <a:srgbClr val="173451"/>
                </a:solidFill>
                <a:latin typeface="Arial"/>
                <a:ea typeface="Arial"/>
                <a:cs typeface="Arial"/>
              </a:defRPr>
            </a:pPr>
            <a:r>
              <a:rPr sz="2400" b="1">
                <a:solidFill>
                  <a:srgbClr val="173451"/>
                </a:solidFill>
                <a:latin typeface="Arial"/>
                <a:ea typeface="Arial"/>
                <a:cs typeface="Arial"/>
              </a:rPr>
              <a:t>Kế thừa từ nền tảng</a:t>
            </a:r>
          </a:p>
        </p:txBody>
      </p:sp>
      <p:sp>
        <p:nvSpPr>
          <p:cNvPr id="12" name="content">
            <a:extLst xmlns:a="http://schemas.openxmlformats.org/drawingml/2006/main">
              <a:ext uri="{FF2B5EF4-FFF2-40B4-BE49-F238E27FC236}">
                <a16:creationId xmlns:a16="http://schemas.microsoft.com/office/drawing/2014/main" id="{7B3BB598-7D79-46BA-B700-220166FA2188}"/>
              </a:ext>
            </a:extLst>
          </p:cNvPr>
          <p:cNvSpPr>
            <a:spLocks xmlns:a="http://schemas.openxmlformats.org/drawingml/2006/main" noGrp="1"/>
          </p:cNvSpPr>
          <p:nvPr/>
        </p:nvSpPr>
        <p:spPr>
          <a:xfrm xmlns:a="http://schemas.openxmlformats.org/drawingml/2006/main">
            <a:off x="6334125" y="1619250"/>
            <a:ext cx="53244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878B"/>
                </a:solidFill>
                <a:latin typeface="Arial"/>
                <a:ea typeface="Arial"/>
                <a:cs typeface="Arial"/>
              </a:defRPr>
            </a:defPPr>
          </a:lstStyle>
          <a:p xmlns:a="http://schemas.openxmlformats.org/drawingml/2006/main">
            <a:pPr>
              <a:defRPr sz="2400" b="1">
                <a:solidFill>
                  <a:srgbClr val="00878B"/>
                </a:solidFill>
                <a:latin typeface="Arial"/>
                <a:ea typeface="Arial"/>
                <a:cs typeface="Arial"/>
              </a:defRPr>
            </a:pPr>
            <a:r>
              <a:rPr sz="2400" b="1">
                <a:solidFill>
                  <a:srgbClr val="00878B"/>
                </a:solidFill>
                <a:latin typeface="Arial"/>
                <a:ea typeface="Arial"/>
                <a:cs typeface="Arial"/>
              </a:rPr>
              <a:t>Đội đề xuất xây</a:t>
            </a:r>
          </a:p>
        </p:txBody>
      </p:sp>
      <p:sp>
        <p:nvSpPr>
          <p:cNvPr id="13" name="content">
            <a:extLst xmlns:a="http://schemas.openxmlformats.org/drawingml/2006/main">
              <a:ext uri="{FF2B5EF4-FFF2-40B4-BE49-F238E27FC236}">
                <a16:creationId xmlns:a16="http://schemas.microsoft.com/office/drawing/2014/main" id="{ACEC1706-E922-4A62-9001-14DCDDA32F1A}"/>
              </a:ext>
            </a:extLst>
          </p:cNvPr>
          <p:cNvSpPr>
            <a:spLocks xmlns:a="http://schemas.openxmlformats.org/drawingml/2006/main" noGrp="1"/>
          </p:cNvSpPr>
          <p:nvPr/>
        </p:nvSpPr>
        <p:spPr>
          <a:xfrm xmlns:a="http://schemas.openxmlformats.org/drawingml/2006/main">
            <a:off x="533400" y="23050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451"/>
                </a:solidFill>
                <a:latin typeface="Arial"/>
                <a:ea typeface="Arial"/>
                <a:cs typeface="Arial"/>
              </a:defRPr>
            </a:defPPr>
          </a:lstStyle>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FluxVLA</a:t>
            </a:r>
          </a:p>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Training, evaluation, inference</a:t>
            </a:r>
          </a:p>
          <a:p xmlns:a="http://schemas.openxmlformats.org/drawingml/2006/main">
            <a:r>
              <a:t/>
            </a:r>
          </a:p>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GR00T N1.5</a:t>
            </a:r>
          </a:p>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Eagle VLM và DiT Action Expert</a:t>
            </a:r>
          </a:p>
        </p:txBody>
      </p:sp>
      <p:sp>
        <p:nvSpPr>
          <p:cNvPr id="14" name="content">
            <a:extLst xmlns:a="http://schemas.openxmlformats.org/drawingml/2006/main">
              <a:ext uri="{FF2B5EF4-FFF2-40B4-BE49-F238E27FC236}">
                <a16:creationId xmlns:a16="http://schemas.microsoft.com/office/drawing/2014/main" id="{335FFEE3-4D99-4164-A46B-EA966EA9952A}"/>
              </a:ext>
            </a:extLst>
          </p:cNvPr>
          <p:cNvSpPr>
            <a:spLocks xmlns:a="http://schemas.openxmlformats.org/drawingml/2006/main" noGrp="1"/>
          </p:cNvSpPr>
          <p:nvPr/>
        </p:nvSpPr>
        <p:spPr>
          <a:xfrm xmlns:a="http://schemas.openxmlformats.org/drawingml/2006/main">
            <a:off x="6334125" y="2305050"/>
            <a:ext cx="53244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451"/>
                </a:solidFill>
                <a:latin typeface="Arial"/>
                <a:ea typeface="Arial"/>
                <a:cs typeface="Arial"/>
              </a:defRPr>
            </a:defPPr>
          </a:lstStyle>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Quyết định dữ liệu theo bằng chứng lỗi</a:t>
            </a:r>
          </a:p>
          <a:p xmlns:a="http://schemas.openxmlformats.org/drawingml/2006/main">
            <a:r>
              <a:t/>
            </a:r>
          </a:p>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Nối release với phạm vi cập nhật model</a:t>
            </a:r>
          </a:p>
          <a:p xmlns:a="http://schemas.openxmlformats.org/drawingml/2006/main">
            <a:r>
              <a:t/>
            </a:r>
          </a:p>
          <a:p xmlns:a="http://schemas.openxmlformats.org/drawingml/2006/main">
            <a:pPr>
              <a:defRPr sz="2175" b="0">
                <a:solidFill>
                  <a:srgbClr val="173451"/>
                </a:solidFill>
                <a:latin typeface="Arial"/>
                <a:ea typeface="Arial"/>
                <a:cs typeface="Arial"/>
              </a:defRPr>
            </a:pPr>
            <a:r>
              <a:rPr sz="2175" b="0">
                <a:solidFill>
                  <a:srgbClr val="173451"/>
                </a:solidFill>
                <a:latin typeface="Arial"/>
                <a:ea typeface="Arial"/>
                <a:cs typeface="Arial"/>
              </a:rPr>
              <a:t>Đo lợi ích và tổng công của can thiệp</a:t>
            </a:r>
          </a:p>
        </p:txBody>
      </p:sp>
      <p:sp>
        <p:nvSpPr>
          <p:cNvPr id="15" name="content">
            <a:extLst xmlns:a="http://schemas.openxmlformats.org/drawingml/2006/main">
              <a:ext uri="{FF2B5EF4-FFF2-40B4-BE49-F238E27FC236}">
                <a16:creationId xmlns:a16="http://schemas.microsoft.com/office/drawing/2014/main" id="{9A069EA7-E203-4C57-BCCF-D0E6E7AD1969}"/>
              </a:ext>
            </a:extLst>
          </p:cNvPr>
          <p:cNvSpPr>
            <a:spLocks xmlns:a="http://schemas.openxmlformats.org/drawingml/2006/main" noGrp="1"/>
          </p:cNvSpPr>
          <p:nvPr/>
        </p:nvSpPr>
        <p:spPr>
          <a:xfrm xmlns:a="http://schemas.openxmlformats.org/drawingml/2006/main">
            <a:off x="533400" y="5219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Mỗi can thiệp có lý do, dữ liệu truy nguyên và phép kiểm lợi ích</a:t>
            </a:r>
          </a:p>
        </p:txBody>
      </p:sp>
      <p:sp>
        <p:nvSpPr>
          <p:cNvPr id="16" name="content">
            <a:extLst xmlns:a="http://schemas.openxmlformats.org/drawingml/2006/main">
              <a:ext uri="{FF2B5EF4-FFF2-40B4-BE49-F238E27FC236}">
                <a16:creationId xmlns:a16="http://schemas.microsoft.com/office/drawing/2014/main" id="{2FCB9CDD-F884-49AA-8456-9E4E3BE3CB11}"/>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03 / 23</a:t>
            </a:r>
          </a:p>
        </p:txBody>
      </p:sp>
    </p:spTree>
    <p:extLst>
      <p:ext uri="{BB962C8B-B14F-4D97-AF65-F5344CB8AC3E}">
        <p14:creationId xmlns:p14="http://schemas.microsoft.com/office/powerpoint/2010/main" val="4191444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6">
            <a:extLst xmlns:a="http://schemas.openxmlformats.org/drawingml/2006/main">
              <a:ext uri="{FF2B5EF4-FFF2-40B4-BE49-F238E27FC236}">
                <a16:creationId xmlns:a16="http://schemas.microsoft.com/office/drawing/2014/main" id="{1BA3F737-577B-4D1A-B1F7-7C67745D2103}"/>
              </a:ext>
            </a:extLst>
          </p:cNvPr>
          <p:cNvPicPr>
            <a:picLocks xmlns:a="http://schemas.openxmlformats.org/drawingml/2006/main" noChangeAspect="1"/>
          </p:cNvPicPr>
          <p:nvPr/>
        </p:nvPicPr>
        <p:blipFill>
          <a:blip xmlns:r="http://schemas.openxmlformats.org/officeDocument/2006/relationships" xmlns:a="http://schemas.openxmlformats.org/drawingml/2006/main" r:embed="R1af75c97dbe74a93"/>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Một lỗi, nhiều hướng xử lý</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Ảnh minh họa AI. Bằng chứng chưa đủ thì kiểm tiếp, chưa chọn training.</a:t>
            </a:r>
          </a:p>
        </p:txBody>
      </p:sp>
      <p:pic>
        <p:nvPicPr>
          <p:cNvPr id="18" name="">
            <a:extLst xmlns:a="http://schemas.openxmlformats.org/drawingml/2006/main">
              <a:ext uri="{FF2B5EF4-FFF2-40B4-BE49-F238E27FC236}">
                <a16:creationId xmlns:a16="http://schemas.microsoft.com/office/drawing/2014/main" id="{7210FDBF-5634-4CC2-8FA3-77FE994FBB0E}"/>
              </a:ext>
            </a:extLst>
          </p:cNvPr>
          <p:cNvPicPr>
            <a:picLocks xmlns:a="http://schemas.openxmlformats.org/drawingml/2006/main" noChangeAspect="1"/>
          </p:cNvPicPr>
          <p:nvPr/>
        </p:nvPicPr>
        <p:blipFill>
          <a:blip xmlns:r="http://schemas.openxmlformats.org/officeDocument/2006/relationships" xmlns:a="http://schemas.openxmlformats.org/drawingml/2006/main" r:embed="R73099cad157048d8"/>
          <a:stretch xmlns:a="http://schemas.openxmlformats.org/drawingml/2006/main"/>
        </p:blipFill>
        <p:spPr>
          <a:xfrm xmlns:a="http://schemas.openxmlformats.org/drawingml/2006/main">
            <a:off x="533400" y="1714500"/>
            <a:ext cx="4857750" cy="2733675"/>
          </a:xfrm>
          <a:prstGeom xmlns:a="http://schemas.openxmlformats.org/drawingml/2006/main" prst="rect">
            <a:avLst/>
          </a:prstGeom>
        </p:spPr>
      </p:pic>
      <p:sp>
        <p:nvSpPr>
          <p:cNvPr id="19" name="content">
            <a:extLst xmlns:a="http://schemas.openxmlformats.org/drawingml/2006/main">
              <a:ext uri="{FF2B5EF4-FFF2-40B4-BE49-F238E27FC236}">
                <a16:creationId xmlns:a16="http://schemas.microsoft.com/office/drawing/2014/main" id="{D00F8465-D6BB-4F7B-822D-3A8236C4996E}"/>
              </a:ext>
            </a:extLst>
          </p:cNvPr>
          <p:cNvSpPr>
            <a:spLocks xmlns:a="http://schemas.openxmlformats.org/drawingml/2006/main" noGrp="1"/>
          </p:cNvSpPr>
          <p:nvPr/>
        </p:nvSpPr>
        <p:spPr>
          <a:xfrm xmlns:a="http://schemas.openxmlformats.org/drawingml/2006/main">
            <a:off x="533400" y="46863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451"/>
                </a:solidFill>
                <a:latin typeface="Arial"/>
                <a:ea typeface="Arial"/>
                <a:cs typeface="Arial"/>
              </a:defRPr>
            </a:defPPr>
          </a:lstStyle>
          <a:p xmlns:a="http://schemas.openxmlformats.org/drawingml/2006/main">
            <a:pPr>
              <a:defRPr sz="2175" b="1">
                <a:solidFill>
                  <a:srgbClr val="173451"/>
                </a:solidFill>
                <a:latin typeface="Arial"/>
                <a:ea typeface="Arial"/>
                <a:cs typeface="Arial"/>
              </a:defRPr>
            </a:pPr>
            <a:r>
              <a:rPr sz="2175" b="1">
                <a:solidFill>
                  <a:srgbClr val="173451"/>
                </a:solidFill>
                <a:latin typeface="Arial"/>
                <a:ea typeface="Arial"/>
                <a:cs typeface="Arial"/>
              </a:rPr>
              <a:t>Robot làm rơi vật trước ô A1</a:t>
            </a:r>
          </a:p>
        </p:txBody>
      </p:sp>
      <p:sp>
        <p:nvSpPr>
          <p:cNvPr id="20" name="content">
            <a:extLst xmlns:a="http://schemas.openxmlformats.org/drawingml/2006/main">
              <a:ext uri="{FF2B5EF4-FFF2-40B4-BE49-F238E27FC236}">
                <a16:creationId xmlns:a16="http://schemas.microsoft.com/office/drawing/2014/main" id="{DE20AA59-313A-45DF-A41D-4EACB8D64B38}"/>
              </a:ext>
            </a:extLst>
          </p:cNvPr>
          <p:cNvSpPr>
            <a:spLocks xmlns:a="http://schemas.openxmlformats.org/drawingml/2006/main" noGrp="1"/>
          </p:cNvSpPr>
          <p:nvPr/>
        </p:nvSpPr>
        <p:spPr>
          <a:xfrm xmlns:a="http://schemas.openxmlformats.org/drawingml/2006/main">
            <a:off x="5905500" y="1600200"/>
            <a:ext cx="5753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451"/>
                </a:solidFill>
                <a:latin typeface="Arial"/>
                <a:ea typeface="Arial"/>
                <a:cs typeface="Arial"/>
              </a:defRPr>
            </a:defPPr>
          </a:lstStyle>
          <a:p xmlns:a="http://schemas.openxmlformats.org/drawingml/2006/main">
            <a:pPr>
              <a:defRPr sz="2250" b="1">
                <a:solidFill>
                  <a:srgbClr val="173451"/>
                </a:solidFill>
                <a:latin typeface="Arial"/>
                <a:ea typeface="Arial"/>
                <a:cs typeface="Arial"/>
              </a:defRPr>
            </a:pPr>
            <a:r>
              <a:rPr sz="2250" b="1">
                <a:solidFill>
                  <a:srgbClr val="173451"/>
                </a:solidFill>
                <a:latin typeface="Arial"/>
                <a:ea typeface="Arial"/>
                <a:cs typeface="Arial"/>
              </a:rPr>
              <a:t>Kiểm command và response trước</a:t>
            </a:r>
          </a:p>
        </p:txBody>
      </p:sp>
      <p:sp>
        <p:nvSpPr>
          <p:cNvPr id="21" name="content">
            <a:extLst xmlns:a="http://schemas.openxmlformats.org/drawingml/2006/main">
              <a:ext uri="{FF2B5EF4-FFF2-40B4-BE49-F238E27FC236}">
                <a16:creationId xmlns:a16="http://schemas.microsoft.com/office/drawing/2014/main" id="{1121F7F5-B555-41DC-BDF7-58508F8B85B0}"/>
              </a:ext>
            </a:extLst>
          </p:cNvPr>
          <p:cNvSpPr>
            <a:spLocks xmlns:a="http://schemas.openxmlformats.org/drawingml/2006/main" noGrp="1"/>
          </p:cNvSpPr>
          <p:nvPr/>
        </p:nvSpPr>
        <p:spPr>
          <a:xfrm xmlns:a="http://schemas.openxmlformats.org/drawingml/2006/main">
            <a:off x="5905500" y="2295525"/>
            <a:ext cx="5753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451"/>
                </a:solidFill>
                <a:latin typeface="Arial"/>
                <a:ea typeface="Arial"/>
                <a:cs typeface="Arial"/>
              </a:defRPr>
            </a:defPPr>
          </a:lstStyle>
          <a:p xmlns:a="http://schemas.openxmlformats.org/drawingml/2006/main">
            <a:pPr>
              <a:defRPr sz="2100" b="0">
                <a:solidFill>
                  <a:srgbClr val="173451"/>
                </a:solidFill>
                <a:latin typeface="Arial"/>
                <a:ea typeface="Arial"/>
                <a:cs typeface="Arial"/>
              </a:defRPr>
            </a:pPr>
            <a:r>
              <a:rPr sz="2100" b="0">
                <a:solidFill>
                  <a:srgbClr val="173451"/>
                </a:solidFill>
                <a:latin typeface="Arial"/>
                <a:ea typeface="Arial"/>
                <a:cs typeface="Arial"/>
              </a:rPr>
              <a:t>Binding / controller sai</a:t>
            </a:r>
          </a:p>
          <a:p xmlns:a="http://schemas.openxmlformats.org/drawingml/2006/main">
            <a:pPr>
              <a:defRPr sz="2100" b="0">
                <a:solidFill>
                  <a:srgbClr val="173451"/>
                </a:solidFill>
                <a:latin typeface="Arial"/>
                <a:ea typeface="Arial"/>
                <a:cs typeface="Arial"/>
              </a:defRPr>
            </a:pPr>
            <a:r>
              <a:rPr sz="2100" b="0">
                <a:solidFill>
                  <a:srgbClr val="173451"/>
                </a:solidFill>
                <a:latin typeface="Arial"/>
                <a:ea typeface="Arial"/>
                <a:cs typeface="Arial"/>
              </a:rPr>
              <a:t>Sửa hệ thống, chạy lại baseline</a:t>
            </a:r>
          </a:p>
        </p:txBody>
      </p:sp>
      <p:sp>
        <p:nvSpPr>
          <p:cNvPr id="22" name="content">
            <a:extLst xmlns:a="http://schemas.openxmlformats.org/drawingml/2006/main">
              <a:ext uri="{FF2B5EF4-FFF2-40B4-BE49-F238E27FC236}">
                <a16:creationId xmlns:a16="http://schemas.microsoft.com/office/drawing/2014/main" id="{17F6759B-44B5-46D3-911C-F2825816D48D}"/>
              </a:ext>
            </a:extLst>
          </p:cNvPr>
          <p:cNvSpPr>
            <a:spLocks xmlns:a="http://schemas.openxmlformats.org/drawingml/2006/main" noGrp="1"/>
          </p:cNvSpPr>
          <p:nvPr/>
        </p:nvSpPr>
        <p:spPr>
          <a:xfrm xmlns:a="http://schemas.openxmlformats.org/drawingml/2006/main">
            <a:off x="5905500" y="3371850"/>
            <a:ext cx="5753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451"/>
                </a:solidFill>
                <a:latin typeface="Arial"/>
                <a:ea typeface="Arial"/>
                <a:cs typeface="Arial"/>
              </a:defRPr>
            </a:defPPr>
          </a:lstStyle>
          <a:p xmlns:a="http://schemas.openxmlformats.org/drawingml/2006/main">
            <a:pPr>
              <a:defRPr sz="2100" b="0">
                <a:solidFill>
                  <a:srgbClr val="173451"/>
                </a:solidFill>
                <a:latin typeface="Arial"/>
                <a:ea typeface="Arial"/>
                <a:cs typeface="Arial"/>
              </a:defRPr>
            </a:pPr>
            <a:r>
              <a:rPr sz="2100" b="0">
                <a:solidFill>
                  <a:srgbClr val="173451"/>
                </a:solidFill>
                <a:latin typeface="Arial"/>
                <a:ea typeface="Arial"/>
                <a:cs typeface="Arial"/>
              </a:rPr>
              <a:t>Thiếu coverage có bằng chứng</a:t>
            </a:r>
          </a:p>
          <a:p xmlns:a="http://schemas.openxmlformats.org/drawingml/2006/main">
            <a:pPr>
              <a:defRPr sz="2100" b="0">
                <a:solidFill>
                  <a:srgbClr val="173451"/>
                </a:solidFill>
                <a:latin typeface="Arial"/>
                <a:ea typeface="Arial"/>
                <a:cs typeface="Arial"/>
              </a:defRPr>
            </a:pPr>
            <a:r>
              <a:rPr sz="2100" b="0">
                <a:solidFill>
                  <a:srgbClr val="173451"/>
                </a:solidFill>
                <a:latin typeface="Arial"/>
                <a:ea typeface="Arial"/>
                <a:cs typeface="Arial"/>
              </a:rPr>
              <a:t>Chọn correction hoặc sim execution</a:t>
            </a:r>
          </a:p>
        </p:txBody>
      </p:sp>
      <p:sp>
        <p:nvSpPr>
          <p:cNvPr id="23" name="content">
            <a:extLst xmlns:a="http://schemas.openxmlformats.org/drawingml/2006/main">
              <a:ext uri="{FF2B5EF4-FFF2-40B4-BE49-F238E27FC236}">
                <a16:creationId xmlns:a16="http://schemas.microsoft.com/office/drawing/2014/main" id="{80E493BA-8633-4900-AA58-FD914665929E}"/>
              </a:ext>
            </a:extLst>
          </p:cNvPr>
          <p:cNvSpPr>
            <a:spLocks xmlns:a="http://schemas.openxmlformats.org/drawingml/2006/main" noGrp="1"/>
          </p:cNvSpPr>
          <p:nvPr/>
        </p:nvSpPr>
        <p:spPr>
          <a:xfrm xmlns:a="http://schemas.openxmlformats.org/drawingml/2006/main">
            <a:off x="5905500" y="4752975"/>
            <a:ext cx="575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78B"/>
                </a:solidFill>
                <a:latin typeface="Arial"/>
                <a:ea typeface="Arial"/>
                <a:cs typeface="Arial"/>
              </a:defRPr>
            </a:defPPr>
          </a:lstStyle>
          <a:p xmlns:a="http://schemas.openxmlformats.org/drawingml/2006/main">
            <a:pPr>
              <a:defRPr sz="2100" b="1">
                <a:solidFill>
                  <a:srgbClr val="00878B"/>
                </a:solidFill>
                <a:latin typeface="Arial"/>
                <a:ea typeface="Arial"/>
                <a:cs typeface="Arial"/>
              </a:defRPr>
            </a:pPr>
            <a:r>
              <a:rPr sz="2100" b="1">
                <a:solidFill>
                  <a:srgbClr val="00878B"/>
                </a:solidFill>
                <a:latin typeface="Arial"/>
                <a:ea typeface="Arial"/>
                <a:cs typeface="Arial"/>
              </a:rPr>
              <a:t>Mỗi nhánh dẫn tới một can thiệp khác nhau</a:t>
            </a:r>
          </a:p>
        </p:txBody>
      </p:sp>
      <p:sp>
        <p:nvSpPr>
          <p:cNvPr id="24" name="content">
            <a:extLst xmlns:a="http://schemas.openxmlformats.org/drawingml/2006/main">
              <a:ext uri="{FF2B5EF4-FFF2-40B4-BE49-F238E27FC236}">
                <a16:creationId xmlns:a16="http://schemas.microsoft.com/office/drawing/2014/main" id="{059CC358-D178-4D4D-9400-25BA95246E66}"/>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04 / 23</a:t>
            </a:r>
          </a:p>
        </p:txBody>
      </p:sp>
    </p:spTree>
    <p:extLst>
      <p:ext uri="{BB962C8B-B14F-4D97-AF65-F5344CB8AC3E}">
        <p14:creationId xmlns:p14="http://schemas.microsoft.com/office/powerpoint/2010/main" val="41914443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05ed6b3191d74de2"/>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Data flywheel hoạt động</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Kỹ sư chốt quyết định. Final độc lập nằm ngoài vòng phát triển. Hình minh họa AI.</a:t>
            </a:r>
          </a:p>
        </p:txBody>
      </p:sp>
      <p:pic>
        <p:nvPicPr>
          <p:cNvPr id="11" name="">
            <a:extLst xmlns:a="http://schemas.openxmlformats.org/drawingml/2006/main">
              <a:ext uri="{FF2B5EF4-FFF2-40B4-BE49-F238E27FC236}">
                <a16:creationId xmlns:a16="http://schemas.microsoft.com/office/drawing/2014/main" id="{3D177B87-70A0-45DE-B7E2-D887F8CB1CB5}"/>
              </a:ext>
            </a:extLst>
          </p:cNvPr>
          <p:cNvPicPr>
            <a:picLocks xmlns:a="http://schemas.openxmlformats.org/drawingml/2006/main" noChangeAspect="1"/>
          </p:cNvPicPr>
          <p:nvPr/>
        </p:nvPicPr>
        <p:blipFill>
          <a:blip xmlns:r="http://schemas.openxmlformats.org/officeDocument/2006/relationships" xmlns:a="http://schemas.openxmlformats.org/drawingml/2006/main" r:embed="R08533238956c47eb"/>
          <a:stretch xmlns:a="http://schemas.openxmlformats.org/drawingml/2006/main"/>
        </p:blipFill>
        <p:spPr>
          <a:xfrm xmlns:a="http://schemas.openxmlformats.org/drawingml/2006/main">
            <a:off x="533400" y="1485900"/>
            <a:ext cx="4286250" cy="4286250"/>
          </a:xfrm>
          <a:prstGeom xmlns:a="http://schemas.openxmlformats.org/drawingml/2006/main" prst="rect">
            <a:avLst/>
          </a:prstGeom>
        </p:spPr>
      </p:pic>
      <p:sp>
        <p:nvSpPr>
          <p:cNvPr id="12" name="content">
            <a:extLst xmlns:a="http://schemas.openxmlformats.org/drawingml/2006/main">
              <a:ext uri="{FF2B5EF4-FFF2-40B4-BE49-F238E27FC236}">
                <a16:creationId xmlns:a16="http://schemas.microsoft.com/office/drawing/2014/main" id="{5A885CAF-AA76-4CCF-934C-6A0C9FAD083E}"/>
              </a:ext>
            </a:extLst>
          </p:cNvPr>
          <p:cNvSpPr>
            <a:spLocks xmlns:a="http://schemas.openxmlformats.org/drawingml/2006/main" noGrp="1"/>
          </p:cNvSpPr>
          <p:nvPr/>
        </p:nvSpPr>
        <p:spPr>
          <a:xfrm xmlns:a="http://schemas.openxmlformats.org/drawingml/2006/main">
            <a:off x="5238750" y="1562100"/>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451"/>
                </a:solidFill>
                <a:latin typeface="Arial"/>
                <a:ea typeface="Arial"/>
                <a:cs typeface="Arial"/>
              </a:defRPr>
            </a:defPPr>
          </a:lstStyle>
          <a:p xmlns:a="http://schemas.openxmlformats.org/drawingml/2006/main">
            <a:pPr>
              <a:defRPr sz="2025" b="1">
                <a:solidFill>
                  <a:srgbClr val="173451"/>
                </a:solidFill>
                <a:latin typeface="Arial"/>
                <a:ea typeface="Arial"/>
                <a:cs typeface="Arial"/>
              </a:defRPr>
            </a:pPr>
            <a:r>
              <a:rPr sz="2025" b="1">
                <a:solidFill>
                  <a:srgbClr val="173451"/>
                </a:solidFill>
                <a:latin typeface="Arial"/>
                <a:ea typeface="Arial"/>
                <a:cs typeface="Arial"/>
              </a:rPr>
              <a:t>01  Chạy và ghi lỗi</a:t>
            </a:r>
          </a:p>
        </p:txBody>
      </p:sp>
      <p:sp>
        <p:nvSpPr>
          <p:cNvPr id="13" name="content">
            <a:extLst xmlns:a="http://schemas.openxmlformats.org/drawingml/2006/main">
              <a:ext uri="{FF2B5EF4-FFF2-40B4-BE49-F238E27FC236}">
                <a16:creationId xmlns:a16="http://schemas.microsoft.com/office/drawing/2014/main" id="{AB031465-0FC8-4995-8932-A3C4AAE59AFA}"/>
              </a:ext>
            </a:extLst>
          </p:cNvPr>
          <p:cNvSpPr>
            <a:spLocks xmlns:a="http://schemas.openxmlformats.org/drawingml/2006/main" noGrp="1"/>
          </p:cNvSpPr>
          <p:nvPr/>
        </p:nvSpPr>
        <p:spPr>
          <a:xfrm xmlns:a="http://schemas.openxmlformats.org/drawingml/2006/main">
            <a:off x="5238750" y="1857375"/>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Trace, outcome, điều kiện xảy ra</a:t>
            </a:r>
          </a:p>
        </p:txBody>
      </p:sp>
      <p:sp>
        <p:nvSpPr>
          <p:cNvPr id="14" name="content">
            <a:extLst xmlns:a="http://schemas.openxmlformats.org/drawingml/2006/main">
              <a:ext uri="{FF2B5EF4-FFF2-40B4-BE49-F238E27FC236}">
                <a16:creationId xmlns:a16="http://schemas.microsoft.com/office/drawing/2014/main" id="{99820F8F-D802-4EF7-8A5F-FB5140735D1D}"/>
              </a:ext>
            </a:extLst>
          </p:cNvPr>
          <p:cNvSpPr>
            <a:spLocks xmlns:a="http://schemas.openxmlformats.org/drawingml/2006/main" noGrp="1"/>
          </p:cNvSpPr>
          <p:nvPr/>
        </p:nvSpPr>
        <p:spPr>
          <a:xfrm xmlns:a="http://schemas.openxmlformats.org/drawingml/2006/main">
            <a:off x="5238750" y="2162175"/>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451"/>
                </a:solidFill>
                <a:latin typeface="Arial"/>
                <a:ea typeface="Arial"/>
                <a:cs typeface="Arial"/>
              </a:defRPr>
            </a:defPPr>
          </a:lstStyle>
          <a:p xmlns:a="http://schemas.openxmlformats.org/drawingml/2006/main">
            <a:pPr>
              <a:defRPr sz="2025" b="1">
                <a:solidFill>
                  <a:srgbClr val="173451"/>
                </a:solidFill>
                <a:latin typeface="Arial"/>
                <a:ea typeface="Arial"/>
                <a:cs typeface="Arial"/>
              </a:defRPr>
            </a:pPr>
            <a:r>
              <a:rPr sz="2025" b="1">
                <a:solidFill>
                  <a:srgbClr val="173451"/>
                </a:solidFill>
                <a:latin typeface="Arial"/>
                <a:ea typeface="Arial"/>
                <a:cs typeface="Arial"/>
              </a:rPr>
              <a:t>02  Kiểm giả thuyết</a:t>
            </a:r>
          </a:p>
        </p:txBody>
      </p:sp>
      <p:sp>
        <p:nvSpPr>
          <p:cNvPr id="15" name="content">
            <a:extLst xmlns:a="http://schemas.openxmlformats.org/drawingml/2006/main">
              <a:ext uri="{FF2B5EF4-FFF2-40B4-BE49-F238E27FC236}">
                <a16:creationId xmlns:a16="http://schemas.microsoft.com/office/drawing/2014/main" id="{B5FB8308-8B22-4B84-8DF8-63673CEA2DC8}"/>
              </a:ext>
            </a:extLst>
          </p:cNvPr>
          <p:cNvSpPr>
            <a:spLocks xmlns:a="http://schemas.openxmlformats.org/drawingml/2006/main" noGrp="1"/>
          </p:cNvSpPr>
          <p:nvPr/>
        </p:nvSpPr>
        <p:spPr>
          <a:xfrm xmlns:a="http://schemas.openxmlformats.org/drawingml/2006/main">
            <a:off x="5238750" y="2457450"/>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Phân biệt hệ thống và dữ liệu</a:t>
            </a:r>
          </a:p>
        </p:txBody>
      </p:sp>
      <p:sp>
        <p:nvSpPr>
          <p:cNvPr id="16" name="content">
            <a:extLst xmlns:a="http://schemas.openxmlformats.org/drawingml/2006/main">
              <a:ext uri="{FF2B5EF4-FFF2-40B4-BE49-F238E27FC236}">
                <a16:creationId xmlns:a16="http://schemas.microsoft.com/office/drawing/2014/main" id="{62468D0F-CC46-463A-B9F7-258860BD1F2E}"/>
              </a:ext>
            </a:extLst>
          </p:cNvPr>
          <p:cNvSpPr>
            <a:spLocks xmlns:a="http://schemas.openxmlformats.org/drawingml/2006/main" noGrp="1"/>
          </p:cNvSpPr>
          <p:nvPr/>
        </p:nvSpPr>
        <p:spPr>
          <a:xfrm xmlns:a="http://schemas.openxmlformats.org/drawingml/2006/main">
            <a:off x="5238750" y="2762250"/>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78B"/>
                </a:solidFill>
                <a:latin typeface="Arial"/>
                <a:ea typeface="Arial"/>
                <a:cs typeface="Arial"/>
              </a:defRPr>
            </a:defPPr>
          </a:lstStyle>
          <a:p xmlns:a="http://schemas.openxmlformats.org/drawingml/2006/main">
            <a:pPr>
              <a:defRPr sz="2025" b="1">
                <a:solidFill>
                  <a:srgbClr val="00878B"/>
                </a:solidFill>
                <a:latin typeface="Arial"/>
                <a:ea typeface="Arial"/>
                <a:cs typeface="Arial"/>
              </a:defRPr>
            </a:pPr>
            <a:r>
              <a:rPr sz="2025" b="1">
                <a:solidFill>
                  <a:srgbClr val="00878B"/>
                </a:solidFill>
                <a:latin typeface="Arial"/>
                <a:ea typeface="Arial"/>
                <a:cs typeface="Arial"/>
              </a:rPr>
              <a:t>03  Chọn can thiệp</a:t>
            </a:r>
          </a:p>
        </p:txBody>
      </p:sp>
      <p:sp>
        <p:nvSpPr>
          <p:cNvPr id="17" name="content">
            <a:extLst xmlns:a="http://schemas.openxmlformats.org/drawingml/2006/main">
              <a:ext uri="{FF2B5EF4-FFF2-40B4-BE49-F238E27FC236}">
                <a16:creationId xmlns:a16="http://schemas.microsoft.com/office/drawing/2014/main" id="{938FB3FC-18E5-49F6-AD0C-F8765481FD37}"/>
              </a:ext>
            </a:extLst>
          </p:cNvPr>
          <p:cNvSpPr>
            <a:spLocks xmlns:a="http://schemas.openxmlformats.org/drawingml/2006/main" noGrp="1"/>
          </p:cNvSpPr>
          <p:nvPr/>
        </p:nvSpPr>
        <p:spPr>
          <a:xfrm xmlns:a="http://schemas.openxmlformats.org/drawingml/2006/main">
            <a:off x="5238750" y="3057525"/>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Reuse, correction, sim hoặc repair</a:t>
            </a:r>
          </a:p>
        </p:txBody>
      </p:sp>
      <p:sp>
        <p:nvSpPr>
          <p:cNvPr id="18" name="content">
            <a:extLst xmlns:a="http://schemas.openxmlformats.org/drawingml/2006/main">
              <a:ext uri="{FF2B5EF4-FFF2-40B4-BE49-F238E27FC236}">
                <a16:creationId xmlns:a16="http://schemas.microsoft.com/office/drawing/2014/main" id="{D13E9EDA-A588-4769-9435-A996D84C8535}"/>
              </a:ext>
            </a:extLst>
          </p:cNvPr>
          <p:cNvSpPr>
            <a:spLocks xmlns:a="http://schemas.openxmlformats.org/drawingml/2006/main" noGrp="1"/>
          </p:cNvSpPr>
          <p:nvPr/>
        </p:nvSpPr>
        <p:spPr>
          <a:xfrm xmlns:a="http://schemas.openxmlformats.org/drawingml/2006/main">
            <a:off x="5238750" y="3362325"/>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451"/>
                </a:solidFill>
                <a:latin typeface="Arial"/>
                <a:ea typeface="Arial"/>
                <a:cs typeface="Arial"/>
              </a:defRPr>
            </a:defPPr>
          </a:lstStyle>
          <a:p xmlns:a="http://schemas.openxmlformats.org/drawingml/2006/main">
            <a:pPr>
              <a:defRPr sz="2025" b="1">
                <a:solidFill>
                  <a:srgbClr val="173451"/>
                </a:solidFill>
                <a:latin typeface="Arial"/>
                <a:ea typeface="Arial"/>
                <a:cs typeface="Arial"/>
              </a:defRPr>
            </a:pPr>
            <a:r>
              <a:rPr sz="2025" b="1">
                <a:solidFill>
                  <a:srgbClr val="173451"/>
                </a:solidFill>
                <a:latin typeface="Arial"/>
                <a:ea typeface="Arial"/>
                <a:cs typeface="Arial"/>
              </a:rPr>
              <a:t>04  QA và phát hành</a:t>
            </a:r>
          </a:p>
        </p:txBody>
      </p:sp>
      <p:sp>
        <p:nvSpPr>
          <p:cNvPr id="19" name="content">
            <a:extLst xmlns:a="http://schemas.openxmlformats.org/drawingml/2006/main">
              <a:ext uri="{FF2B5EF4-FFF2-40B4-BE49-F238E27FC236}">
                <a16:creationId xmlns:a16="http://schemas.microsoft.com/office/drawing/2014/main" id="{4574AE41-922B-4D6A-88A5-7F3E6088DE66}"/>
              </a:ext>
            </a:extLst>
          </p:cNvPr>
          <p:cNvSpPr>
            <a:spLocks xmlns:a="http://schemas.openxmlformats.org/drawingml/2006/main" noGrp="1"/>
          </p:cNvSpPr>
          <p:nvPr/>
        </p:nvSpPr>
        <p:spPr>
          <a:xfrm xmlns:a="http://schemas.openxmlformats.org/drawingml/2006/main">
            <a:off x="5238750" y="3657600"/>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Giữ nguồn gốc, targets và splits</a:t>
            </a:r>
          </a:p>
        </p:txBody>
      </p:sp>
      <p:sp>
        <p:nvSpPr>
          <p:cNvPr id="20" name="content">
            <a:extLst xmlns:a="http://schemas.openxmlformats.org/drawingml/2006/main">
              <a:ext uri="{FF2B5EF4-FFF2-40B4-BE49-F238E27FC236}">
                <a16:creationId xmlns:a16="http://schemas.microsoft.com/office/drawing/2014/main" id="{F555DFDA-BE80-4C85-8943-B45B45444DB4}"/>
              </a:ext>
            </a:extLst>
          </p:cNvPr>
          <p:cNvSpPr>
            <a:spLocks xmlns:a="http://schemas.openxmlformats.org/drawingml/2006/main" noGrp="1"/>
          </p:cNvSpPr>
          <p:nvPr/>
        </p:nvSpPr>
        <p:spPr>
          <a:xfrm xmlns:a="http://schemas.openxmlformats.org/drawingml/2006/main">
            <a:off x="5238750" y="3962400"/>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451"/>
                </a:solidFill>
                <a:latin typeface="Arial"/>
                <a:ea typeface="Arial"/>
                <a:cs typeface="Arial"/>
              </a:defRPr>
            </a:defPPr>
          </a:lstStyle>
          <a:p xmlns:a="http://schemas.openxmlformats.org/drawingml/2006/main">
            <a:pPr>
              <a:defRPr sz="2025" b="1">
                <a:solidFill>
                  <a:srgbClr val="173451"/>
                </a:solidFill>
                <a:latin typeface="Arial"/>
                <a:ea typeface="Arial"/>
                <a:cs typeface="Arial"/>
              </a:defRPr>
            </a:pPr>
            <a:r>
              <a:rPr sz="2025" b="1">
                <a:solidFill>
                  <a:srgbClr val="173451"/>
                </a:solidFill>
                <a:latin typeface="Arial"/>
                <a:ea typeface="Arial"/>
                <a:cs typeface="Arial"/>
              </a:rPr>
              <a:t>05  Cập nhật model</a:t>
            </a:r>
          </a:p>
        </p:txBody>
      </p:sp>
      <p:sp>
        <p:nvSpPr>
          <p:cNvPr id="21" name="content">
            <a:extLst xmlns:a="http://schemas.openxmlformats.org/drawingml/2006/main">
              <a:ext uri="{FF2B5EF4-FFF2-40B4-BE49-F238E27FC236}">
                <a16:creationId xmlns:a16="http://schemas.microsoft.com/office/drawing/2014/main" id="{D4123089-32AA-4B87-928A-1AA16212D8F9}"/>
              </a:ext>
            </a:extLst>
          </p:cNvPr>
          <p:cNvSpPr>
            <a:spLocks xmlns:a="http://schemas.openxmlformats.org/drawingml/2006/main" noGrp="1"/>
          </p:cNvSpPr>
          <p:nvPr/>
        </p:nvSpPr>
        <p:spPr>
          <a:xfrm xmlns:a="http://schemas.openxmlformats.org/drawingml/2006/main">
            <a:off x="5238750" y="4257675"/>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Recipe xác định, có replay</a:t>
            </a:r>
          </a:p>
        </p:txBody>
      </p:sp>
      <p:sp>
        <p:nvSpPr>
          <p:cNvPr id="22" name="content">
            <a:extLst xmlns:a="http://schemas.openxmlformats.org/drawingml/2006/main">
              <a:ext uri="{FF2B5EF4-FFF2-40B4-BE49-F238E27FC236}">
                <a16:creationId xmlns:a16="http://schemas.microsoft.com/office/drawing/2014/main" id="{831E9957-729C-42B5-8EBC-DFA81E602127}"/>
              </a:ext>
            </a:extLst>
          </p:cNvPr>
          <p:cNvSpPr>
            <a:spLocks xmlns:a="http://schemas.openxmlformats.org/drawingml/2006/main" noGrp="1"/>
          </p:cNvSpPr>
          <p:nvPr/>
        </p:nvSpPr>
        <p:spPr>
          <a:xfrm xmlns:a="http://schemas.openxmlformats.org/drawingml/2006/main">
            <a:off x="5238750" y="4562475"/>
            <a:ext cx="641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78B"/>
                </a:solidFill>
                <a:latin typeface="Arial"/>
                <a:ea typeface="Arial"/>
                <a:cs typeface="Arial"/>
              </a:defRPr>
            </a:defPPr>
          </a:lstStyle>
          <a:p xmlns:a="http://schemas.openxmlformats.org/drawingml/2006/main">
            <a:pPr>
              <a:defRPr sz="2025" b="1">
                <a:solidFill>
                  <a:srgbClr val="00878B"/>
                </a:solidFill>
                <a:latin typeface="Arial"/>
                <a:ea typeface="Arial"/>
                <a:cs typeface="Arial"/>
              </a:defRPr>
            </a:pPr>
            <a:r>
              <a:rPr sz="2025" b="1">
                <a:solidFill>
                  <a:srgbClr val="00878B"/>
                </a:solidFill>
                <a:latin typeface="Arial"/>
                <a:ea typeface="Arial"/>
                <a:cs typeface="Arial"/>
              </a:rPr>
              <a:t>06  Đo và quyết định</a:t>
            </a:r>
          </a:p>
        </p:txBody>
      </p:sp>
      <p:sp>
        <p:nvSpPr>
          <p:cNvPr id="23" name="content">
            <a:extLst xmlns:a="http://schemas.openxmlformats.org/drawingml/2006/main">
              <a:ext uri="{FF2B5EF4-FFF2-40B4-BE49-F238E27FC236}">
                <a16:creationId xmlns:a16="http://schemas.microsoft.com/office/drawing/2014/main" id="{190452E4-571F-46CD-9CE7-73774D05F163}"/>
              </a:ext>
            </a:extLst>
          </p:cNvPr>
          <p:cNvSpPr>
            <a:spLocks xmlns:a="http://schemas.openxmlformats.org/drawingml/2006/main" noGrp="1"/>
          </p:cNvSpPr>
          <p:nvPr/>
        </p:nvSpPr>
        <p:spPr>
          <a:xfrm xmlns:a="http://schemas.openxmlformats.org/drawingml/2006/main">
            <a:off x="5238750" y="4857750"/>
            <a:ext cx="6419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Gain / no-gain, regression, tổng công</a:t>
            </a:r>
          </a:p>
        </p:txBody>
      </p:sp>
      <p:sp>
        <p:nvSpPr>
          <p:cNvPr id="24" name="content">
            <a:extLst xmlns:a="http://schemas.openxmlformats.org/drawingml/2006/main">
              <a:ext uri="{FF2B5EF4-FFF2-40B4-BE49-F238E27FC236}">
                <a16:creationId xmlns:a16="http://schemas.microsoft.com/office/drawing/2014/main" id="{658708D9-0739-47FB-A3BC-AE7A6ED8B67B}"/>
              </a:ext>
            </a:extLst>
          </p:cNvPr>
          <p:cNvSpPr>
            <a:spLocks xmlns:a="http://schemas.openxmlformats.org/drawingml/2006/main" noGrp="1"/>
          </p:cNvSpPr>
          <p:nvPr/>
        </p:nvSpPr>
        <p:spPr>
          <a:xfrm xmlns:a="http://schemas.openxmlformats.org/drawingml/2006/main">
            <a:off x="5238750" y="5381625"/>
            <a:ext cx="6419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78B"/>
                </a:solidFill>
                <a:latin typeface="Arial"/>
                <a:ea typeface="Arial"/>
                <a:cs typeface="Arial"/>
              </a:defRPr>
            </a:defPPr>
          </a:lstStyle>
          <a:p xmlns:a="http://schemas.openxmlformats.org/drawingml/2006/main">
            <a:pPr>
              <a:defRPr sz="2025" b="1">
                <a:solidFill>
                  <a:srgbClr val="00878B"/>
                </a:solidFill>
                <a:latin typeface="Arial"/>
                <a:ea typeface="Arial"/>
                <a:cs typeface="Arial"/>
              </a:defRPr>
            </a:pPr>
            <a:r>
              <a:rPr sz="2025" b="1">
                <a:solidFill>
                  <a:srgbClr val="00878B"/>
                </a:solidFill>
                <a:latin typeface="Arial"/>
                <a:ea typeface="Arial"/>
                <a:cs typeface="Arial"/>
              </a:rPr>
              <a:t>Kết quả vòng này quyết định dữ liệu vòng sau</a:t>
            </a:r>
          </a:p>
        </p:txBody>
      </p:sp>
      <p:sp>
        <p:nvSpPr>
          <p:cNvPr id="25" name="content">
            <a:extLst xmlns:a="http://schemas.openxmlformats.org/drawingml/2006/main">
              <a:ext uri="{FF2B5EF4-FFF2-40B4-BE49-F238E27FC236}">
                <a16:creationId xmlns:a16="http://schemas.microsoft.com/office/drawing/2014/main" id="{2B5A6097-25E6-4487-8AA7-ACA6A9878B4E}"/>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05 / 23</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BF6B0874-066E-46E1-9DE7-DC9826401219}"/>
              </a:ext>
            </a:extLst>
          </p:cNvPr>
          <p:cNvPicPr>
            <a:picLocks xmlns:a="http://schemas.openxmlformats.org/drawingml/2006/main" noChangeAspect="1"/>
          </p:cNvPicPr>
          <p:nvPr/>
        </p:nvPicPr>
        <p:blipFill>
          <a:blip xmlns:r="http://schemas.openxmlformats.org/officeDocument/2006/relationships" xmlns:a="http://schemas.openxmlformats.org/drawingml/2006/main" r:embed="R65321766f4484d2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Model Engine Core</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MVP A1 trong mô phỏng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FluxVLA hỗ trợ training, eval và robot thật. Đề xuất nối engine với flywheel. Native A1 chưa kiểm chứng.</a:t>
            </a:r>
          </a:p>
        </p:txBody>
      </p:sp>
      <p:pic>
        <p:nvPicPr>
          <p:cNvPr id="11" name="">
            <a:extLst xmlns:a="http://schemas.openxmlformats.org/drawingml/2006/main">
              <a:ext uri="{FF2B5EF4-FFF2-40B4-BE49-F238E27FC236}">
                <a16:creationId xmlns:a16="http://schemas.microsoft.com/office/drawing/2014/main" id="{885E6E89-2B48-4DFF-B8B2-9C2DBC368722}"/>
              </a:ext>
            </a:extLst>
          </p:cNvPr>
          <p:cNvPicPr>
            <a:picLocks xmlns:a="http://schemas.openxmlformats.org/drawingml/2006/main" noChangeAspect="1"/>
          </p:cNvPicPr>
          <p:nvPr/>
        </p:nvPicPr>
        <p:blipFill>
          <a:blip xmlns:r="http://schemas.openxmlformats.org/officeDocument/2006/relationships" xmlns:a="http://schemas.openxmlformats.org/drawingml/2006/main" r:embed="Rd65f693d53fa4368"/>
          <a:stretch xmlns:a="http://schemas.openxmlformats.org/drawingml/2006/main"/>
        </p:blipFill>
        <p:spPr>
          <a:xfrm xmlns:a="http://schemas.openxmlformats.org/drawingml/2006/main">
            <a:off x="1419003" y="1524000"/>
            <a:ext cx="9353993" cy="3943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75627EB-D5E8-4F11-8EA1-EC0422052BED}"/>
              </a:ext>
            </a:extLst>
          </p:cNvPr>
          <p:cNvSpPr>
            <a:spLocks xmlns:a="http://schemas.openxmlformats.org/drawingml/2006/main" noGrp="1"/>
          </p:cNvSpPr>
          <p:nvPr/>
        </p:nvSpPr>
        <p:spPr>
          <a:xfrm xmlns:a="http://schemas.openxmlformats.org/drawingml/2006/main">
            <a:off x="533400" y="55626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53251"/>
                </a:solidFill>
                <a:latin typeface="Arial"/>
                <a:ea typeface="Arial"/>
                <a:cs typeface="Arial"/>
              </a:defRPr>
            </a:defPPr>
          </a:lstStyle>
          <a:p xmlns:a="http://schemas.openxmlformats.org/drawingml/2006/main">
            <a:pPr>
              <a:buNone/>
              <a:defRPr sz="1800" b="1">
                <a:solidFill>
                  <a:srgbClr val="153251"/>
                </a:solidFill>
                <a:latin typeface="Arial"/>
                <a:ea typeface="Arial"/>
                <a:cs typeface="Arial"/>
              </a:defRPr>
            </a:pPr>
            <a:r>
              <a:rPr sz="1800" b="1">
                <a:solidFill>
                  <a:srgbClr val="153251"/>
                </a:solidFill>
                <a:latin typeface="Arial"/>
                <a:ea typeface="Arial"/>
                <a:cs typeface="Arial"/>
              </a:rPr>
              <a:t>Framework: FluxVLA     Policy nền: GR00T N1.5     Môi trường đầu: RoboCasa / GR1</a:t>
            </a:r>
          </a:p>
        </p:txBody>
      </p:sp>
      <p:sp>
        <p:nvSpPr>
          <p:cNvPr id="14" name="">
            <a:extLst xmlns:a="http://schemas.openxmlformats.org/drawingml/2006/main">
              <a:ext uri="{FF2B5EF4-FFF2-40B4-BE49-F238E27FC236}">
                <a16:creationId xmlns:a16="http://schemas.microsoft.com/office/drawing/2014/main" id="{C5143C73-CDA8-4609-8449-3C6E92DFC51D}"/>
              </a:ext>
            </a:extLst>
          </p:cNvPr>
          <p:cNvSpPr>
            <a:spLocks xmlns:a="http://schemas.openxmlformats.org/drawingml/2006/main" noGrp="1"/>
          </p:cNvSpPr>
          <p:nvPr/>
        </p:nvSpPr>
        <p:spPr>
          <a:xfrm xmlns:a="http://schemas.openxmlformats.org/drawingml/2006/main">
            <a:off x="533400" y="1362075"/>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4B637B"/>
                </a:solidFill>
                <a:latin typeface="Arial"/>
                <a:ea typeface="Arial"/>
                <a:cs typeface="Arial"/>
              </a:defRPr>
            </a:defPPr>
          </a:lstStyle>
          <a:p xmlns:a="http://schemas.openxmlformats.org/drawingml/2006/main">
            <a:pPr>
              <a:buNone/>
              <a:defRPr sz="1125" b="0">
                <a:solidFill>
                  <a:srgbClr val="4B637B"/>
                </a:solidFill>
                <a:latin typeface="Arial"/>
                <a:ea typeface="Arial"/>
                <a:cs typeface="Arial"/>
              </a:defRPr>
            </a:pPr>
            <a:r>
              <a:rPr sz="1125" b="0">
                <a:solidFill>
                  <a:srgbClr val="4B637B"/>
                </a:solidFill>
                <a:latin typeface="Arial"/>
                <a:ea typeface="Arial"/>
                <a:cs typeface="Arial"/>
              </a:rPr>
              <a:t>Li và cộng sự, FluxVLA Figure 1 (2026), CC BY 4.0. Benchmarks trong hình là của tác giả.</a:t>
            </a:r>
          </a:p>
        </p:txBody>
      </p:sp>
      <p:sp>
        <p:nvSpPr>
          <p:cNvPr id="15" name="content">
            <a:extLst xmlns:a="http://schemas.openxmlformats.org/drawingml/2006/main">
              <a:ext uri="{FF2B5EF4-FFF2-40B4-BE49-F238E27FC236}">
                <a16:creationId xmlns:a16="http://schemas.microsoft.com/office/drawing/2014/main" id="{A3788E87-AE15-43B9-93E3-1258E38C881D}"/>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06 / 23</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b16d65a935774dcb"/>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Dữ liệu đi vào Model AI</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Recipe FluxVLA được chọn: tune ACT và visual, freeze language. A1 cần pin config và kiểm gradients.</a:t>
            </a:r>
          </a:p>
        </p:txBody>
      </p:sp>
      <p:sp>
        <p:nvSpPr>
          <p:cNvPr id="11" name="content">
            <a:extLst xmlns:a="http://schemas.openxmlformats.org/drawingml/2006/main">
              <a:ext uri="{FF2B5EF4-FFF2-40B4-BE49-F238E27FC236}">
                <a16:creationId xmlns:a16="http://schemas.microsoft.com/office/drawing/2014/main" id="{B1481B0F-33EE-40CF-A124-D845651C9932}"/>
              </a:ext>
            </a:extLst>
          </p:cNvPr>
          <p:cNvSpPr>
            <a:spLocks xmlns:a="http://schemas.openxmlformats.org/drawingml/2006/main" noGrp="1"/>
          </p:cNvSpPr>
          <p:nvPr/>
        </p:nvSpPr>
        <p:spPr>
          <a:xfrm xmlns:a="http://schemas.openxmlformats.org/drawingml/2006/main">
            <a:off x="533400" y="160020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451"/>
                </a:solidFill>
                <a:latin typeface="Arial"/>
                <a:ea typeface="Arial"/>
                <a:cs typeface="Arial"/>
              </a:defRPr>
            </a:defPPr>
          </a:lstStyle>
          <a:p xmlns:a="http://schemas.openxmlformats.org/drawingml/2006/main">
            <a:pPr>
              <a:defRPr sz="2400" b="1">
                <a:solidFill>
                  <a:srgbClr val="173451"/>
                </a:solidFill>
                <a:latin typeface="Arial"/>
                <a:ea typeface="Arial"/>
                <a:cs typeface="Arial"/>
              </a:defRPr>
            </a:pPr>
            <a:r>
              <a:rPr sz="2400" b="1">
                <a:solidFill>
                  <a:srgbClr val="173451"/>
                </a:solidFill>
                <a:latin typeface="Arial"/>
                <a:ea typeface="Arial"/>
                <a:cs typeface="Arial"/>
              </a:rPr>
              <a:t>R_A1 là nền. S_exec bổ sung khi qua QA và có ích.</a:t>
            </a:r>
          </a:p>
        </p:txBody>
      </p:sp>
      <p:sp>
        <p:nvSpPr>
          <p:cNvPr id="12" name="content">
            <a:extLst xmlns:a="http://schemas.openxmlformats.org/drawingml/2006/main">
              <a:ext uri="{FF2B5EF4-FFF2-40B4-BE49-F238E27FC236}">
                <a16:creationId xmlns:a16="http://schemas.microsoft.com/office/drawing/2014/main" id="{9664BE57-0DF7-45E8-858E-17B9BDA8EF7D}"/>
              </a:ext>
            </a:extLst>
          </p:cNvPr>
          <p:cNvSpPr>
            <a:spLocks xmlns:a="http://schemas.openxmlformats.org/drawingml/2006/main" noGrp="1"/>
          </p:cNvSpPr>
          <p:nvPr/>
        </p:nvSpPr>
        <p:spPr>
          <a:xfrm xmlns:a="http://schemas.openxmlformats.org/drawingml/2006/main">
            <a:off x="533400" y="25431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01  Episode</a:t>
            </a:r>
          </a:p>
        </p:txBody>
      </p:sp>
      <p:sp>
        <p:nvSpPr>
          <p:cNvPr id="13" name="content">
            <a:extLst xmlns:a="http://schemas.openxmlformats.org/drawingml/2006/main">
              <a:ext uri="{FF2B5EF4-FFF2-40B4-BE49-F238E27FC236}">
                <a16:creationId xmlns:a16="http://schemas.microsoft.com/office/drawing/2014/main" id="{CE80CB13-2175-4D61-B708-C759F19A2AF2}"/>
              </a:ext>
            </a:extLst>
          </p:cNvPr>
          <p:cNvSpPr>
            <a:spLocks xmlns:a="http://schemas.openxmlformats.org/drawingml/2006/main" noGrp="1"/>
          </p:cNvSpPr>
          <p:nvPr/>
        </p:nvSpPr>
        <p:spPr>
          <a:xfrm xmlns:a="http://schemas.openxmlformats.org/drawingml/2006/main">
            <a:off x="533400" y="3209925"/>
            <a:ext cx="2571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451"/>
                </a:solidFill>
                <a:latin typeface="Arial"/>
                <a:ea typeface="Arial"/>
                <a:cs typeface="Arial"/>
              </a:defRPr>
            </a:defPPr>
          </a:lstStyle>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RGB trong MP4</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State / action trong Parquet</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Instruction và metadata</a:t>
            </a:r>
          </a:p>
        </p:txBody>
      </p:sp>
      <p:sp>
        <p:nvSpPr>
          <p:cNvPr id="14" name="content">
            <a:extLst xmlns:a="http://schemas.openxmlformats.org/drawingml/2006/main">
              <a:ext uri="{FF2B5EF4-FFF2-40B4-BE49-F238E27FC236}">
                <a16:creationId xmlns:a16="http://schemas.microsoft.com/office/drawing/2014/main" id="{01E9ACF5-F402-48C0-AD7C-4E2C0AB7597B}"/>
              </a:ext>
            </a:extLst>
          </p:cNvPr>
          <p:cNvSpPr>
            <a:spLocks xmlns:a="http://schemas.openxmlformats.org/drawingml/2006/main" noGrp="1"/>
          </p:cNvSpPr>
          <p:nvPr/>
        </p:nvSpPr>
        <p:spPr>
          <a:xfrm xmlns:a="http://schemas.openxmlformats.org/drawingml/2006/main">
            <a:off x="3390900" y="25431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02  Model batch</a:t>
            </a:r>
          </a:p>
        </p:txBody>
      </p:sp>
      <p:sp>
        <p:nvSpPr>
          <p:cNvPr id="15" name="content">
            <a:extLst xmlns:a="http://schemas.openxmlformats.org/drawingml/2006/main">
              <a:ext uri="{FF2B5EF4-FFF2-40B4-BE49-F238E27FC236}">
                <a16:creationId xmlns:a16="http://schemas.microsoft.com/office/drawing/2014/main" id="{A1A95A7B-B943-4501-86DA-DD160351D211}"/>
              </a:ext>
            </a:extLst>
          </p:cNvPr>
          <p:cNvSpPr>
            <a:spLocks xmlns:a="http://schemas.openxmlformats.org/drawingml/2006/main" noGrp="1"/>
          </p:cNvSpPr>
          <p:nvPr/>
        </p:nvSpPr>
        <p:spPr>
          <a:xfrm xmlns:a="http://schemas.openxmlformats.org/drawingml/2006/main">
            <a:off x="3390900" y="3209925"/>
            <a:ext cx="2571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451"/>
                </a:solidFill>
                <a:latin typeface="Arial"/>
                <a:ea typeface="Arial"/>
                <a:cs typeface="Arial"/>
              </a:defRPr>
            </a:defPPr>
          </a:lstStyle>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Frames và text tokens</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State theo đúng profile</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Future action chunks + masks</a:t>
            </a:r>
          </a:p>
        </p:txBody>
      </p:sp>
      <p:sp>
        <p:nvSpPr>
          <p:cNvPr id="16" name="content">
            <a:extLst xmlns:a="http://schemas.openxmlformats.org/drawingml/2006/main">
              <a:ext uri="{FF2B5EF4-FFF2-40B4-BE49-F238E27FC236}">
                <a16:creationId xmlns:a16="http://schemas.microsoft.com/office/drawing/2014/main" id="{D0A2A7CC-5C8B-4216-B3DD-A3D2D1DCB45F}"/>
              </a:ext>
            </a:extLst>
          </p:cNvPr>
          <p:cNvSpPr>
            <a:spLocks xmlns:a="http://schemas.openxmlformats.org/drawingml/2006/main" noGrp="1"/>
          </p:cNvSpPr>
          <p:nvPr/>
        </p:nvSpPr>
        <p:spPr>
          <a:xfrm xmlns:a="http://schemas.openxmlformats.org/drawingml/2006/main">
            <a:off x="6248400" y="25431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03  Model và loss</a:t>
            </a:r>
          </a:p>
        </p:txBody>
      </p:sp>
      <p:sp>
        <p:nvSpPr>
          <p:cNvPr id="17" name="content">
            <a:extLst xmlns:a="http://schemas.openxmlformats.org/drawingml/2006/main">
              <a:ext uri="{FF2B5EF4-FFF2-40B4-BE49-F238E27FC236}">
                <a16:creationId xmlns:a16="http://schemas.microsoft.com/office/drawing/2014/main" id="{5971CCE3-AFD2-4CEE-9101-B50C7812B5BF}"/>
              </a:ext>
            </a:extLst>
          </p:cNvPr>
          <p:cNvSpPr>
            <a:spLocks xmlns:a="http://schemas.openxmlformats.org/drawingml/2006/main" noGrp="1"/>
          </p:cNvSpPr>
          <p:nvPr/>
        </p:nvSpPr>
        <p:spPr>
          <a:xfrm xmlns:a="http://schemas.openxmlformats.org/drawingml/2006/main">
            <a:off x="6248400" y="3209925"/>
            <a:ext cx="2571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451"/>
                </a:solidFill>
                <a:latin typeface="Arial"/>
                <a:ea typeface="Arial"/>
                <a:cs typeface="Arial"/>
              </a:defRPr>
            </a:defPPr>
          </a:lstStyle>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Eagle mã hóa ảnh / text</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DiT: features, state,</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action nhiễu và time</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Flow velocity action loss</a:t>
            </a:r>
          </a:p>
        </p:txBody>
      </p:sp>
      <p:sp>
        <p:nvSpPr>
          <p:cNvPr id="18" name="content">
            <a:extLst xmlns:a="http://schemas.openxmlformats.org/drawingml/2006/main">
              <a:ext uri="{FF2B5EF4-FFF2-40B4-BE49-F238E27FC236}">
                <a16:creationId xmlns:a16="http://schemas.microsoft.com/office/drawing/2014/main" id="{F0398503-CF9A-42F1-9AB8-4F89672B6E9D}"/>
              </a:ext>
            </a:extLst>
          </p:cNvPr>
          <p:cNvSpPr>
            <a:spLocks xmlns:a="http://schemas.openxmlformats.org/drawingml/2006/main" noGrp="1"/>
          </p:cNvSpPr>
          <p:nvPr/>
        </p:nvSpPr>
        <p:spPr>
          <a:xfrm xmlns:a="http://schemas.openxmlformats.org/drawingml/2006/main">
            <a:off x="9105900" y="25431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04  Cập nhật</a:t>
            </a:r>
          </a:p>
        </p:txBody>
      </p:sp>
      <p:sp>
        <p:nvSpPr>
          <p:cNvPr id="19" name="content">
            <a:extLst xmlns:a="http://schemas.openxmlformats.org/drawingml/2006/main">
              <a:ext uri="{FF2B5EF4-FFF2-40B4-BE49-F238E27FC236}">
                <a16:creationId xmlns:a16="http://schemas.microsoft.com/office/drawing/2014/main" id="{5D0567F6-46A1-4403-A488-01B573DCE506}"/>
              </a:ext>
            </a:extLst>
          </p:cNvPr>
          <p:cNvSpPr>
            <a:spLocks xmlns:a="http://schemas.openxmlformats.org/drawingml/2006/main" noGrp="1"/>
          </p:cNvSpPr>
          <p:nvPr/>
        </p:nvSpPr>
        <p:spPr>
          <a:xfrm xmlns:a="http://schemas.openxmlformats.org/drawingml/2006/main">
            <a:off x="9105900" y="3209925"/>
            <a:ext cx="2571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451"/>
                </a:solidFill>
                <a:latin typeface="Arial"/>
                <a:ea typeface="Arial"/>
                <a:cs typeface="Arial"/>
              </a:defRPr>
            </a:defPPr>
          </a:lstStyle>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ACT + visual theo recipe</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Language giữ cố định</a:t>
            </a:r>
          </a:p>
          <a:p xmlns:a="http://schemas.openxmlformats.org/drawingml/2006/main">
            <a:pPr>
              <a:defRPr sz="1875" b="0">
                <a:solidFill>
                  <a:srgbClr val="173451"/>
                </a:solidFill>
                <a:latin typeface="Arial"/>
                <a:ea typeface="Arial"/>
                <a:cs typeface="Arial"/>
              </a:defRPr>
            </a:pPr>
            <a:r>
              <a:rPr sz="1875" b="0">
                <a:solidFill>
                  <a:srgbClr val="173451"/>
                </a:solidFill>
                <a:latin typeface="Arial"/>
                <a:ea typeface="Arial"/>
                <a:cs typeface="Arial"/>
              </a:rPr>
              <a:t>Checkpoint + stats + config</a:t>
            </a:r>
          </a:p>
        </p:txBody>
      </p:sp>
      <p:sp>
        <p:nvSpPr>
          <p:cNvPr id="20" name="content">
            <a:extLst xmlns:a="http://schemas.openxmlformats.org/drawingml/2006/main">
              <a:ext uri="{FF2B5EF4-FFF2-40B4-BE49-F238E27FC236}">
                <a16:creationId xmlns:a16="http://schemas.microsoft.com/office/drawing/2014/main" id="{78D0FAA8-5BA2-4832-A36D-805FAE74B010}"/>
              </a:ext>
            </a:extLst>
          </p:cNvPr>
          <p:cNvSpPr>
            <a:spLocks xmlns:a="http://schemas.openxmlformats.org/drawingml/2006/main" noGrp="1"/>
          </p:cNvSpPr>
          <p:nvPr/>
        </p:nvSpPr>
        <p:spPr>
          <a:xfrm xmlns:a="http://schemas.openxmlformats.org/drawingml/2006/main">
            <a:off x="533400" y="53244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451"/>
                </a:solidFill>
                <a:latin typeface="Arial"/>
                <a:ea typeface="Arial"/>
                <a:cs typeface="Arial"/>
              </a:defRPr>
            </a:defPPr>
          </a:lstStyle>
          <a:p xmlns:a="http://schemas.openxmlformats.org/drawingml/2006/main">
            <a:pPr>
              <a:defRPr sz="2100" b="1">
                <a:solidFill>
                  <a:srgbClr val="173451"/>
                </a:solidFill>
                <a:latin typeface="Arial"/>
                <a:ea typeface="Arial"/>
                <a:cs typeface="Arial"/>
              </a:defRPr>
            </a:pPr>
            <a:r>
              <a:rPr sz="2100" b="1">
                <a:solidFill>
                  <a:srgbClr val="173451"/>
                </a:solidFill>
                <a:latin typeface="Arial"/>
                <a:ea typeface="Arial"/>
                <a:cs typeface="Arial"/>
              </a:rPr>
              <a:t>Baseline học từ R. Candidate thử dữ liệu đã chọn với cùng recipe.</a:t>
            </a:r>
          </a:p>
        </p:txBody>
      </p:sp>
      <p:sp>
        <p:nvSpPr>
          <p:cNvPr id="21" name="content">
            <a:extLst xmlns:a="http://schemas.openxmlformats.org/drawingml/2006/main">
              <a:ext uri="{FF2B5EF4-FFF2-40B4-BE49-F238E27FC236}">
                <a16:creationId xmlns:a16="http://schemas.microsoft.com/office/drawing/2014/main" id="{5EED0C0B-6B58-4AE0-96D2-14652F444475}"/>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07 / 23</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b12e27cda17c4a81"/>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Ví dụ chọn dữ liệu cho A1</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Ví dụ có điều kiện, chưa phải kết quả đo. Logs thất bại giữ làm evidence, chưa dùng làm positive BC.</a:t>
            </a:r>
          </a:p>
        </p:txBody>
      </p:sp>
      <p:sp>
        <p:nvSpPr>
          <p:cNvPr id="11" name="content">
            <a:extLst xmlns:a="http://schemas.openxmlformats.org/drawingml/2006/main">
              <a:ext uri="{FF2B5EF4-FFF2-40B4-BE49-F238E27FC236}">
                <a16:creationId xmlns:a16="http://schemas.microsoft.com/office/drawing/2014/main" id="{EF717C0C-FA50-404C-82F3-693D194E4023}"/>
              </a:ext>
            </a:extLst>
          </p:cNvPr>
          <p:cNvSpPr>
            <a:spLocks xmlns:a="http://schemas.openxmlformats.org/drawingml/2006/main" noGrp="1"/>
          </p:cNvSpPr>
          <p:nvPr/>
        </p:nvSpPr>
        <p:spPr>
          <a:xfrm xmlns:a="http://schemas.openxmlformats.org/drawingml/2006/main">
            <a:off x="533400" y="16002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3451"/>
                </a:solidFill>
                <a:latin typeface="Arial"/>
                <a:ea typeface="Arial"/>
                <a:cs typeface="Arial"/>
              </a:defRPr>
            </a:defPPr>
          </a:lstStyle>
          <a:p xmlns:a="http://schemas.openxmlformats.org/drawingml/2006/main">
            <a:pPr>
              <a:defRPr sz="2475" b="1">
                <a:solidFill>
                  <a:srgbClr val="173451"/>
                </a:solidFill>
                <a:latin typeface="Arial"/>
                <a:ea typeface="Arial"/>
                <a:cs typeface="Arial"/>
              </a:defRPr>
            </a:pPr>
            <a:r>
              <a:rPr sz="2475" b="1">
                <a:solidFill>
                  <a:srgbClr val="173451"/>
                </a:solidFill>
                <a:latin typeface="Arial"/>
                <a:ea typeface="Arial"/>
                <a:cs typeface="Arial"/>
              </a:rPr>
              <a:t>Ví dụ giả định: thiếu pose gắp, đã có expert correction</a:t>
            </a:r>
          </a:p>
        </p:txBody>
      </p:sp>
      <p:graphicFrame>
        <p:nvGraphicFramePr>
          <p:cNvPr id="12" name="">
            <a:extLst xmlns:a="http://schemas.openxmlformats.org/drawingml/2006/main">
              <a:ext uri="{FF2B5EF4-FFF2-40B4-BE49-F238E27FC236}">
                <a16:creationId xmlns:a16="http://schemas.microsoft.com/office/drawing/2014/main" id="{7328DB2F-5D5E-4F61-803A-2D1E0BC8F62B}"/>
              </a:ext>
            </a:extLst>
          </p:cNvPr>
          <p:cNvGraphicFramePr/>
          <p:nvPr/>
        </p:nvGraphicFramePr>
        <p:xfrm>
          <a:off xmlns:a="http://schemas.openxmlformats.org/drawingml/2006/main" x="533400" y="2514600"/>
          <a:ext xmlns:a="http://schemas.openxmlformats.org/drawingml/2006/main" cx="11125200" cy="2609850"/>
        </p:xfrm>
        <a:graphic xmlns:a="http://schemas.openxmlformats.org/drawingml/2006/main">
          <a:graphicData uri="http://schemas.openxmlformats.org/drawingml/2006/table">
            <a:tbl>
              <a:tblPr/>
              <a:tblGrid>
                <a:gridCol w="3238500"/>
                <a:gridCol w="7886700"/>
              </a:tblGrid>
              <a:tr h="521970">
                <a:tc>
                  <a:txBody>
                    <a:bodyPr/>
                    <a:lstStyle/>
                    <a:p>
                      <a:r>
                        <a:rPr sz="1800" b="1">
                          <a:solidFill>
                            <a:srgbClr val="FFFFFF"/>
                          </a:solidFill>
                          <a:latin typeface="Arial"/>
                          <a:ea typeface="Arial"/>
                          <a:cs typeface="Arial"/>
                        </a:rPr>
                        <a:t>Quyết định</a:t>
                      </a:r>
                    </a:p>
                  </a:txBody>
                  <a:tcPr marL="91440" marR="91440" marT="45720" marB="45720">
                    <a:solidFill>
                      <a:srgbClr val="173451"/>
                    </a:solidFill>
                  </a:tcPr>
                </a:tc>
                <a:tc>
                  <a:txBody>
                    <a:bodyPr/>
                    <a:lstStyle/>
                    <a:p>
                      <a:r>
                        <a:rPr sz="1800" b="1">
                          <a:solidFill>
                            <a:srgbClr val="FFFFFF"/>
                          </a:solidFill>
                          <a:latin typeface="Arial"/>
                          <a:ea typeface="Arial"/>
                          <a:cs typeface="Arial"/>
                        </a:rPr>
                        <a:t>Lý do chọn và dữ liệu đi tiếp</a:t>
                      </a:r>
                    </a:p>
                  </a:txBody>
                  <a:tcPr marL="91440" marR="91440" marT="45720" marB="45720">
                    <a:solidFill>
                      <a:srgbClr val="173451"/>
                    </a:solidFill>
                  </a:tcPr>
                </a:tc>
              </a:tr>
              <a:tr h="521970">
                <a:tc>
                  <a:txBody>
                    <a:bodyPr/>
                    <a:lstStyle/>
                    <a:p>
                      <a:r>
                        <a:rPr sz="1800" b="0">
                          <a:solidFill>
                            <a:srgbClr val="173451"/>
                          </a:solidFill>
                          <a:latin typeface="Arial"/>
                          <a:ea typeface="Arial"/>
                          <a:cs typeface="Arial"/>
                        </a:rPr>
                        <a:t>Ưu tiên correction</a:t>
                      </a:r>
                    </a:p>
                  </a:txBody>
                  <a:tcPr marL="91440" marR="91440" marT="45720" marB="45720">
                    <a:solidFill>
                      <a:srgbClr val="FFFFFF"/>
                    </a:solidFill>
                  </a:tcPr>
                </a:tc>
                <a:tc>
                  <a:txBody>
                    <a:bodyPr/>
                    <a:lstStyle/>
                    <a:p>
                      <a:r>
                        <a:rPr sz="1800" b="0">
                          <a:solidFill>
                            <a:srgbClr val="173451"/>
                          </a:solidFill>
                          <a:latin typeface="Arial"/>
                          <a:ea typeface="Arial"/>
                          <a:cs typeface="Arial"/>
                        </a:rPr>
                        <a:t>Expert làm được cùng pose, lấy đoạn gắp–nâng–chuyển</a:t>
                      </a:r>
                    </a:p>
                  </a:txBody>
                  <a:tcPr marL="91440" marR="91440" marT="45720" marB="45720">
                    <a:solidFill>
                      <a:srgbClr val="FFFFFF"/>
                    </a:solidFill>
                  </a:tcPr>
                </a:tc>
              </a:tr>
              <a:tr h="521970">
                <a:tc>
                  <a:txBody>
                    <a:bodyPr/>
                    <a:lstStyle/>
                    <a:p>
                      <a:r>
                        <a:rPr sz="1800" b="0">
                          <a:solidFill>
                            <a:srgbClr val="173451"/>
                          </a:solidFill>
                          <a:latin typeface="Arial"/>
                          <a:ea typeface="Arial"/>
                          <a:cs typeface="Arial"/>
                        </a:rPr>
                        <a:t>Chưa chọn S_exec</a:t>
                      </a:r>
                    </a:p>
                  </a:txBody>
                  <a:tcPr marL="91440" marR="91440" marT="45720" marB="45720">
                    <a:solidFill>
                      <a:srgbClr val="FFFFFF"/>
                    </a:solidFill>
                  </a:tcPr>
                </a:tc>
                <a:tc>
                  <a:txBody>
                    <a:bodyPr/>
                    <a:lstStyle/>
                    <a:p>
                      <a:r>
                        <a:rPr sz="1800" b="0">
                          <a:solidFill>
                            <a:srgbClr val="173451"/>
                          </a:solidFill>
                          <a:latin typeface="Arial"/>
                          <a:ea typeface="Arial"/>
                          <a:cs typeface="Arial"/>
                        </a:rPr>
                        <a:t>Biến thể sim chưa qua kiểm contact và action labels</a:t>
                      </a:r>
                    </a:p>
                  </a:txBody>
                  <a:tcPr marL="91440" marR="91440" marT="45720" marB="45720">
                    <a:solidFill>
                      <a:srgbClr val="FFFFFF"/>
                    </a:solidFill>
                  </a:tcPr>
                </a:tc>
              </a:tr>
              <a:tr h="521970">
                <a:tc>
                  <a:txBody>
                    <a:bodyPr/>
                    <a:lstStyle/>
                    <a:p>
                      <a:r>
                        <a:rPr sz="1800" b="0">
                          <a:solidFill>
                            <a:srgbClr val="173451"/>
                          </a:solidFill>
                          <a:latin typeface="Arial"/>
                          <a:ea typeface="Arial"/>
                          <a:cs typeface="Arial"/>
                        </a:rPr>
                        <a:t>Release và huấn luyện</a:t>
                      </a:r>
                    </a:p>
                  </a:txBody>
                  <a:tcPr marL="91440" marR="91440" marT="45720" marB="45720">
                    <a:solidFill>
                      <a:srgbClr val="FFFFFF"/>
                    </a:solidFill>
                  </a:tcPr>
                </a:tc>
                <a:tc>
                  <a:txBody>
                    <a:bodyPr/>
                    <a:lstStyle/>
                    <a:p>
                      <a:r>
                        <a:rPr sz="1800" b="0">
                          <a:solidFill>
                            <a:srgbClr val="173451"/>
                          </a:solidFill>
                          <a:latin typeface="Arial"/>
                          <a:ea typeface="Arial"/>
                          <a:cs typeface="Arial"/>
                        </a:rPr>
                        <a:t>QA correction, giữ roots/splits, replay R, cập nhật theo recipe</a:t>
                      </a:r>
                    </a:p>
                  </a:txBody>
                  <a:tcPr marL="91440" marR="91440" marT="45720" marB="45720">
                    <a:solidFill>
                      <a:srgbClr val="FFFFFF"/>
                    </a:solidFill>
                  </a:tcPr>
                </a:tc>
              </a:tr>
              <a:tr h="521970">
                <a:tc>
                  <a:txBody>
                    <a:bodyPr/>
                    <a:lstStyle/>
                    <a:p>
                      <a:r>
                        <a:rPr sz="1800" b="0">
                          <a:solidFill>
                            <a:srgbClr val="173451"/>
                          </a:solidFill>
                          <a:latin typeface="Arial"/>
                          <a:ea typeface="Arial"/>
                          <a:cs typeface="Arial"/>
                        </a:rPr>
                        <a:t>Đo trên development</a:t>
                      </a:r>
                    </a:p>
                  </a:txBody>
                  <a:tcPr marL="91440" marR="91440" marT="45720" marB="45720">
                    <a:solidFill>
                      <a:srgbClr val="FFFFFF"/>
                    </a:solidFill>
                  </a:tcPr>
                </a:tc>
                <a:tc>
                  <a:txBody>
                    <a:bodyPr/>
                    <a:lstStyle/>
                    <a:p>
                      <a:r>
                        <a:rPr sz="1800" b="0">
                          <a:solidFill>
                            <a:srgbClr val="173451"/>
                          </a:solidFill>
                          <a:latin typeface="Arial"/>
                          <a:ea typeface="Arial"/>
                          <a:cs typeface="Arial"/>
                        </a:rPr>
                        <a:t>So baseline, kiểm regression, cộng công thu / QA / train / thử</a:t>
                      </a:r>
                    </a:p>
                  </a:txBody>
                  <a:tcPr marL="91440" marR="91440" marT="45720" marB="45720">
                    <a:solidFill>
                      <a:srgbClr val="FFFFFF"/>
                    </a:solidFill>
                  </a:tcPr>
                </a:tc>
              </a:tr>
            </a:tbl>
          </a:graphicData>
        </a:graphic>
      </p:graphicFrame>
      <p:sp>
        <p:nvSpPr>
          <p:cNvPr id="13" name="content">
            <a:extLst xmlns:a="http://schemas.openxmlformats.org/drawingml/2006/main">
              <a:ext uri="{FF2B5EF4-FFF2-40B4-BE49-F238E27FC236}">
                <a16:creationId xmlns:a16="http://schemas.microsoft.com/office/drawing/2014/main" id="{D513AC87-3807-4E06-96C2-EEE136F9F148}"/>
              </a:ext>
            </a:extLst>
          </p:cNvPr>
          <p:cNvSpPr>
            <a:spLocks xmlns:a="http://schemas.openxmlformats.org/drawingml/2006/main" noGrp="1"/>
          </p:cNvSpPr>
          <p:nvPr/>
        </p:nvSpPr>
        <p:spPr>
          <a:xfrm xmlns:a="http://schemas.openxmlformats.org/drawingml/2006/main">
            <a:off x="533400" y="53340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Không có lợi thì giữ baseline và đổi quyết định vòng tiếp theo</a:t>
            </a:r>
          </a:p>
        </p:txBody>
      </p:sp>
      <p:sp>
        <p:nvSpPr>
          <p:cNvPr id="14" name="content">
            <a:extLst xmlns:a="http://schemas.openxmlformats.org/drawingml/2006/main">
              <a:ext uri="{FF2B5EF4-FFF2-40B4-BE49-F238E27FC236}">
                <a16:creationId xmlns:a16="http://schemas.microsoft.com/office/drawing/2014/main" id="{0FFEBBF6-F7B6-4CDF-92D7-82C9F6185AF9}"/>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08 / 23</a:t>
            </a:r>
          </a:p>
        </p:txBody>
      </p:sp>
    </p:spTree>
    <p:extLst>
      <p:ext uri="{BB962C8B-B14F-4D97-AF65-F5344CB8AC3E}">
        <p14:creationId xmlns:p14="http://schemas.microsoft.com/office/powerpoint/2010/main" val="41914443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17f395b2ea694cf9"/>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Inference và phản hồi</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MVP kiểm trong mô phỏng. Robot thật cần binding camera, SDK và controller cùng nghiệm thu riêng.</a:t>
            </a:r>
          </a:p>
        </p:txBody>
      </p:sp>
      <p:sp>
        <p:nvSpPr>
          <p:cNvPr id="11" name="content">
            <a:extLst xmlns:a="http://schemas.openxmlformats.org/drawingml/2006/main">
              <a:ext uri="{FF2B5EF4-FFF2-40B4-BE49-F238E27FC236}">
                <a16:creationId xmlns:a16="http://schemas.microsoft.com/office/drawing/2014/main" id="{6C9F1E4A-339E-4DA6-9B02-E4104AA3238A}"/>
              </a:ext>
            </a:extLst>
          </p:cNvPr>
          <p:cNvSpPr>
            <a:spLocks xmlns:a="http://schemas.openxmlformats.org/drawingml/2006/main" noGrp="1"/>
          </p:cNvSpPr>
          <p:nvPr/>
        </p:nvSpPr>
        <p:spPr>
          <a:xfrm xmlns:a="http://schemas.openxmlformats.org/drawingml/2006/main">
            <a:off x="533400" y="16002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451"/>
                </a:solidFill>
                <a:latin typeface="Arial"/>
                <a:ea typeface="Arial"/>
                <a:cs typeface="Arial"/>
              </a:defRPr>
            </a:defPPr>
          </a:lstStyle>
          <a:p xmlns:a="http://schemas.openxmlformats.org/drawingml/2006/main">
            <a:pPr>
              <a:defRPr sz="2550" b="1">
                <a:solidFill>
                  <a:srgbClr val="173451"/>
                </a:solidFill>
                <a:latin typeface="Arial"/>
                <a:ea typeface="Arial"/>
                <a:cs typeface="Arial"/>
              </a:defRPr>
            </a:pPr>
            <a:r>
              <a:rPr sz="2550" b="1">
                <a:solidFill>
                  <a:srgbClr val="173451"/>
                </a:solidFill>
                <a:latin typeface="Arial"/>
                <a:ea typeface="Arial"/>
                <a:cs typeface="Arial"/>
              </a:rPr>
              <a:t>Checkpoint mới phải thể hiện lợi ích qua thực thi</a:t>
            </a:r>
          </a:p>
        </p:txBody>
      </p:sp>
      <p:graphicFrame>
        <p:nvGraphicFramePr>
          <p:cNvPr id="12" name="">
            <a:extLst xmlns:a="http://schemas.openxmlformats.org/drawingml/2006/main">
              <a:ext uri="{FF2B5EF4-FFF2-40B4-BE49-F238E27FC236}">
                <a16:creationId xmlns:a16="http://schemas.microsoft.com/office/drawing/2014/main" id="{0BF4F73E-2CB6-4A37-BD90-DC37A9BDD883}"/>
              </a:ext>
            </a:extLst>
          </p:cNvPr>
          <p:cNvGraphicFramePr/>
          <p:nvPr/>
        </p:nvGraphicFramePr>
        <p:xfrm>
          <a:off xmlns:a="http://schemas.openxmlformats.org/drawingml/2006/main" x="533400" y="2524125"/>
          <a:ext xmlns:a="http://schemas.openxmlformats.org/drawingml/2006/main" cx="11125200" cy="2447925"/>
        </p:xfrm>
        <a:graphic xmlns:a="http://schemas.openxmlformats.org/drawingml/2006/main">
          <a:graphicData uri="http://schemas.openxmlformats.org/drawingml/2006/table">
            <a:tbl>
              <a:tblPr/>
              <a:tblGrid>
                <a:gridCol w="2952750"/>
                <a:gridCol w="4086225"/>
                <a:gridCol w="4086225"/>
              </a:tblGrid>
              <a:tr h="611981">
                <a:tc>
                  <a:txBody>
                    <a:bodyPr/>
                    <a:lstStyle/>
                    <a:p>
                      <a:r>
                        <a:rPr sz="1875" b="1">
                          <a:solidFill>
                            <a:srgbClr val="FFFFFF"/>
                          </a:solidFill>
                          <a:latin typeface="Arial"/>
                          <a:ea typeface="Arial"/>
                          <a:cs typeface="Arial"/>
                        </a:rPr>
                        <a:t>Giai đoạn</a:t>
                      </a:r>
                    </a:p>
                  </a:txBody>
                  <a:tcPr marL="91440" marR="91440" marT="45720" marB="45720">
                    <a:solidFill>
                      <a:srgbClr val="173451"/>
                    </a:solidFill>
                  </a:tcPr>
                </a:tc>
                <a:tc>
                  <a:txBody>
                    <a:bodyPr/>
                    <a:lstStyle/>
                    <a:p>
                      <a:r>
                        <a:rPr sz="1875" b="1">
                          <a:solidFill>
                            <a:srgbClr val="FFFFFF"/>
                          </a:solidFill>
                          <a:latin typeface="Arial"/>
                          <a:ea typeface="Arial"/>
                          <a:cs typeface="Arial"/>
                        </a:rPr>
                        <a:t>Dữ liệu đi vào</a:t>
                      </a:r>
                    </a:p>
                  </a:txBody>
                  <a:tcPr marL="91440" marR="91440" marT="45720" marB="45720">
                    <a:solidFill>
                      <a:srgbClr val="173451"/>
                    </a:solidFill>
                  </a:tcPr>
                </a:tc>
                <a:tc>
                  <a:txBody>
                    <a:bodyPr/>
                    <a:lstStyle/>
                    <a:p>
                      <a:r>
                        <a:rPr sz="1875" b="1">
                          <a:solidFill>
                            <a:srgbClr val="FFFFFF"/>
                          </a:solidFill>
                          <a:latin typeface="Arial"/>
                          <a:ea typeface="Arial"/>
                          <a:cs typeface="Arial"/>
                        </a:rPr>
                        <a:t>Đầu ra trả về</a:t>
                      </a:r>
                    </a:p>
                  </a:txBody>
                  <a:tcPr marL="91440" marR="91440" marT="45720" marB="45720">
                    <a:solidFill>
                      <a:srgbClr val="173451"/>
                    </a:solidFill>
                  </a:tcPr>
                </a:tc>
              </a:tr>
              <a:tr h="611981">
                <a:tc>
                  <a:txBody>
                    <a:bodyPr/>
                    <a:lstStyle/>
                    <a:p>
                      <a:r>
                        <a:rPr sz="1875" b="0">
                          <a:solidFill>
                            <a:srgbClr val="173451"/>
                          </a:solidFill>
                          <a:latin typeface="Arial"/>
                          <a:ea typeface="Arial"/>
                          <a:cs typeface="Arial"/>
                        </a:rPr>
                        <a:t>Model inference</a:t>
                      </a:r>
                    </a:p>
                  </a:txBody>
                  <a:tcPr marL="91440" marR="91440" marT="45720" marB="45720">
                    <a:solidFill>
                      <a:srgbClr val="FFFFFF"/>
                    </a:solidFill>
                  </a:tcPr>
                </a:tc>
                <a:tc>
                  <a:txBody>
                    <a:bodyPr/>
                    <a:lstStyle/>
                    <a:p>
                      <a:r>
                        <a:rPr sz="1875" b="0">
                          <a:solidFill>
                            <a:srgbClr val="173451"/>
                          </a:solidFill>
                          <a:latin typeface="Arial"/>
                          <a:ea typeface="Arial"/>
                          <a:cs typeface="Arial"/>
                        </a:rPr>
                        <a:t>RGB, instruction, state hiện tại</a:t>
                      </a:r>
                    </a:p>
                  </a:txBody>
                  <a:tcPr marL="91440" marR="91440" marT="45720" marB="45720">
                    <a:solidFill>
                      <a:srgbClr val="FFFFFF"/>
                    </a:solidFill>
                  </a:tcPr>
                </a:tc>
                <a:tc>
                  <a:txBody>
                    <a:bodyPr/>
                    <a:lstStyle/>
                    <a:p>
                      <a:r>
                        <a:rPr sz="1875" b="0">
                          <a:solidFill>
                            <a:srgbClr val="173451"/>
                          </a:solidFill>
                          <a:latin typeface="Arial"/>
                          <a:ea typeface="Arial"/>
                          <a:cs typeface="Arial"/>
                        </a:rPr>
                        <a:t>Eagle features, DiT action chunks</a:t>
                      </a:r>
                    </a:p>
                  </a:txBody>
                  <a:tcPr marL="91440" marR="91440" marT="45720" marB="45720">
                    <a:solidFill>
                      <a:srgbClr val="FFFFFF"/>
                    </a:solidFill>
                  </a:tcPr>
                </a:tc>
              </a:tr>
              <a:tr h="611981">
                <a:tc>
                  <a:txBody>
                    <a:bodyPr/>
                    <a:lstStyle/>
                    <a:p>
                      <a:r>
                        <a:rPr sz="1875" b="0">
                          <a:solidFill>
                            <a:srgbClr val="173451"/>
                          </a:solidFill>
                          <a:latin typeface="Arial"/>
                          <a:ea typeface="Arial"/>
                          <a:cs typeface="Arial"/>
                        </a:rPr>
                        <a:t>Robot thực thi</a:t>
                      </a:r>
                    </a:p>
                  </a:txBody>
                  <a:tcPr marL="91440" marR="91440" marT="45720" marB="45720">
                    <a:solidFill>
                      <a:srgbClr val="FFFFFF"/>
                    </a:solidFill>
                  </a:tcPr>
                </a:tc>
                <a:tc>
                  <a:txBody>
                    <a:bodyPr/>
                    <a:lstStyle/>
                    <a:p>
                      <a:r>
                        <a:rPr sz="1875" b="0">
                          <a:solidFill>
                            <a:srgbClr val="173451"/>
                          </a:solidFill>
                          <a:latin typeface="Arial"/>
                          <a:ea typeface="Arial"/>
                          <a:cs typeface="Arial"/>
                        </a:rPr>
                        <a:t>Action đã denormalize và binding</a:t>
                      </a:r>
                    </a:p>
                  </a:txBody>
                  <a:tcPr marL="91440" marR="91440" marT="45720" marB="45720">
                    <a:solidFill>
                      <a:srgbClr val="FFFFFF"/>
                    </a:solidFill>
                  </a:tcPr>
                </a:tc>
                <a:tc>
                  <a:txBody>
                    <a:bodyPr/>
                    <a:lstStyle/>
                    <a:p>
                      <a:r>
                        <a:rPr sz="1875" b="0">
                          <a:solidFill>
                            <a:srgbClr val="173451"/>
                          </a:solidFill>
                          <a:latin typeface="Arial"/>
                          <a:ea typeface="Arial"/>
                          <a:cs typeface="Arial"/>
                        </a:rPr>
                        <a:t>Commands, response, quan sát mới</a:t>
                      </a:r>
                    </a:p>
                  </a:txBody>
                  <a:tcPr marL="91440" marR="91440" marT="45720" marB="45720">
                    <a:solidFill>
                      <a:srgbClr val="FFFFFF"/>
                    </a:solidFill>
                  </a:tcPr>
                </a:tc>
              </a:tr>
              <a:tr h="611981">
                <a:tc>
                  <a:txBody>
                    <a:bodyPr/>
                    <a:lstStyle/>
                    <a:p>
                      <a:r>
                        <a:rPr sz="1875" b="0">
                          <a:solidFill>
                            <a:srgbClr val="173451"/>
                          </a:solidFill>
                          <a:latin typeface="Arial"/>
                          <a:ea typeface="Arial"/>
                          <a:cs typeface="Arial"/>
                        </a:rPr>
                        <a:t>Đánh giá development</a:t>
                      </a:r>
                    </a:p>
                  </a:txBody>
                  <a:tcPr marL="91440" marR="91440" marT="45720" marB="45720">
                    <a:solidFill>
                      <a:srgbClr val="FFFFFF"/>
                    </a:solidFill>
                  </a:tcPr>
                </a:tc>
                <a:tc>
                  <a:txBody>
                    <a:bodyPr/>
                    <a:lstStyle/>
                    <a:p>
                      <a:r>
                        <a:rPr sz="1875" b="0">
                          <a:solidFill>
                            <a:srgbClr val="173451"/>
                          </a:solidFill>
                          <a:latin typeface="Arial"/>
                          <a:ea typeface="Arial"/>
                          <a:cs typeface="Arial"/>
                        </a:rPr>
                        <a:t>Object / contact / tiêu chí task</a:t>
                      </a:r>
                    </a:p>
                  </a:txBody>
                  <a:tcPr marL="91440" marR="91440" marT="45720" marB="45720">
                    <a:solidFill>
                      <a:srgbClr val="FFFFFF"/>
                    </a:solidFill>
                  </a:tcPr>
                </a:tc>
                <a:tc>
                  <a:txBody>
                    <a:bodyPr/>
                    <a:lstStyle/>
                    <a:p>
                      <a:r>
                        <a:rPr sz="1875" b="0">
                          <a:solidFill>
                            <a:srgbClr val="173451"/>
                          </a:solidFill>
                          <a:latin typeface="Arial"/>
                          <a:ea typeface="Arial"/>
                          <a:cs typeface="Arial"/>
                        </a:rPr>
                        <a:t>Full-task outcome, trace và tổng công</a:t>
                      </a:r>
                    </a:p>
                  </a:txBody>
                  <a:tcPr marL="91440" marR="91440" marT="45720" marB="45720">
                    <a:solidFill>
                      <a:srgbClr val="FFFFFF"/>
                    </a:solidFill>
                  </a:tcPr>
                </a:tc>
              </a:tr>
            </a:tbl>
          </a:graphicData>
        </a:graphic>
      </p:graphicFrame>
      <p:sp>
        <p:nvSpPr>
          <p:cNvPr id="13" name="content">
            <a:extLst xmlns:a="http://schemas.openxmlformats.org/drawingml/2006/main">
              <a:ext uri="{FF2B5EF4-FFF2-40B4-BE49-F238E27FC236}">
                <a16:creationId xmlns:a16="http://schemas.microsoft.com/office/drawing/2014/main" id="{8F8419AD-3FEB-46A6-92A5-9372F8CB630B}"/>
              </a:ext>
            </a:extLst>
          </p:cNvPr>
          <p:cNvSpPr>
            <a:spLocks xmlns:a="http://schemas.openxmlformats.org/drawingml/2006/main" noGrp="1"/>
          </p:cNvSpPr>
          <p:nvPr/>
        </p:nvSpPr>
        <p:spPr>
          <a:xfrm xmlns:a="http://schemas.openxmlformats.org/drawingml/2006/main">
            <a:off x="533400" y="53244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78B"/>
                </a:solidFill>
                <a:latin typeface="Arial"/>
                <a:ea typeface="Arial"/>
                <a:cs typeface="Arial"/>
              </a:defRPr>
            </a:defPPr>
          </a:lstStyle>
          <a:p xmlns:a="http://schemas.openxmlformats.org/drawingml/2006/main">
            <a:pPr>
              <a:defRPr sz="2175" b="1">
                <a:solidFill>
                  <a:srgbClr val="00878B"/>
                </a:solidFill>
                <a:latin typeface="Arial"/>
                <a:ea typeface="Arial"/>
                <a:cs typeface="Arial"/>
              </a:defRPr>
            </a:pPr>
            <a:r>
              <a:rPr sz="2175" b="1">
                <a:solidFill>
                  <a:srgbClr val="00878B"/>
                </a:solidFill>
                <a:latin typeface="Arial"/>
                <a:ea typeface="Arial"/>
                <a:cs typeface="Arial"/>
              </a:rPr>
              <a:t>Evidence quay về Data Core để chọn can thiệp tiếp theo</a:t>
            </a:r>
          </a:p>
        </p:txBody>
      </p:sp>
      <p:sp>
        <p:nvSpPr>
          <p:cNvPr id="14" name="content">
            <a:extLst xmlns:a="http://schemas.openxmlformats.org/drawingml/2006/main">
              <a:ext uri="{FF2B5EF4-FFF2-40B4-BE49-F238E27FC236}">
                <a16:creationId xmlns:a16="http://schemas.microsoft.com/office/drawing/2014/main" id="{04338F98-5423-4CEE-9D48-BA6B59AFFB4F}"/>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09 / 23</a:t>
            </a:r>
          </a:p>
        </p:txBody>
      </p:sp>
    </p:spTree>
    <p:extLst>
      <p:ext uri="{BB962C8B-B14F-4D97-AF65-F5344CB8AC3E}">
        <p14:creationId xmlns:p14="http://schemas.microsoft.com/office/powerpoint/2010/main" val="41914443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CE925341-BBF4-41A6-9024-AD95179B7937}"/>
              </a:ext>
            </a:extLst>
          </p:cNvPr>
          <p:cNvPicPr>
            <a:picLocks xmlns:a="http://schemas.openxmlformats.org/drawingml/2006/main" noChangeAspect="1"/>
          </p:cNvPicPr>
          <p:nvPr/>
        </p:nvPicPr>
        <p:blipFill>
          <a:blip xmlns:r="http://schemas.openxmlformats.org/officeDocument/2006/relationships" xmlns:a="http://schemas.openxmlformats.org/drawingml/2006/main" r:embed="R1ebe22c700644e00"/>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Cách chứng minh điểm khác biệt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Data Core và Model Engine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Hai phép so riêng. Source gain chưa chứng minh workflow tốt hơn. Native A1 và savings chưa đo.</a:t>
            </a:r>
          </a:p>
        </p:txBody>
      </p:sp>
      <p:sp>
        <p:nvSpPr>
          <p:cNvPr id="11" name="content">
            <a:extLst xmlns:a="http://schemas.openxmlformats.org/drawingml/2006/main">
              <a:ext uri="{FF2B5EF4-FFF2-40B4-BE49-F238E27FC236}">
                <a16:creationId xmlns:a16="http://schemas.microsoft.com/office/drawing/2014/main" id="{480B12CC-309D-4B5F-8278-72BF3FA1A31D}"/>
              </a:ext>
            </a:extLst>
          </p:cNvPr>
          <p:cNvSpPr>
            <a:spLocks xmlns:a="http://schemas.openxmlformats.org/drawingml/2006/main" noGrp="1"/>
          </p:cNvSpPr>
          <p:nvPr/>
        </p:nvSpPr>
        <p:spPr>
          <a:xfrm xmlns:a="http://schemas.openxmlformats.org/drawingml/2006/main">
            <a:off x="533400" y="16002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451"/>
                </a:solidFill>
                <a:latin typeface="Arial"/>
                <a:ea typeface="Arial"/>
                <a:cs typeface="Arial"/>
              </a:defRPr>
            </a:defPPr>
          </a:lstStyle>
          <a:p xmlns:a="http://schemas.openxmlformats.org/drawingml/2006/main">
            <a:pPr>
              <a:defRPr sz="2550" b="1">
                <a:solidFill>
                  <a:srgbClr val="173451"/>
                </a:solidFill>
                <a:latin typeface="Arial"/>
                <a:ea typeface="Arial"/>
                <a:cs typeface="Arial"/>
              </a:defRPr>
            </a:pPr>
            <a:r>
              <a:rPr sz="2550" b="1">
                <a:solidFill>
                  <a:srgbClr val="173451"/>
                </a:solidFill>
                <a:latin typeface="Arial"/>
                <a:ea typeface="Arial"/>
                <a:cs typeface="Arial"/>
              </a:rPr>
              <a:t>Đo cả lợi ích dữ liệu và lợi ích của quyết định</a:t>
            </a:r>
          </a:p>
        </p:txBody>
      </p:sp>
      <p:graphicFrame>
        <p:nvGraphicFramePr>
          <p:cNvPr id="12" name="">
            <a:extLst xmlns:a="http://schemas.openxmlformats.org/drawingml/2006/main">
              <a:ext uri="{FF2B5EF4-FFF2-40B4-BE49-F238E27FC236}">
                <a16:creationId xmlns:a16="http://schemas.microsoft.com/office/drawing/2014/main" id="{455CBB72-7E26-4AB0-A0E2-0923A5631B46}"/>
              </a:ext>
            </a:extLst>
          </p:cNvPr>
          <p:cNvGraphicFramePr/>
          <p:nvPr/>
        </p:nvGraphicFramePr>
        <p:xfrm>
          <a:off xmlns:a="http://schemas.openxmlformats.org/drawingml/2006/main" x="533400" y="2514600"/>
          <a:ext xmlns:a="http://schemas.openxmlformats.org/drawingml/2006/main" cx="11125200" cy="2324100"/>
        </p:xfrm>
        <a:graphic xmlns:a="http://schemas.openxmlformats.org/drawingml/2006/main">
          <a:graphicData uri="http://schemas.openxmlformats.org/drawingml/2006/table">
            <a:tbl>
              <a:tblPr/>
              <a:tblGrid>
                <a:gridCol w="3105150"/>
                <a:gridCol w="4010025"/>
                <a:gridCol w="4010025"/>
              </a:tblGrid>
              <a:tr h="774700">
                <a:tc>
                  <a:txBody>
                    <a:bodyPr/>
                    <a:lstStyle/>
                    <a:p>
                      <a:r>
                        <a:rPr sz="1875" b="1">
                          <a:solidFill>
                            <a:srgbClr val="FFFFFF"/>
                          </a:solidFill>
                          <a:latin typeface="Arial"/>
                          <a:ea typeface="Arial"/>
                          <a:cs typeface="Arial"/>
                        </a:rPr>
                        <a:t>Câu hỏi</a:t>
                      </a:r>
                    </a:p>
                  </a:txBody>
                  <a:tcPr marL="91440" marR="91440" marT="45720" marB="45720">
                    <a:solidFill>
                      <a:srgbClr val="173451"/>
                    </a:solidFill>
                  </a:tcPr>
                </a:tc>
                <a:tc>
                  <a:txBody>
                    <a:bodyPr/>
                    <a:lstStyle/>
                    <a:p>
                      <a:r>
                        <a:rPr sz="1875" b="1">
                          <a:solidFill>
                            <a:srgbClr val="FFFFFF"/>
                          </a:solidFill>
                          <a:latin typeface="Arial"/>
                          <a:ea typeface="Arial"/>
                          <a:cs typeface="Arial"/>
                        </a:rPr>
                        <a:t>Đối chứng</a:t>
                      </a:r>
                    </a:p>
                  </a:txBody>
                  <a:tcPr marL="91440" marR="91440" marT="45720" marB="45720">
                    <a:solidFill>
                      <a:srgbClr val="173451"/>
                    </a:solidFill>
                  </a:tcPr>
                </a:tc>
                <a:tc>
                  <a:txBody>
                    <a:bodyPr/>
                    <a:lstStyle/>
                    <a:p>
                      <a:r>
                        <a:rPr sz="1875" b="1">
                          <a:solidFill>
                            <a:srgbClr val="FFFFFF"/>
                          </a:solidFill>
                          <a:latin typeface="Arial"/>
                          <a:ea typeface="Arial"/>
                          <a:cs typeface="Arial"/>
                        </a:rPr>
                        <a:t>Kết quả cần đo</a:t>
                      </a:r>
                    </a:p>
                  </a:txBody>
                  <a:tcPr marL="91440" marR="91440" marT="45720" marB="45720">
                    <a:solidFill>
                      <a:srgbClr val="173451"/>
                    </a:solidFill>
                  </a:tcPr>
                </a:tc>
              </a:tr>
              <a:tr h="774700">
                <a:tc>
                  <a:txBody>
                    <a:bodyPr/>
                    <a:lstStyle/>
                    <a:p>
                      <a:r>
                        <a:rPr sz="1875" b="0">
                          <a:solidFill>
                            <a:srgbClr val="173451"/>
                          </a:solidFill>
                          <a:latin typeface="Arial"/>
                          <a:ea typeface="Arial"/>
                          <a:cs typeface="Arial"/>
                        </a:rPr>
                        <a:t>Dữ liệu bổ sung có ích?</a:t>
                      </a:r>
                    </a:p>
                  </a:txBody>
                  <a:tcPr marL="91440" marR="91440" marT="45720" marB="45720">
                    <a:solidFill>
                      <a:srgbClr val="FFFFFF"/>
                    </a:solidFill>
                  </a:tcPr>
                </a:tc>
                <a:tc>
                  <a:txBody>
                    <a:bodyPr/>
                    <a:lstStyle/>
                    <a:p>
                      <a:r>
                        <a:rPr sz="1875" b="0">
                          <a:solidFill>
                            <a:srgbClr val="173451"/>
                          </a:solidFill>
                          <a:latin typeface="Arial"/>
                          <a:ea typeface="Arial"/>
                          <a:cs typeface="Arial"/>
                        </a:rPr>
                        <a:t>R so với R + S_exec</a:t>
                      </a:r>
                    </a:p>
                    <a:p>
                      <a:r>
                        <a:rPr sz="1875" b="0">
                          <a:solidFill>
                            <a:srgbClr val="173451"/>
                          </a:solidFill>
                          <a:latin typeface="Arial"/>
                          <a:ea typeface="Arial"/>
                          <a:cs typeface="Arial"/>
                        </a:rPr>
                        <a:t>Cùng roots, recipe và task</a:t>
                      </a:r>
                    </a:p>
                  </a:txBody>
                  <a:tcPr marL="91440" marR="91440" marT="45720" marB="45720">
                    <a:solidFill>
                      <a:srgbClr val="FFFFFF"/>
                    </a:solidFill>
                  </a:tcPr>
                </a:tc>
                <a:tc>
                  <a:txBody>
                    <a:bodyPr/>
                    <a:lstStyle/>
                    <a:p>
                      <a:r>
                        <a:rPr sz="1875" b="0">
                          <a:solidFill>
                            <a:srgbClr val="173451"/>
                          </a:solidFill>
                          <a:latin typeface="Arial"/>
                          <a:ea typeface="Arial"/>
                          <a:cs typeface="Arial"/>
                        </a:rPr>
                        <a:t>Task success, regression</a:t>
                      </a:r>
                    </a:p>
                    <a:p>
                      <a:r>
                        <a:rPr sz="1875" b="0">
                          <a:solidFill>
                            <a:srgbClr val="173451"/>
                          </a:solidFill>
                          <a:latin typeface="Arial"/>
                          <a:ea typeface="Arial"/>
                          <a:cs typeface="Arial"/>
                        </a:rPr>
                        <a:t>Chi phí thêm của S_exec</a:t>
                      </a:r>
                    </a:p>
                  </a:txBody>
                  <a:tcPr marL="91440" marR="91440" marT="45720" marB="45720">
                    <a:solidFill>
                      <a:srgbClr val="FFFFFF"/>
                    </a:solidFill>
                  </a:tcPr>
                </a:tc>
              </a:tr>
              <a:tr h="774700">
                <a:tc>
                  <a:txBody>
                    <a:bodyPr/>
                    <a:lstStyle/>
                    <a:p>
                      <a:r>
                        <a:rPr sz="1875" b="0">
                          <a:solidFill>
                            <a:srgbClr val="173451"/>
                          </a:solidFill>
                          <a:latin typeface="Arial"/>
                          <a:ea typeface="Arial"/>
                          <a:cs typeface="Arial"/>
                        </a:rPr>
                        <a:t>Flywheel quyết định tốt hơn?</a:t>
                      </a:r>
                    </a:p>
                  </a:txBody>
                  <a:tcPr marL="91440" marR="91440" marT="45720" marB="45720">
                    <a:solidFill>
                      <a:srgbClr val="FFFFFF"/>
                    </a:solidFill>
                  </a:tcPr>
                </a:tc>
                <a:tc>
                  <a:txBody>
                    <a:bodyPr/>
                    <a:lstStyle/>
                    <a:p>
                      <a:r>
                        <a:rPr sz="1875" b="0">
                          <a:solidFill>
                            <a:srgbClr val="173451"/>
                          </a:solidFill>
                          <a:latin typeface="Arial"/>
                          <a:ea typeface="Arial"/>
                          <a:cs typeface="Arial"/>
                        </a:rPr>
                        <a:t>Workflow kỹ sư hiện có</a:t>
                      </a:r>
                    </a:p>
                    <a:p>
                      <a:r>
                        <a:rPr sz="1875" b="0">
                          <a:solidFill>
                            <a:srgbClr val="173451"/>
                          </a:solidFill>
                          <a:latin typeface="Arial"/>
                          <a:ea typeface="Arial"/>
                          <a:cs typeface="Arial"/>
                        </a:rPr>
                        <a:t>Cùng case, cap và quyền can thiệp</a:t>
                      </a:r>
                    </a:p>
                  </a:txBody>
                  <a:tcPr marL="91440" marR="91440" marT="45720" marB="45720">
                    <a:solidFill>
                      <a:srgbClr val="FFFFFF"/>
                    </a:solidFill>
                  </a:tcPr>
                </a:tc>
                <a:tc>
                  <a:txBody>
                    <a:bodyPr/>
                    <a:lstStyle/>
                    <a:p>
                      <a:r>
                        <a:rPr sz="1875" b="0">
                          <a:solidFill>
                            <a:srgbClr val="173451"/>
                          </a:solidFill>
                          <a:latin typeface="Arial"/>
                          <a:ea typeface="Arial"/>
                          <a:cs typeface="Arial"/>
                        </a:rPr>
                        <a:t>Tổng công tới cùng quality</a:t>
                      </a:r>
                    </a:p>
                    <a:p>
                      <a:r>
                        <a:rPr sz="1875" b="0">
                          <a:solidFill>
                            <a:srgbClr val="173451"/>
                          </a:solidFill>
                          <a:latin typeface="Arial"/>
                          <a:ea typeface="Arial"/>
                          <a:cs typeface="Arial"/>
                        </a:rPr>
                        <a:t>Số vòng sửa / train lại</a:t>
                      </a:r>
                    </a:p>
                  </a:txBody>
                  <a:tcPr marL="91440" marR="91440" marT="45720" marB="45720">
                    <a:solidFill>
                      <a:srgbClr val="FFFFFF"/>
                    </a:solidFill>
                  </a:tcPr>
                </a:tc>
              </a:tr>
            </a:tbl>
          </a:graphicData>
        </a:graphic>
      </p:graphicFrame>
      <p:sp>
        <p:nvSpPr>
          <p:cNvPr id="13" name="content">
            <a:extLst xmlns:a="http://schemas.openxmlformats.org/drawingml/2006/main">
              <a:ext uri="{FF2B5EF4-FFF2-40B4-BE49-F238E27FC236}">
                <a16:creationId xmlns:a16="http://schemas.microsoft.com/office/drawing/2014/main" id="{B2496F6F-E717-4EE9-A977-1CB76A7BD026}"/>
              </a:ext>
            </a:extLst>
          </p:cNvPr>
          <p:cNvSpPr>
            <a:spLocks xmlns:a="http://schemas.openxmlformats.org/drawingml/2006/main" noGrp="1"/>
          </p:cNvSpPr>
          <p:nvPr/>
        </p:nvSpPr>
        <p:spPr>
          <a:xfrm xmlns:a="http://schemas.openxmlformats.org/drawingml/2006/main">
            <a:off x="533400" y="5162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878B"/>
                </a:solidFill>
                <a:latin typeface="Arial"/>
                <a:ea typeface="Arial"/>
                <a:cs typeface="Arial"/>
              </a:defRPr>
            </a:defPPr>
          </a:lstStyle>
          <a:p xmlns:a="http://schemas.openxmlformats.org/drawingml/2006/main">
            <a:pPr>
              <a:defRPr sz="1950" b="1">
                <a:solidFill>
                  <a:srgbClr val="00878B"/>
                </a:solidFill>
                <a:latin typeface="Arial"/>
                <a:ea typeface="Arial"/>
                <a:cs typeface="Arial"/>
              </a:defRPr>
            </a:pPr>
            <a:r>
              <a:rPr sz="1950" b="1">
                <a:solidFill>
                  <a:srgbClr val="00878B"/>
                </a:solidFill>
                <a:latin typeface="Arial"/>
                <a:ea typeface="Arial"/>
                <a:cs typeface="Arial"/>
              </a:rPr>
              <a:t>Tổng công gồm operator, kỹ sư, robot, generation, QA, GPU và eval</a:t>
            </a:r>
          </a:p>
        </p:txBody>
      </p:sp>
      <p:sp>
        <p:nvSpPr>
          <p:cNvPr id="14" name="content">
            <a:extLst xmlns:a="http://schemas.openxmlformats.org/drawingml/2006/main">
              <a:ext uri="{FF2B5EF4-FFF2-40B4-BE49-F238E27FC236}">
                <a16:creationId xmlns:a16="http://schemas.microsoft.com/office/drawing/2014/main" id="{5F74B630-E69B-4BFC-877D-9827C4F7BC6F}"/>
              </a:ext>
            </a:extLst>
          </p:cNvPr>
          <p:cNvSpPr>
            <a:spLocks xmlns:a="http://schemas.openxmlformats.org/drawingml/2006/main" noGrp="1"/>
          </p:cNvSpPr>
          <p:nvPr/>
        </p:nvSpPr>
        <p:spPr>
          <a:xfrm xmlns:a="http://schemas.openxmlformats.org/drawingml/2006/main">
            <a:off x="533400" y="55816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451"/>
                </a:solidFill>
                <a:latin typeface="Arial"/>
                <a:ea typeface="Arial"/>
                <a:cs typeface="Arial"/>
              </a:defRPr>
            </a:defPPr>
          </a:lstStyle>
          <a:p xmlns:a="http://schemas.openxmlformats.org/drawingml/2006/main">
            <a:pPr>
              <a:defRPr sz="1725" b="0">
                <a:solidFill>
                  <a:srgbClr val="173451"/>
                </a:solidFill>
                <a:latin typeface="Arial"/>
                <a:ea typeface="Arial"/>
                <a:cs typeface="Arial"/>
              </a:defRPr>
            </a:pPr>
            <a:r>
              <a:rPr sz="1725" b="0">
                <a:solidFill>
                  <a:srgbClr val="173451"/>
                </a:solidFill>
                <a:latin typeface="Arial"/>
                <a:ea typeface="Arial"/>
                <a:cs typeface="Arial"/>
              </a:rPr>
              <a:t>Task thứ hai đo công tái sử dụng. Final độc lập chỉ chạy sau khi khóa candidate.</a:t>
            </a:r>
          </a:p>
        </p:txBody>
      </p:sp>
      <p:sp>
        <p:nvSpPr>
          <p:cNvPr id="15" name="content">
            <a:extLst xmlns:a="http://schemas.openxmlformats.org/drawingml/2006/main">
              <a:ext uri="{FF2B5EF4-FFF2-40B4-BE49-F238E27FC236}">
                <a16:creationId xmlns:a16="http://schemas.microsoft.com/office/drawing/2014/main" id="{D527D53C-7BA7-419E-9D45-538ED2C70DA8}"/>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10 / 23</a:t>
            </a:r>
          </a:p>
        </p:txBody>
      </p:sp>
    </p:spTree>
    <p:extLst>
      <p:ext uri="{BB962C8B-B14F-4D97-AF65-F5344CB8AC3E}">
        <p14:creationId xmlns:p14="http://schemas.microsoft.com/office/powerpoint/2010/main" val="41914443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3630FD6B-6505-43A3-8D59-6DB8D6ED82D8}"/>
              </a:ext>
            </a:extLst>
          </p:cNvPr>
          <p:cNvPicPr>
            <a:picLocks xmlns:a="http://schemas.openxmlformats.org/drawingml/2006/main" noChangeAspect="1"/>
          </p:cNvPicPr>
          <p:nvPr/>
        </p:nvPicPr>
        <p:blipFill>
          <a:blip xmlns:r="http://schemas.openxmlformats.org/officeDocument/2006/relationships" xmlns:a="http://schemas.openxmlformats.org/drawingml/2006/main" r:embed="Rdb58ecd3b7d4416b"/>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Ngân sách pilot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MVP A1 trong mô phỏng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Ngân sách giả định, chưa đo. Chưa gồm robot/cell, CPU riêng, data/license, thuế và downtime.</a:t>
            </a:r>
          </a:p>
        </p:txBody>
      </p:sp>
      <p:sp>
        <p:nvSpPr>
          <p:cNvPr id="11" name="">
            <a:extLst xmlns:a="http://schemas.openxmlformats.org/drawingml/2006/main">
              <a:ext uri="{FF2B5EF4-FFF2-40B4-BE49-F238E27FC236}">
                <a16:creationId xmlns:a16="http://schemas.microsoft.com/office/drawing/2014/main" id="{F41F463F-DC99-4E5E-9E6D-59BE10169333}"/>
              </a:ext>
            </a:extLst>
          </p:cNvPr>
          <p:cNvSpPr>
            <a:spLocks xmlns:a="http://schemas.openxmlformats.org/drawingml/2006/main" noGrp="1"/>
          </p:cNvSpPr>
          <p:nvPr/>
        </p:nvSpPr>
        <p:spPr>
          <a:xfrm xmlns:a="http://schemas.openxmlformats.org/drawingml/2006/main">
            <a:off x="533400" y="157162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25" b="1">
                <a:solidFill>
                  <a:srgbClr val="007F83"/>
                </a:solidFill>
                <a:latin typeface="Arial"/>
                <a:ea typeface="Arial"/>
                <a:cs typeface="Arial"/>
              </a:defRPr>
            </a:defPPr>
          </a:lstStyle>
          <a:p xmlns:a="http://schemas.openxmlformats.org/drawingml/2006/main">
            <a:pPr>
              <a:buNone/>
              <a:defRPr sz="3525" b="1">
                <a:solidFill>
                  <a:srgbClr val="007F83"/>
                </a:solidFill>
                <a:latin typeface="Arial"/>
                <a:ea typeface="Arial"/>
                <a:cs typeface="Arial"/>
              </a:defRPr>
            </a:pPr>
            <a:r>
              <a:rPr sz="3525" b="1">
                <a:solidFill>
                  <a:srgbClr val="007F83"/>
                </a:solidFill>
                <a:latin typeface="Arial"/>
                <a:ea typeface="Arial"/>
                <a:cs typeface="Arial"/>
              </a:rPr>
              <a:t>5.187,20 USD</a:t>
            </a:r>
          </a:p>
        </p:txBody>
      </p:sp>
      <p:sp>
        <p:nvSpPr>
          <p:cNvPr id="12" name="">
            <a:extLst xmlns:a="http://schemas.openxmlformats.org/drawingml/2006/main">
              <a:ext uri="{FF2B5EF4-FFF2-40B4-BE49-F238E27FC236}">
                <a16:creationId xmlns:a16="http://schemas.microsoft.com/office/drawing/2014/main" id="{F1F1DB44-B96D-4037-999D-891793060EC8}"/>
              </a:ext>
            </a:extLst>
          </p:cNvPr>
          <p:cNvSpPr>
            <a:spLocks xmlns:a="http://schemas.openxmlformats.org/drawingml/2006/main" noGrp="1"/>
          </p:cNvSpPr>
          <p:nvPr/>
        </p:nvSpPr>
        <p:spPr>
          <a:xfrm xmlns:a="http://schemas.openxmlformats.org/drawingml/2006/main">
            <a:off x="6191250" y="1647825"/>
            <a:ext cx="5467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3251"/>
                </a:solidFill>
                <a:latin typeface="Arial"/>
                <a:ea typeface="Arial"/>
                <a:cs typeface="Arial"/>
              </a:defRPr>
            </a:defPPr>
          </a:lstStyle>
          <a:p xmlns:a="http://schemas.openxmlformats.org/drawingml/2006/main">
            <a:pPr>
              <a:buNone/>
              <a:defRPr sz="1875" b="0">
                <a:solidFill>
                  <a:srgbClr val="153251"/>
                </a:solidFill>
                <a:latin typeface="Arial"/>
                <a:ea typeface="Arial"/>
                <a:cs typeface="Arial"/>
              </a:defRPr>
            </a:pPr>
            <a:r>
              <a:rPr sz="1875" b="0">
                <a:solidFill>
                  <a:srgbClr val="153251"/>
                </a:solidFill>
                <a:latin typeface="Arial"/>
                <a:ea typeface="Arial"/>
                <a:cs typeface="Arial"/>
              </a:rPr>
              <a:t>20 accepted train roots, giả định yield 50%</a:t>
            </a:r>
          </a:p>
          <a:p xmlns:a="http://schemas.openxmlformats.org/drawingml/2006/main">
            <a:pPr>
              <a:buNone/>
              <a:defRPr sz="1875" b="0">
                <a:solidFill>
                  <a:srgbClr val="153251"/>
                </a:solidFill>
                <a:latin typeface="Arial"/>
                <a:ea typeface="Arial"/>
                <a:cs typeface="Arial"/>
              </a:defRPr>
            </a:pPr>
            <a:r>
              <a:rPr sz="1875" b="0">
                <a:solidFill>
                  <a:srgbClr val="153251"/>
                </a:solidFill>
                <a:latin typeface="Arial"/>
                <a:ea typeface="Arial"/>
                <a:cs typeface="Arial"/>
              </a:rPr>
              <a:t>40 attempts, compute có cap và replan</a:t>
            </a:r>
          </a:p>
        </p:txBody>
      </p:sp>
      <p:graphicFrame>
        <p:nvGraphicFramePr>
          <p:cNvPr id="13" name="">
            <a:extLst xmlns:a="http://schemas.openxmlformats.org/drawingml/2006/main">
              <a:ext uri="{FF2B5EF4-FFF2-40B4-BE49-F238E27FC236}">
                <a16:creationId xmlns:a16="http://schemas.microsoft.com/office/drawing/2014/main" id="{985B8296-33F0-47DC-B4F9-70DFBB61441C}"/>
              </a:ext>
            </a:extLst>
          </p:cNvPr>
          <p:cNvGraphicFramePr/>
          <p:nvPr/>
        </p:nvGraphicFramePr>
        <p:xfrm>
          <a:off xmlns:a="http://schemas.openxmlformats.org/drawingml/2006/main" x="533400" y="2495550"/>
          <a:ext xmlns:a="http://schemas.openxmlformats.org/drawingml/2006/main" cx="11125200" cy="2647950"/>
        </p:xfrm>
        <a:graphic xmlns:a="http://schemas.openxmlformats.org/drawingml/2006/main">
          <a:graphicData uri="http://schemas.openxmlformats.org/drawingml/2006/table">
            <a:tbl>
              <a:tblPr/>
              <a:tblGrid>
                <a:gridCol w="4191000"/>
                <a:gridCol w="4905375"/>
                <a:gridCol w="2028825"/>
              </a:tblGrid>
              <a:tr h="419100">
                <a:tc>
                  <a:txBody>
                    <a:bodyPr>
                      <a:noAutofit/>
                    </a:bodyPr>
                    <a:lstStyle/>
                    <a:p>
                      <a:r>
                        <a:rPr sz="1800" b="1">
                          <a:solidFill>
                            <a:srgbClr val="FFFFFF"/>
                          </a:solidFill>
                          <a:latin typeface="Arial"/>
                          <a:ea typeface="Arial"/>
                          <a:cs typeface="Arial"/>
                        </a:rPr>
                        <a:t>Khoản đã tính</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Cơ sở planning</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USD</a:t>
                      </a:r>
                    </a:p>
                  </a:txBody>
                  <a:tcPr marL="95250" marR="95250" marT="76200" marB="66675" anchor="t">
                    <a:solidFill>
                      <a:srgbClr val="153251"/>
                    </a:solidFill>
                  </a:tcPr>
                </a:tc>
              </a:tr>
              <a:tr h="445770">
                <a:tc>
                  <a:txBody>
                    <a:bodyPr>
                      <a:noAutofit/>
                    </a:bodyPr>
                    <a:lstStyle/>
                    <a:p>
                      <a:r>
                        <a:rPr sz="1800" b="0">
                          <a:solidFill>
                            <a:srgbClr val="153251"/>
                          </a:solidFill>
                          <a:latin typeface="Arial"/>
                          <a:ea typeface="Arial"/>
                          <a:cs typeface="Arial"/>
                        </a:rPr>
                        <a:t>Capture / reset</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4 operator giờ × 10 USD</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40,00</a:t>
                      </a:r>
                    </a:p>
                  </a:txBody>
                  <a:tcPr marL="95250" marR="95250" marT="76200" marB="66675" anchor="t">
                    <a:solidFill>
                      <a:srgbClr val="FFFFFF"/>
                    </a:solidFill>
                  </a:tcPr>
                </a:tc>
              </a:tr>
              <a:tr h="445770">
                <a:tc>
                  <a:txBody>
                    <a:bodyPr>
                      <a:noAutofit/>
                    </a:bodyPr>
                    <a:lstStyle/>
                    <a:p>
                      <a:r>
                        <a:rPr sz="1800" b="0">
                          <a:solidFill>
                            <a:srgbClr val="153251"/>
                          </a:solidFill>
                          <a:latin typeface="Arial"/>
                          <a:ea typeface="Arial"/>
                          <a:cs typeface="Arial"/>
                        </a:rPr>
                        <a:t>QA</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2 engineer giờ × 20 USD</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40,00</a:t>
                      </a:r>
                    </a:p>
                  </a:txBody>
                  <a:tcPr marL="95250" marR="95250" marT="76200" marB="66675" anchor="t">
                    <a:solidFill>
                      <a:srgbClr val="FFFFFF"/>
                    </a:solidFill>
                  </a:tcPr>
                </a:tc>
              </a:tr>
              <a:tr h="445770">
                <a:tc>
                  <a:txBody>
                    <a:bodyPr>
                      <a:noAutofit/>
                    </a:bodyPr>
                    <a:lstStyle/>
                    <a:p>
                      <a:r>
                        <a:rPr sz="1800" b="0">
                          <a:solidFill>
                            <a:srgbClr val="153251"/>
                          </a:solidFill>
                          <a:latin typeface="Arial"/>
                          <a:ea typeface="Arial"/>
                          <a:cs typeface="Arial"/>
                        </a:rPr>
                        <a:t>Integration / chuẩn bị / báo cáo</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240 engineer giờ × 20 USD</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4.800,00</a:t>
                      </a:r>
                    </a:p>
                  </a:txBody>
                  <a:tcPr marL="95250" marR="95250" marT="76200" marB="66675" anchor="t">
                    <a:solidFill>
                      <a:srgbClr val="FFFFFF"/>
                    </a:solidFill>
                  </a:tcPr>
                </a:tc>
              </a:tr>
              <a:tr h="445770">
                <a:tc>
                  <a:txBody>
                    <a:bodyPr>
                      <a:noAutofit/>
                    </a:bodyPr>
                    <a:lstStyle/>
                    <a:p>
                      <a:r>
                        <a:rPr sz="1800" b="0">
                          <a:solidFill>
                            <a:srgbClr val="153251"/>
                          </a:solidFill>
                          <a:latin typeface="Arial"/>
                          <a:ea typeface="Arial"/>
                          <a:cs typeface="Arial"/>
                        </a:rPr>
                        <a:t>GPU cap</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180 A100 giờ × 1,59 USD</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286,20</a:t>
                      </a:r>
                    </a:p>
                  </a:txBody>
                  <a:tcPr marL="95250" marR="95250" marT="76200" marB="66675" anchor="t">
                    <a:solidFill>
                      <a:srgbClr val="FFFFFF"/>
                    </a:solidFill>
                  </a:tcPr>
                </a:tc>
              </a:tr>
              <a:tr h="445770">
                <a:tc>
                  <a:txBody>
                    <a:bodyPr>
                      <a:noAutofit/>
                    </a:bodyPr>
                    <a:lstStyle/>
                    <a:p>
                      <a:r>
                        <a:rPr sz="1800" b="0">
                          <a:solidFill>
                            <a:srgbClr val="153251"/>
                          </a:solidFill>
                          <a:latin typeface="Arial"/>
                          <a:ea typeface="Arial"/>
                          <a:cs typeface="Arial"/>
                        </a:rPr>
                        <a:t>Storage</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100 GB × 3 tháng × 0,07 USD</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21,00</a:t>
                      </a:r>
                    </a:p>
                  </a:txBody>
                  <a:tcPr marL="95250" marR="95250" marT="76200" marB="66675" anchor="t">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CECA0485-04B5-4525-BD5B-C0E9824C6D0B}"/>
              </a:ext>
            </a:extLst>
          </p:cNvPr>
          <p:cNvSpPr>
            <a:spLocks xmlns:a="http://schemas.openxmlformats.org/drawingml/2006/main" noGrp="1"/>
          </p:cNvSpPr>
          <p:nvPr/>
        </p:nvSpPr>
        <p:spPr>
          <a:xfrm xmlns:a="http://schemas.openxmlformats.org/drawingml/2006/main">
            <a:off x="533400" y="5467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53251"/>
                </a:solidFill>
                <a:latin typeface="Arial"/>
                <a:ea typeface="Arial"/>
                <a:cs typeface="Arial"/>
              </a:defRPr>
            </a:defPPr>
          </a:lstStyle>
          <a:p xmlns:a="http://schemas.openxmlformats.org/drawingml/2006/main">
            <a:pPr>
              <a:buNone/>
              <a:defRPr sz="1950" b="1">
                <a:solidFill>
                  <a:srgbClr val="153251"/>
                </a:solidFill>
                <a:latin typeface="Arial"/>
                <a:ea typeface="Arial"/>
                <a:cs typeface="Arial"/>
              </a:defRPr>
            </a:pPr>
            <a:r>
              <a:rPr sz="1950" b="1">
                <a:solidFill>
                  <a:srgbClr val="153251"/>
                </a:solidFill>
                <a:latin typeface="Arial"/>
                <a:ea typeface="Arial"/>
                <a:cs typeface="Arial"/>
              </a:rPr>
              <a:t>Hiện trạng DENSO, chi phí lặp lại, lợi ích năm và ROI cần số liệu thực tế từ task owner.</a:t>
            </a:r>
          </a:p>
        </p:txBody>
      </p:sp>
      <p:sp>
        <p:nvSpPr>
          <p:cNvPr id="15" name="content">
            <a:extLst xmlns:a="http://schemas.openxmlformats.org/drawingml/2006/main">
              <a:ext uri="{FF2B5EF4-FFF2-40B4-BE49-F238E27FC236}">
                <a16:creationId xmlns:a16="http://schemas.microsoft.com/office/drawing/2014/main" id="{C1F567EB-309F-4A16-8403-57287D05F07F}"/>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11 / 23</a:t>
            </a:r>
          </a:p>
        </p:txBody>
      </p:sp>
    </p:spTree>
    <p:extLst>
      <p:ext uri="{BB962C8B-B14F-4D97-AF65-F5344CB8AC3E}">
        <p14:creationId xmlns:p14="http://schemas.microsoft.com/office/powerpoint/2010/main" val="41914443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E66604-BBD9-4DAE-9215-8F998FDA2077}"/>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Lộ trình 8–12 tuần</a:t>
            </a:r>
            <a:endParaRPr/>
          </a:p>
        </p:txBody>
      </p:sp>
      <p:pic>
        <p:nvPicPr>
          <p:cNvPr id="3" name="">
            <a:extLst xmlns:a="http://schemas.openxmlformats.org/drawingml/2006/main">
              <a:ext uri="{FF2B5EF4-FFF2-40B4-BE49-F238E27FC236}">
                <a16:creationId xmlns:a16="http://schemas.microsoft.com/office/drawing/2014/main" id="{42B905AD-D89D-48F9-930C-070D2BD41CF6}"/>
              </a:ext>
            </a:extLst>
          </p:cNvPr>
          <p:cNvPicPr>
            <a:picLocks xmlns:a="http://schemas.openxmlformats.org/drawingml/2006/main" noChangeAspect="1"/>
          </p:cNvPicPr>
          <p:nvPr/>
        </p:nvPicPr>
        <p:blipFill>
          <a:blip xmlns:r="http://schemas.openxmlformats.org/officeDocument/2006/relationships" xmlns:a="http://schemas.openxmlformats.org/drawingml/2006/main" r:embed="R41aef4e23219418d"/>
          <a:stretch xmlns:a="http://schemas.openxmlformats.org/drawingml/2006/main"/>
        </p:blipFill>
        <p:spPr>
          <a:xfrm xmlns:a="http://schemas.openxmlformats.org/drawingml/2006/main">
            <a:off x="0" y="5989177"/>
            <a:ext cx="12192000" cy="866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86C94F-05A9-4905-AD1C-71F5BB4FCB3C}"/>
              </a:ext>
            </a:extLst>
          </p:cNvPr>
          <p:cNvSpPr>
            <a:spLocks xmlns:a="http://schemas.openxmlformats.org/drawingml/2006/main" noGrp="1"/>
          </p:cNvSpPr>
          <p:nvPr/>
        </p:nvSpPr>
        <p:spPr>
          <a:xfrm xmlns:a="http://schemas.openxmlformats.org/drawingml/2006/main">
            <a:off x="323850" y="616267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FFFFFF"/>
                </a:solidFill>
                <a:latin typeface="Arial"/>
                <a:ea typeface="Arial"/>
                <a:cs typeface="Arial"/>
              </a:defRPr>
            </a:defPPr>
          </a:lstStyle>
          <a:p xmlns:a="http://schemas.openxmlformats.org/drawingml/2006/main">
            <a:pPr>
              <a:buNone/>
              <a:defRPr sz="1350" b="1">
                <a:solidFill>
                  <a:srgbClr val="FFFFFF"/>
                </a:solidFill>
                <a:latin typeface="Arial"/>
                <a:ea typeface="Arial"/>
                <a:cs typeface="Arial"/>
              </a:defRPr>
            </a:pPr>
            <a:r>
              <a:rPr sz="1350" b="1">
                <a:solidFill>
                  <a:srgbClr val="FFFFFF"/>
                </a:solidFill>
                <a:latin typeface="Arial"/>
                <a:ea typeface="Arial"/>
                <a:cs typeface="Arial"/>
              </a:rPr>
              <a:t>MVP A1 trong mô phỏng</a:t>
            </a:r>
          </a:p>
        </p:txBody>
      </p:sp>
      <p:sp>
        <p:nvSpPr>
          <p:cNvPr id="5" name="">
            <a:extLst xmlns:a="http://schemas.openxmlformats.org/drawingml/2006/main">
              <a:ext uri="{FF2B5EF4-FFF2-40B4-BE49-F238E27FC236}">
                <a16:creationId xmlns:a16="http://schemas.microsoft.com/office/drawing/2014/main" id="{4502B23B-7DA2-408C-B04C-5C016306B876}"/>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FFFFFF"/>
                </a:solidFill>
                <a:latin typeface="Arial"/>
                <a:ea typeface="Arial"/>
                <a:cs typeface="Arial"/>
              </a:defRPr>
            </a:defPPr>
          </a:lstStyle>
          <a:p xmlns:a="http://schemas.openxmlformats.org/drawingml/2006/main">
            <a:pPr>
              <a:buNone/>
              <a:defRPr sz="1275" b="0">
                <a:solidFill>
                  <a:srgbClr val="FFFFFF"/>
                </a:solidFill>
                <a:latin typeface="Arial"/>
                <a:ea typeface="Arial"/>
                <a:cs typeface="Arial"/>
              </a:defRPr>
            </a:pPr>
            <a:r>
              <a:rPr sz="1275" b="0">
                <a:solidFill>
                  <a:srgbClr val="FFFFFF"/>
                </a:solidFill>
                <a:latin typeface="Arial"/>
                <a:ea typeface="Arial"/>
                <a:cs typeface="Arial"/>
              </a:rPr>
              <a:t>Ước lượng sau khi có task owner, kỹ sư, GPU và checkpoint. Gate chưa qua thì repair, thu hẹp hoặc replan.</a:t>
            </a:r>
          </a:p>
        </p:txBody>
      </p:sp>
      <p:graphicFrame>
        <p:nvGraphicFramePr>
          <p:cNvPr id="6" name="">
            <a:extLst xmlns:a="http://schemas.openxmlformats.org/drawingml/2006/main">
              <a:ext uri="{FF2B5EF4-FFF2-40B4-BE49-F238E27FC236}">
                <a16:creationId xmlns:a16="http://schemas.microsoft.com/office/drawing/2014/main" id="{E27F4E16-2760-4728-BFC1-9EAA3DE7E755}"/>
              </a:ext>
            </a:extLst>
          </p:cNvPr>
          <p:cNvGraphicFramePr/>
          <p:nvPr/>
        </p:nvGraphicFramePr>
        <p:xfrm>
          <a:off xmlns:a="http://schemas.openxmlformats.org/drawingml/2006/main" x="533400" y="1695450"/>
          <a:ext xmlns:a="http://schemas.openxmlformats.org/drawingml/2006/main" cx="11125200" cy="3429000"/>
        </p:xfrm>
        <a:graphic xmlns:a="http://schemas.openxmlformats.org/drawingml/2006/main">
          <a:graphicData uri="http://schemas.openxmlformats.org/drawingml/2006/table">
            <a:tbl>
              <a:tblPr/>
              <a:tblGrid>
                <a:gridCol w="2524125"/>
                <a:gridCol w="4524375"/>
                <a:gridCol w="4076700"/>
              </a:tblGrid>
              <a:tr h="419100">
                <a:tc>
                  <a:txBody>
                    <a:bodyPr>
                      <a:noAutofit/>
                    </a:bodyPr>
                    <a:lstStyle/>
                    <a:p>
                      <a:r>
                        <a:rPr sz="1800" b="1">
                          <a:solidFill>
                            <a:srgbClr val="FFFFFF"/>
                          </a:solidFill>
                          <a:latin typeface="Arial"/>
                          <a:ea typeface="Arial"/>
                          <a:cs typeface="Arial"/>
                        </a:rPr>
                        <a:t>Chặng</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Công việc chính</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Điều kiện qua mốc</a:t>
                      </a:r>
                    </a:p>
                  </a:txBody>
                  <a:tcPr marL="95250" marR="95250" marT="76200" marB="66675" anchor="t">
                    <a:solidFill>
                      <a:srgbClr val="153251"/>
                    </a:solidFill>
                  </a:tcPr>
                </a:tc>
              </a:tr>
              <a:tr h="752475">
                <a:tc>
                  <a:txBody>
                    <a:bodyPr>
                      <a:noAutofit/>
                    </a:bodyPr>
                    <a:lstStyle/>
                    <a:p>
                      <a:r>
                        <a:rPr sz="1875" b="0">
                          <a:solidFill>
                            <a:srgbClr val="153251"/>
                          </a:solidFill>
                          <a:latin typeface="Arial"/>
                          <a:ea typeface="Arial"/>
                          <a:cs typeface="Arial"/>
                        </a:rPr>
                        <a:t>01  2–3 tuần</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Feasibility và native baseline</a:t>
                      </a:r>
                    </a:p>
                    <a:p>
                      <a:r>
                        <a:rPr sz="1875" b="0">
                          <a:solidFill>
                            <a:srgbClr val="153251"/>
                          </a:solidFill>
                          <a:latin typeface="Arial"/>
                          <a:ea typeface="Arial"/>
                          <a:cs typeface="Arial"/>
                        </a:rPr>
                        <a:t>Upstream smoke, A1 replay, update/reload</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Useful baseline</a:t>
                      </a:r>
                    </a:p>
                    <a:p>
                      <a:r>
                        <a:rPr sz="1875" b="0">
                          <a:solidFill>
                            <a:srgbClr val="153251"/>
                          </a:solidFill>
                          <a:latin typeface="Arial"/>
                          <a:ea typeface="Arial"/>
                          <a:cs typeface="Arial"/>
                        </a:rPr>
                        <a:t>Memory / throughput có số đo</a:t>
                      </a:r>
                    </a:p>
                  </a:txBody>
                  <a:tcPr marL="95250" marR="95250" marT="76200" marB="66675" anchor="t">
                    <a:solidFill>
                      <a:srgbClr val="FFFFFF"/>
                    </a:solidFill>
                  </a:tcPr>
                </a:tc>
              </a:tr>
              <a:tr h="752475">
                <a:tc>
                  <a:txBody>
                    <a:bodyPr>
                      <a:noAutofit/>
                    </a:bodyPr>
                    <a:lstStyle/>
                    <a:p>
                      <a:r>
                        <a:rPr sz="1875" b="0">
                          <a:solidFill>
                            <a:srgbClr val="153251"/>
                          </a:solidFill>
                          <a:latin typeface="Arial"/>
                          <a:ea typeface="Arial"/>
                          <a:cs typeface="Arial"/>
                        </a:rPr>
                        <a:t>02  2–3 tuần</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Release R và S_exec</a:t>
                      </a:r>
                    </a:p>
                    <a:p>
                      <a:r>
                        <a:rPr sz="1875" b="0">
                          <a:solidFill>
                            <a:srgbClr val="153251"/>
                          </a:solidFill>
                          <a:latin typeface="Arial"/>
                          <a:ea typeface="Arial"/>
                          <a:cs typeface="Arial"/>
                        </a:rPr>
                        <a:t>Thực thi, QA, dedup, roots/splits</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Action / contact đúng</a:t>
                      </a:r>
                    </a:p>
                    <a:p>
                      <a:r>
                        <a:rPr sz="1875" b="0">
                          <a:solidFill>
                            <a:srgbClr val="153251"/>
                          </a:solidFill>
                          <a:latin typeface="Arial"/>
                          <a:ea typeface="Arial"/>
                          <a:cs typeface="Arial"/>
                        </a:rPr>
                        <a:t>Yield và công QA trong cap</a:t>
                      </a:r>
                    </a:p>
                  </a:txBody>
                  <a:tcPr marL="95250" marR="95250" marT="76200" marB="66675" anchor="t">
                    <a:solidFill>
                      <a:srgbClr val="FFFFFF"/>
                    </a:solidFill>
                  </a:tcPr>
                </a:tc>
              </a:tr>
              <a:tr h="752475">
                <a:tc>
                  <a:txBody>
                    <a:bodyPr>
                      <a:noAutofit/>
                    </a:bodyPr>
                    <a:lstStyle/>
                    <a:p>
                      <a:r>
                        <a:rPr sz="1875" b="0">
                          <a:solidFill>
                            <a:srgbClr val="153251"/>
                          </a:solidFill>
                          <a:latin typeface="Arial"/>
                          <a:ea typeface="Arial"/>
                          <a:cs typeface="Arial"/>
                        </a:rPr>
                        <a:t>03  2–3 tuần</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Development và chọn dữ liệu</a:t>
                      </a:r>
                    </a:p>
                    <a:p>
                      <a:r>
                        <a:rPr sz="1875" b="0">
                          <a:solidFill>
                            <a:srgbClr val="153251"/>
                          </a:solidFill>
                          <a:latin typeface="Arial"/>
                          <a:ea typeface="Arial"/>
                          <a:cs typeface="Arial"/>
                        </a:rPr>
                        <a:t>R/R+S, trace, kiểm gain / no-gain</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Regression + actual cost</a:t>
                      </a:r>
                    </a:p>
                    <a:p>
                      <a:r>
                        <a:rPr sz="1875" b="0">
                          <a:solidFill>
                            <a:srgbClr val="153251"/>
                          </a:solidFill>
                          <a:latin typeface="Arial"/>
                          <a:ea typeface="Arial"/>
                          <a:cs typeface="Arial"/>
                        </a:rPr>
                        <a:t>Khóa RunPlan trước final</a:t>
                      </a:r>
                    </a:p>
                  </a:txBody>
                  <a:tcPr marL="95250" marR="95250" marT="76200" marB="66675" anchor="t">
                    <a:solidFill>
                      <a:srgbClr val="FFFFFF"/>
                    </a:solidFill>
                  </a:tcPr>
                </a:tc>
              </a:tr>
              <a:tr h="752475">
                <a:tc>
                  <a:txBody>
                    <a:bodyPr>
                      <a:noAutofit/>
                    </a:bodyPr>
                    <a:lstStyle/>
                    <a:p>
                      <a:r>
                        <a:rPr sz="1875" b="0">
                          <a:solidFill>
                            <a:srgbClr val="153251"/>
                          </a:solidFill>
                          <a:latin typeface="Arial"/>
                          <a:ea typeface="Arial"/>
                          <a:cs typeface="Arial"/>
                        </a:rPr>
                        <a:t>04  2–3 tuần</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Freeze và independent final</a:t>
                      </a:r>
                    </a:p>
                    <a:p>
                      <a:r>
                        <a:rPr sz="1875" b="0">
                          <a:solidFill>
                            <a:srgbClr val="153251"/>
                          </a:solidFill>
                          <a:latin typeface="Arial"/>
                          <a:ea typeface="Arial"/>
                          <a:cs typeface="Arial"/>
                        </a:rPr>
                        <a:t>Bàn giao dataset / policy / report</a:t>
                      </a:r>
                    </a:p>
                  </a:txBody>
                  <a:tcPr marL="95250" marR="95250" marT="76200" marB="66675" anchor="t">
                    <a:solidFill>
                      <a:srgbClr val="FFFFFF"/>
                    </a:solidFill>
                  </a:tcPr>
                </a:tc>
                <a:tc>
                  <a:txBody>
                    <a:bodyPr>
                      <a:noAutofit/>
                    </a:bodyPr>
                    <a:lstStyle/>
                    <a:p>
                      <a:r>
                        <a:rPr sz="1875" b="0">
                          <a:solidFill>
                            <a:srgbClr val="153251"/>
                          </a:solidFill>
                          <a:latin typeface="Arial"/>
                          <a:ea typeface="Arial"/>
                          <a:cs typeface="Arial"/>
                        </a:rPr>
                        <a:t>Đạt gate mới promote</a:t>
                      </a:r>
                    </a:p>
                    <a:p>
                      <a:r>
                        <a:rPr sz="1875" b="0">
                          <a:solidFill>
                            <a:srgbClr val="153251"/>
                          </a:solidFill>
                          <a:latin typeface="Arial"/>
                          <a:ea typeface="Arial"/>
                          <a:cs typeface="Arial"/>
                        </a:rPr>
                        <a:t>Fail thì report hoặc round mới</a:t>
                      </a:r>
                    </a:p>
                  </a:txBody>
                  <a:tcPr marL="95250" marR="95250" marT="76200" marB="66675" anchor="t">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355EFE5-0F71-4942-9289-4DF845AA3C45}"/>
              </a:ext>
            </a:extLst>
          </p:cNvPr>
          <p:cNvSpPr>
            <a:spLocks xmlns:a="http://schemas.openxmlformats.org/drawingml/2006/main" noGrp="1"/>
          </p:cNvSpPr>
          <p:nvPr/>
        </p:nvSpPr>
        <p:spPr>
          <a:xfrm xmlns:a="http://schemas.openxmlformats.org/drawingml/2006/main">
            <a:off x="533400" y="55149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F83"/>
                </a:solidFill>
                <a:latin typeface="Arial"/>
                <a:ea typeface="Arial"/>
                <a:cs typeface="Arial"/>
              </a:defRPr>
            </a:defPPr>
          </a:lstStyle>
          <a:p xmlns:a="http://schemas.openxmlformats.org/drawingml/2006/main">
            <a:pPr>
              <a:buNone/>
              <a:defRPr sz="2025" b="1">
                <a:solidFill>
                  <a:srgbClr val="007F83"/>
                </a:solidFill>
                <a:latin typeface="Arial"/>
                <a:ea typeface="Arial"/>
                <a:cs typeface="Arial"/>
              </a:defRPr>
            </a:pPr>
            <a:r>
              <a:rPr sz="2025" b="1">
                <a:solidFill>
                  <a:srgbClr val="007F83"/>
                </a:solidFill>
                <a:latin typeface="Arial"/>
                <a:ea typeface="Arial"/>
                <a:cs typeface="Arial"/>
              </a:rPr>
              <a:t>Task thứ hai đo phần dùng lại. Human/video và robot thật đi qua gate riêng.</a:t>
            </a:r>
          </a:p>
        </p:txBody>
      </p:sp>
      <p:sp>
        <p:nvSpPr>
          <p:cNvPr id="8" name="content">
            <a:extLst xmlns:a="http://schemas.openxmlformats.org/drawingml/2006/main">
              <a:ext uri="{FF2B5EF4-FFF2-40B4-BE49-F238E27FC236}">
                <a16:creationId xmlns:a16="http://schemas.microsoft.com/office/drawing/2014/main" id="{71BE337D-6D94-45F7-9758-0A58CEC2A8F7}"/>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12 / 23</a:t>
            </a:r>
          </a:p>
        </p:txBody>
      </p:sp>
    </p:spTree>
    <p:extLst>
      <p:ext uri="{BB962C8B-B14F-4D97-AF65-F5344CB8AC3E}">
        <p14:creationId xmlns:p14="http://schemas.microsoft.com/office/powerpoint/2010/main" val="299883578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1E8E212D-4A5F-435E-870A-E5575A024627}"/>
              </a:ext>
            </a:extLst>
          </p:cNvPr>
          <p:cNvPicPr>
            <a:picLocks xmlns:a="http://schemas.openxmlformats.org/drawingml/2006/main" noChangeAspect="1"/>
          </p:cNvPicPr>
          <p:nvPr/>
        </p:nvPicPr>
        <p:blipFill>
          <a:blip xmlns:r="http://schemas.openxmlformats.org/officeDocument/2006/relationships" xmlns:a="http://schemas.openxmlformats.org/drawingml/2006/main" r:embed="R78ae138f0da84c5b">
            <a:lum bright="70000" contrast="-70000"/>
          </a:blip>
          <a:stretch xmlns:a="http://schemas.openxmlformats.org/drawingml/2006/main">
            <a:fillRect l="0" t="0" r="0" b="0"/>
          </a:stretch>
        </p:blipFill>
        <p:spPr>
          <a:xfrm xmlns:a="http://schemas.openxmlformats.org/drawingml/2006/main">
            <a:off x="399393" y="325821"/>
            <a:ext cx="1905000" cy="762000"/>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23E21C8-7FAA-4B9C-A29C-881D3F0BBCC9}"/>
              </a:ext>
            </a:extLst>
          </p:cNvPr>
          <p:cNvSpPr>
            <a:spLocks xmlns:a="http://schemas.openxmlformats.org/drawingml/2006/main" noGrp="1"/>
          </p:cNvSpPr>
          <p:nvPr/>
        </p:nvSpPr>
        <p:spPr>
          <a:xfrm xmlns:a="http://schemas.openxmlformats.org/drawingml/2006/main">
            <a:off x="533400" y="259080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Arial"/>
                <a:ea typeface="Arial"/>
                <a:cs typeface="Arial"/>
              </a:defRPr>
            </a:defPPr>
          </a:lstStyle>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DỮ LIỆU CÓ ÍCH CHO KỸ NĂNG ROBOT</a:t>
            </a:r>
          </a:p>
        </p:txBody>
      </p:sp>
      <p:sp>
        <p:nvSpPr>
          <p:cNvPr id="3" name="content">
            <a:extLst xmlns:a="http://schemas.openxmlformats.org/drawingml/2006/main">
              <a:ext uri="{FF2B5EF4-FFF2-40B4-BE49-F238E27FC236}">
                <a16:creationId xmlns:a16="http://schemas.microsoft.com/office/drawing/2014/main" id="{F0A535AF-98CC-440B-957D-C613F7928F67}"/>
              </a:ext>
            </a:extLst>
          </p:cNvPr>
          <p:cNvSpPr>
            <a:spLocks xmlns:a="http://schemas.openxmlformats.org/drawingml/2006/main" noGrp="1"/>
          </p:cNvSpPr>
          <p:nvPr/>
        </p:nvSpPr>
        <p:spPr>
          <a:xfrm xmlns:a="http://schemas.openxmlformats.org/drawingml/2006/main">
            <a:off x="533400" y="3886200"/>
            <a:ext cx="11125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Data Core chọn can thiệp. Model Engine học và thực thi.</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Giá trị cần chứng minh: cùng chất lượng, ít tổng công hơn.</a:t>
            </a:r>
          </a:p>
        </p:txBody>
      </p:sp>
      <p:sp>
        <p:nvSpPr>
          <p:cNvPr id="4" name="content">
            <a:extLst xmlns:a="http://schemas.openxmlformats.org/drawingml/2006/main">
              <a:ext uri="{FF2B5EF4-FFF2-40B4-BE49-F238E27FC236}">
                <a16:creationId xmlns:a16="http://schemas.microsoft.com/office/drawing/2014/main" id="{5FAD1278-6CE1-406B-890B-125FDE442B49}"/>
              </a:ext>
            </a:extLst>
          </p:cNvPr>
          <p:cNvSpPr>
            <a:spLocks xmlns:a="http://schemas.openxmlformats.org/drawingml/2006/main" noGrp="1"/>
          </p:cNvSpPr>
          <p:nvPr/>
        </p:nvSpPr>
        <p:spPr>
          <a:xfrm xmlns:a="http://schemas.openxmlformats.org/drawingml/2006/main">
            <a:off x="533400" y="59817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Hồ sơ chi tiết: hiwe0305.github.io/denso-challenge/</a:t>
            </a:r>
          </a:p>
        </p:txBody>
      </p:sp>
      <p:sp>
        <p:nvSpPr>
          <p:cNvPr id="6" name="content">
            <a:extLst xmlns:a="http://schemas.openxmlformats.org/drawingml/2006/main">
              <a:ext uri="{FF2B5EF4-FFF2-40B4-BE49-F238E27FC236}">
                <a16:creationId xmlns:a16="http://schemas.microsoft.com/office/drawing/2014/main" id="{1397BAB5-E0B5-4B25-82A0-1B721E440B48}"/>
              </a:ext>
            </a:extLst>
          </p:cNvPr>
          <p:cNvSpPr>
            <a:spLocks xmlns:a="http://schemas.openxmlformats.org/drawingml/2006/main" noGrp="1"/>
          </p:cNvSpPr>
          <p:nvPr/>
        </p:nvSpPr>
        <p:spPr>
          <a:xfrm xmlns:a="http://schemas.openxmlformats.org/drawingml/2006/main">
            <a:off x="533400" y="52768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Đề nghị pilot: chốt task owner, một công đoạn và baseline chi phí trước khi chạy.</a:t>
            </a:r>
          </a:p>
        </p:txBody>
      </p:sp>
    </p:spTree>
    <p:extLst>
      <p:ext uri="{BB962C8B-B14F-4D97-AF65-F5344CB8AC3E}">
        <p14:creationId xmlns:p14="http://schemas.microsoft.com/office/powerpoint/2010/main" val="322705341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3" name="Picture 6">
            <a:extLst xmlns:a="http://schemas.openxmlformats.org/drawingml/2006/main">
              <a:ext uri="{FF2B5EF4-FFF2-40B4-BE49-F238E27FC236}">
                <a16:creationId xmlns:a16="http://schemas.microsoft.com/office/drawing/2014/main" id="{0535F70D-9A79-487C-A091-5A5CE20AC2EB}"/>
              </a:ext>
            </a:extLst>
          </p:cNvPr>
          <p:cNvPicPr>
            <a:picLocks xmlns:a="http://schemas.openxmlformats.org/drawingml/2006/main" noChangeAspect="1"/>
          </p:cNvPicPr>
          <p:nvPr/>
        </p:nvPicPr>
        <p:blipFill>
          <a:blip xmlns:r="http://schemas.openxmlformats.org/officeDocument/2006/relationships" xmlns:a="http://schemas.openxmlformats.org/drawingml/2006/main" r:embed="R256a624aabf247e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Bài toán A1</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GR1 gắp–đặt trong mô phỏng. Geometry, cycle time và ngưỡng cần task owner chốt.</a:t>
            </a:r>
          </a:p>
        </p:txBody>
      </p:sp>
      <p:pic>
        <p:nvPicPr>
          <p:cNvPr id="18" name="">
            <a:extLst xmlns:a="http://schemas.openxmlformats.org/drawingml/2006/main">
              <a:ext uri="{FF2B5EF4-FFF2-40B4-BE49-F238E27FC236}">
                <a16:creationId xmlns:a16="http://schemas.microsoft.com/office/drawing/2014/main" id="{624E200E-1B49-4A5E-8E5B-A1942BB8EF55}"/>
              </a:ext>
            </a:extLst>
          </p:cNvPr>
          <p:cNvPicPr>
            <a:picLocks xmlns:a="http://schemas.openxmlformats.org/drawingml/2006/main" noChangeAspect="1"/>
          </p:cNvPicPr>
          <p:nvPr/>
        </p:nvPicPr>
        <p:blipFill>
          <a:blip xmlns:r="http://schemas.openxmlformats.org/officeDocument/2006/relationships" xmlns:a="http://schemas.openxmlformats.org/drawingml/2006/main" r:embed="R22a0904875684f22"/>
          <a:stretch xmlns:a="http://schemas.openxmlformats.org/drawingml/2006/main"/>
        </p:blipFill>
        <p:spPr>
          <a:xfrm xmlns:a="http://schemas.openxmlformats.org/drawingml/2006/main">
            <a:off x="536391" y="1638300"/>
            <a:ext cx="5280393" cy="2971800"/>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873357A5-FE21-4002-8322-2CE6CBC9C407}"/>
              </a:ext>
            </a:extLst>
          </p:cNvPr>
          <p:cNvSpPr>
            <a:spLocks xmlns:a="http://schemas.openxmlformats.org/drawingml/2006/main" noGrp="1"/>
          </p:cNvSpPr>
          <p:nvPr/>
        </p:nvSpPr>
        <p:spPr>
          <a:xfrm xmlns:a="http://schemas.openxmlformats.org/drawingml/2006/main">
            <a:off x="6248400" y="1609725"/>
            <a:ext cx="5334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53251"/>
                </a:solidFill>
                <a:latin typeface="Arial"/>
                <a:ea typeface="Arial"/>
                <a:cs typeface="Arial"/>
              </a:defRPr>
            </a:pPr>
            <a:r>
              <a:rPr sz="2250" b="1">
                <a:solidFill>
                  <a:srgbClr val="153251"/>
                </a:solidFill>
                <a:latin typeface="Arial"/>
                <a:ea typeface="Arial"/>
                <a:cs typeface="Arial"/>
              </a:rPr>
              <a:t>“Lấy linh kiện vàng, đặt vào A1,</a:t>
            </a:r>
          </a:p>
          <a:p xmlns:a="http://schemas.openxmlformats.org/drawingml/2006/main">
            <a:pPr algn="l">
              <a:buNone/>
              <a:defRPr sz="2250" b="1">
                <a:solidFill>
                  <a:srgbClr val="153251"/>
                </a:solidFill>
                <a:latin typeface="Arial"/>
                <a:ea typeface="Arial"/>
                <a:cs typeface="Arial"/>
              </a:defRPr>
            </a:pPr>
            <a:r>
              <a:rPr sz="2250" b="1">
                <a:solidFill>
                  <a:srgbClr val="153251"/>
                </a:solidFill>
                <a:latin typeface="Arial"/>
                <a:ea typeface="Arial"/>
                <a:cs typeface="Arial"/>
              </a:rPr>
              <a:t>nhả rồi rút tay.”</a:t>
            </a:r>
          </a:p>
        </p:txBody>
      </p:sp>
      <p:sp>
        <p:nvSpPr>
          <p:cNvPr id="10" name="content">
            <a:extLst xmlns:a="http://schemas.openxmlformats.org/drawingml/2006/main">
              <a:ext uri="{FF2B5EF4-FFF2-40B4-BE49-F238E27FC236}">
                <a16:creationId xmlns:a16="http://schemas.microsoft.com/office/drawing/2014/main" id="{0D8E12F2-1A23-4350-9C4F-419259A7DC33}"/>
              </a:ext>
            </a:extLst>
          </p:cNvPr>
          <p:cNvSpPr>
            <a:spLocks xmlns:a="http://schemas.openxmlformats.org/drawingml/2006/main" noGrp="1"/>
          </p:cNvSpPr>
          <p:nvPr/>
        </p:nvSpPr>
        <p:spPr>
          <a:xfrm xmlns:a="http://schemas.openxmlformats.org/drawingml/2006/main">
            <a:off x="6248400" y="2676525"/>
            <a:ext cx="53340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53251"/>
                </a:solidFill>
                <a:latin typeface="Arial"/>
                <a:ea typeface="Arial"/>
                <a:cs typeface="Arial"/>
              </a:defRPr>
            </a:pPr>
            <a:r>
              <a:rPr sz="2025" b="0">
                <a:solidFill>
                  <a:srgbClr val="153251"/>
                </a:solidFill>
                <a:latin typeface="Arial"/>
                <a:ea typeface="Arial"/>
                <a:cs typeface="Arial"/>
              </a:rPr>
              <a:t>Lấy đúng ID vật</a:t>
            </a:r>
          </a:p>
          <a:p xmlns:a="http://schemas.openxmlformats.org/drawingml/2006/main">
            <a:pPr algn="l">
              <a:buNone/>
              <a:defRPr sz="2025" b="0">
                <a:solidFill>
                  <a:srgbClr val="153251"/>
                </a:solidFill>
                <a:latin typeface="Arial"/>
                <a:ea typeface="Arial"/>
                <a:cs typeface="Arial"/>
              </a:defRPr>
            </a:pPr>
            <a:r>
              <a:rPr sz="2025" b="0">
                <a:solidFill>
                  <a:srgbClr val="153251"/>
                </a:solidFill>
                <a:latin typeface="Arial"/>
                <a:ea typeface="Arial"/>
                <a:cs typeface="Arial"/>
              </a:rPr>
              <a:t>Footprint nằm trọn trong A1</a:t>
            </a:r>
          </a:p>
          <a:p xmlns:a="http://schemas.openxmlformats.org/drawingml/2006/main">
            <a:pPr algn="l">
              <a:buNone/>
              <a:defRPr sz="2025" b="0">
                <a:solidFill>
                  <a:srgbClr val="153251"/>
                </a:solidFill>
                <a:latin typeface="Arial"/>
                <a:ea typeface="Arial"/>
                <a:cs typeface="Arial"/>
              </a:defRPr>
            </a:pPr>
            <a:r>
              <a:rPr sz="2025" b="0">
                <a:solidFill>
                  <a:srgbClr val="153251"/>
                </a:solidFill>
                <a:latin typeface="Arial"/>
                <a:ea typeface="Arial"/>
                <a:cs typeface="Arial"/>
              </a:rPr>
              <a:t>Có mặt đỡ, vật ổn định</a:t>
            </a:r>
          </a:p>
          <a:p xmlns:a="http://schemas.openxmlformats.org/drawingml/2006/main">
            <a:pPr algn="l">
              <a:buNone/>
              <a:defRPr sz="2025" b="0">
                <a:solidFill>
                  <a:srgbClr val="153251"/>
                </a:solidFill>
                <a:latin typeface="Arial"/>
                <a:ea typeface="Arial"/>
                <a:cs typeface="Arial"/>
              </a:defRPr>
            </a:pPr>
            <a:r>
              <a:rPr sz="2025" b="0">
                <a:solidFill>
                  <a:srgbClr val="153251"/>
                </a:solidFill>
                <a:latin typeface="Arial"/>
                <a:ea typeface="Arial"/>
                <a:cs typeface="Arial"/>
              </a:rPr>
              <a:t>Đã nhả và tay đã rút</a:t>
            </a:r>
          </a:p>
        </p:txBody>
      </p:sp>
      <p:sp>
        <p:nvSpPr>
          <p:cNvPr id="11" name="content">
            <a:extLst xmlns:a="http://schemas.openxmlformats.org/drawingml/2006/main">
              <a:ext uri="{FF2B5EF4-FFF2-40B4-BE49-F238E27FC236}">
                <a16:creationId xmlns:a16="http://schemas.microsoft.com/office/drawing/2014/main" id="{93E00171-F1B9-43E2-A12A-8AB8D858A951}"/>
              </a:ext>
            </a:extLst>
          </p:cNvPr>
          <p:cNvSpPr>
            <a:spLocks xmlns:a="http://schemas.openxmlformats.org/drawingml/2006/main" noGrp="1"/>
          </p:cNvSpPr>
          <p:nvPr/>
        </p:nvSpPr>
        <p:spPr>
          <a:xfrm xmlns:a="http://schemas.openxmlformats.org/drawingml/2006/main">
            <a:off x="533400" y="4667250"/>
            <a:ext cx="5286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B637B"/>
                </a:solidFill>
                <a:latin typeface="Arial"/>
                <a:ea typeface="Arial"/>
                <a:cs typeface="Arial"/>
              </a:defRPr>
            </a:pPr>
            <a:r>
              <a:rPr sz="1350" b="0">
                <a:solidFill>
                  <a:srgbClr val="4B637B"/>
                </a:solidFill>
                <a:latin typeface="Arial"/>
                <a:ea typeface="Arial"/>
                <a:cs typeface="Arial"/>
              </a:rPr>
              <a:t>Ảnh minh họa AI, chưa là rollout native.</a:t>
            </a:r>
          </a:p>
        </p:txBody>
      </p:sp>
      <p:sp>
        <p:nvSpPr>
          <p:cNvPr id="12" name="content">
            <a:extLst xmlns:a="http://schemas.openxmlformats.org/drawingml/2006/main">
              <a:ext uri="{FF2B5EF4-FFF2-40B4-BE49-F238E27FC236}">
                <a16:creationId xmlns:a16="http://schemas.microsoft.com/office/drawing/2014/main" id="{1D0CAFEA-A62D-48A3-B03F-FBAD339C3C52}"/>
              </a:ext>
            </a:extLst>
          </p:cNvPr>
          <p:cNvSpPr>
            <a:spLocks xmlns:a="http://schemas.openxmlformats.org/drawingml/2006/main" noGrp="1"/>
          </p:cNvSpPr>
          <p:nvPr/>
        </p:nvSpPr>
        <p:spPr>
          <a:xfrm xmlns:a="http://schemas.openxmlformats.org/drawingml/2006/main">
            <a:off x="533400" y="4933950"/>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4B637B"/>
                </a:solidFill>
                <a:latin typeface="Arial"/>
                <a:ea typeface="Arial"/>
                <a:cs typeface="Arial"/>
              </a:defRPr>
            </a:pPr>
            <a:r>
              <a:rPr sz="1725" b="0">
                <a:solidFill>
                  <a:srgbClr val="4B637B"/>
                </a:solidFill>
                <a:latin typeface="Arial"/>
                <a:ea typeface="Arial"/>
                <a:cs typeface="Arial"/>
              </a:rPr>
              <a:t>Geometry đề xuất: vật 40 × 25 × 15 mm, vùng trong A1 80 × 60 mm.</a:t>
            </a:r>
          </a:p>
          <a:p xmlns:a="http://schemas.openxmlformats.org/drawingml/2006/main">
            <a:pPr algn="l">
              <a:buNone/>
              <a:defRPr sz="1725" b="0">
                <a:solidFill>
                  <a:srgbClr val="4B637B"/>
                </a:solidFill>
                <a:latin typeface="Arial"/>
                <a:ea typeface="Arial"/>
                <a:cs typeface="Arial"/>
              </a:defRPr>
            </a:pPr>
            <a:r>
              <a:rPr sz="1725" b="0">
                <a:solidFill>
                  <a:srgbClr val="4B637B"/>
                </a:solidFill>
                <a:latin typeface="Arial"/>
                <a:ea typeface="Arial"/>
                <a:cs typeface="Arial"/>
              </a:rPr>
              <a:t>Draft: timeout 30 s, ổn định 2 s. Không yêu cầu yaw trong MVP.</a:t>
            </a:r>
          </a:p>
        </p:txBody>
      </p:sp>
      <p:sp>
        <p:nvSpPr>
          <p:cNvPr id="19" name="content">
            <a:extLst xmlns:a="http://schemas.openxmlformats.org/drawingml/2006/main">
              <a:ext uri="{FF2B5EF4-FFF2-40B4-BE49-F238E27FC236}">
                <a16:creationId xmlns:a16="http://schemas.microsoft.com/office/drawing/2014/main" id="{14823F55-90AA-431E-B686-7D4974713101}"/>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14 / 23</a:t>
            </a:r>
          </a:p>
        </p:txBody>
      </p:sp>
    </p:spTree>
    <p:extLst>
      <p:ext uri="{BB962C8B-B14F-4D97-AF65-F5344CB8AC3E}">
        <p14:creationId xmlns:p14="http://schemas.microsoft.com/office/powerpoint/2010/main" val="419144437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B799D311-879C-4BF5-96FB-4EE10796BBAB}"/>
              </a:ext>
            </a:extLst>
          </p:cNvPr>
          <p:cNvPicPr>
            <a:picLocks xmlns:a="http://schemas.openxmlformats.org/drawingml/2006/main" noChangeAspect="1"/>
          </p:cNvPicPr>
          <p:nvPr/>
        </p:nvPicPr>
        <p:blipFill>
          <a:blip xmlns:r="http://schemas.openxmlformats.org/officeDocument/2006/relationships" xmlns:a="http://schemas.openxmlformats.org/drawingml/2006/main" r:embed="R94a7bc51fb4f493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Bằng chứng cho cơ hội</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Số liệu bên ngoài theo protocol riêng. Chưa phải kết quả A1 hoặc số đo chi phí tại DENSO.</a:t>
            </a:r>
          </a:p>
        </p:txBody>
      </p:sp>
      <p:sp>
        <p:nvSpPr>
          <p:cNvPr id="11" name="">
            <a:extLst xmlns:a="http://schemas.openxmlformats.org/drawingml/2006/main">
              <a:ext uri="{FF2B5EF4-FFF2-40B4-BE49-F238E27FC236}">
                <a16:creationId xmlns:a16="http://schemas.microsoft.com/office/drawing/2014/main" id="{6A694D47-0EEA-4591-B721-B99B82EFDFF8}"/>
              </a:ext>
            </a:extLst>
          </p:cNvPr>
          <p:cNvSpPr>
            <a:spLocks xmlns:a="http://schemas.openxmlformats.org/drawingml/2006/main" noGrp="1"/>
          </p:cNvSpPr>
          <p:nvPr/>
        </p:nvSpPr>
        <p:spPr>
          <a:xfrm xmlns:a="http://schemas.openxmlformats.org/drawingml/2006/main">
            <a:off x="533400" y="16668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07F83"/>
                </a:solidFill>
                <a:latin typeface="Arial"/>
                <a:ea typeface="Arial"/>
                <a:cs typeface="Arial"/>
              </a:defRPr>
            </a:defPPr>
          </a:lstStyle>
          <a:p xmlns:a="http://schemas.openxmlformats.org/drawingml/2006/main">
            <a:pPr>
              <a:buNone/>
              <a:defRPr sz="3225" b="1">
                <a:solidFill>
                  <a:srgbClr val="007F83"/>
                </a:solidFill>
                <a:latin typeface="Arial"/>
                <a:ea typeface="Arial"/>
                <a:cs typeface="Arial"/>
              </a:defRPr>
            </a:pPr>
            <a:r>
              <a:rPr sz="3225" b="1">
                <a:solidFill>
                  <a:srgbClr val="007F83"/>
                </a:solidFill>
                <a:latin typeface="Arial"/>
                <a:ea typeface="Arial"/>
                <a:cs typeface="Arial"/>
              </a:rPr>
              <a:t>16 triệu video</a:t>
            </a:r>
          </a:p>
        </p:txBody>
      </p:sp>
      <p:sp>
        <p:nvSpPr>
          <p:cNvPr id="12" name="">
            <a:extLst xmlns:a="http://schemas.openxmlformats.org/drawingml/2006/main">
              <a:ext uri="{FF2B5EF4-FFF2-40B4-BE49-F238E27FC236}">
                <a16:creationId xmlns:a16="http://schemas.microsoft.com/office/drawing/2014/main" id="{A77FA06B-91D0-49FB-BDA9-A91F81704A9A}"/>
              </a:ext>
            </a:extLst>
          </p:cNvPr>
          <p:cNvSpPr>
            <a:spLocks xmlns:a="http://schemas.openxmlformats.org/drawingml/2006/main" noGrp="1"/>
          </p:cNvSpPr>
          <p:nvPr/>
        </p:nvSpPr>
        <p:spPr>
          <a:xfrm xmlns:a="http://schemas.openxmlformats.org/drawingml/2006/main">
            <a:off x="533400" y="2428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3251"/>
                </a:solidFill>
                <a:latin typeface="Arial"/>
                <a:ea typeface="Arial"/>
                <a:cs typeface="Arial"/>
              </a:defRPr>
            </a:defPPr>
          </a:lstStyle>
          <a:p xmlns:a="http://schemas.openxmlformats.org/drawingml/2006/main">
            <a:pPr>
              <a:buNone/>
              <a:defRPr sz="2325" b="1">
                <a:solidFill>
                  <a:srgbClr val="153251"/>
                </a:solidFill>
                <a:latin typeface="Arial"/>
                <a:ea typeface="Arial"/>
                <a:cs typeface="Arial"/>
              </a:defRPr>
            </a:pPr>
            <a:r>
              <a:rPr sz="2325" b="1">
                <a:solidFill>
                  <a:srgbClr val="153251"/>
                </a:solidFill>
                <a:latin typeface="Arial"/>
                <a:ea typeface="Arial"/>
                <a:cs typeface="Arial"/>
              </a:rPr>
              <a:t>15 triệu USD trả creators</a:t>
            </a:r>
          </a:p>
        </p:txBody>
      </p:sp>
      <p:sp>
        <p:nvSpPr>
          <p:cNvPr id="13" name="">
            <a:extLst xmlns:a="http://schemas.openxmlformats.org/drawingml/2006/main">
              <a:ext uri="{FF2B5EF4-FFF2-40B4-BE49-F238E27FC236}">
                <a16:creationId xmlns:a16="http://schemas.microsoft.com/office/drawing/2014/main" id="{7C5DADD9-84D3-478E-BF5B-B4744C5DA8EF}"/>
              </a:ext>
            </a:extLst>
          </p:cNvPr>
          <p:cNvSpPr>
            <a:spLocks xmlns:a="http://schemas.openxmlformats.org/drawingml/2006/main" noGrp="1"/>
          </p:cNvSpPr>
          <p:nvPr/>
        </p:nvSpPr>
        <p:spPr>
          <a:xfrm xmlns:a="http://schemas.openxmlformats.org/drawingml/2006/main">
            <a:off x="533400" y="3143250"/>
            <a:ext cx="523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3251"/>
                </a:solidFill>
                <a:latin typeface="Arial"/>
                <a:ea typeface="Arial"/>
                <a:cs typeface="Arial"/>
              </a:defRPr>
            </a:defPPr>
          </a:lstStyle>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Figure Index vẫn cần filtering, dedup,</a:t>
            </a:r>
          </a:p>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cân bằng dữ liệu và annotation.</a:t>
            </a:r>
          </a:p>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Payout chỉ là một phần chi phí dataset.</a:t>
            </a:r>
          </a:p>
        </p:txBody>
      </p:sp>
      <p:sp>
        <p:nvSpPr>
          <p:cNvPr id="14" name="">
            <a:extLst xmlns:a="http://schemas.openxmlformats.org/drawingml/2006/main">
              <a:ext uri="{FF2B5EF4-FFF2-40B4-BE49-F238E27FC236}">
                <a16:creationId xmlns:a16="http://schemas.microsoft.com/office/drawing/2014/main" id="{30F7D939-613D-486E-AD51-3BD7653C4462}"/>
              </a:ext>
            </a:extLst>
          </p:cNvPr>
          <p:cNvSpPr>
            <a:spLocks xmlns:a="http://schemas.openxmlformats.org/drawingml/2006/main" noGrp="1"/>
          </p:cNvSpPr>
          <p:nvPr/>
        </p:nvSpPr>
        <p:spPr>
          <a:xfrm xmlns:a="http://schemas.openxmlformats.org/drawingml/2006/main">
            <a:off x="6429375" y="16668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07F83"/>
                </a:solidFill>
                <a:latin typeface="Arial"/>
                <a:ea typeface="Arial"/>
                <a:cs typeface="Arial"/>
              </a:defRPr>
            </a:defPPr>
          </a:lstStyle>
          <a:p xmlns:a="http://schemas.openxmlformats.org/drawingml/2006/main">
            <a:pPr>
              <a:buNone/>
              <a:defRPr sz="3225" b="1">
                <a:solidFill>
                  <a:srgbClr val="007F83"/>
                </a:solidFill>
                <a:latin typeface="Arial"/>
                <a:ea typeface="Arial"/>
                <a:cs typeface="Arial"/>
              </a:defRPr>
            </a:pPr>
            <a:r>
              <a:rPr sz="3225" b="1">
                <a:solidFill>
                  <a:srgbClr val="007F83"/>
                </a:solidFill>
                <a:latin typeface="Arial"/>
                <a:ea typeface="Arial"/>
                <a:cs typeface="Arial"/>
              </a:rPr>
              <a:t>89,9% so với 95,7%</a:t>
            </a:r>
          </a:p>
        </p:txBody>
      </p:sp>
      <p:sp>
        <p:nvSpPr>
          <p:cNvPr id="15" name="">
            <a:extLst xmlns:a="http://schemas.openxmlformats.org/drawingml/2006/main">
              <a:ext uri="{FF2B5EF4-FFF2-40B4-BE49-F238E27FC236}">
                <a16:creationId xmlns:a16="http://schemas.microsoft.com/office/drawing/2014/main" id="{5030AB49-88D7-4FEB-A6E4-59DF6C4739B4}"/>
              </a:ext>
            </a:extLst>
          </p:cNvPr>
          <p:cNvSpPr>
            <a:spLocks xmlns:a="http://schemas.openxmlformats.org/drawingml/2006/main" noGrp="1"/>
          </p:cNvSpPr>
          <p:nvPr/>
        </p:nvSpPr>
        <p:spPr>
          <a:xfrm xmlns:a="http://schemas.openxmlformats.org/drawingml/2006/main">
            <a:off x="6429375" y="2428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3251"/>
                </a:solidFill>
                <a:latin typeface="Arial"/>
                <a:ea typeface="Arial"/>
                <a:cs typeface="Arial"/>
              </a:defRPr>
            </a:defPPr>
          </a:lstStyle>
          <a:p xmlns:a="http://schemas.openxmlformats.org/drawingml/2006/main">
            <a:pPr>
              <a:buNone/>
              <a:defRPr sz="2325" b="1">
                <a:solidFill>
                  <a:srgbClr val="153251"/>
                </a:solidFill>
                <a:latin typeface="Arial"/>
                <a:ea typeface="Arial"/>
                <a:cs typeface="Arial"/>
              </a:defRPr>
            </a:pPr>
            <a:r>
              <a:rPr sz="2325" b="1">
                <a:solidFill>
                  <a:srgbClr val="153251"/>
                </a:solidFill>
                <a:latin typeface="Arial"/>
                <a:ea typeface="Arial"/>
                <a:cs typeface="Arial"/>
              </a:rPr>
              <a:t>FOCA + DreamGen trên LIBERO</a:t>
            </a:r>
          </a:p>
        </p:txBody>
      </p:sp>
      <p:sp>
        <p:nvSpPr>
          <p:cNvPr id="16" name="">
            <a:extLst xmlns:a="http://schemas.openxmlformats.org/drawingml/2006/main">
              <a:ext uri="{FF2B5EF4-FFF2-40B4-BE49-F238E27FC236}">
                <a16:creationId xmlns:a16="http://schemas.microsoft.com/office/drawing/2014/main" id="{BE25D8D4-E768-4D70-8A68-5CCB9FB98B3B}"/>
              </a:ext>
            </a:extLst>
          </p:cNvPr>
          <p:cNvSpPr>
            <a:spLocks xmlns:a="http://schemas.openxmlformats.org/drawingml/2006/main" noGrp="1"/>
          </p:cNvSpPr>
          <p:nvPr/>
        </p:nvSpPr>
        <p:spPr>
          <a:xfrm xmlns:a="http://schemas.openxmlformats.org/drawingml/2006/main">
            <a:off x="6429375" y="3143250"/>
            <a:ext cx="523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3251"/>
                </a:solidFill>
                <a:latin typeface="Arial"/>
                <a:ea typeface="Arial"/>
                <a:cs typeface="Arial"/>
              </a:defRPr>
            </a:defPPr>
          </a:lstStyle>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π0 baseline và FOCA + DreamGen,</a:t>
            </a:r>
          </a:p>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cùng setting 40% robot demos.</a:t>
            </a:r>
          </a:p>
          <a:p xmlns:a="http://schemas.openxmlformats.org/drawingml/2006/main">
            <a:pPr>
              <a:buNone/>
              <a:defRPr sz="2025" b="0">
                <a:solidFill>
                  <a:srgbClr val="153251"/>
                </a:solidFill>
                <a:latin typeface="Arial"/>
                <a:ea typeface="Arial"/>
                <a:cs typeface="Arial"/>
              </a:defRPr>
            </a:pPr>
            <a:r>
              <a:rPr sz="2025" b="0">
                <a:solidFill>
                  <a:srgbClr val="153251"/>
                </a:solidFill>
                <a:latin typeface="Arial"/>
                <a:ea typeface="Arial"/>
                <a:cs typeface="Arial"/>
              </a:rPr>
              <a:t>Robot adaptation vẫn dùng action labels.</a:t>
            </a:r>
          </a:p>
        </p:txBody>
      </p:sp>
      <p:sp>
        <p:nvSpPr>
          <p:cNvPr id="17" name="">
            <a:extLst xmlns:a="http://schemas.openxmlformats.org/drawingml/2006/main">
              <a:ext uri="{FF2B5EF4-FFF2-40B4-BE49-F238E27FC236}">
                <a16:creationId xmlns:a16="http://schemas.microsoft.com/office/drawing/2014/main" id="{9451EAD6-A454-49C2-A989-324FCD20D82D}"/>
              </a:ext>
            </a:extLst>
          </p:cNvPr>
          <p:cNvSpPr>
            <a:spLocks xmlns:a="http://schemas.openxmlformats.org/drawingml/2006/main" noGrp="1"/>
          </p:cNvSpPr>
          <p:nvPr/>
        </p:nvSpPr>
        <p:spPr>
          <a:xfrm xmlns:a="http://schemas.openxmlformats.org/drawingml/2006/main">
            <a:off x="533400" y="506730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53251"/>
                </a:solidFill>
                <a:latin typeface="Arial"/>
                <a:ea typeface="Arial"/>
                <a:cs typeface="Arial"/>
              </a:defRPr>
            </a:defPPr>
          </a:lstStyle>
          <a:p xmlns:a="http://schemas.openxmlformats.org/drawingml/2006/main">
            <a:pPr>
              <a:buNone/>
              <a:defRPr sz="2175" b="1">
                <a:solidFill>
                  <a:srgbClr val="153251"/>
                </a:solidFill>
                <a:latin typeface="Arial"/>
                <a:ea typeface="Arial"/>
                <a:cs typeface="Arial"/>
              </a:defRPr>
            </a:pPr>
            <a:r>
              <a:rPr sz="2175" b="1">
                <a:solidFill>
                  <a:srgbClr val="153251"/>
                </a:solidFill>
                <a:latin typeface="Arial"/>
                <a:ea typeface="Arial"/>
                <a:cs typeface="Arial"/>
              </a:rPr>
              <a:t>Supervision phù hợp và phép kiểm quyết định giá trị sử dụng của dữ liệu.</a:t>
            </a:r>
          </a:p>
        </p:txBody>
      </p:sp>
      <p:sp>
        <p:nvSpPr>
          <p:cNvPr id="18" name="content">
            <a:extLst xmlns:a="http://schemas.openxmlformats.org/drawingml/2006/main">
              <a:ext uri="{FF2B5EF4-FFF2-40B4-BE49-F238E27FC236}">
                <a16:creationId xmlns:a16="http://schemas.microsoft.com/office/drawing/2014/main" id="{6B414E86-F6C5-423C-8E6D-1FE8DF831289}"/>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15 / 23</a:t>
            </a:r>
          </a:p>
        </p:txBody>
      </p:sp>
    </p:spTree>
    <p:extLst>
      <p:ext uri="{BB962C8B-B14F-4D97-AF65-F5344CB8AC3E}">
        <p14:creationId xmlns:p14="http://schemas.microsoft.com/office/powerpoint/2010/main" val="419144437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3" name="Picture 6">
            <a:extLst xmlns:a="http://schemas.openxmlformats.org/drawingml/2006/main">
              <a:ext uri="{FF2B5EF4-FFF2-40B4-BE49-F238E27FC236}">
                <a16:creationId xmlns:a16="http://schemas.microsoft.com/office/drawing/2014/main" id="{CCC7AB58-C4FB-4285-B6B3-CEA7D2665EBB}"/>
              </a:ext>
            </a:extLst>
          </p:cNvPr>
          <p:cNvPicPr>
            <a:picLocks xmlns:a="http://schemas.openxmlformats.org/drawingml/2006/main" noChangeAspect="1"/>
          </p:cNvPicPr>
          <p:nvPr/>
        </p:nvPicPr>
        <p:blipFill>
          <a:blip xmlns:r="http://schemas.openxmlformats.org/officeDocument/2006/relationships" xmlns:a="http://schemas.openxmlformats.org/drawingml/2006/main" r:embed="R4a9d114125604025"/>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Dataset cho MVP</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Synthetic là cách tạo dữ liệu. Loader và loss phụ thuộc supervision thực có, không phụ thuộc tên nguồn.</a:t>
            </a:r>
          </a:p>
        </p:txBody>
      </p:sp>
      <p:graphicFrame>
        <p:nvGraphicFramePr>
          <p:cNvPr id="14" name="">
            <a:extLst xmlns:a="http://schemas.openxmlformats.org/drawingml/2006/main">
              <a:ext uri="{FF2B5EF4-FFF2-40B4-BE49-F238E27FC236}">
                <a16:creationId xmlns:a16="http://schemas.microsoft.com/office/drawing/2014/main" id="{20CBC2D8-EA4B-4C64-BBAE-F8ADA3CACD9C}"/>
              </a:ext>
            </a:extLst>
          </p:cNvPr>
          <p:cNvGraphicFramePr/>
          <p:nvPr/>
        </p:nvGraphicFramePr>
        <p:xfrm>
          <a:off xmlns:a="http://schemas.openxmlformats.org/drawingml/2006/main" x="533400" y="1619250"/>
          <a:ext xmlns:a="http://schemas.openxmlformats.org/drawingml/2006/main" cx="11125200" cy="3714750"/>
        </p:xfrm>
        <a:graphic xmlns:a="http://schemas.openxmlformats.org/drawingml/2006/main">
          <a:graphicData uri="http://schemas.openxmlformats.org/drawingml/2006/table">
            <a:tbl>
              <a:tblPr/>
              <a:tblGrid>
                <a:gridCol w="2524125"/>
                <a:gridCol w="4476750"/>
                <a:gridCol w="4124325"/>
              </a:tblGrid>
              <a:tr h="419100">
                <a:tc>
                  <a:txBody>
                    <a:bodyPr>
                      <a:noAutofit/>
                    </a:bodyPr>
                    <a:lstStyle/>
                    <a:p>
                      <a:r>
                        <a:rPr sz="1800" b="1">
                          <a:solidFill>
                            <a:srgbClr val="FFFFFF"/>
                          </a:solidFill>
                          <a:latin typeface="Arial"/>
                          <a:ea typeface="Arial"/>
                          <a:cs typeface="Arial"/>
                        </a:rPr>
                        <a:t>Dữ liệu</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Format và trường chính</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Cách sử dụng</a:t>
                      </a:r>
                    </a:p>
                  </a:txBody>
                  <a:tcPr marL="95250" marR="95250" marT="76200" marB="66675" anchor="t">
                    <a:solidFill>
                      <a:srgbClr val="153251"/>
                    </a:solidFill>
                  </a:tcPr>
                </a:tc>
              </a:tr>
              <a:tr h="823913">
                <a:tc>
                  <a:txBody>
                    <a:bodyPr>
                      <a:noAutofit/>
                    </a:bodyPr>
                    <a:lstStyle/>
                    <a:p>
                      <a:r>
                        <a:rPr sz="1725" b="0">
                          <a:solidFill>
                            <a:srgbClr val="153251"/>
                          </a:solidFill>
                          <a:latin typeface="Arial"/>
                          <a:ea typeface="Arial"/>
                          <a:cs typeface="Arial"/>
                        </a:rPr>
                        <a:t>FluxVLAData</a:t>
                      </a:r>
                    </a:p>
                    <a:p>
                      <a:r>
                        <a:rPr sz="1725" b="0">
                          <a:solidFill>
                            <a:srgbClr val="153251"/>
                          </a:solidFill>
                          <a:latin typeface="Arial"/>
                          <a:ea typeface="Arial"/>
                          <a:cs typeface="Arial"/>
                        </a:rPr>
                        <a:t>Kiểm compatibility</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LeRobot v2.1</a:t>
                      </a:r>
                    </a:p>
                    <a:p>
                      <a:r>
                        <a:rPr sz="1725" b="0">
                          <a:solidFill>
                            <a:srgbClr val="153251"/>
                          </a:solidFill>
                          <a:latin typeface="Arial"/>
                          <a:ea typeface="Arial"/>
                          <a:cs typeface="Arial"/>
                        </a:rPr>
                        <a:t>MP4 + Parquet + metadata</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24 tasks / 720 episodes</a:t>
                      </a:r>
                    </a:p>
                    <a:p>
                      <a:r>
                        <a:rPr sz="1725" b="0">
                          <a:solidFill>
                            <a:srgbClr val="153251"/>
                          </a:solidFill>
                          <a:latin typeface="Arial"/>
                          <a:ea typeface="Arial"/>
                          <a:cs typeface="Arial"/>
                        </a:rPr>
                        <a:t>Giữ task gốc, không đổi nhãn thành A1</a:t>
                      </a:r>
                    </a:p>
                  </a:txBody>
                  <a:tcPr marL="95250" marR="95250" marT="76200" marB="66675" anchor="t">
                    <a:solidFill>
                      <a:srgbClr val="FFFFFF"/>
                    </a:solidFill>
                  </a:tcPr>
                </a:tc>
              </a:tr>
              <a:tr h="823913">
                <a:tc>
                  <a:txBody>
                    <a:bodyPr>
                      <a:noAutofit/>
                    </a:bodyPr>
                    <a:lstStyle/>
                    <a:p>
                      <a:r>
                        <a:rPr sz="1725" b="0">
                          <a:solidFill>
                            <a:srgbClr val="153251"/>
                          </a:solidFill>
                          <a:latin typeface="Arial"/>
                          <a:ea typeface="Arial"/>
                          <a:cs typeface="Arial"/>
                        </a:rPr>
                        <a:t>R_A1</a:t>
                      </a:r>
                    </a:p>
                    <a:p>
                      <a:r>
                        <a:rPr sz="1725" b="0">
                          <a:solidFill>
                            <a:srgbClr val="153251"/>
                          </a:solidFill>
                          <a:latin typeface="Arial"/>
                          <a:ea typeface="Arial"/>
                          <a:cs typeface="Arial"/>
                        </a:rPr>
                        <a:t>Expert / correction</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RGB MP4 + signals Parquet</a:t>
                      </a:r>
                    </a:p>
                    <a:p>
                      <a:r>
                        <a:rPr sz="1725" b="0">
                          <a:solidFill>
                            <a:srgbClr val="153251"/>
                          </a:solidFill>
                          <a:latin typeface="Arial"/>
                          <a:ea typeface="Arial"/>
                          <a:cs typeface="Arial"/>
                        </a:rPr>
                        <a:t>Instruction JSONL + calibration / QA</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Robot state + executed action</a:t>
                      </a:r>
                    </a:p>
                    <a:p>
                      <a:r>
                        <a:rPr sz="1725" b="0">
                          <a:solidFill>
                            <a:srgbClr val="153251"/>
                          </a:solidFill>
                          <a:latin typeface="Arial"/>
                          <a:ea typeface="Arial"/>
                          <a:cs typeface="Arial"/>
                        </a:rPr>
                        <a:t>20 train roots là giả định planning</a:t>
                      </a:r>
                    </a:p>
                  </a:txBody>
                  <a:tcPr marL="95250" marR="95250" marT="76200" marB="66675" anchor="t">
                    <a:solidFill>
                      <a:srgbClr val="FFFFFF"/>
                    </a:solidFill>
                  </a:tcPr>
                </a:tc>
              </a:tr>
              <a:tr h="823913">
                <a:tc>
                  <a:txBody>
                    <a:bodyPr>
                      <a:noAutofit/>
                    </a:bodyPr>
                    <a:lstStyle/>
                    <a:p>
                      <a:r>
                        <a:rPr sz="1725" b="0">
                          <a:solidFill>
                            <a:srgbClr val="153251"/>
                          </a:solidFill>
                          <a:latin typeface="Arial"/>
                          <a:ea typeface="Arial"/>
                          <a:cs typeface="Arial"/>
                        </a:rPr>
                        <a:t>S_exec</a:t>
                      </a:r>
                    </a:p>
                    <a:p>
                      <a:r>
                        <a:rPr sz="1725" b="0">
                          <a:solidFill>
                            <a:srgbClr val="153251"/>
                          </a:solidFill>
                          <a:latin typeface="Arial"/>
                          <a:ea typeface="Arial"/>
                          <a:cs typeface="Arial"/>
                        </a:rPr>
                        <a:t>Dẫn xuất từ R train</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Cùng schema robot + parent root</a:t>
                      </a:r>
                    </a:p>
                    <a:p>
                      <a:r>
                        <a:rPr sz="1725" b="0">
                          <a:solidFill>
                            <a:srgbClr val="153251"/>
                          </a:solidFill>
                          <a:latin typeface="Arial"/>
                          <a:ea typeface="Arial"/>
                          <a:cs typeface="Arial"/>
                        </a:rPr>
                        <a:t>Transform recipe + sim/contact log</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Biến đổi seed, thực thi lại, QA</a:t>
                      </a:r>
                    </a:p>
                    <a:p>
                      <a:r>
                        <a:rPr sz="1725" b="0">
                          <a:solidFill>
                            <a:srgbClr val="153251"/>
                          </a:solidFill>
                          <a:latin typeface="Arial"/>
                          <a:ea typeface="Arial"/>
                          <a:cs typeface="Arial"/>
                        </a:rPr>
                        <a:t>Tạo RGB/state/action mới</a:t>
                      </a:r>
                    </a:p>
                  </a:txBody>
                  <a:tcPr marL="95250" marR="95250" marT="76200" marB="66675" anchor="t">
                    <a:solidFill>
                      <a:srgbClr val="FFFFFF"/>
                    </a:solidFill>
                  </a:tcPr>
                </a:tc>
              </a:tr>
              <a:tr h="823913">
                <a:tc>
                  <a:txBody>
                    <a:bodyPr>
                      <a:noAutofit/>
                    </a:bodyPr>
                    <a:lstStyle/>
                    <a:p>
                      <a:r>
                        <a:rPr sz="1725" b="0">
                          <a:solidFill>
                            <a:srgbClr val="153251"/>
                          </a:solidFill>
                          <a:latin typeface="Arial"/>
                          <a:ea typeface="Arial"/>
                          <a:cs typeface="Arial"/>
                        </a:rPr>
                        <a:t>Video / human</a:t>
                      </a:r>
                    </a:p>
                    <a:p>
                      <a:r>
                        <a:rPr sz="1725" b="0">
                          <a:solidFill>
                            <a:srgbClr val="153251"/>
                          </a:solidFill>
                          <a:latin typeface="Arial"/>
                          <a:ea typeface="Arial"/>
                          <a:cs typeface="Arial"/>
                        </a:rPr>
                        <a:t>Pilot bổ sung</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MP4 + text / timestamps</a:t>
                      </a:r>
                    </a:p>
                    <a:p>
                      <a:r>
                        <a:rPr sz="1725" b="0">
                          <a:solidFill>
                            <a:srgbClr val="153251"/>
                          </a:solidFill>
                          <a:latin typeface="Arial"/>
                          <a:ea typeface="Arial"/>
                          <a:cs typeface="Arial"/>
                        </a:rPr>
                        <a:t>Pose, camera và confidence nếu có</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Action-free dùng future objective</a:t>
                      </a:r>
                    </a:p>
                    <a:p>
                      <a:r>
                        <a:rPr sz="1725" b="0">
                          <a:solidFill>
                            <a:srgbClr val="153251"/>
                          </a:solidFill>
                          <a:latin typeface="Arial"/>
                          <a:ea typeface="Arial"/>
                          <a:cs typeface="Arial"/>
                        </a:rPr>
                        <a:t>Wrist labels dùng common-motion</a:t>
                      </a:r>
                    </a:p>
                  </a:txBody>
                  <a:tcPr marL="95250" marR="95250" marT="76200" marB="66675" anchor="t">
                    <a:solidFill>
                      <a:srgbClr val="FFFFFF"/>
                    </a:solidFill>
                  </a:tcPr>
                </a:tc>
              </a:tr>
            </a:tbl>
          </a:graphicData>
        </a:graphic>
      </p:graphicFrame>
      <p:sp>
        <p:nvSpPr>
          <p:cNvPr id="15" name="">
            <a:extLst xmlns:a="http://schemas.openxmlformats.org/drawingml/2006/main">
              <a:ext uri="{FF2B5EF4-FFF2-40B4-BE49-F238E27FC236}">
                <a16:creationId xmlns:a16="http://schemas.microsoft.com/office/drawing/2014/main" id="{B7F868FE-F69D-4DDA-9CFA-5945DAECA91E}"/>
              </a:ext>
            </a:extLst>
          </p:cNvPr>
          <p:cNvSpPr>
            <a:spLocks xmlns:a="http://schemas.openxmlformats.org/drawingml/2006/main" noGrp="1"/>
          </p:cNvSpPr>
          <p:nvPr/>
        </p:nvSpPr>
        <p:spPr>
          <a:xfrm xmlns:a="http://schemas.openxmlformats.org/drawingml/2006/main">
            <a:off x="533400" y="555307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F83"/>
                </a:solidFill>
                <a:latin typeface="Arial"/>
                <a:ea typeface="Arial"/>
                <a:cs typeface="Arial"/>
              </a:defRPr>
            </a:defPPr>
          </a:lstStyle>
          <a:p xmlns:a="http://schemas.openxmlformats.org/drawingml/2006/main">
            <a:pPr>
              <a:buNone/>
              <a:defRPr sz="1875" b="1">
                <a:solidFill>
                  <a:srgbClr val="007F83"/>
                </a:solidFill>
                <a:latin typeface="Arial"/>
                <a:ea typeface="Arial"/>
                <a:cs typeface="Arial"/>
              </a:defRPr>
            </a:pPr>
            <a:r>
              <a:rPr sz="1875" b="1">
                <a:solidFill>
                  <a:srgbClr val="007F83"/>
                </a:solidFill>
                <a:latin typeface="Arial"/>
                <a:ea typeface="Arial"/>
                <a:cs typeface="Arial"/>
              </a:rPr>
              <a:t>Chia roots trước khi sinh biến thể. 100 variants từ một root vẫn chỉ là một nguồn độc lập.</a:t>
            </a:r>
          </a:p>
        </p:txBody>
      </p:sp>
      <p:sp>
        <p:nvSpPr>
          <p:cNvPr id="16" name="content">
            <a:extLst xmlns:a="http://schemas.openxmlformats.org/drawingml/2006/main">
              <a:ext uri="{FF2B5EF4-FFF2-40B4-BE49-F238E27FC236}">
                <a16:creationId xmlns:a16="http://schemas.microsoft.com/office/drawing/2014/main" id="{68F45BFF-3BBB-4529-8EFA-A84BDDBFBF00}"/>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16 / 23</a:t>
            </a:r>
          </a:p>
        </p:txBody>
      </p:sp>
    </p:spTree>
    <p:extLst>
      <p:ext uri="{BB962C8B-B14F-4D97-AF65-F5344CB8AC3E}">
        <p14:creationId xmlns:p14="http://schemas.microsoft.com/office/powerpoint/2010/main" val="419144437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221B930F-2D20-4636-857D-6BD1527DD6EE}"/>
              </a:ext>
            </a:extLst>
          </p:cNvPr>
          <p:cNvPicPr>
            <a:picLocks xmlns:a="http://schemas.openxmlformats.org/drawingml/2006/main" noChangeAspect="1"/>
          </p:cNvPicPr>
          <p:nvPr/>
        </p:nvPicPr>
        <p:blipFill>
          <a:blip xmlns:r="http://schemas.openxmlformats.org/officeDocument/2006/relationships" xmlns:a="http://schemas.openxmlformats.org/drawingml/2006/main" r:embed="R7e4603f0b3e94716"/>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Episode thành model batch</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Hình gốc FluxVLA Figure 2. Đội phải kiểm sample–batch, camera, timebase, units và action masks cho A1.</a:t>
            </a:r>
          </a:p>
        </p:txBody>
      </p:sp>
      <p:pic>
        <p:nvPicPr>
          <p:cNvPr id="11" name="">
            <a:extLst xmlns:a="http://schemas.openxmlformats.org/drawingml/2006/main">
              <a:ext uri="{FF2B5EF4-FFF2-40B4-BE49-F238E27FC236}">
                <a16:creationId xmlns:a16="http://schemas.microsoft.com/office/drawing/2014/main" id="{74ACA77C-664A-443C-874F-8823D1B9C26D}"/>
              </a:ext>
            </a:extLst>
          </p:cNvPr>
          <p:cNvPicPr>
            <a:picLocks xmlns:a="http://schemas.openxmlformats.org/drawingml/2006/main" noChangeAspect="1"/>
          </p:cNvPicPr>
          <p:nvPr/>
        </p:nvPicPr>
        <p:blipFill>
          <a:blip xmlns:r="http://schemas.openxmlformats.org/officeDocument/2006/relationships" xmlns:a="http://schemas.openxmlformats.org/drawingml/2006/main" r:embed="Rdfc9439b7f04444c"/>
          <a:stretch xmlns:a="http://schemas.openxmlformats.org/drawingml/2006/main"/>
        </p:blipFill>
        <p:spPr>
          <a:xfrm xmlns:a="http://schemas.openxmlformats.org/drawingml/2006/main">
            <a:off x="1119768" y="1524000"/>
            <a:ext cx="9952463" cy="4000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2888DF9-AF34-4C54-AF1B-92FE0D99E8D5}"/>
              </a:ext>
            </a:extLst>
          </p:cNvPr>
          <p:cNvSpPr>
            <a:spLocks xmlns:a="http://schemas.openxmlformats.org/drawingml/2006/main" noGrp="1"/>
          </p:cNvSpPr>
          <p:nvPr/>
        </p:nvSpPr>
        <p:spPr>
          <a:xfrm xmlns:a="http://schemas.openxmlformats.org/drawingml/2006/main">
            <a:off x="533400" y="55626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07F83"/>
                </a:solidFill>
                <a:latin typeface="Arial"/>
                <a:ea typeface="Arial"/>
                <a:cs typeface="Arial"/>
              </a:defRPr>
            </a:defPPr>
          </a:lstStyle>
          <a:p xmlns:a="http://schemas.openxmlformats.org/drawingml/2006/main">
            <a:pPr>
              <a:buNone/>
              <a:defRPr sz="1950" b="1">
                <a:solidFill>
                  <a:srgbClr val="007F83"/>
                </a:solidFill>
                <a:latin typeface="Arial"/>
                <a:ea typeface="Arial"/>
                <a:cs typeface="Arial"/>
              </a:defRPr>
            </a:pPr>
            <a:r>
              <a:rPr sz="1950" b="1">
                <a:solidFill>
                  <a:srgbClr val="007F83"/>
                </a:solidFill>
                <a:latin typeface="Arial"/>
                <a:ea typeface="Arial"/>
                <a:cs typeface="Arial"/>
              </a:rPr>
              <a:t>Episode lưu trữ, sample thời gian và batch model là ba mức dữ liệu khác nhau</a:t>
            </a:r>
          </a:p>
        </p:txBody>
      </p:sp>
      <p:sp>
        <p:nvSpPr>
          <p:cNvPr id="14" name="">
            <a:extLst xmlns:a="http://schemas.openxmlformats.org/drawingml/2006/main">
              <a:ext uri="{FF2B5EF4-FFF2-40B4-BE49-F238E27FC236}">
                <a16:creationId xmlns:a16="http://schemas.microsoft.com/office/drawing/2014/main" id="{ED006F2C-6591-4B62-8A73-75CDE50131F9}"/>
              </a:ext>
            </a:extLst>
          </p:cNvPr>
          <p:cNvSpPr>
            <a:spLocks xmlns:a="http://schemas.openxmlformats.org/drawingml/2006/main" noGrp="1"/>
          </p:cNvSpPr>
          <p:nvPr/>
        </p:nvSpPr>
        <p:spPr>
          <a:xfrm xmlns:a="http://schemas.openxmlformats.org/drawingml/2006/main">
            <a:off x="533400" y="1362075"/>
            <a:ext cx="11125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4B637B"/>
                </a:solidFill>
                <a:latin typeface="Arial"/>
                <a:ea typeface="Arial"/>
                <a:cs typeface="Arial"/>
              </a:defRPr>
            </a:defPPr>
          </a:lstStyle>
          <a:p xmlns:a="http://schemas.openxmlformats.org/drawingml/2006/main">
            <a:pPr>
              <a:buNone/>
              <a:defRPr sz="1125" b="0">
                <a:solidFill>
                  <a:srgbClr val="4B637B"/>
                </a:solidFill>
                <a:latin typeface="Arial"/>
                <a:ea typeface="Arial"/>
                <a:cs typeface="Arial"/>
              </a:defRPr>
            </a:pPr>
            <a:r>
              <a:rPr sz="1125" b="0">
                <a:solidFill>
                  <a:srgbClr val="4B637B"/>
                </a:solidFill>
                <a:latin typeface="Arial"/>
                <a:ea typeface="Arial"/>
                <a:cs typeface="Arial"/>
              </a:rPr>
              <a:t>Li và cộng sự, FluxVLA Figure 2 (2026), CC BY 4.0. Hình trích nguyên từ paper.</a:t>
            </a:r>
          </a:p>
        </p:txBody>
      </p:sp>
      <p:sp>
        <p:nvSpPr>
          <p:cNvPr id="15" name="content">
            <a:extLst xmlns:a="http://schemas.openxmlformats.org/drawingml/2006/main">
              <a:ext uri="{FF2B5EF4-FFF2-40B4-BE49-F238E27FC236}">
                <a16:creationId xmlns:a16="http://schemas.microsoft.com/office/drawing/2014/main" id="{A52A8B68-0A14-40F7-83F4-B719CF74559B}"/>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17 / 23</a:t>
            </a:r>
          </a:p>
        </p:txBody>
      </p:sp>
    </p:spTree>
    <p:extLst>
      <p:ext uri="{BB962C8B-B14F-4D97-AF65-F5344CB8AC3E}">
        <p14:creationId xmlns:p14="http://schemas.microsoft.com/office/powerpoint/2010/main" val="419144437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6" name="Picture 6">
            <a:extLst xmlns:a="http://schemas.openxmlformats.org/drawingml/2006/main">
              <a:ext uri="{FF2B5EF4-FFF2-40B4-BE49-F238E27FC236}">
                <a16:creationId xmlns:a16="http://schemas.microsoft.com/office/drawing/2014/main" id="{1E4B74AE-9C48-4602-AFAC-37DEE456162F}"/>
              </a:ext>
            </a:extLst>
          </p:cNvPr>
          <p:cNvPicPr>
            <a:picLocks xmlns:a="http://schemas.openxmlformats.org/drawingml/2006/main" noChangeAspect="1"/>
          </p:cNvPicPr>
          <p:nvPr/>
        </p:nvPicPr>
        <p:blipFill>
          <a:blip xmlns:r="http://schemas.openxmlformats.org/officeDocument/2006/relationships" xmlns:a="http://schemas.openxmlformats.org/drawingml/2006/main" r:embed="R73863a8844bc45c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Model AI học như thế nào</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MVP kế thừa pretrained weights. Không pretrain lại foundation VLM từ đầu. A1 recipe cần pin và kiểm gradients.</a:t>
            </a:r>
          </a:p>
        </p:txBody>
      </p:sp>
      <p:graphicFrame>
        <p:nvGraphicFramePr>
          <p:cNvPr id="17" name="">
            <a:extLst xmlns:a="http://schemas.openxmlformats.org/drawingml/2006/main">
              <a:ext uri="{FF2B5EF4-FFF2-40B4-BE49-F238E27FC236}">
                <a16:creationId xmlns:a16="http://schemas.microsoft.com/office/drawing/2014/main" id="{72A17A3C-B1A1-41C4-A742-98522DE69F4B}"/>
              </a:ext>
            </a:extLst>
          </p:cNvPr>
          <p:cNvGraphicFramePr/>
          <p:nvPr/>
        </p:nvGraphicFramePr>
        <p:xfrm>
          <a:off xmlns:a="http://schemas.openxmlformats.org/drawingml/2006/main" x="533400" y="1619250"/>
          <a:ext xmlns:a="http://schemas.openxmlformats.org/drawingml/2006/main" cx="11125200" cy="3810000"/>
        </p:xfrm>
        <a:graphic xmlns:a="http://schemas.openxmlformats.org/drawingml/2006/main">
          <a:graphicData uri="http://schemas.openxmlformats.org/drawingml/2006/table">
            <a:tbl>
              <a:tblPr/>
              <a:tblGrid>
                <a:gridCol w="2428875"/>
                <a:gridCol w="4953000"/>
                <a:gridCol w="3743325"/>
              </a:tblGrid>
              <a:tr h="419100">
                <a:tc>
                  <a:txBody>
                    <a:bodyPr>
                      <a:noAutofit/>
                    </a:bodyPr>
                    <a:lstStyle/>
                    <a:p>
                      <a:r>
                        <a:rPr sz="1800" b="1">
                          <a:solidFill>
                            <a:srgbClr val="FFFFFF"/>
                          </a:solidFill>
                          <a:latin typeface="Arial"/>
                          <a:ea typeface="Arial"/>
                          <a:cs typeface="Arial"/>
                        </a:rPr>
                        <a:t>Bước</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Tensor / target đi qua model</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Phần được học</a:t>
                      </a:r>
                    </a:p>
                  </a:txBody>
                  <a:tcPr marL="95250" marR="95250" marT="76200" marB="66675" anchor="t">
                    <a:solidFill>
                      <a:srgbClr val="153251"/>
                    </a:solidFill>
                  </a:tcPr>
                </a:tc>
              </a:tr>
              <a:tr h="1047750">
                <a:tc>
                  <a:txBody>
                    <a:bodyPr>
                      <a:noAutofit/>
                    </a:bodyPr>
                    <a:lstStyle/>
                    <a:p>
                      <a:r>
                        <a:rPr sz="1725" b="0">
                          <a:solidFill>
                            <a:srgbClr val="153251"/>
                          </a:solidFill>
                          <a:latin typeface="Arial"/>
                          <a:ea typeface="Arial"/>
                          <a:cs typeface="Arial"/>
                        </a:rPr>
                        <a:t>01  Robot baseline</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RGB + text thành Eagle features</a:t>
                      </a:r>
                    </a:p>
                    <a:p>
                      <a:r>
                        <a:rPr sz="1725" b="0">
                          <a:solidFill>
                            <a:srgbClr val="153251"/>
                          </a:solidFill>
                          <a:latin typeface="Arial"/>
                          <a:ea typeface="Arial"/>
                          <a:cs typeface="Arial"/>
                        </a:rPr>
                        <a:t>State + noisy actions + time vào DiT</a:t>
                      </a:r>
                    </a:p>
                    <a:p>
                      <a:r>
                        <a:rPr sz="1725" b="0">
                          <a:solidFill>
                            <a:srgbClr val="153251"/>
                          </a:solidFill>
                          <a:latin typeface="Arial"/>
                          <a:ea typeface="Arial"/>
                          <a:cs typeface="Arial"/>
                        </a:rPr>
                        <a:t>Target velocity = future action − noise</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Action loss theo flow velocity</a:t>
                      </a:r>
                    </a:p>
                    <a:p>
                      <a:r>
                        <a:rPr sz="1725" b="0">
                          <a:solidFill>
                            <a:srgbClr val="153251"/>
                          </a:solidFill>
                          <a:latin typeface="Arial"/>
                          <a:ea typeface="Arial"/>
                          <a:cs typeface="Arial"/>
                        </a:rPr>
                        <a:t>ACT + visual tune</a:t>
                      </a:r>
                    </a:p>
                    <a:p>
                      <a:r>
                        <a:rPr sz="1725" b="0">
                          <a:solidFill>
                            <a:srgbClr val="153251"/>
                          </a:solidFill>
                          <a:latin typeface="Arial"/>
                          <a:ea typeface="Arial"/>
                          <a:cs typeface="Arial"/>
                        </a:rPr>
                        <a:t>Language frozen</a:t>
                      </a:r>
                    </a:p>
                  </a:txBody>
                  <a:tcPr marL="95250" marR="95250" marT="76200" marB="66675" anchor="t">
                    <a:solidFill>
                      <a:srgbClr val="FFFFFF"/>
                    </a:solidFill>
                  </a:tcPr>
                </a:tc>
              </a:tr>
              <a:tr h="781050">
                <a:tc>
                  <a:txBody>
                    <a:bodyPr>
                      <a:noAutofit/>
                    </a:bodyPr>
                    <a:lstStyle/>
                    <a:p>
                      <a:r>
                        <a:rPr sz="1725" b="0">
                          <a:solidFill>
                            <a:srgbClr val="153251"/>
                          </a:solidFill>
                          <a:latin typeface="Arial"/>
                          <a:ea typeface="Arial"/>
                          <a:cs typeface="Arial"/>
                        </a:rPr>
                        <a:t>02  Candidate R + S_exec</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Cùng robot schema, labels qua QA</a:t>
                      </a:r>
                    </a:p>
                    <a:p>
                      <a:r>
                        <a:rPr sz="1725" b="0">
                          <a:solidFill>
                            <a:srgbClr val="153251"/>
                          </a:solidFill>
                          <a:latin typeface="Arial"/>
                          <a:ea typeface="Arial"/>
                          <a:cs typeface="Arial"/>
                        </a:rPr>
                        <a:t>Replay R giữ điều kiện đã làm tốt</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Cùng recipe với baseline</a:t>
                      </a:r>
                    </a:p>
                    <a:p>
                      <a:r>
                        <a:rPr sz="1725" b="0">
                          <a:solidFill>
                            <a:srgbClr val="153251"/>
                          </a:solidFill>
                          <a:latin typeface="Arial"/>
                          <a:ea typeface="Arial"/>
                          <a:cs typeface="Arial"/>
                        </a:rPr>
                        <a:t>Ghi thêm generation / QA / compute</a:t>
                      </a:r>
                    </a:p>
                  </a:txBody>
                  <a:tcPr marL="95250" marR="95250" marT="76200" marB="66675" anchor="t">
                    <a:solidFill>
                      <a:srgbClr val="FFFFFF"/>
                    </a:solidFill>
                  </a:tcPr>
                </a:tc>
              </a:tr>
              <a:tr h="781050">
                <a:tc>
                  <a:txBody>
                    <a:bodyPr>
                      <a:noAutofit/>
                    </a:bodyPr>
                    <a:lstStyle/>
                    <a:p>
                      <a:r>
                        <a:rPr sz="1725" b="0">
                          <a:solidFill>
                            <a:srgbClr val="153251"/>
                          </a:solidFill>
                          <a:latin typeface="Arial"/>
                          <a:ea typeface="Arial"/>
                          <a:cs typeface="Arial"/>
                        </a:rPr>
                        <a:t>03  Video pilot riêng</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Current / future frames thành features</a:t>
                      </a:r>
                    </a:p>
                    <a:p>
                      <a:r>
                        <a:rPr sz="1725" b="0">
                          <a:solidFill>
                            <a:srgbClr val="153251"/>
                          </a:solidFill>
                          <a:latin typeface="Arial"/>
                          <a:ea typeface="Arial"/>
                          <a:cs typeface="Arial"/>
                        </a:rPr>
                        <a:t>Future target encoder frozen</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FOCA-style implicit alignment</a:t>
                      </a:r>
                    </a:p>
                    <a:p>
                      <a:r>
                        <a:rPr sz="1725" b="0">
                          <a:solidFill>
                            <a:srgbClr val="153251"/>
                          </a:solidFill>
                          <a:latin typeface="Arial"/>
                          <a:ea typeface="Arial"/>
                          <a:cs typeface="Arial"/>
                        </a:rPr>
                        <a:t>Robot phase vẫn có action loss</a:t>
                      </a:r>
                    </a:p>
                  </a:txBody>
                  <a:tcPr marL="95250" marR="95250" marT="76200" marB="66675" anchor="t">
                    <a:solidFill>
                      <a:srgbClr val="FFFFFF"/>
                    </a:solidFill>
                  </a:tcPr>
                </a:tc>
              </a:tr>
              <a:tr h="781050">
                <a:tc>
                  <a:txBody>
                    <a:bodyPr>
                      <a:noAutofit/>
                    </a:bodyPr>
                    <a:lstStyle/>
                    <a:p>
                      <a:r>
                        <a:rPr sz="1725" b="0">
                          <a:solidFill>
                            <a:srgbClr val="153251"/>
                          </a:solidFill>
                          <a:latin typeface="Arial"/>
                          <a:ea typeface="Arial"/>
                          <a:cs typeface="Arial"/>
                        </a:rPr>
                        <a:t>04  Human pilot riêng</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Tracked wrists + geometry / masks</a:t>
                      </a:r>
                    </a:p>
                    <a:p>
                      <a:r>
                        <a:rPr sz="1725" b="0">
                          <a:solidFill>
                            <a:srgbClr val="153251"/>
                          </a:solidFill>
                          <a:latin typeface="Arial"/>
                          <a:ea typeface="Arial"/>
                          <a:cs typeface="Arial"/>
                        </a:rPr>
                        <a:t>Common motion target 18D</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Common head + shared motor trunk</a:t>
                      </a:r>
                    </a:p>
                    <a:p>
                      <a:r>
                        <a:rPr sz="1725" b="0">
                          <a:solidFill>
                            <a:srgbClr val="153251"/>
                          </a:solidFill>
                          <a:latin typeface="Arial"/>
                          <a:ea typeface="Arial"/>
                          <a:cs typeface="Arial"/>
                        </a:rPr>
                        <a:t>VLM frozen ở cả hai đối chứng</a:t>
                      </a:r>
                    </a:p>
                  </a:txBody>
                  <a:tcPr marL="95250" marR="95250" marT="76200" marB="66675" anchor="t">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0330EAFB-AC21-4FE5-9AAF-A9EF46747549}"/>
              </a:ext>
            </a:extLst>
          </p:cNvPr>
          <p:cNvSpPr>
            <a:spLocks xmlns:a="http://schemas.openxmlformats.org/drawingml/2006/main" noGrp="1"/>
          </p:cNvSpPr>
          <p:nvPr/>
        </p:nvSpPr>
        <p:spPr>
          <a:xfrm xmlns:a="http://schemas.openxmlformats.org/drawingml/2006/main">
            <a:off x="533400" y="5476875"/>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07F83"/>
                </a:solidFill>
                <a:latin typeface="Arial"/>
                <a:ea typeface="Arial"/>
                <a:cs typeface="Arial"/>
              </a:defRPr>
            </a:defPPr>
          </a:lstStyle>
          <a:p xmlns:a="http://schemas.openxmlformats.org/drawingml/2006/main">
            <a:pPr>
              <a:buNone/>
              <a:defRPr sz="1800" b="1">
                <a:solidFill>
                  <a:srgbClr val="007F83"/>
                </a:solidFill>
                <a:latin typeface="Arial"/>
                <a:ea typeface="Arial"/>
                <a:cs typeface="Arial"/>
              </a:defRPr>
            </a:pPr>
            <a:r>
              <a:rPr sz="1800" b="1">
                <a:solidFill>
                  <a:srgbClr val="007F83"/>
                </a:solidFill>
                <a:latin typeface="Arial"/>
                <a:ea typeface="Arial"/>
                <a:cs typeface="Arial"/>
              </a:rPr>
              <a:t>Robot recipe: tune ACT + visual, language frozen. Kiểm optimizer groups và gradients trước run.</a:t>
            </a:r>
          </a:p>
        </p:txBody>
      </p:sp>
      <p:sp>
        <p:nvSpPr>
          <p:cNvPr id="19" name="content">
            <a:extLst xmlns:a="http://schemas.openxmlformats.org/drawingml/2006/main">
              <a:ext uri="{FF2B5EF4-FFF2-40B4-BE49-F238E27FC236}">
                <a16:creationId xmlns:a16="http://schemas.microsoft.com/office/drawing/2014/main" id="{E5A592B0-ED48-4746-8028-4FB566447C09}"/>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18 / 23</a:t>
            </a:r>
          </a:p>
        </p:txBody>
      </p:sp>
    </p:spTree>
    <p:extLst>
      <p:ext uri="{BB962C8B-B14F-4D97-AF65-F5344CB8AC3E}">
        <p14:creationId xmlns:p14="http://schemas.microsoft.com/office/powerpoint/2010/main" val="41914443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6A6A62A2-965F-4686-B3AF-124B47177AC0}"/>
              </a:ext>
            </a:extLst>
          </p:cNvPr>
          <p:cNvPicPr>
            <a:picLocks xmlns:a="http://schemas.openxmlformats.org/drawingml/2006/main" noChangeAspect="1"/>
          </p:cNvPicPr>
          <p:nvPr/>
        </p:nvPicPr>
        <p:blipFill>
          <a:blip xmlns:r="http://schemas.openxmlformats.org/officeDocument/2006/relationships" xmlns:a="http://schemas.openxmlformats.org/drawingml/2006/main" r:embed="R32ecb07c9e8e4c87"/>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Inference trên robot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Inference dùng quan sát hiện tại. Future action targets và privileged scorer state không đi vào policy.</a:t>
            </a:r>
          </a:p>
        </p:txBody>
      </p:sp>
      <p:graphicFrame>
        <p:nvGraphicFramePr>
          <p:cNvPr id="11" name="">
            <a:extLst xmlns:a="http://schemas.openxmlformats.org/drawingml/2006/main">
              <a:ext uri="{FF2B5EF4-FFF2-40B4-BE49-F238E27FC236}">
                <a16:creationId xmlns:a16="http://schemas.microsoft.com/office/drawing/2014/main" id="{128899DD-9C28-4EC0-89CE-A5C495DF78B0}"/>
              </a:ext>
            </a:extLst>
          </p:cNvPr>
          <p:cNvGraphicFramePr/>
          <p:nvPr/>
        </p:nvGraphicFramePr>
        <p:xfrm>
          <a:off xmlns:a="http://schemas.openxmlformats.org/drawingml/2006/main" x="533400" y="1619250"/>
          <a:ext xmlns:a="http://schemas.openxmlformats.org/drawingml/2006/main" cx="11125200" cy="3667125"/>
        </p:xfrm>
        <a:graphic xmlns:a="http://schemas.openxmlformats.org/drawingml/2006/main">
          <a:graphicData uri="http://schemas.openxmlformats.org/drawingml/2006/table">
            <a:tbl>
              <a:tblPr/>
              <a:tblGrid>
                <a:gridCol w="2714625"/>
                <a:gridCol w="4381500"/>
                <a:gridCol w="4029075"/>
              </a:tblGrid>
              <a:tr h="419100">
                <a:tc>
                  <a:txBody>
                    <a:bodyPr>
                      <a:noAutofit/>
                    </a:bodyPr>
                    <a:lstStyle/>
                    <a:p>
                      <a:r>
                        <a:rPr sz="1800" b="1">
                          <a:solidFill>
                            <a:srgbClr val="FFFFFF"/>
                          </a:solidFill>
                          <a:latin typeface="Arial"/>
                          <a:ea typeface="Arial"/>
                          <a:cs typeface="Arial"/>
                        </a:rPr>
                        <a:t>Ranh giới</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Dữ liệu đầu vào</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Dữ liệu đầu ra</a:t>
                      </a:r>
                    </a:p>
                  </a:txBody>
                  <a:tcPr marL="95250" marR="95250" marT="76200" marB="66675" anchor="t">
                    <a:solidFill>
                      <a:srgbClr val="153251"/>
                    </a:solidFill>
                  </a:tcPr>
                </a:tc>
              </a:tr>
              <a:tr h="649605">
                <a:tc>
                  <a:txBody>
                    <a:bodyPr>
                      <a:noAutofit/>
                    </a:bodyPr>
                    <a:lstStyle/>
                    <a:p>
                      <a:r>
                        <a:rPr sz="1725" b="0">
                          <a:solidFill>
                            <a:srgbClr val="153251"/>
                          </a:solidFill>
                          <a:latin typeface="Arial"/>
                          <a:ea typeface="Arial"/>
                          <a:cs typeface="Arial"/>
                        </a:rPr>
                        <a:t>Camera và preprocessing</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RGB + instruction + measured state</a:t>
                      </a:r>
                    </a:p>
                    <a:p>
                      <a:r>
                        <a:rPr sz="1725" b="0">
                          <a:solidFill>
                            <a:srgbClr val="153251"/>
                          </a:solidFill>
                          <a:latin typeface="Arial"/>
                          <a:ea typeface="Arial"/>
                          <a:cs typeface="Arial"/>
                        </a:rPr>
                        <a:t>Processor / camera / timing đã pin</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Image tensors, tokens, masks</a:t>
                      </a:r>
                    </a:p>
                    <a:p>
                      <a:r>
                        <a:rPr sz="1725" b="0">
                          <a:solidFill>
                            <a:srgbClr val="153251"/>
                          </a:solidFill>
                          <a:latin typeface="Arial"/>
                          <a:ea typeface="Arial"/>
                          <a:cs typeface="Arial"/>
                        </a:rPr>
                        <a:t>State theo robot profile</a:t>
                      </a:r>
                    </a:p>
                  </a:txBody>
                  <a:tcPr marL="95250" marR="95250" marT="76200" marB="66675" anchor="t">
                    <a:solidFill>
                      <a:srgbClr val="FFFFFF"/>
                    </a:solidFill>
                  </a:tcPr>
                </a:tc>
              </a:tr>
              <a:tr h="649605">
                <a:tc>
                  <a:txBody>
                    <a:bodyPr>
                      <a:noAutofit/>
                    </a:bodyPr>
                    <a:lstStyle/>
                    <a:p>
                      <a:r>
                        <a:rPr sz="1725" b="0">
                          <a:solidFill>
                            <a:srgbClr val="153251"/>
                          </a:solidFill>
                          <a:latin typeface="Arial"/>
                          <a:ea typeface="Arial"/>
                          <a:cs typeface="Arial"/>
                        </a:rPr>
                        <a:t>Eagle VLM</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Images + text</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Encoded features có layer/shape/version</a:t>
                      </a:r>
                    </a:p>
                  </a:txBody>
                  <a:tcPr marL="95250" marR="95250" marT="76200" marB="66675" anchor="t">
                    <a:solidFill>
                      <a:srgbClr val="FFFFFF"/>
                    </a:solidFill>
                  </a:tcPr>
                </a:tc>
              </a:tr>
              <a:tr h="649605">
                <a:tc>
                  <a:txBody>
                    <a:bodyPr>
                      <a:noAutofit/>
                    </a:bodyPr>
                    <a:lstStyle/>
                    <a:p>
                      <a:r>
                        <a:rPr sz="1725" b="0">
                          <a:solidFill>
                            <a:srgbClr val="153251"/>
                          </a:solidFill>
                          <a:latin typeface="Arial"/>
                          <a:ea typeface="Arial"/>
                          <a:cs typeface="Arial"/>
                        </a:rPr>
                        <a:t>DiT Action Expert</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Features + state + noise/time</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Action chunk theo horizon đã khóa</a:t>
                      </a:r>
                    </a:p>
                  </a:txBody>
                  <a:tcPr marL="95250" marR="95250" marT="76200" marB="66675" anchor="t">
                    <a:solidFill>
                      <a:srgbClr val="FFFFFF"/>
                    </a:solidFill>
                  </a:tcPr>
                </a:tc>
              </a:tr>
              <a:tr h="649605">
                <a:tc>
                  <a:txBody>
                    <a:bodyPr>
                      <a:noAutofit/>
                    </a:bodyPr>
                    <a:lstStyle/>
                    <a:p>
                      <a:r>
                        <a:rPr sz="1725" b="0">
                          <a:solidFill>
                            <a:srgbClr val="153251"/>
                          </a:solidFill>
                          <a:latin typeface="Arial"/>
                          <a:ea typeface="Arial"/>
                          <a:cs typeface="Arial"/>
                        </a:rPr>
                        <a:t>Binding và controller</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Chunk đã denormalize</a:t>
                      </a:r>
                    </a:p>
                    <a:p>
                      <a:r>
                        <a:rPr sz="1725" b="0">
                          <a:solidFill>
                            <a:srgbClr val="153251"/>
                          </a:solidFill>
                          <a:latin typeface="Arial"/>
                          <a:ea typeface="Arial"/>
                          <a:cs typeface="Arial"/>
                        </a:rPr>
                        <a:t>Order, units, limits, execution prefix</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Sent commands + robot readback</a:t>
                      </a:r>
                    </a:p>
                    <a:p>
                      <a:r>
                        <a:rPr sz="1725" b="0">
                          <a:solidFill>
                            <a:srgbClr val="153251"/>
                          </a:solidFill>
                          <a:latin typeface="Arial"/>
                          <a:ea typeface="Arial"/>
                          <a:cs typeface="Arial"/>
                        </a:rPr>
                        <a:t>Quan sát mới cho closed-loop</a:t>
                      </a:r>
                    </a:p>
                  </a:txBody>
                  <a:tcPr marL="95250" marR="95250" marT="76200" marB="66675" anchor="t">
                    <a:solidFill>
                      <a:srgbClr val="FFFFFF"/>
                    </a:solidFill>
                  </a:tcPr>
                </a:tc>
              </a:tr>
              <a:tr h="649605">
                <a:tc>
                  <a:txBody>
                    <a:bodyPr>
                      <a:noAutofit/>
                    </a:bodyPr>
                    <a:lstStyle/>
                    <a:p>
                      <a:r>
                        <a:rPr sz="1725" b="0">
                          <a:solidFill>
                            <a:srgbClr val="153251"/>
                          </a:solidFill>
                          <a:latin typeface="Arial"/>
                          <a:ea typeface="Arial"/>
                          <a:cs typeface="Arial"/>
                        </a:rPr>
                        <a:t>Scorer độc lập</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Object / contact / task criteria</a:t>
                      </a:r>
                    </a:p>
                  </a:txBody>
                  <a:tcPr marL="95250" marR="95250" marT="76200" marB="66675" anchor="t">
                    <a:solidFill>
                      <a:srgbClr val="FFFFFF"/>
                    </a:solidFill>
                  </a:tcPr>
                </a:tc>
                <a:tc>
                  <a:txBody>
                    <a:bodyPr>
                      <a:noAutofit/>
                    </a:bodyPr>
                    <a:lstStyle/>
                    <a:p>
                      <a:r>
                        <a:rPr sz="1725" b="0">
                          <a:solidFill>
                            <a:srgbClr val="153251"/>
                          </a:solidFill>
                          <a:latin typeface="Arial"/>
                          <a:ea typeface="Arial"/>
                          <a:cs typeface="Arial"/>
                        </a:rPr>
                        <a:t>Full-task, stage, timeout, unknown</a:t>
                      </a:r>
                    </a:p>
                    <a:p>
                      <a:r>
                        <a:rPr sz="1725" b="0">
                          <a:solidFill>
                            <a:srgbClr val="153251"/>
                          </a:solidFill>
                          <a:latin typeface="Arial"/>
                          <a:ea typeface="Arial"/>
                          <a:cs typeface="Arial"/>
                        </a:rPr>
                        <a:t>Evidence gửi về flywheel</a:t>
                      </a:r>
                    </a:p>
                  </a:txBody>
                  <a:tcPr marL="95250" marR="95250" marT="76200" marB="66675" anchor="t">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68F09DD1-2194-44CF-8D91-7E12F6F72349}"/>
              </a:ext>
            </a:extLst>
          </p:cNvPr>
          <p:cNvSpPr>
            <a:spLocks xmlns:a="http://schemas.openxmlformats.org/drawingml/2006/main" noGrp="1"/>
          </p:cNvSpPr>
          <p:nvPr/>
        </p:nvSpPr>
        <p:spPr>
          <a:xfrm xmlns:a="http://schemas.openxmlformats.org/drawingml/2006/main">
            <a:off x="533400" y="55435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F83"/>
                </a:solidFill>
                <a:latin typeface="Arial"/>
                <a:ea typeface="Arial"/>
                <a:cs typeface="Arial"/>
              </a:defRPr>
            </a:defPPr>
          </a:lstStyle>
          <a:p xmlns:a="http://schemas.openxmlformats.org/drawingml/2006/main">
            <a:pPr>
              <a:buNone/>
              <a:defRPr sz="2025" b="1">
                <a:solidFill>
                  <a:srgbClr val="007F83"/>
                </a:solidFill>
                <a:latin typeface="Arial"/>
                <a:ea typeface="Arial"/>
                <a:cs typeface="Arial"/>
              </a:defRPr>
            </a:pPr>
            <a:r>
              <a:rPr sz="2025" b="1">
                <a:solidFill>
                  <a:srgbClr val="007F83"/>
                </a:solidFill>
                <a:latin typeface="Arial"/>
                <a:ea typeface="Arial"/>
                <a:cs typeface="Arial"/>
              </a:rPr>
              <a:t>Sim trước. Robot thật cần SDK/controller/camera binding và nghiệm thu riêng.</a:t>
            </a:r>
          </a:p>
        </p:txBody>
      </p:sp>
      <p:sp>
        <p:nvSpPr>
          <p:cNvPr id="13" name="content">
            <a:extLst xmlns:a="http://schemas.openxmlformats.org/drawingml/2006/main">
              <a:ext uri="{FF2B5EF4-FFF2-40B4-BE49-F238E27FC236}">
                <a16:creationId xmlns:a16="http://schemas.microsoft.com/office/drawing/2014/main" id="{BAC65C46-0016-43F0-A119-4508D14521EA}"/>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19 / 23</a:t>
            </a:r>
          </a:p>
        </p:txBody>
      </p:sp>
    </p:spTree>
    <p:extLst>
      <p:ext uri="{BB962C8B-B14F-4D97-AF65-F5344CB8AC3E}">
        <p14:creationId xmlns:p14="http://schemas.microsoft.com/office/powerpoint/2010/main" val="419144437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F269B-5EF9-4D07-98F2-086120AD0FF4}"/>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Benchmark và evaluation</a:t>
            </a:r>
          </a:p>
        </p:txBody>
      </p:sp>
      <p:pic>
        <p:nvPicPr>
          <p:cNvPr id="7" name="">
            <a:extLst xmlns:a="http://schemas.openxmlformats.org/drawingml/2006/main">
              <a:ext uri="{FF2B5EF4-FFF2-40B4-BE49-F238E27FC236}">
                <a16:creationId xmlns:a16="http://schemas.microsoft.com/office/drawing/2014/main" id="{2B90A045-661E-4A55-BC78-3DAE78E19759}"/>
              </a:ext>
            </a:extLst>
          </p:cNvPr>
          <p:cNvPicPr>
            <a:picLocks xmlns:a="http://schemas.openxmlformats.org/drawingml/2006/main" noChangeAspect="1"/>
          </p:cNvPicPr>
          <p:nvPr/>
        </p:nvPicPr>
        <p:blipFill>
          <a:blip xmlns:r="http://schemas.openxmlformats.org/officeDocument/2006/relationships" xmlns:a="http://schemas.openxmlformats.org/drawingml/2006/main" r:embed="Rc9e76a77c70b4299"/>
          <a:stretch xmlns:a="http://schemas.openxmlformats.org/drawingml/2006/main"/>
        </p:blipFill>
        <p:spPr>
          <a:xfrm xmlns:a="http://schemas.openxmlformats.org/drawingml/2006/main">
            <a:off x="0" y="5989177"/>
            <a:ext cx="12192000" cy="8667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B65230A-01A5-49C5-89B5-E34C6E9514DD}"/>
              </a:ext>
            </a:extLst>
          </p:cNvPr>
          <p:cNvSpPr>
            <a:spLocks xmlns:a="http://schemas.openxmlformats.org/drawingml/2006/main" noGrp="1"/>
          </p:cNvSpPr>
          <p:nvPr/>
        </p:nvSpPr>
        <p:spPr>
          <a:xfrm xmlns:a="http://schemas.openxmlformats.org/drawingml/2006/main">
            <a:off x="323850" y="616267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FFFFFF"/>
                </a:solidFill>
                <a:latin typeface="Arial"/>
                <a:ea typeface="Arial"/>
                <a:cs typeface="Arial"/>
              </a:defRPr>
            </a:defPPr>
          </a:lstStyle>
          <a:p xmlns:a="http://schemas.openxmlformats.org/drawingml/2006/main">
            <a:pPr>
              <a:buNone/>
              <a:defRPr sz="1350" b="1">
                <a:solidFill>
                  <a:srgbClr val="FFFFFF"/>
                </a:solidFill>
                <a:latin typeface="Arial"/>
                <a:ea typeface="Arial"/>
                <a:cs typeface="Arial"/>
              </a:defRPr>
            </a:pPr>
            <a:r>
              <a:rPr sz="1350" b="1">
                <a:solidFill>
                  <a:srgbClr val="FFFFFF"/>
                </a:solidFill>
                <a:latin typeface="Arial"/>
                <a:ea typeface="Arial"/>
                <a:cs typeface="Arial"/>
              </a:rPr>
              <a:t>MVP A1 trong mô phỏng</a:t>
            </a:r>
          </a:p>
        </p:txBody>
      </p:sp>
      <p:sp>
        <p:nvSpPr>
          <p:cNvPr id="9" name="">
            <a:extLst xmlns:a="http://schemas.openxmlformats.org/drawingml/2006/main">
              <a:ext uri="{FF2B5EF4-FFF2-40B4-BE49-F238E27FC236}">
                <a16:creationId xmlns:a16="http://schemas.microsoft.com/office/drawing/2014/main" id="{9C62AF44-F974-40EA-BD73-6EBC3DBF918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FFFFFF"/>
                </a:solidFill>
                <a:latin typeface="Arial"/>
                <a:ea typeface="Arial"/>
                <a:cs typeface="Arial"/>
              </a:defRPr>
            </a:defPPr>
          </a:lstStyle>
          <a:p xmlns:a="http://schemas.openxmlformats.org/drawingml/2006/main">
            <a:pPr>
              <a:buNone/>
              <a:defRPr sz="1275" b="0">
                <a:solidFill>
                  <a:srgbClr val="FFFFFF"/>
                </a:solidFill>
                <a:latin typeface="Arial"/>
                <a:ea typeface="Arial"/>
                <a:cs typeface="Arial"/>
              </a:defRPr>
            </a:pPr>
            <a:r>
              <a:rPr sz="1275" b="0">
                <a:solidFill>
                  <a:srgbClr val="FFFFFF"/>
                </a:solidFill>
                <a:latin typeface="Arial"/>
                <a:ea typeface="Arial"/>
                <a:cs typeface="Arial"/>
              </a:rPr>
              <a:t>Native A1 chưa đo. Reference MuJoCo chỉ kiểm pipeline, scorer và gates trong mô hình thu nhỏ.</a:t>
            </a:r>
          </a:p>
        </p:txBody>
      </p:sp>
      <p:graphicFrame>
        <p:nvGraphicFramePr>
          <p:cNvPr id="10" name="">
            <a:extLst xmlns:a="http://schemas.openxmlformats.org/drawingml/2006/main">
              <a:ext uri="{FF2B5EF4-FFF2-40B4-BE49-F238E27FC236}">
                <a16:creationId xmlns:a16="http://schemas.microsoft.com/office/drawing/2014/main" id="{59D8848A-399F-4FB8-98BA-63FD515B0F9E}"/>
              </a:ext>
            </a:extLst>
          </p:cNvPr>
          <p:cNvGraphicFramePr/>
          <p:nvPr/>
        </p:nvGraphicFramePr>
        <p:xfrm>
          <a:off xmlns:a="http://schemas.openxmlformats.org/drawingml/2006/main" x="533400" y="1619250"/>
          <a:ext xmlns:a="http://schemas.openxmlformats.org/drawingml/2006/main" cx="11125200" cy="2667000"/>
        </p:xfrm>
        <a:graphic xmlns:a="http://schemas.openxmlformats.org/drawingml/2006/main">
          <a:graphicData uri="http://schemas.openxmlformats.org/drawingml/2006/table">
            <a:tbl>
              <a:tblPr/>
              <a:tblGrid>
                <a:gridCol w="3238500"/>
                <a:gridCol w="3333750"/>
                <a:gridCol w="4552950"/>
              </a:tblGrid>
              <a:tr h="419100">
                <a:tc>
                  <a:txBody>
                    <a:bodyPr>
                      <a:noAutofit/>
                    </a:bodyPr>
                    <a:lstStyle/>
                    <a:p>
                      <a:r>
                        <a:rPr sz="1800" b="1">
                          <a:solidFill>
                            <a:srgbClr val="FFFFFF"/>
                          </a:solidFill>
                          <a:latin typeface="Arial"/>
                          <a:ea typeface="Arial"/>
                          <a:cs typeface="Arial"/>
                        </a:rPr>
                        <a:t>Câu hỏi</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Đối chứng</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Cách giữ phép so công bằng</a:t>
                      </a:r>
                    </a:p>
                  </a:txBody>
                  <a:tcPr marL="95250" marR="95250" marT="76200" marB="66675" anchor="t">
                    <a:solidFill>
                      <a:srgbClr val="153251"/>
                    </a:solidFill>
                  </a:tcPr>
                </a:tc>
              </a:tr>
              <a:tr h="749300">
                <a:tc>
                  <a:txBody>
                    <a:bodyPr>
                      <a:noAutofit/>
                    </a:bodyPr>
                    <a:lstStyle/>
                    <a:p>
                      <a:r>
                        <a:rPr sz="1800" b="0">
                          <a:solidFill>
                            <a:srgbClr val="153251"/>
                          </a:solidFill>
                          <a:latin typeface="Arial"/>
                          <a:ea typeface="Arial"/>
                          <a:cs typeface="Arial"/>
                        </a:rPr>
                        <a:t>Nguồn synthetic có ích?</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R so với R + S_exec</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Cùng roots, recipe, domain, scorer</a:t>
                      </a:r>
                    </a:p>
                    <a:p>
                      <a:r>
                        <a:rPr sz="1800" b="0">
                          <a:solidFill>
                            <a:srgbClr val="153251"/>
                          </a:solidFill>
                          <a:latin typeface="Arial"/>
                          <a:ea typeface="Arial"/>
                          <a:cs typeface="Arial"/>
                        </a:rPr>
                        <a:t>Ghi thêm công và compute của S</a:t>
                      </a:r>
                    </a:p>
                  </a:txBody>
                  <a:tcPr marL="95250" marR="95250" marT="76200" marB="66675" anchor="t">
                    <a:solidFill>
                      <a:srgbClr val="FFFFFF"/>
                    </a:solidFill>
                  </a:tcPr>
                </a:tc>
              </a:tr>
              <a:tr h="749300">
                <a:tc>
                  <a:txBody>
                    <a:bodyPr>
                      <a:noAutofit/>
                    </a:bodyPr>
                    <a:lstStyle/>
                    <a:p>
                      <a:r>
                        <a:rPr sz="1800" b="0">
                          <a:solidFill>
                            <a:srgbClr val="153251"/>
                          </a:solidFill>
                          <a:latin typeface="Arial"/>
                          <a:ea typeface="Arial"/>
                          <a:cs typeface="Arial"/>
                        </a:rPr>
                        <a:t>Flywheel chọn tốt hơn?</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Quy trình thường so với</a:t>
                      </a:r>
                    </a:p>
                    <a:p>
                      <a:r>
                        <a:rPr sz="1800" b="0">
                          <a:solidFill>
                            <a:srgbClr val="153251"/>
                          </a:solidFill>
                          <a:latin typeface="Arial"/>
                          <a:ea typeface="Arial"/>
                          <a:cs typeface="Arial"/>
                        </a:rPr>
                        <a:t>quy trình có evidence</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Matched parent–case pairs, cùng cap</a:t>
                      </a:r>
                    </a:p>
                    <a:p>
                      <a:r>
                        <a:rPr sz="1800" b="0">
                          <a:solidFill>
                            <a:srgbClr val="153251"/>
                          </a:solidFill>
                          <a:latin typeface="Arial"/>
                          <a:ea typeface="Arial"/>
                          <a:cs typeface="Arial"/>
                        </a:rPr>
                        <a:t>Cùng quyền can thiệp, đảo thứ tự case</a:t>
                      </a:r>
                    </a:p>
                  </a:txBody>
                  <a:tcPr marL="95250" marR="95250" marT="76200" marB="66675" anchor="t">
                    <a:solidFill>
                      <a:srgbClr val="FFFFFF"/>
                    </a:solidFill>
                  </a:tcPr>
                </a:tc>
              </a:tr>
              <a:tr h="749300">
                <a:tc>
                  <a:txBody>
                    <a:bodyPr>
                      <a:noAutofit/>
                    </a:bodyPr>
                    <a:lstStyle/>
                    <a:p>
                      <a:r>
                        <a:rPr sz="1800" b="0">
                          <a:solidFill>
                            <a:srgbClr val="153251"/>
                          </a:solidFill>
                          <a:latin typeface="Arial"/>
                          <a:ea typeface="Arial"/>
                          <a:cs typeface="Arial"/>
                        </a:rPr>
                        <a:t>Skill đạt yêu cầu?</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Freeze rồi independent final</a:t>
                      </a:r>
                    </a:p>
                  </a:txBody>
                  <a:tcPr marL="95250" marR="95250" marT="76200" marB="66675" anchor="t">
                    <a:solidFill>
                      <a:srgbClr val="FFFFFF"/>
                    </a:solidFill>
                  </a:tcPr>
                </a:tc>
                <a:tc>
                  <a:txBody>
                    <a:bodyPr>
                      <a:noAutofit/>
                    </a:bodyPr>
                    <a:lstStyle/>
                    <a:p>
                      <a:r>
                        <a:rPr sz="1800" b="0">
                          <a:solidFill>
                            <a:srgbClr val="153251"/>
                          </a:solidFill>
                          <a:latin typeface="Arial"/>
                          <a:ea typeface="Arial"/>
                          <a:cs typeface="Arial"/>
                        </a:rPr>
                        <a:t>100 scene starts độc lập, full-task</a:t>
                      </a:r>
                    </a:p>
                    <a:p>
                      <a:r>
                        <a:rPr sz="1800" b="0">
                          <a:solidFill>
                            <a:srgbClr val="153251"/>
                          </a:solidFill>
                          <a:latin typeface="Arial"/>
                          <a:ea typeface="Arial"/>
                          <a:cs typeface="Arial"/>
                        </a:rPr>
                        <a:t>Ghi cả timeout / unknown / intervention</a:t>
                      </a:r>
                    </a:p>
                  </a:txBody>
                  <a:tcPr marL="95250" marR="95250" marT="76200" marB="66675" anchor="t">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4B60CF7-7D67-4864-9EDF-EFEED0E177D6}"/>
              </a:ext>
            </a:extLst>
          </p:cNvPr>
          <p:cNvSpPr>
            <a:spLocks xmlns:a="http://schemas.openxmlformats.org/drawingml/2006/main" noGrp="1"/>
          </p:cNvSpPr>
          <p:nvPr/>
        </p:nvSpPr>
        <p:spPr>
          <a:xfrm xmlns:a="http://schemas.openxmlformats.org/drawingml/2006/main">
            <a:off x="533400" y="45910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F83"/>
                </a:solidFill>
                <a:latin typeface="Arial"/>
                <a:ea typeface="Arial"/>
                <a:cs typeface="Arial"/>
              </a:defRPr>
            </a:defPPr>
          </a:lstStyle>
          <a:p xmlns:a="http://schemas.openxmlformats.org/drawingml/2006/main">
            <a:pPr>
              <a:buNone/>
              <a:defRPr sz="2325" b="1">
                <a:solidFill>
                  <a:srgbClr val="007F83"/>
                </a:solidFill>
                <a:latin typeface="Arial"/>
                <a:ea typeface="Arial"/>
                <a:cs typeface="Arial"/>
              </a:defRPr>
            </a:pPr>
            <a:r>
              <a:rPr sz="2325" b="1">
                <a:solidFill>
                  <a:srgbClr val="007F83"/>
                </a:solidFill>
                <a:latin typeface="Arial"/>
                <a:ea typeface="Arial"/>
                <a:cs typeface="Arial"/>
              </a:rPr>
              <a:t>Gate đề xuất: lower bound exact một phía 95% ≥ 90%</a:t>
            </a:r>
          </a:p>
        </p:txBody>
      </p:sp>
      <p:sp>
        <p:nvSpPr>
          <p:cNvPr id="12" name="">
            <a:extLst xmlns:a="http://schemas.openxmlformats.org/drawingml/2006/main">
              <a:ext uri="{FF2B5EF4-FFF2-40B4-BE49-F238E27FC236}">
                <a16:creationId xmlns:a16="http://schemas.microsoft.com/office/drawing/2014/main" id="{7454677C-AB30-4D77-817C-03228D5EB6E5}"/>
              </a:ext>
            </a:extLst>
          </p:cNvPr>
          <p:cNvSpPr>
            <a:spLocks xmlns:a="http://schemas.openxmlformats.org/drawingml/2006/main" noGrp="1"/>
          </p:cNvSpPr>
          <p:nvPr/>
        </p:nvSpPr>
        <p:spPr>
          <a:xfrm xmlns:a="http://schemas.openxmlformats.org/drawingml/2006/main">
            <a:off x="533400" y="521017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3251"/>
                </a:solidFill>
                <a:latin typeface="Arial"/>
                <a:ea typeface="Arial"/>
                <a:cs typeface="Arial"/>
              </a:defRPr>
            </a:defPPr>
          </a:lstStyle>
          <a:p xmlns:a="http://schemas.openxmlformats.org/drawingml/2006/main">
            <a:pPr>
              <a:buNone/>
              <a:defRPr sz="1875" b="0">
                <a:solidFill>
                  <a:srgbClr val="153251"/>
                </a:solidFill>
                <a:latin typeface="Arial"/>
                <a:ea typeface="Arial"/>
                <a:cs typeface="Arial"/>
              </a:defRPr>
            </a:pPr>
            <a:r>
              <a:rPr sz="1875" b="0">
                <a:solidFill>
                  <a:srgbClr val="153251"/>
                </a:solidFill>
                <a:latin typeface="Arial"/>
                <a:ea typeface="Arial"/>
                <a:cs typeface="Arial"/>
              </a:rPr>
              <a:t>Với n = 100 và giả định IID Bernoulli, cần ít nhất 96 successes.</a:t>
            </a:r>
          </a:p>
          <a:p xmlns:a="http://schemas.openxmlformats.org/drawingml/2006/main">
            <a:pPr>
              <a:buNone/>
              <a:defRPr sz="1875" b="0">
                <a:solidFill>
                  <a:srgbClr val="153251"/>
                </a:solidFill>
                <a:latin typeface="Arial"/>
                <a:ea typeface="Arial"/>
                <a:cs typeface="Arial"/>
              </a:defRPr>
            </a:pPr>
            <a:r>
              <a:rPr sz="1875" b="0">
                <a:solidFill>
                  <a:srgbClr val="153251"/>
                </a:solidFill>
                <a:latin typeface="Arial"/>
                <a:ea typeface="Arial"/>
                <a:cs typeface="Arial"/>
              </a:rPr>
              <a:t>Chất lượng đạt gate chưa chứng minh saving. So tổng công ở cùng quality và coverage.</a:t>
            </a:r>
          </a:p>
        </p:txBody>
      </p:sp>
      <p:sp>
        <p:nvSpPr>
          <p:cNvPr id="13" name="content">
            <a:extLst xmlns:a="http://schemas.openxmlformats.org/drawingml/2006/main">
              <a:ext uri="{FF2B5EF4-FFF2-40B4-BE49-F238E27FC236}">
                <a16:creationId xmlns:a16="http://schemas.microsoft.com/office/drawing/2014/main" id="{264934B3-AADB-4BC4-9C59-A9CDA528AEB1}"/>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20 / 23</a:t>
            </a:r>
          </a:p>
        </p:txBody>
      </p:sp>
    </p:spTree>
    <p:extLst>
      <p:ext uri="{BB962C8B-B14F-4D97-AF65-F5344CB8AC3E}">
        <p14:creationId xmlns:p14="http://schemas.microsoft.com/office/powerpoint/2010/main" val="254179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0" name="Picture 6">
            <a:extLst xmlns:a="http://schemas.openxmlformats.org/drawingml/2006/main">
              <a:ext uri="{FF2B5EF4-FFF2-40B4-BE49-F238E27FC236}">
                <a16:creationId xmlns:a16="http://schemas.microsoft.com/office/drawing/2014/main" id="{1ADEB240-1EA9-41D8-A65F-08F36C7DB06F}"/>
              </a:ext>
            </a:extLst>
          </p:cNvPr>
          <p:cNvPicPr>
            <a:picLocks xmlns:a="http://schemas.openxmlformats.org/drawingml/2006/main" noChangeAspect="1"/>
          </p:cNvPicPr>
          <p:nvPr/>
        </p:nvPicPr>
        <p:blipFill>
          <a:blip xmlns:r="http://schemas.openxmlformats.org/officeDocument/2006/relationships" xmlns:a="http://schemas.openxmlformats.org/drawingml/2006/main" r:embed="Rbe1f1f7e37c848cf"/>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defRPr sz="3450"/>
            </a:defPPr>
          </a:lstStyle>
          <a:p xmlns:a="http://schemas.openxmlformats.org/drawingml/2006/main">
            <a:pPr algn="ctr">
              <a:buNone/>
              <a:defRPr sz="3450" b="1">
                <a:solidFill>
                  <a:srgbClr val="FFFFFF"/>
                </a:solidFill>
                <a:latin typeface="Times New Roman"/>
                <a:ea typeface="Times New Roman"/>
                <a:cs typeface="Times New Roman"/>
              </a:defRPr>
            </a:pPr>
            <a:r>
              <a:rPr sz="3450" b="1">
                <a:solidFill>
                  <a:srgbClr val="FFFFFF"/>
                </a:solidFill>
                <a:latin typeface="Times New Roman"/>
                <a:ea typeface="Times New Roman"/>
                <a:cs typeface="Times New Roman"/>
              </a:rPr>
              <a:t>Phụ lục: các hướng model</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10325"/>
            <a:ext cx="10477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275"/>
            </a:defPPr>
          </a:lstStyle>
          <a:p xmlns:a="http://schemas.openxmlformats.org/drawingml/2006/main">
            <a:pPr algn="l">
              <a:buNone/>
              <a:defRPr sz="1275" b="0">
                <a:solidFill>
                  <a:srgbClr val="FFFFFF"/>
                </a:solidFill>
                <a:latin typeface="Arial"/>
                <a:ea typeface="Arial"/>
                <a:cs typeface="Arial"/>
              </a:defRPr>
            </a:pPr>
            <a:r>
              <a:rPr sz="1275" b="0">
                <a:solidFill>
                  <a:srgbClr val="FFFFFF"/>
                </a:solidFill>
                <a:latin typeface="Arial"/>
                <a:ea typeface="Arial"/>
                <a:cs typeface="Arial"/>
              </a:rPr>
              <a:t>Các phương pháp giải bài toán khác nhau. Không ghép kết quả khác robot, task và budget thành một leaderboard.</a:t>
            </a:r>
          </a:p>
        </p:txBody>
      </p:sp>
      <p:graphicFrame>
        <p:nvGraphicFramePr>
          <p:cNvPr id="11" name="">
            <a:extLst xmlns:a="http://schemas.openxmlformats.org/drawingml/2006/main">
              <a:ext uri="{FF2B5EF4-FFF2-40B4-BE49-F238E27FC236}">
                <a16:creationId xmlns:a16="http://schemas.microsoft.com/office/drawing/2014/main" id="{46B2EE06-5E2F-4D38-9E07-D215DD2C7AE2}"/>
              </a:ext>
            </a:extLst>
          </p:cNvPr>
          <p:cNvGraphicFramePr/>
          <p:nvPr/>
        </p:nvGraphicFramePr>
        <p:xfrm>
          <a:off xmlns:a="http://schemas.openxmlformats.org/drawingml/2006/main" x="533400" y="1619250"/>
          <a:ext xmlns:a="http://schemas.openxmlformats.org/drawingml/2006/main" cx="11125200" cy="3810000"/>
        </p:xfrm>
        <a:graphic xmlns:a="http://schemas.openxmlformats.org/drawingml/2006/main">
          <a:graphicData uri="http://schemas.openxmlformats.org/drawingml/2006/table">
            <a:tbl>
              <a:tblPr/>
              <a:tblGrid>
                <a:gridCol w="2476500"/>
                <a:gridCol w="4667250"/>
                <a:gridCol w="3981450"/>
              </a:tblGrid>
              <a:tr h="419100">
                <a:tc>
                  <a:txBody>
                    <a:bodyPr>
                      <a:noAutofit/>
                    </a:bodyPr>
                    <a:lstStyle/>
                    <a:p>
                      <a:r>
                        <a:rPr sz="1800" b="1">
                          <a:solidFill>
                            <a:srgbClr val="FFFFFF"/>
                          </a:solidFill>
                          <a:latin typeface="Arial"/>
                          <a:ea typeface="Arial"/>
                          <a:cs typeface="Arial"/>
                        </a:rPr>
                        <a:t>Hướng</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Supervision / cách học</a:t>
                      </a:r>
                    </a:p>
                  </a:txBody>
                  <a:tcPr marL="95250" marR="95250" marT="76200" marB="66675" anchor="t">
                    <a:solidFill>
                      <a:srgbClr val="153251"/>
                    </a:solidFill>
                  </a:tcPr>
                </a:tc>
                <a:tc>
                  <a:txBody>
                    <a:bodyPr>
                      <a:noAutofit/>
                    </a:bodyPr>
                    <a:lstStyle/>
                    <a:p>
                      <a:r>
                        <a:rPr sz="1800" b="1">
                          <a:solidFill>
                            <a:srgbClr val="FFFFFF"/>
                          </a:solidFill>
                          <a:latin typeface="Arial"/>
                          <a:ea typeface="Arial"/>
                          <a:cs typeface="Arial"/>
                        </a:rPr>
                        <a:t>Mapping vào idea</a:t>
                      </a:r>
                    </a:p>
                  </a:txBody>
                  <a:tcPr marL="95250" marR="95250" marT="76200" marB="66675" anchor="t">
                    <a:solidFill>
                      <a:srgbClr val="153251"/>
                    </a:solidFill>
                  </a:tcPr>
                </a:tc>
              </a:tr>
              <a:tr h="678180">
                <a:tc>
                  <a:txBody>
                    <a:bodyPr>
                      <a:noAutofit/>
                    </a:bodyPr>
                    <a:lstStyle/>
                    <a:p>
                      <a:r>
                        <a:rPr sz="1650" b="0">
                          <a:solidFill>
                            <a:srgbClr val="153251"/>
                          </a:solidFill>
                          <a:latin typeface="Arial"/>
                          <a:ea typeface="Arial"/>
                          <a:cs typeface="Arial"/>
                        </a:rPr>
                        <a:t>OpenVLA / π0</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Robot trajectories có actions</a:t>
                      </a:r>
                    </a:p>
                    <a:p>
                      <a:r>
                        <a:rPr sz="1650" b="0">
                          <a:solidFill>
                            <a:srgbClr val="153251"/>
                          </a:solidFill>
                          <a:latin typeface="Arial"/>
                          <a:ea typeface="Arial"/>
                          <a:cs typeface="Arial"/>
                        </a:rPr>
                        <a:t>Action tokens hoặc flow objective</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Pretrained policy adaptation</a:t>
                      </a:r>
                    </a:p>
                    <a:p>
                      <a:r>
                        <a:rPr sz="1650" b="0">
                          <a:solidFill>
                            <a:srgbClr val="153251"/>
                          </a:solidFill>
                          <a:latin typeface="Arial"/>
                          <a:ea typeface="Arial"/>
                          <a:cs typeface="Arial"/>
                        </a:rPr>
                        <a:t>Freeze / tune phụ thuộc recipe</a:t>
                      </a:r>
                    </a:p>
                  </a:txBody>
                  <a:tcPr marL="95250" marR="95250" marT="76200" marB="66675" anchor="t">
                    <a:solidFill>
                      <a:srgbClr val="FFFFFF"/>
                    </a:solidFill>
                  </a:tcPr>
                </a:tc>
              </a:tr>
              <a:tr h="678180">
                <a:tc>
                  <a:txBody>
                    <a:bodyPr>
                      <a:noAutofit/>
                    </a:bodyPr>
                    <a:lstStyle/>
                    <a:p>
                      <a:r>
                        <a:rPr sz="1650" b="0">
                          <a:solidFill>
                            <a:srgbClr val="153251"/>
                          </a:solidFill>
                          <a:latin typeface="Arial"/>
                          <a:ea typeface="Arial"/>
                          <a:cs typeface="Arial"/>
                        </a:rPr>
                        <a:t>GR00T N1.5</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Eagle + DiT, robot action learning</a:t>
                      </a:r>
                    </a:p>
                    <a:p>
                      <a:r>
                        <a:rPr sz="1650" b="0">
                          <a:solidFill>
                            <a:srgbClr val="153251"/>
                          </a:solidFill>
                          <a:latin typeface="Arial"/>
                          <a:ea typeface="Arial"/>
                          <a:cs typeface="Arial"/>
                        </a:rPr>
                        <a:t>Official frozen VLM + FLARE</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Policy nền MVP qua FluxVLA</a:t>
                      </a:r>
                    </a:p>
                    <a:p>
                      <a:r>
                        <a:rPr sz="1650" b="0">
                          <a:solidFill>
                            <a:srgbClr val="153251"/>
                          </a:solidFill>
                          <a:latin typeface="Arial"/>
                          <a:ea typeface="Arial"/>
                          <a:cs typeface="Arial"/>
                        </a:rPr>
                        <a:t>Selected visual-unfreeze khác official</a:t>
                      </a:r>
                    </a:p>
                  </a:txBody>
                  <a:tcPr marL="95250" marR="95250" marT="76200" marB="66675" anchor="t">
                    <a:solidFill>
                      <a:srgbClr val="FFFFFF"/>
                    </a:solidFill>
                  </a:tcPr>
                </a:tc>
              </a:tr>
              <a:tr h="678180">
                <a:tc>
                  <a:txBody>
                    <a:bodyPr>
                      <a:noAutofit/>
                    </a:bodyPr>
                    <a:lstStyle/>
                    <a:p>
                      <a:r>
                        <a:rPr sz="1650" b="0">
                          <a:solidFill>
                            <a:srgbClr val="153251"/>
                          </a:solidFill>
                          <a:latin typeface="Arial"/>
                          <a:ea typeface="Arial"/>
                          <a:cs typeface="Arial"/>
                        </a:rPr>
                        <a:t>FOCA</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Video action-free học future alignment</a:t>
                      </a:r>
                    </a:p>
                    <a:p>
                      <a:r>
                        <a:rPr sz="1650" b="0">
                          <a:solidFill>
                            <a:srgbClr val="153251"/>
                          </a:solidFill>
                          <a:latin typeface="Arial"/>
                          <a:ea typeface="Arial"/>
                          <a:cs typeface="Arial"/>
                        </a:rPr>
                        <a:t>Robot phase học action + implicit</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Pilot few-shot có gate riêng</a:t>
                      </a:r>
                    </a:p>
                    <a:p>
                      <a:r>
                        <a:rPr sz="1650" b="0">
                          <a:solidFill>
                            <a:srgbClr val="153251"/>
                          </a:solidFill>
                          <a:latin typeface="Arial"/>
                          <a:ea typeface="Arial"/>
                          <a:cs typeface="Arial"/>
                        </a:rPr>
                        <a:t>Chưa port vào A1</a:t>
                      </a:r>
                    </a:p>
                  </a:txBody>
                  <a:tcPr marL="95250" marR="95250" marT="76200" marB="66675" anchor="t">
                    <a:solidFill>
                      <a:srgbClr val="FFFFFF"/>
                    </a:solidFill>
                  </a:tcPr>
                </a:tc>
              </a:tr>
              <a:tr h="678180">
                <a:tc>
                  <a:txBody>
                    <a:bodyPr>
                      <a:noAutofit/>
                    </a:bodyPr>
                    <a:lstStyle/>
                    <a:p>
                      <a:r>
                        <a:rPr sz="1650" b="0">
                          <a:solidFill>
                            <a:srgbClr val="153251"/>
                          </a:solidFill>
                          <a:latin typeface="Arial"/>
                          <a:ea typeface="Arial"/>
                          <a:cs typeface="Arial"/>
                        </a:rPr>
                        <a:t>DreamGen</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Sinh video offline theo task</a:t>
                      </a:r>
                    </a:p>
                    <a:p>
                      <a:r>
                        <a:rPr sz="1650" b="0">
                          <a:solidFill>
                            <a:srgbClr val="153251"/>
                          </a:solidFill>
                          <a:latin typeface="Arial"/>
                          <a:ea typeface="Arial"/>
                          <a:cs typeface="Arial"/>
                        </a:rPr>
                        <a:t>Video sinh thường không có robot actions</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Nguồn kinh nghiệm bổ sung</a:t>
                      </a:r>
                    </a:p>
                    <a:p>
                      <a:r>
                        <a:rPr sz="1650" b="0">
                          <a:solidFill>
                            <a:srgbClr val="153251"/>
                          </a:solidFill>
                          <a:latin typeface="Arial"/>
                          <a:ea typeface="Arial"/>
                          <a:cs typeface="Arial"/>
                        </a:rPr>
                        <a:t>Cần objective / nhãn thích hợp</a:t>
                      </a:r>
                    </a:p>
                  </a:txBody>
                  <a:tcPr marL="95250" marR="95250" marT="76200" marB="66675" anchor="t">
                    <a:solidFill>
                      <a:srgbClr val="FFFFFF"/>
                    </a:solidFill>
                  </a:tcPr>
                </a:tc>
              </a:tr>
              <a:tr h="678180">
                <a:tc>
                  <a:txBody>
                    <a:bodyPr>
                      <a:noAutofit/>
                    </a:bodyPr>
                    <a:lstStyle/>
                    <a:p>
                      <a:r>
                        <a:rPr sz="1650" b="0">
                          <a:solidFill>
                            <a:srgbClr val="153251"/>
                          </a:solidFill>
                          <a:latin typeface="Arial"/>
                          <a:ea typeface="Arial"/>
                          <a:cs typeface="Arial"/>
                        </a:rPr>
                        <a:t>DreamZero / DreamerV3</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Joint world-action hoặc dynamics / RL</a:t>
                      </a:r>
                    </a:p>
                    <a:p>
                      <a:r>
                        <a:rPr sz="1650" b="0">
                          <a:solidFill>
                            <a:srgbClr val="153251"/>
                          </a:solidFill>
                          <a:latin typeface="Arial"/>
                          <a:ea typeface="Arial"/>
                          <a:cs typeface="Arial"/>
                        </a:rPr>
                        <a:t>Objective và runtime riêng</a:t>
                      </a:r>
                    </a:p>
                  </a:txBody>
                  <a:tcPr marL="95250" marR="95250" marT="76200" marB="66675" anchor="t">
                    <a:solidFill>
                      <a:srgbClr val="FFFFFF"/>
                    </a:solidFill>
                  </a:tcPr>
                </a:tc>
                <a:tc>
                  <a:txBody>
                    <a:bodyPr>
                      <a:noAutofit/>
                    </a:bodyPr>
                    <a:lstStyle/>
                    <a:p>
                      <a:r>
                        <a:rPr sz="1650" b="0">
                          <a:solidFill>
                            <a:srgbClr val="153251"/>
                          </a:solidFill>
                          <a:latin typeface="Arial"/>
                          <a:ea typeface="Arial"/>
                          <a:cs typeface="Arial"/>
                        </a:rPr>
                        <a:t>Alternative stack để nghiên cứu</a:t>
                      </a:r>
                    </a:p>
                    <a:p>
                      <a:r>
                        <a:rPr sz="1650" b="0">
                          <a:solidFill>
                            <a:srgbClr val="153251"/>
                          </a:solidFill>
                          <a:latin typeface="Arial"/>
                          <a:ea typeface="Arial"/>
                          <a:cs typeface="Arial"/>
                        </a:rPr>
                        <a:t>Chưa là component bắt buộc MVP</a:t>
                      </a:r>
                    </a:p>
                  </a:txBody>
                  <a:tcPr marL="95250" marR="95250" marT="76200" marB="66675" anchor="t">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EB0AFAED-035E-40AA-9AB3-B138E3B9DFDA}"/>
              </a:ext>
            </a:extLst>
          </p:cNvPr>
          <p:cNvSpPr>
            <a:spLocks xmlns:a="http://schemas.openxmlformats.org/drawingml/2006/main" noGrp="1"/>
          </p:cNvSpPr>
          <p:nvPr/>
        </p:nvSpPr>
        <p:spPr>
          <a:xfrm xmlns:a="http://schemas.openxmlformats.org/drawingml/2006/main">
            <a:off x="533400" y="55530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07F83"/>
                </a:solidFill>
                <a:latin typeface="Arial"/>
                <a:ea typeface="Arial"/>
                <a:cs typeface="Arial"/>
              </a:defRPr>
            </a:defPPr>
          </a:lstStyle>
          <a:p xmlns:a="http://schemas.openxmlformats.org/drawingml/2006/main">
            <a:pPr>
              <a:buNone/>
              <a:defRPr sz="1800" b="1">
                <a:solidFill>
                  <a:srgbClr val="007F83"/>
                </a:solidFill>
                <a:latin typeface="Arial"/>
                <a:ea typeface="Arial"/>
                <a:cs typeface="Arial"/>
              </a:defRPr>
            </a:pPr>
            <a:r>
              <a:rPr sz="1800" b="1">
                <a:solidFill>
                  <a:srgbClr val="007F83"/>
                </a:solidFill>
                <a:latin typeface="Arial"/>
                <a:ea typeface="Arial"/>
                <a:cs typeface="Arial"/>
              </a:rPr>
              <a:t>Human wrist pilot: common motion 18D, giữ native robot head riêng, kiểm transfer bằng đối chứng.</a:t>
            </a:r>
          </a:p>
        </p:txBody>
      </p:sp>
      <p:sp>
        <p:nvSpPr>
          <p:cNvPr id="13" name="content">
            <a:extLst xmlns:a="http://schemas.openxmlformats.org/drawingml/2006/main">
              <a:ext uri="{FF2B5EF4-FFF2-40B4-BE49-F238E27FC236}">
                <a16:creationId xmlns:a16="http://schemas.microsoft.com/office/drawing/2014/main" id="{EADB7F43-6AA5-4ED3-954F-E26DFFCB3B19}"/>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21 / 23</a:t>
            </a:r>
          </a:p>
        </p:txBody>
      </p:sp>
    </p:spTree>
    <p:extLst>
      <p:ext uri="{BB962C8B-B14F-4D97-AF65-F5344CB8AC3E}">
        <p14:creationId xmlns:p14="http://schemas.microsoft.com/office/powerpoint/2010/main" val="419144437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41" name="Picture 6">
            <a:extLst xmlns:a="http://schemas.openxmlformats.org/drawingml/2006/main">
              <a:ext uri="{FF2B5EF4-FFF2-40B4-BE49-F238E27FC236}">
                <a16:creationId xmlns:a16="http://schemas.microsoft.com/office/drawing/2014/main" id="{180E4C51-1750-43ED-A08E-413F5FF99335}"/>
              </a:ext>
            </a:extLst>
          </p:cNvPr>
          <p:cNvPicPr>
            <a:picLocks xmlns:a="http://schemas.openxmlformats.org/drawingml/2006/main" noChangeAspect="1"/>
          </p:cNvPicPr>
          <p:nvPr/>
        </p:nvPicPr>
        <p:blipFill>
          <a:blip xmlns:r="http://schemas.openxmlformats.org/officeDocument/2006/relationships" xmlns:a="http://schemas.openxmlformats.org/drawingml/2006/main" r:embed="Rd0048d7fcc0a464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pic>
        <p:nvPicPr>
          <p:cNvPr id="42" name="Image 0">
            <a:extLst xmlns:a="http://schemas.openxmlformats.org/drawingml/2006/main">
              <a:ext uri="{FF2B5EF4-FFF2-40B4-BE49-F238E27FC236}">
                <a16:creationId xmlns:a16="http://schemas.microsoft.com/office/drawing/2014/main" id="{106F22E4-C326-4961-81ED-1C2B4A7D06CC}"/>
              </a:ext>
            </a:extLst>
          </p:cNvPr>
          <p:cNvPicPr>
            <a:picLocks xmlns:a="http://schemas.openxmlformats.org/drawingml/2006/main" noChangeAspect="1"/>
          </p:cNvPicPr>
          <p:nvPr/>
        </p:nvPicPr>
        <p:blipFill>
          <a:blip xmlns:r="http://schemas.openxmlformats.org/officeDocument/2006/relationships" xmlns:a="http://schemas.openxmlformats.org/drawingml/2006/main" r:embed="R61a48d801f9f4710"/>
          <a:stretch xmlns:a="http://schemas.openxmlformats.org/drawingml/2006/main">
            <a:fillRect l="0" t="0" r="0" b="0"/>
          </a:stretch>
        </p:blipFill>
        <p:spPr>
          <a:xfrm xmlns:a="http://schemas.openxmlformats.org/drawingml/2006/main">
            <a:off x="0" y="0"/>
            <a:ext cx="12191695" cy="868680"/>
          </a:xfrm>
          <a:prstGeom xmlns:a="http://schemas.openxmlformats.org/drawingml/2006/main" prst="rect">
            <a:avLst/>
          </a:prstGeom>
        </p:spPr>
      </p:pic>
      <p:pic>
        <p:nvPicPr>
          <p:cNvPr id="43" name="Image 1">
            <a:extLst xmlns:a="http://schemas.openxmlformats.org/drawingml/2006/main">
              <a:ext uri="{FF2B5EF4-FFF2-40B4-BE49-F238E27FC236}">
                <a16:creationId xmlns:a16="http://schemas.microsoft.com/office/drawing/2014/main" id="{FC07B598-1333-46D6-860A-C78441DAFFE0}"/>
              </a:ext>
            </a:extLst>
          </p:cNvPr>
          <p:cNvPicPr>
            <a:picLocks xmlns:a="http://schemas.openxmlformats.org/drawingml/2006/main" noChangeAspect="1"/>
          </p:cNvPicPr>
          <p:nvPr/>
        </p:nvPicPr>
        <p:blipFill>
          <a:blip xmlns:r="http://schemas.openxmlformats.org/officeDocument/2006/relationships" xmlns:a="http://schemas.openxmlformats.org/drawingml/2006/main" r:embed="R6d2e6e5d2d874ee4"/>
          <a:stretch xmlns:a="http://schemas.openxmlformats.org/drawingml/2006/main">
            <a:fillRect l="0" t="0" r="0" b="0"/>
          </a:stretch>
        </p:blipFill>
        <p:spPr>
          <a:xfrm xmlns:a="http://schemas.openxmlformats.org/drawingml/2006/main">
            <a:off x="292608" y="210312"/>
            <a:ext cx="2423160" cy="60350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3C8B3D6C-B253-4FF7-9ACE-C9C1226C9F00}"/>
              </a:ext>
            </a:extLst>
          </p:cNvPr>
          <p:cNvSpPr>
            <a:spLocks xmlns:a="http://schemas.openxmlformats.org/drawingml/2006/main" noGrp="1"/>
          </p:cNvSpPr>
          <p:nvPr/>
        </p:nvSpPr>
        <p:spPr>
          <a:xfrm xmlns:a="http://schemas.openxmlformats.org/drawingml/2006/main">
            <a:off x="2971800" y="22860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CHECKLIST TỰ ĐÁNH GIÁ TRƯỚC KHI NỘP</a:t>
            </a:r>
            <a:endParaRPr sz="1800"/>
          </a:p>
        </p:txBody>
      </p:sp>
      <p:sp>
        <p:nvSpPr>
          <p:cNvPr id="31" name="Shape 27">
            <a:extLst xmlns:a="http://schemas.openxmlformats.org/drawingml/2006/main">
              <a:ext uri="{FF2B5EF4-FFF2-40B4-BE49-F238E27FC236}">
                <a16:creationId xmlns:a16="http://schemas.microsoft.com/office/drawing/2014/main" id="{4B2FEE6C-E748-43BA-8541-D0C996F4452A}"/>
              </a:ext>
            </a:extLst>
          </p:cNvPr>
          <p:cNvSpPr>
            <a:spLocks xmlns:a="http://schemas.openxmlformats.org/drawingml/2006/main" noGrp="1"/>
          </p:cNvSpPr>
          <p:nvPr/>
        </p:nvSpPr>
        <p:spPr>
          <a:xfrm xmlns:a="http://schemas.openxmlformats.org/drawingml/2006/main">
            <a:off x="270630" y="5869214"/>
            <a:ext cx="10424160" cy="731520"/>
          </a:xfrm>
          <a:prstGeom xmlns:a="http://schemas.openxmlformats.org/drawingml/2006/main" prst="roundRect">
            <a:avLst>
              <a:gd name="adj" fmla="val 10000"/>
            </a:avLst>
          </a:prstGeom>
          <a:noFill xmlns:a="http://schemas.openxmlformats.org/drawingml/2006/main"/>
          <a:ln xmlns:a="http://schemas.openxmlformats.org/drawingml/2006/main" w="10160">
            <a:no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9">
            <a:extLst xmlns:a="http://schemas.openxmlformats.org/drawingml/2006/main">
              <a:ext uri="{FF2B5EF4-FFF2-40B4-BE49-F238E27FC236}">
                <a16:creationId xmlns:a16="http://schemas.microsoft.com/office/drawing/2014/main" id="{703CF707-D563-4209-BD44-6D81670FECEA}"/>
              </a:ext>
            </a:extLst>
          </p:cNvPr>
          <p:cNvSpPr>
            <a:spLocks xmlns:a="http://schemas.openxmlformats.org/drawingml/2006/main" noGrp="1"/>
          </p:cNvSpPr>
          <p:nvPr/>
        </p:nvSpPr>
        <p:spPr>
          <a:xfrm xmlns:a="http://schemas.openxmlformats.org/drawingml/2006/main">
            <a:off x="495300" y="6038850"/>
            <a:ext cx="1066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52C79F75-DA4E-43A4-B777-8E328C0FEC3F}"/>
              </a:ext>
            </a:extLst>
          </p:cNvPr>
          <p:cNvSpPr>
            <a:spLocks xmlns:a="http://schemas.openxmlformats.org/drawingml/2006/main" noGrp="1"/>
          </p:cNvSpPr>
          <p:nvPr/>
        </p:nvSpPr>
        <p:spPr>
          <a:xfrm xmlns:a="http://schemas.openxmlformats.org/drawingml/2006/main">
            <a:off x="495300" y="6334125"/>
            <a:ext cx="1066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00" b="0">
                <a:solidFill>
                  <a:srgbClr val="FFFFFF"/>
                </a:solidFill>
                <a:latin typeface="Arial"/>
                <a:ea typeface="Arial"/>
                <a:cs typeface="Arial"/>
              </a:defRPr>
            </a:pPr>
            <a:r>
              <a:rPr sz="1200" b="0">
                <a:solidFill>
                  <a:srgbClr val="FFFFFF"/>
                </a:solidFill>
                <a:latin typeface="Arial"/>
                <a:ea typeface="Arial"/>
                <a:cs typeface="Arial"/>
              </a:rPr>
              <a:t>Chọn dữ liệu có ích, kiểm cả kỹ năng và tổng công, giữ bằng chứng cho mỗi quyết định.</a:t>
            </a:r>
            <a:endParaRPr sz="950">
              <a:solidFill>
                <a:schemeClr val="bg1"/>
              </a:solidFill>
              <a:latin typeface="Arial"/>
              <a:ea typeface="Arial"/>
              <a:cs typeface="Arial"/>
            </a:endParaRPr>
          </a:p>
        </p:txBody>
      </p:sp>
      <p:sp>
        <p:nvSpPr>
          <p:cNvPr id="35" name="Shape 31">
            <a:extLst xmlns:a="http://schemas.openxmlformats.org/drawingml/2006/main">
              <a:ext uri="{FF2B5EF4-FFF2-40B4-BE49-F238E27FC236}">
                <a16:creationId xmlns:a16="http://schemas.microsoft.com/office/drawing/2014/main" id="{3F8018F7-C36D-41EA-AA7F-4ECDA4D68B76}"/>
              </a:ext>
            </a:extLst>
          </p:cNvPr>
          <p:cNvSpPr>
            <a:spLocks xmlns:a="http://schemas.openxmlformats.org/drawingml/2006/main" noGrp="1"/>
          </p:cNvSpPr>
          <p:nvPr/>
        </p:nvSpPr>
        <p:spPr>
          <a:xfrm xmlns:a="http://schemas.openxmlformats.org/drawingml/2006/main">
            <a:off x="411480" y="5972175"/>
            <a:ext cx="11384280" cy="0"/>
          </a:xfrm>
          <a:prstGeom xmlns:a="http://schemas.openxmlformats.org/drawingml/2006/main" prst="line">
            <a:avLst/>
          </a:prstGeom>
          <a:noFill xmlns:a="http://schemas.openxmlformats.org/drawingml/2006/main"/>
          <a:ln xmlns:a="http://schemas.openxmlformats.org/drawingml/2006/main" w="8890">
            <a:solidFill>
              <a:srgbClr val="D9E2E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2">
            <a:extLst xmlns:a="http://schemas.openxmlformats.org/drawingml/2006/main">
              <a:ext uri="{FF2B5EF4-FFF2-40B4-BE49-F238E27FC236}">
                <a16:creationId xmlns:a16="http://schemas.microsoft.com/office/drawing/2014/main" id="{386B97EA-038A-4346-A4F4-32768A4FDC59}"/>
              </a:ext>
            </a:extLst>
          </p:cNvPr>
          <p:cNvSpPr>
            <a:spLocks xmlns:a="http://schemas.openxmlformats.org/drawingml/2006/main" noGrp="1"/>
          </p:cNvSpPr>
          <p:nvPr/>
        </p:nvSpPr>
        <p:spPr>
          <a:xfrm xmlns:a="http://schemas.openxmlformats.org/drawingml/2006/main">
            <a:off x="457200" y="6556248"/>
            <a:ext cx="7772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A869A"/>
                </a:solidFill>
                <a:latin typeface="Arial"/>
                <a:ea typeface="Arial"/>
                <a:cs typeface="Arial"/>
              </a:rPr>
              <a:t>DENSO Factory Hacks 2026  |  Submission Template</a:t>
            </a:r>
            <a:endParaRPr sz="720"/>
          </a:p>
        </p:txBody>
      </p:sp>
      <p:graphicFrame>
        <p:nvGraphicFramePr>
          <p:cNvPr id="50" name="Table 40">
            <a:extLst xmlns:a="http://schemas.openxmlformats.org/drawingml/2006/main">
              <a:ext uri="{FF2B5EF4-FFF2-40B4-BE49-F238E27FC236}">
                <a16:creationId xmlns:a16="http://schemas.microsoft.com/office/drawing/2014/main" id="{1BE08452-1800-40BB-BED5-84F9FCAB574D}"/>
              </a:ext>
            </a:extLst>
          </p:cNvPr>
          <p:cNvGraphicFramePr/>
          <p:nvPr/>
        </p:nvGraphicFramePr>
        <p:xfrm>
          <a:off xmlns:a="http://schemas.openxmlformats.org/drawingml/2006/main" x="533701" y="2444877"/>
          <a:ext xmlns:a="http://schemas.openxmlformats.org/drawingml/2006/main" cx="10992499" cy="2938909"/>
        </p:xfrm>
        <a:graphic xmlns:a="http://schemas.openxmlformats.org/drawingml/2006/main">
          <a:graphicData uri="http://schemas.openxmlformats.org/drawingml/2006/table">
            <a:tbl>
              <a:tblPr firstRow="1" bandRow="1">
                <a:tableStyleId>{5C22544A-7EE6-4342-B048-85BDC9FD1C3A}</a:tableStyleId>
              </a:tblPr>
              <a:tblGrid>
                <a:gridCol w="5238999"/>
                <a:gridCol w="5753500"/>
              </a:tblGrid>
              <a:tr h="275792">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CÂU HỎI</a:t>
                      </a:r>
                    </a:p>
                  </a:txBody>
                  <a:tcPr marL="91440" marR="91440" marT="45720" marB="45720" anchor="ctr">
                    <a:lnB w="12700">
                      <a:solidFill>
                        <a:schemeClr val="tx1"/>
                      </a:solidFill>
                    </a:lnB>
                    <a:solidFill>
                      <a:schemeClr val="accent5">
                        <a:lumMod val="50000"/>
                      </a:schemeClr>
                    </a:solidFill>
                  </a:tcPr>
                </a:tc>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TRẢ LỜI</a:t>
                      </a:r>
                    </a:p>
                  </a:txBody>
                  <a:tcPr marL="91440" marR="91440" marT="45720" marB="45720" anchor="ctr">
                    <a:lnB w="12700">
                      <a:solidFill>
                        <a:schemeClr val="tx1"/>
                      </a:solidFill>
                    </a:lnB>
                    <a:solidFill>
                      <a:schemeClr val="accent5">
                        <a:lumMod val="50000"/>
                      </a:schemeClr>
                    </a:solidFill>
                  </a:tcPr>
                </a:tc>
              </a:tr>
              <a:tr h="430925">
                <a:tc>
                  <a:txBody>
                    <a:bodyPr wrap="square" lIns="76200" tIns="38100" rIns="76200" bIns="38100"/>
                    <a:lstStyle/>
                    <a:p>
                      <a:pPr>
                        <a:lnSpc>
                          <a:spcPts val="1500"/>
                        </a:lnSpc>
                        <a:buNone/>
                      </a:pPr>
                      <a:r>
                        <a:rPr sz="1200" b="0" i="0">
                          <a:solidFill>
                            <a:srgbClr val="153251"/>
                          </a:solidFill>
                          <a:latin typeface="Arial"/>
                          <a:ea typeface="Arial"/>
                          <a:cs typeface="Arial"/>
                        </a:rPr>
                        <a:t>1. </a:t>
                      </a:r>
                      <a:r>
                        <a:rPr sz="1200" b="0" i="0">
                          <a:solidFill>
                            <a:srgbClr val="153251"/>
                          </a:solidFill>
                          <a:latin typeface="Arial"/>
                          <a:ea typeface="Arial"/>
                          <a:cs typeface="Arial"/>
                        </a:rPr>
                        <a:t>Trình</a:t>
                      </a:r>
                      <a:r>
                        <a:rPr sz="1200" b="0" i="0">
                          <a:solidFill>
                            <a:srgbClr val="153251"/>
                          </a:solidFill>
                          <a:latin typeface="Arial"/>
                          <a:ea typeface="Arial"/>
                          <a:cs typeface="Arial"/>
                        </a:rPr>
                        <a:t> </a:t>
                      </a:r>
                      <a:r>
                        <a:rPr sz="1200" b="0" i="0">
                          <a:solidFill>
                            <a:srgbClr val="153251"/>
                          </a:solidFill>
                          <a:latin typeface="Arial"/>
                          <a:ea typeface="Arial"/>
                          <a:cs typeface="Arial"/>
                        </a:rPr>
                        <a:t>bày</a:t>
                      </a:r>
                      <a:r>
                        <a:rPr sz="1200" b="0" i="0">
                          <a:solidFill>
                            <a:srgbClr val="153251"/>
                          </a:solidFill>
                          <a:latin typeface="Arial"/>
                          <a:ea typeface="Arial"/>
                          <a:cs typeface="Arial"/>
                        </a:rPr>
                        <a:t> </a:t>
                      </a:r>
                      <a:r>
                        <a:rPr sz="1200" b="0" i="0">
                          <a:solidFill>
                            <a:srgbClr val="153251"/>
                          </a:solidFill>
                          <a:latin typeface="Arial"/>
                          <a:ea typeface="Arial"/>
                          <a:cs typeface="Arial"/>
                        </a:rPr>
                        <a:t>điểm</a:t>
                      </a:r>
                      <a:r>
                        <a:rPr sz="1200" b="0" i="0">
                          <a:solidFill>
                            <a:srgbClr val="153251"/>
                          </a:solidFill>
                          <a:latin typeface="Arial"/>
                          <a:ea typeface="Arial"/>
                          <a:cs typeface="Arial"/>
                        </a:rPr>
                        <a:t> </a:t>
                      </a:r>
                      <a:r>
                        <a:rPr sz="1200" b="0" i="0">
                          <a:solidFill>
                            <a:srgbClr val="153251"/>
                          </a:solidFill>
                          <a:latin typeface="Arial"/>
                          <a:ea typeface="Arial"/>
                          <a:cs typeface="Arial"/>
                        </a:rPr>
                        <a:t>mới</a:t>
                      </a:r>
                      <a:r>
                        <a:rPr sz="1200" b="0" i="0">
                          <a:solidFill>
                            <a:srgbClr val="153251"/>
                          </a:solidFill>
                          <a:latin typeface="Arial"/>
                          <a:ea typeface="Arial"/>
                          <a:cs typeface="Arial"/>
                        </a:rPr>
                        <a:t>, </a:t>
                      </a:r>
                      <a:r>
                        <a:rPr sz="1200" b="0" i="0">
                          <a:solidFill>
                            <a:srgbClr val="153251"/>
                          </a:solidFill>
                          <a:latin typeface="Arial"/>
                          <a:ea typeface="Arial"/>
                          <a:cs typeface="Arial"/>
                        </a:rPr>
                        <a:t>đột</a:t>
                      </a:r>
                      <a:r>
                        <a:rPr sz="1200" b="0" i="0">
                          <a:solidFill>
                            <a:srgbClr val="153251"/>
                          </a:solidFill>
                          <a:latin typeface="Arial"/>
                          <a:ea typeface="Arial"/>
                          <a:cs typeface="Arial"/>
                        </a:rPr>
                        <a:t> </a:t>
                      </a:r>
                      <a:r>
                        <a:rPr sz="1200" b="0" i="0">
                          <a:solidFill>
                            <a:srgbClr val="153251"/>
                          </a:solidFill>
                          <a:latin typeface="Arial"/>
                          <a:ea typeface="Arial"/>
                          <a:cs typeface="Arial"/>
                        </a:rPr>
                        <a:t>phá</a:t>
                      </a:r>
                      <a:r>
                        <a:rPr sz="1200" b="0" i="0">
                          <a:solidFill>
                            <a:srgbClr val="153251"/>
                          </a:solidFill>
                          <a:latin typeface="Arial"/>
                          <a:ea typeface="Arial"/>
                          <a:cs typeface="Arial"/>
                        </a:rPr>
                        <a:t> so </a:t>
                      </a:r>
                      <a:r>
                        <a:rPr sz="1200" b="0" i="0">
                          <a:solidFill>
                            <a:srgbClr val="153251"/>
                          </a:solidFill>
                          <a:latin typeface="Arial"/>
                          <a:ea typeface="Arial"/>
                          <a:cs typeface="Arial"/>
                        </a:rPr>
                        <a:t>với</a:t>
                      </a:r>
                      <a:r>
                        <a:rPr sz="1200" b="0" i="0">
                          <a:solidFill>
                            <a:srgbClr val="153251"/>
                          </a:solidFill>
                          <a:latin typeface="Arial"/>
                          <a:ea typeface="Arial"/>
                          <a:cs typeface="Arial"/>
                        </a:rPr>
                        <a:t> </a:t>
                      </a:r>
                      <a:r>
                        <a:rPr sz="1200" b="0" i="0">
                          <a:solidFill>
                            <a:srgbClr val="153251"/>
                          </a:solidFill>
                          <a:latin typeface="Arial"/>
                          <a:ea typeface="Arial"/>
                          <a:cs typeface="Arial"/>
                        </a:rPr>
                        <a:t>các</a:t>
                      </a:r>
                      <a:r>
                        <a:rPr sz="1200" b="0" i="0">
                          <a:solidFill>
                            <a:srgbClr val="153251"/>
                          </a:solidFill>
                          <a:latin typeface="Arial"/>
                          <a:ea typeface="Arial"/>
                          <a:cs typeface="Arial"/>
                        </a:rPr>
                        <a:t> </a:t>
                      </a:r>
                      <a:r>
                        <a:rPr sz="1200" b="0" i="0">
                          <a:solidFill>
                            <a:srgbClr val="153251"/>
                          </a:solidFill>
                          <a:latin typeface="Arial"/>
                          <a:ea typeface="Arial"/>
                          <a:cs typeface="Arial"/>
                        </a:rPr>
                        <a:t>giải</a:t>
                      </a:r>
                      <a:r>
                        <a:rPr sz="1200" b="0" i="0">
                          <a:solidFill>
                            <a:srgbClr val="153251"/>
                          </a:solidFill>
                          <a:latin typeface="Arial"/>
                          <a:ea typeface="Arial"/>
                          <a:cs typeface="Arial"/>
                        </a:rPr>
                        <a:t> </a:t>
                      </a:r>
                      <a:r>
                        <a:rPr sz="1200" b="0" i="0">
                          <a:solidFill>
                            <a:srgbClr val="153251"/>
                          </a:solidFill>
                          <a:latin typeface="Arial"/>
                          <a:ea typeface="Arial"/>
                          <a:cs typeface="Arial"/>
                        </a:rPr>
                        <a:t>pháp</a:t>
                      </a:r>
                      <a:r>
                        <a:rPr sz="1200" b="0" i="0">
                          <a:solidFill>
                            <a:srgbClr val="153251"/>
                          </a:solidFill>
                          <a:latin typeface="Arial"/>
                          <a:ea typeface="Arial"/>
                          <a:cs typeface="Arial"/>
                        </a:rPr>
                        <a:t> </a:t>
                      </a:r>
                      <a:r>
                        <a:rPr sz="1200" b="0" i="0">
                          <a:solidFill>
                            <a:srgbClr val="153251"/>
                          </a:solidFill>
                          <a:latin typeface="Arial"/>
                          <a:ea typeface="Arial"/>
                          <a:cs typeface="Arial"/>
                        </a:rPr>
                        <a:t>truyền</a:t>
                      </a:r>
                      <a:r>
                        <a:rPr sz="1200" b="0" i="0">
                          <a:solidFill>
                            <a:srgbClr val="153251"/>
                          </a:solidFill>
                          <a:latin typeface="Arial"/>
                          <a:ea typeface="Arial"/>
                          <a:cs typeface="Arial"/>
                        </a:rPr>
                        <a:t> </a:t>
                      </a:r>
                      <a:r>
                        <a:rPr sz="1200" b="0" i="0">
                          <a:solidFill>
                            <a:srgbClr val="153251"/>
                          </a:solidFill>
                          <a:latin typeface="Arial"/>
                          <a:ea typeface="Arial"/>
                          <a:cs typeface="Arial"/>
                        </a:rPr>
                        <a:t>thống</a:t>
                      </a:r>
                      <a:r>
                        <a:rPr sz="1200" b="0" i="0">
                          <a:solidFill>
                            <a:srgbClr val="153251"/>
                          </a:solidFill>
                          <a:latin typeface="Arial"/>
                          <a:ea typeface="Arial"/>
                          <a:cs typeface="Arial"/>
                        </a:rPr>
                        <a:t>?</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Data quyết định từ trace, QA/lineage và cost gate. Lợi ích riêng cần đối chứng.</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30925">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2. </a:t>
                      </a:r>
                      <a:r>
                        <a:rPr sz="1200" b="0" i="0">
                          <a:solidFill>
                            <a:srgbClr val="153251"/>
                          </a:solidFill>
                          <a:latin typeface="Arial"/>
                          <a:ea typeface="Arial"/>
                          <a:cs typeface="Arial"/>
                        </a:rPr>
                        <a:t>Ý tưởng này đang giải quyết vấn đề gì</a:t>
                      </a:r>
                      <a:r>
                        <a:rPr sz="1200" b="0" i="0">
                          <a:solidFill>
                            <a:srgbClr val="153251"/>
                          </a:solidFill>
                          <a:latin typeface="Arial"/>
                          <a:ea typeface="Arial"/>
                          <a:cs typeface="Arial"/>
                        </a:rPr>
                        <a:t> </a:t>
                      </a:r>
                      <a:r>
                        <a:rPr sz="1200" b="0" i="0">
                          <a:solidFill>
                            <a:srgbClr val="153251"/>
                          </a:solidFill>
                          <a:latin typeface="Arial"/>
                          <a:ea typeface="Arial"/>
                          <a:cs typeface="Arial"/>
                        </a:rPr>
                        <a:t>tại</a:t>
                      </a:r>
                      <a:r>
                        <a:rPr sz="1200" b="0" i="0">
                          <a:solidFill>
                            <a:srgbClr val="153251"/>
                          </a:solidFill>
                          <a:latin typeface="Arial"/>
                          <a:ea typeface="Arial"/>
                          <a:cs typeface="Arial"/>
                        </a:rPr>
                        <a:t> Denso</a:t>
                      </a:r>
                      <a:r>
                        <a:rPr sz="1200" b="0" i="0">
                          <a:solidFill>
                            <a:srgbClr val="153251"/>
                          </a:solidFill>
                          <a:latin typeface="Arial"/>
                          <a:ea typeface="Arial"/>
                          <a:cs typeface="Arial"/>
                        </a:rPr>
                        <a:t>? </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Giảm công phát triển skill. Hiện trạng DENSO cần task owner xác nhận.</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05069">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3. Phương </a:t>
                      </a:r>
                      <a:r>
                        <a:rPr sz="1200" b="0" i="0">
                          <a:solidFill>
                            <a:srgbClr val="153251"/>
                          </a:solidFill>
                          <a:latin typeface="Arial"/>
                          <a:ea typeface="Arial"/>
                          <a:cs typeface="Arial"/>
                        </a:rPr>
                        <a:t>pháp</a:t>
                      </a:r>
                      <a:r>
                        <a:rPr sz="1200" b="0" i="0">
                          <a:solidFill>
                            <a:srgbClr val="153251"/>
                          </a:solidFill>
                          <a:latin typeface="Arial"/>
                          <a:ea typeface="Arial"/>
                          <a:cs typeface="Arial"/>
                        </a:rPr>
                        <a:t>/</a:t>
                      </a:r>
                      <a:r>
                        <a:rPr sz="1200" b="0" i="0">
                          <a:solidFill>
                            <a:srgbClr val="153251"/>
                          </a:solidFill>
                          <a:latin typeface="Arial"/>
                          <a:ea typeface="Arial"/>
                          <a:cs typeface="Arial"/>
                        </a:rPr>
                        <a:t>công</a:t>
                      </a:r>
                      <a:r>
                        <a:rPr sz="1200" b="0" i="0">
                          <a:solidFill>
                            <a:srgbClr val="153251"/>
                          </a:solidFill>
                          <a:latin typeface="Arial"/>
                          <a:ea typeface="Arial"/>
                          <a:cs typeface="Arial"/>
                        </a:rPr>
                        <a:t> </a:t>
                      </a:r>
                      <a:r>
                        <a:rPr sz="1200" b="0" i="0">
                          <a:solidFill>
                            <a:srgbClr val="153251"/>
                          </a:solidFill>
                          <a:latin typeface="Arial"/>
                          <a:ea typeface="Arial"/>
                          <a:cs typeface="Arial"/>
                        </a:rPr>
                        <a:t>cụ</a:t>
                      </a:r>
                      <a:r>
                        <a:rPr sz="1200" b="0" i="0">
                          <a:solidFill>
                            <a:srgbClr val="153251"/>
                          </a:solidFill>
                          <a:latin typeface="Arial"/>
                          <a:ea typeface="Arial"/>
                          <a:cs typeface="Arial"/>
                        </a:rPr>
                        <a:t> </a:t>
                      </a:r>
                      <a:r>
                        <a:rPr sz="1200" b="0" i="0">
                          <a:solidFill>
                            <a:srgbClr val="153251"/>
                          </a:solidFill>
                          <a:latin typeface="Arial"/>
                          <a:ea typeface="Arial"/>
                          <a:cs typeface="Arial"/>
                        </a:rPr>
                        <a:t>áp</a:t>
                      </a:r>
                      <a:r>
                        <a:rPr sz="1200" b="0" i="0">
                          <a:solidFill>
                            <a:srgbClr val="153251"/>
                          </a:solidFill>
                          <a:latin typeface="Arial"/>
                          <a:ea typeface="Arial"/>
                          <a:cs typeface="Arial"/>
                        </a:rPr>
                        <a:t> </a:t>
                      </a:r>
                      <a:r>
                        <a:rPr sz="1200" b="0" i="0">
                          <a:solidFill>
                            <a:srgbClr val="153251"/>
                          </a:solidFill>
                          <a:latin typeface="Arial"/>
                          <a:ea typeface="Arial"/>
                          <a:cs typeface="Arial"/>
                        </a:rPr>
                        <a:t>dụng</a:t>
                      </a:r>
                      <a:r>
                        <a:rPr sz="1200" b="0" i="0">
                          <a:solidFill>
                            <a:srgbClr val="153251"/>
                          </a:solidFill>
                          <a:latin typeface="Arial"/>
                          <a:ea typeface="Arial"/>
                          <a:cs typeface="Arial"/>
                        </a:rPr>
                        <a:t> </a:t>
                      </a:r>
                      <a:r>
                        <a:rPr sz="1200" b="0" i="0">
                          <a:solidFill>
                            <a:srgbClr val="153251"/>
                          </a:solidFill>
                          <a:latin typeface="Arial"/>
                          <a:ea typeface="Arial"/>
                          <a:cs typeface="Arial"/>
                        </a:rPr>
                        <a:t>và</a:t>
                      </a:r>
                      <a:r>
                        <a:rPr sz="1200" b="0" i="0">
                          <a:solidFill>
                            <a:srgbClr val="153251"/>
                          </a:solidFill>
                          <a:latin typeface="Arial"/>
                          <a:ea typeface="Arial"/>
                          <a:cs typeface="Arial"/>
                        </a:rPr>
                        <a:t> </a:t>
                      </a:r>
                      <a:r>
                        <a:rPr sz="1200" b="0" i="0">
                          <a:solidFill>
                            <a:srgbClr val="153251"/>
                          </a:solidFill>
                          <a:latin typeface="Arial"/>
                          <a:ea typeface="Arial"/>
                          <a:cs typeface="Arial"/>
                        </a:rPr>
                        <a:t>thời</a:t>
                      </a:r>
                      <a:r>
                        <a:rPr sz="1200" b="0" i="0">
                          <a:solidFill>
                            <a:srgbClr val="153251"/>
                          </a:solidFill>
                          <a:latin typeface="Arial"/>
                          <a:ea typeface="Arial"/>
                          <a:cs typeface="Arial"/>
                        </a:rPr>
                        <a:t> </a:t>
                      </a:r>
                      <a:r>
                        <a:rPr sz="1200" b="0" i="0">
                          <a:solidFill>
                            <a:srgbClr val="153251"/>
                          </a:solidFill>
                          <a:latin typeface="Arial"/>
                          <a:ea typeface="Arial"/>
                          <a:cs typeface="Arial"/>
                        </a:rPr>
                        <a:t>gian</a:t>
                      </a:r>
                      <a:r>
                        <a:rPr sz="1200" b="0" i="0">
                          <a:solidFill>
                            <a:srgbClr val="153251"/>
                          </a:solidFill>
                          <a:latin typeface="Arial"/>
                          <a:ea typeface="Arial"/>
                          <a:cs typeface="Arial"/>
                        </a:rPr>
                        <a:t> </a:t>
                      </a:r>
                      <a:r>
                        <a:rPr sz="1200" b="0" i="0">
                          <a:solidFill>
                            <a:srgbClr val="153251"/>
                          </a:solidFill>
                          <a:latin typeface="Arial"/>
                          <a:ea typeface="Arial"/>
                          <a:cs typeface="Arial"/>
                        </a:rPr>
                        <a:t>thực</a:t>
                      </a:r>
                      <a:r>
                        <a:rPr sz="1200" b="0" i="0">
                          <a:solidFill>
                            <a:srgbClr val="153251"/>
                          </a:solidFill>
                          <a:latin typeface="Arial"/>
                          <a:ea typeface="Arial"/>
                          <a:cs typeface="Arial"/>
                        </a:rPr>
                        <a:t> </a:t>
                      </a:r>
                      <a:r>
                        <a:rPr sz="1200" b="0" i="0">
                          <a:solidFill>
                            <a:srgbClr val="153251"/>
                          </a:solidFill>
                          <a:latin typeface="Arial"/>
                          <a:ea typeface="Arial"/>
                          <a:cs typeface="Arial"/>
                        </a:rPr>
                        <a:t>hiện</a:t>
                      </a:r>
                      <a:r>
                        <a:rPr sz="1200" b="0" i="0">
                          <a:solidFill>
                            <a:srgbClr val="153251"/>
                          </a:solidFill>
                          <a:latin typeface="Arial"/>
                          <a:ea typeface="Arial"/>
                          <a:cs typeface="Arial"/>
                        </a:rPr>
                        <a:t> </a:t>
                      </a:r>
                      <a:r>
                        <a:rPr sz="1200" b="0" i="0">
                          <a:solidFill>
                            <a:srgbClr val="153251"/>
                          </a:solidFill>
                          <a:latin typeface="Arial"/>
                          <a:ea typeface="Arial"/>
                          <a:cs typeface="Arial"/>
                        </a:rPr>
                        <a:t>dự</a:t>
                      </a:r>
                      <a:r>
                        <a:rPr sz="1200" b="0" i="0">
                          <a:solidFill>
                            <a:srgbClr val="153251"/>
                          </a:solidFill>
                          <a:latin typeface="Arial"/>
                          <a:ea typeface="Arial"/>
                          <a:cs typeface="Arial"/>
                        </a:rPr>
                        <a:t> </a:t>
                      </a:r>
                      <a:r>
                        <a:rPr sz="1200" b="0" i="0">
                          <a:solidFill>
                            <a:srgbClr val="153251"/>
                          </a:solidFill>
                          <a:latin typeface="Arial"/>
                          <a:ea typeface="Arial"/>
                          <a:cs typeface="Arial"/>
                        </a:rPr>
                        <a:t>án</a:t>
                      </a:r>
                      <a:r>
                        <a:rPr sz="1200" b="0" i="0">
                          <a:solidFill>
                            <a:srgbClr val="153251"/>
                          </a:solidFill>
                          <a:latin typeface="Arial"/>
                          <a:ea typeface="Arial"/>
                          <a:cs typeface="Arial"/>
                        </a:rPr>
                        <a:t>?</a:t>
                      </a:r>
                      <a:endParaRPr sz="1100" b="0" i="0" kern="1200">
                        <a:solidFill>
                          <a:schemeClr val="dk1"/>
                        </a:solidFill>
                        <a:latin typeface="Segoe UI"/>
                        <a:ea typeface="Segoe UI"/>
                        <a:cs typeface="Segoe UI"/>
                      </a:endParaRP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FluxVLA / GR00T N1.5, R rồi R+S_exec. Planning 8–12 tuần có gate.</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13688">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4. </a:t>
                      </a:r>
                      <a:r>
                        <a:rPr sz="1200" b="0" i="0">
                          <a:solidFill>
                            <a:srgbClr val="153251"/>
                          </a:solidFill>
                          <a:latin typeface="Arial"/>
                          <a:ea typeface="Arial"/>
                          <a:cs typeface="Arial"/>
                        </a:rPr>
                        <a:t>Ý tưởng này mang lại hiệu quả gì?</a:t>
                      </a:r>
                      <a:r>
                        <a:rPr sz="1200" b="0" i="0">
                          <a:solidFill>
                            <a:srgbClr val="153251"/>
                          </a:solidFill>
                          <a:latin typeface="Arial"/>
                          <a:ea typeface="Arial"/>
                          <a:cs typeface="Arial"/>
                        </a:rPr>
                        <a:t> Cho </a:t>
                      </a:r>
                      <a:r>
                        <a:rPr sz="1200" b="0" i="0">
                          <a:solidFill>
                            <a:srgbClr val="153251"/>
                          </a:solidFill>
                          <a:latin typeface="Arial"/>
                          <a:ea typeface="Arial"/>
                          <a:cs typeface="Arial"/>
                        </a:rPr>
                        <a:t>số</a:t>
                      </a:r>
                      <a:r>
                        <a:rPr sz="1200" b="0" i="0">
                          <a:solidFill>
                            <a:srgbClr val="153251"/>
                          </a:solidFill>
                          <a:latin typeface="Arial"/>
                          <a:ea typeface="Arial"/>
                          <a:cs typeface="Arial"/>
                        </a:rPr>
                        <a:t> </a:t>
                      </a:r>
                      <a:r>
                        <a:rPr sz="1200" b="0" i="0">
                          <a:solidFill>
                            <a:srgbClr val="153251"/>
                          </a:solidFill>
                          <a:latin typeface="Arial"/>
                          <a:ea typeface="Arial"/>
                          <a:cs typeface="Arial"/>
                        </a:rPr>
                        <a:t>liệu</a:t>
                      </a:r>
                      <a:r>
                        <a:rPr sz="1200" b="0" i="0">
                          <a:solidFill>
                            <a:srgbClr val="153251"/>
                          </a:solidFill>
                          <a:latin typeface="Arial"/>
                          <a:ea typeface="Arial"/>
                          <a:cs typeface="Arial"/>
                        </a:rPr>
                        <a:t>.</a:t>
                      </a:r>
                      <a:endParaRPr sz="1100" b="0" i="0" kern="1200">
                        <a:solidFill>
                          <a:schemeClr val="tx1"/>
                        </a:solidFill>
                        <a:latin typeface="Segoe UI"/>
                        <a:ea typeface="Segoe UI"/>
                        <a:cs typeface="Segoe UI"/>
                      </a:endParaRP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Ngân sách giả định 5.187,20 USD. Native quality, saving và ROI chưa đo.</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74018">
                <a:tc>
                  <a:txBody>
                    <a:bodyPr wrap="square" lIns="76200" tIns="38100" rIns="76200" bIns="38100"/>
                    <a:lstStyle/>
                    <a:p>
                      <a:pPr marL="0" algn="l">
                        <a:lnSpc>
                          <a:spcPts val="1500"/>
                        </a:lnSpc>
                        <a:buNone/>
                      </a:pPr>
                      <a:r>
                        <a:rPr sz="1200" b="0" i="0">
                          <a:solidFill>
                            <a:srgbClr val="153251"/>
                          </a:solidFill>
                          <a:latin typeface="Arial"/>
                          <a:ea typeface="Arial"/>
                          <a:cs typeface="Arial"/>
                        </a:rPr>
                        <a:t>5. </a:t>
                      </a:r>
                      <a:r>
                        <a:rPr sz="1200" b="0" i="0">
                          <a:solidFill>
                            <a:srgbClr val="153251"/>
                          </a:solidFill>
                          <a:latin typeface="Arial"/>
                          <a:ea typeface="Arial"/>
                          <a:cs typeface="Arial"/>
                        </a:rPr>
                        <a:t> Khả năng mở rộng, triển khai ngang của dự án là gì (trong nội bộ Denso hoặc các nhà máy khác)? </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Task 2 cùng robot để đo reuse. Robot mới cần binding và nghiệm thu riêng.</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08492">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6. </a:t>
                      </a:r>
                      <a:r>
                        <a:rPr sz="1200" b="0" i="0">
                          <a:solidFill>
                            <a:srgbClr val="153251"/>
                          </a:solidFill>
                          <a:latin typeface="Arial"/>
                          <a:ea typeface="Arial"/>
                          <a:cs typeface="Arial"/>
                        </a:rPr>
                        <a:t>Nhóm đã có những kiến thức hoặc kinh nghiệm nào giúp </a:t>
                      </a:r>
                      <a:r>
                        <a:rPr sz="1200" b="0" i="0">
                          <a:solidFill>
                            <a:srgbClr val="153251"/>
                          </a:solidFill>
                          <a:latin typeface="Arial"/>
                          <a:ea typeface="Arial"/>
                          <a:cs typeface="Arial"/>
                        </a:rPr>
                        <a:t>thực</a:t>
                      </a:r>
                      <a:r>
                        <a:rPr sz="1200" b="0" i="0">
                          <a:solidFill>
                            <a:srgbClr val="153251"/>
                          </a:solidFill>
                          <a:latin typeface="Arial"/>
                          <a:ea typeface="Arial"/>
                          <a:cs typeface="Arial"/>
                        </a:rPr>
                        <a:t> </a:t>
                      </a:r>
                      <a:r>
                        <a:rPr sz="1200" b="0" i="0">
                          <a:solidFill>
                            <a:srgbClr val="153251"/>
                          </a:solidFill>
                          <a:latin typeface="Arial"/>
                          <a:ea typeface="Arial"/>
                          <a:cs typeface="Arial"/>
                        </a:rPr>
                        <a:t>hiện</a:t>
                      </a:r>
                      <a:r>
                        <a:rPr sz="1200" b="0" i="0">
                          <a:solidFill>
                            <a:srgbClr val="153251"/>
                          </a:solidFill>
                          <a:latin typeface="Arial"/>
                          <a:ea typeface="Arial"/>
                          <a:cs typeface="Arial"/>
                        </a:rPr>
                        <a:t> </a:t>
                      </a:r>
                      <a:r>
                        <a:rPr sz="1200" b="0" i="0">
                          <a:solidFill>
                            <a:srgbClr val="153251"/>
                          </a:solidFill>
                          <a:latin typeface="Arial"/>
                          <a:ea typeface="Arial"/>
                          <a:cs typeface="Arial"/>
                        </a:rPr>
                        <a:t>giải</a:t>
                      </a:r>
                      <a:r>
                        <a:rPr sz="1200" b="0" i="0">
                          <a:solidFill>
                            <a:srgbClr val="153251"/>
                          </a:solidFill>
                          <a:latin typeface="Arial"/>
                          <a:ea typeface="Arial"/>
                          <a:cs typeface="Arial"/>
                        </a:rPr>
                        <a:t> </a:t>
                      </a:r>
                      <a:r>
                        <a:rPr sz="1200" b="0" i="0">
                          <a:solidFill>
                            <a:srgbClr val="153251"/>
                          </a:solidFill>
                          <a:latin typeface="Arial"/>
                          <a:ea typeface="Arial"/>
                          <a:cs typeface="Arial"/>
                        </a:rPr>
                        <a:t>pháp</a:t>
                      </a:r>
                      <a:r>
                        <a:rPr sz="1200" b="0" i="0">
                          <a:solidFill>
                            <a:srgbClr val="153251"/>
                          </a:solidFill>
                          <a:latin typeface="Arial"/>
                          <a:ea typeface="Arial"/>
                          <a:cs typeface="Arial"/>
                        </a:rPr>
                        <a:t>? </a:t>
                      </a:r>
                    </a:p>
                  </a:txBody>
                  <a:tcPr marL="91440" marR="91440" marT="45720" marB="45720">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c>
                  <a:txBody>
                    <a:bodyPr wrap="square" lIns="76200" tIns="38100" rIns="76200" bIns="38100"/>
                    <a:lstStyle/>
                    <a:p>
                      <a:r>
                        <a:rPr sz="1200">
                          <a:solidFill>
                            <a:srgbClr val="153251"/>
                          </a:solidFill>
                          <a:latin typeface="Arial"/>
                          <a:ea typeface="Arial"/>
                          <a:cs typeface="Arial"/>
                        </a:rPr>
                        <a:t>Cần bổ sung tên đội, thành viên, năng lực và task owner trước nộp.</a:t>
                      </a:r>
                      <a:endParaRPr sz="1000"/>
                    </a:p>
                  </a:txBody>
                  <a:tcPr marL="91440" marR="91440" marT="45720" marB="45720">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r>
            </a:tbl>
          </a:graphicData>
        </a:graphic>
      </p:graphicFrame>
      <p:sp>
        <p:nvSpPr>
          <p:cNvPr id="11" name="TextBox 10">
            <a:extLst xmlns:a="http://schemas.openxmlformats.org/drawingml/2006/main">
              <a:ext uri="{FF2B5EF4-FFF2-40B4-BE49-F238E27FC236}">
                <a16:creationId xmlns:a16="http://schemas.microsoft.com/office/drawing/2014/main" id="{348D47AE-57F8-687A-CBC0-75FCFD9999EA}"/>
              </a:ext>
            </a:extLst>
          </p:cNvPr>
          <p:cNvSpPr>
            <a:spLocks xmlns:a="http://schemas.openxmlformats.org/drawingml/2006/main" noGrp="1"/>
          </p:cNvSpPr>
          <p:nvPr/>
        </p:nvSpPr>
        <p:spPr>
          <a:xfrm xmlns:a="http://schemas.openxmlformats.org/drawingml/2006/main">
            <a:off x="409575" y="1019175"/>
            <a:ext cx="10001250" cy="388620"/>
          </a:xfrm>
          <a:prstGeom xmlns:a="http://schemas.openxmlformats.org/drawingml/2006/main" prst="rect">
            <a:avLst/>
          </a:prstGeom>
          <a:noFill xmlns:a="http://schemas.openxmlformats.org/drawingml/2006/main"/>
        </p:spPr>
        <p:txBody>
          <a:bodyPr xmlns:a="http://schemas.openxmlformats.org/drawingml/2006/main" rot="0" spcFirstLastPara="0" vert="horz" wrap="square" lIns="0" tIns="0" rIns="0" bIns="0" anchor="t">
            <a:noAutofit/>
          </a:bodyPr>
          <a:lstStyle xmlns:a="http://schemas.openxmlformats.org/drawingml/2006/main"/>
          <a:p xmlns:a="http://schemas.openxmlformats.org/drawingml/2006/main">
            <a:pPr algn="l">
              <a:buNone/>
              <a:defRPr sz="1950" b="1">
                <a:solidFill>
                  <a:srgbClr val="153251"/>
                </a:solidFill>
                <a:latin typeface="Arial"/>
                <a:ea typeface="Arial"/>
                <a:cs typeface="Arial"/>
              </a:defRPr>
            </a:pPr>
            <a:r>
              <a:rPr sz="1950" b="1">
                <a:solidFill>
                  <a:srgbClr val="153251"/>
                </a:solidFill>
                <a:latin typeface="Arial"/>
                <a:ea typeface="Arial"/>
                <a:cs typeface="Arial"/>
              </a:rPr>
              <a:t>CHỦ ĐỀ: HUMANOID &amp; ROBOT</a:t>
            </a:r>
            <a:endParaRPr sz="1000">
              <a:solidFill>
                <a:schemeClr val="dk1"/>
              </a:solidFill>
              <a:latin typeface="Segoe UI"/>
              <a:ea typeface="Segoe UI"/>
              <a:cs typeface="Segoe UI"/>
            </a:endParaRPr>
          </a:p>
        </p:txBody>
      </p:sp>
      <p:sp>
        <p:nvSpPr>
          <p:cNvPr id="13" name="Text 29">
            <a:extLst xmlns:a="http://schemas.openxmlformats.org/drawingml/2006/main">
              <a:ext uri="{FF2B5EF4-FFF2-40B4-BE49-F238E27FC236}">
                <a16:creationId xmlns:a16="http://schemas.microsoft.com/office/drawing/2014/main" id="{25E15B6E-A7C7-308A-A4B0-A746D6D3C5B1}"/>
              </a:ext>
            </a:extLst>
          </p:cNvPr>
          <p:cNvSpPr>
            <a:spLocks xmlns:a="http://schemas.openxmlformats.org/drawingml/2006/main" noGrp="1"/>
          </p:cNvSpPr>
          <p:nvPr/>
        </p:nvSpPr>
        <p:spPr>
          <a:xfrm xmlns:a="http://schemas.openxmlformats.org/drawingml/2006/main">
            <a:off x="534365" y="1543093"/>
            <a:ext cx="10012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1100" b="1">
                <a:solidFill>
                  <a:schemeClr val="dk1"/>
                </a:solidFill>
                <a:latin typeface="Segoe UI"/>
                <a:ea typeface="Segoe UI"/>
                <a:cs typeface="Segoe UI"/>
              </a:rPr>
              <a:t>Ý tưởng của nhóm thuộc chủ đề nào trong các nhóm sau?</a:t>
            </a:r>
            <a:endParaRPr sz="1100" b="1">
              <a:solidFill>
                <a:schemeClr val="dk1"/>
              </a:solidFill>
              <a:latin typeface="Segoe UI"/>
              <a:ea typeface="Segoe UI"/>
              <a:cs typeface="Segoe UI"/>
            </a:endParaRPr>
          </a:p>
        </p:txBody>
      </p:sp>
      <p:sp>
        <p:nvSpPr>
          <p:cNvPr id="14" name="Text 30">
            <a:extLst xmlns:a="http://schemas.openxmlformats.org/drawingml/2006/main">
              <a:ext uri="{FF2B5EF4-FFF2-40B4-BE49-F238E27FC236}">
                <a16:creationId xmlns:a16="http://schemas.microsoft.com/office/drawing/2014/main" id="{9AEA12A2-25BB-E01E-514F-6A1F1EA3F660}"/>
              </a:ext>
            </a:extLst>
          </p:cNvPr>
          <p:cNvSpPr>
            <a:spLocks xmlns:a="http://schemas.openxmlformats.org/drawingml/2006/main" noGrp="1"/>
          </p:cNvSpPr>
          <p:nvPr/>
        </p:nvSpPr>
        <p:spPr>
          <a:xfrm xmlns:a="http://schemas.openxmlformats.org/drawingml/2006/main">
            <a:off x="847742" y="1873192"/>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AI - Dự báo &amp; Tri thức</a:t>
            </a:r>
            <a:endParaRPr sz="1000">
              <a:solidFill>
                <a:srgbClr val="1E293B"/>
              </a:solidFill>
              <a:latin typeface="Arial"/>
              <a:ea typeface="Arial"/>
              <a:cs typeface="Arial"/>
            </a:endParaRPr>
          </a:p>
        </p:txBody>
      </p:sp>
      <p:sp>
        <p:nvSpPr>
          <p:cNvPr id="15" name="Text 30">
            <a:extLst xmlns:a="http://schemas.openxmlformats.org/drawingml/2006/main">
              <a:ext uri="{FF2B5EF4-FFF2-40B4-BE49-F238E27FC236}">
                <a16:creationId xmlns:a16="http://schemas.microsoft.com/office/drawing/2014/main" id="{4D97672C-B0A2-BBA9-5911-1896C95FA7C9}"/>
              </a:ext>
            </a:extLst>
          </p:cNvPr>
          <p:cNvSpPr>
            <a:spLocks xmlns:a="http://schemas.openxmlformats.org/drawingml/2006/main" noGrp="1"/>
          </p:cNvSpPr>
          <p:nvPr/>
        </p:nvSpPr>
        <p:spPr>
          <a:xfrm xmlns:a="http://schemas.openxmlformats.org/drawingml/2006/main">
            <a:off x="2837684" y="1868740"/>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Humanoid &amp; Robot</a:t>
            </a:r>
            <a:endParaRPr sz="1000">
              <a:solidFill>
                <a:srgbClr val="1E293B"/>
              </a:solidFill>
              <a:latin typeface="Arial"/>
              <a:ea typeface="Arial"/>
              <a:cs typeface="Arial"/>
            </a:endParaRPr>
          </a:p>
        </p:txBody>
      </p:sp>
      <p:sp>
        <p:nvSpPr>
          <p:cNvPr id="16" name="Text 30">
            <a:extLst xmlns:a="http://schemas.openxmlformats.org/drawingml/2006/main">
              <a:ext uri="{FF2B5EF4-FFF2-40B4-BE49-F238E27FC236}">
                <a16:creationId xmlns:a16="http://schemas.microsoft.com/office/drawing/2014/main" id="{A4AED8C6-3272-F355-D7B8-869D77C106D4}"/>
              </a:ext>
            </a:extLst>
          </p:cNvPr>
          <p:cNvSpPr>
            <a:spLocks xmlns:a="http://schemas.openxmlformats.org/drawingml/2006/main" noGrp="1"/>
          </p:cNvSpPr>
          <p:nvPr/>
        </p:nvSpPr>
        <p:spPr>
          <a:xfrm xmlns:a="http://schemas.openxmlformats.org/drawingml/2006/main">
            <a:off x="4944071" y="1877816"/>
            <a:ext cx="1804758" cy="859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Data - Chuẩn hóa &amp; Khai thác</a:t>
            </a:r>
            <a:endParaRPr sz="1000">
              <a:solidFill>
                <a:srgbClr val="1E293B"/>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6F20411B-B2D9-55D7-722A-6EB4D6330013}"/>
              </a:ext>
            </a:extLst>
          </p:cNvPr>
          <p:cNvSpPr>
            <a:spLocks xmlns:a="http://schemas.openxmlformats.org/drawingml/2006/main" noGrp="1"/>
          </p:cNvSpPr>
          <p:nvPr/>
        </p:nvSpPr>
        <p:spPr>
          <a:xfrm xmlns:a="http://schemas.openxmlformats.org/drawingml/2006/main">
            <a:off x="644238" y="1873192"/>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D796DE39-E33D-7996-C1FA-B4CD2F89DAEC}"/>
              </a:ext>
            </a:extLst>
          </p:cNvPr>
          <p:cNvSpPr>
            <a:spLocks xmlns:a="http://schemas.openxmlformats.org/drawingml/2006/main" noGrp="1"/>
          </p:cNvSpPr>
          <p:nvPr/>
        </p:nvSpPr>
        <p:spPr>
          <a:xfrm xmlns:a="http://schemas.openxmlformats.org/drawingml/2006/main">
            <a:off x="2616202" y="1868574"/>
            <a:ext cx="144882" cy="90523"/>
          </a:xfrm>
          <a:prstGeom xmlns:a="http://schemas.openxmlformats.org/drawingml/2006/main" prst="rect">
            <a:avLst/>
          </a:prstGeom>
          <a:solidFill xmlns:a="http://schemas.openxmlformats.org/drawingml/2006/main">
            <a:srgbClr val="30D158"/>
          </a:solidFill>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E1310F5-42A6-B302-EE06-21793C461251}"/>
              </a:ext>
            </a:extLst>
          </p:cNvPr>
          <p:cNvSpPr>
            <a:spLocks xmlns:a="http://schemas.openxmlformats.org/drawingml/2006/main" noGrp="1"/>
          </p:cNvSpPr>
          <p:nvPr/>
        </p:nvSpPr>
        <p:spPr>
          <a:xfrm xmlns:a="http://schemas.openxmlformats.org/drawingml/2006/main">
            <a:off x="4749805" y="1868576"/>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9" name="Shape 28">
            <a:extLst xmlns:a="http://schemas.openxmlformats.org/drawingml/2006/main">
              <a:ext uri="{FF2B5EF4-FFF2-40B4-BE49-F238E27FC236}">
                <a16:creationId xmlns:a16="http://schemas.microsoft.com/office/drawing/2014/main" id="{1FDDD6C1-3C1C-4899-6C67-E2AC5AD563DD}"/>
              </a:ext>
            </a:extLst>
          </p:cNvPr>
          <p:cNvSpPr>
            <a:spLocks xmlns:a="http://schemas.openxmlformats.org/drawingml/2006/main" noGrp="1"/>
          </p:cNvSpPr>
          <p:nvPr/>
        </p:nvSpPr>
        <p:spPr>
          <a:xfrm xmlns:a="http://schemas.openxmlformats.org/drawingml/2006/main">
            <a:off x="292652" y="6027855"/>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content">
            <a:extLst xmlns:a="http://schemas.openxmlformats.org/drawingml/2006/main">
              <a:ext uri="{FF2B5EF4-FFF2-40B4-BE49-F238E27FC236}">
                <a16:creationId xmlns:a16="http://schemas.microsoft.com/office/drawing/2014/main" id="{6AB3DFAD-14E6-4D33-B7F5-189BF184AC55}"/>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22 / 23</a:t>
            </a:r>
          </a:p>
        </p:txBody>
      </p:sp>
    </p:spTree>
    <p:extLst>
      <p:ext uri="{BB962C8B-B14F-4D97-AF65-F5344CB8AC3E}">
        <p14:creationId xmlns:p14="http://schemas.microsoft.com/office/powerpoint/2010/main" val="27423217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1" name="Picture 6">
            <a:extLst xmlns:a="http://schemas.openxmlformats.org/drawingml/2006/main">
              <a:ext uri="{FF2B5EF4-FFF2-40B4-BE49-F238E27FC236}">
                <a16:creationId xmlns:a16="http://schemas.microsoft.com/office/drawing/2014/main" id="{9DADAD35-57DD-4AF4-9BC1-A807AEC6CFD7}"/>
              </a:ext>
            </a:extLst>
          </p:cNvPr>
          <p:cNvPicPr>
            <a:picLocks xmlns:a="http://schemas.openxmlformats.org/drawingml/2006/main" noChangeAspect="1"/>
          </p:cNvPicPr>
          <p:nvPr/>
        </p:nvPicPr>
        <p:blipFill>
          <a:blip xmlns:r="http://schemas.openxmlformats.org/officeDocument/2006/relationships" xmlns:a="http://schemas.openxmlformats.org/drawingml/2006/main" r:embed="Rcc5ff709d3d84245"/>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D33BC64F-5E82-48DD-B32A-BE17827A4F3E}"/>
              </a:ext>
            </a:extLst>
          </p:cNvPr>
          <p:cNvSpPr>
            <a:spLocks xmlns:a="http://schemas.openxmlformats.org/drawingml/2006/main" noGrp="1"/>
          </p:cNvSpPr>
          <p:nvPr>
            <p:ph type="title" idx="0"/>
          </p:nvPr>
        </p:nvSpPr>
        <p:spPr>
          <a:xfrm xmlns:a="http://schemas.openxmlformats.org/drawingml/2006/main">
            <a:off x="4095750" y="238125"/>
            <a:ext cx="7620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Phụ lục: đội triển khai</a:t>
            </a:r>
          </a:p>
        </p:txBody>
      </p:sp>
      <p:sp>
        <p:nvSpPr>
          <p:cNvPr id="4" name="Shape 28">
            <a:extLst xmlns:a="http://schemas.openxmlformats.org/drawingml/2006/main">
              <a:ext uri="{FF2B5EF4-FFF2-40B4-BE49-F238E27FC236}">
                <a16:creationId xmlns:a16="http://schemas.microsoft.com/office/drawing/2014/main" id="{64A27266-1499-7603-74F4-281AD3DA2227}"/>
              </a:ext>
            </a:extLst>
          </p:cNvPr>
          <p:cNvSpPr>
            <a:spLocks xmlns:a="http://schemas.openxmlformats.org/drawingml/2006/main" noGrp="1"/>
          </p:cNvSpPr>
          <p:nvPr/>
        </p:nvSpPr>
        <p:spPr>
          <a:xfrm xmlns:a="http://schemas.openxmlformats.org/drawingml/2006/main">
            <a:off x="229152" y="6191141"/>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92A4CF22-A9C8-0580-4EBB-62E891BDEEA4}"/>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Phụ lục kỹ thuật và bằng chứng</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434FE321-E1C3-D3A5-8585-506D365F2710}"/>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75" b="0">
                <a:solidFill>
                  <a:srgbClr val="FFFFFF"/>
                </a:solidFill>
                <a:latin typeface="Arial"/>
                <a:ea typeface="Arial"/>
                <a:cs typeface="Arial"/>
              </a:defRPr>
            </a:pPr>
            <a:r>
              <a:rPr sz="1275" b="0">
                <a:solidFill>
                  <a:srgbClr val="FFFFFF"/>
                </a:solidFill>
                <a:latin typeface="Arial"/>
                <a:ea typeface="Arial"/>
                <a:cs typeface="Arial"/>
              </a:rPr>
              <a:t>Vai trò là nhu cầu triển khai. Chưa xác nhận nhân sự hoặc kinh nghiệm của đội.</a:t>
            </a:r>
          </a:p>
        </p:txBody>
      </p:sp>
      <p:sp>
        <p:nvSpPr>
          <p:cNvPr id="8" name="content">
            <a:extLst xmlns:a="http://schemas.openxmlformats.org/drawingml/2006/main">
              <a:ext uri="{FF2B5EF4-FFF2-40B4-BE49-F238E27FC236}">
                <a16:creationId xmlns:a16="http://schemas.microsoft.com/office/drawing/2014/main" id="{692C5EAA-3B23-49E5-BDE2-60FECEA9CBF5}"/>
              </a:ext>
            </a:extLst>
          </p:cNvPr>
          <p:cNvSpPr>
            <a:spLocks xmlns:a="http://schemas.openxmlformats.org/drawingml/2006/main" noGrp="1"/>
          </p:cNvSpPr>
          <p:nvPr/>
        </p:nvSpPr>
        <p:spPr>
          <a:xfrm xmlns:a="http://schemas.openxmlformats.org/drawingml/2006/main">
            <a:off x="533400" y="15906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53251"/>
                </a:solidFill>
                <a:latin typeface="Arial"/>
                <a:ea typeface="Arial"/>
                <a:cs typeface="Arial"/>
              </a:defRPr>
            </a:pPr>
            <a:r>
              <a:rPr sz="2550" b="1">
                <a:solidFill>
                  <a:srgbClr val="153251"/>
                </a:solidFill>
                <a:latin typeface="Arial"/>
                <a:ea typeface="Arial"/>
                <a:cs typeface="Arial"/>
              </a:rPr>
              <a:t>Thông tin đội cần bổ sung</a:t>
            </a:r>
          </a:p>
        </p:txBody>
      </p:sp>
      <p:sp>
        <p:nvSpPr>
          <p:cNvPr id="9" name="content">
            <a:extLst xmlns:a="http://schemas.openxmlformats.org/drawingml/2006/main">
              <a:ext uri="{FF2B5EF4-FFF2-40B4-BE49-F238E27FC236}">
                <a16:creationId xmlns:a16="http://schemas.microsoft.com/office/drawing/2014/main" id="{E3B6640D-437B-4118-8034-7B81F220DB07}"/>
              </a:ext>
            </a:extLst>
          </p:cNvPr>
          <p:cNvSpPr>
            <a:spLocks xmlns:a="http://schemas.openxmlformats.org/drawingml/2006/main" noGrp="1"/>
          </p:cNvSpPr>
          <p:nvPr/>
        </p:nvSpPr>
        <p:spPr>
          <a:xfrm xmlns:a="http://schemas.openxmlformats.org/drawingml/2006/main">
            <a:off x="533400" y="21431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4B637B"/>
                </a:solidFill>
                <a:latin typeface="Arial"/>
                <a:ea typeface="Arial"/>
                <a:cs typeface="Arial"/>
              </a:defRPr>
            </a:pPr>
            <a:r>
              <a:rPr sz="1950" b="0">
                <a:solidFill>
                  <a:srgbClr val="4B637B"/>
                </a:solidFill>
                <a:latin typeface="Arial"/>
                <a:ea typeface="Arial"/>
                <a:cs typeface="Arial"/>
              </a:rPr>
              <a:t>Chưa có tên đội, thành viên hoặc hồ sơ năng lực thực tế.</a:t>
            </a:r>
          </a:p>
        </p:txBody>
      </p:sp>
      <p:graphicFrame>
        <p:nvGraphicFramePr>
          <p:cNvPr id="18" name="">
            <a:extLst xmlns:a="http://schemas.openxmlformats.org/drawingml/2006/main">
              <a:ext uri="{FF2B5EF4-FFF2-40B4-BE49-F238E27FC236}">
                <a16:creationId xmlns:a16="http://schemas.microsoft.com/office/drawing/2014/main" id="{8F2E4CB5-169A-496D-9DE4-1E29EEE409A3}"/>
              </a:ext>
            </a:extLst>
          </p:cNvPr>
          <p:cNvGraphicFramePr/>
          <p:nvPr/>
        </p:nvGraphicFramePr>
        <p:xfrm>
          <a:off xmlns:a="http://schemas.openxmlformats.org/drawingml/2006/main" x="533400" y="3009900"/>
          <a:ext xmlns:a="http://schemas.openxmlformats.org/drawingml/2006/main" cx="11125200" cy="2514600"/>
        </p:xfrm>
        <a:graphic xmlns:a="http://schemas.openxmlformats.org/drawingml/2006/main">
          <a:graphicData uri="http://schemas.openxmlformats.org/drawingml/2006/table">
            <a:tbl>
              <a:tblPr firstRow="1" bandRow="0"/>
              <a:tblGrid>
                <a:gridCol w="4000500"/>
                <a:gridCol w="7124700"/>
              </a:tblGrid>
              <a:tr h="381000">
                <a:tc>
                  <a:txBody>
                    <a:bodyPr wrap="square" lIns="85725" tIns="57150" rIns="85725" bIns="57150">
                      <a:noAutofit/>
                    </a:bodyPr>
                    <a:lstStyle/>
                    <a:p>
                      <a:r>
                        <a:rPr sz="1650" b="1">
                          <a:solidFill>
                            <a:srgbClr val="FFFFFF"/>
                          </a:solidFill>
                          <a:latin typeface="Arial"/>
                          <a:ea typeface="Arial"/>
                          <a:cs typeface="Arial"/>
                        </a:rPr>
                        <a:t>Vai trò cần có</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Phần việc</a:t>
                      </a:r>
                    </a:p>
                  </a:txBody>
                  <a:tcPr marL="91440" marR="91440" marT="45720" marB="45720">
                    <a:solidFill>
                      <a:srgbClr val="203F68"/>
                    </a:solidFill>
                  </a:tcPr>
                </a:tc>
              </a:tr>
              <a:tr h="533400">
                <a:tc>
                  <a:txBody>
                    <a:bodyPr wrap="square" lIns="85725" tIns="57150" rIns="85725" bIns="57150">
                      <a:noAutofit/>
                    </a:bodyPr>
                    <a:lstStyle/>
                    <a:p>
                      <a:r>
                        <a:rPr sz="1650" b="0">
                          <a:solidFill>
                            <a:srgbClr val="153251"/>
                          </a:solidFill>
                          <a:latin typeface="Arial"/>
                          <a:ea typeface="Arial"/>
                          <a:cs typeface="Arial"/>
                        </a:rPr>
                        <a:t>Robot learning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Native trainer, bridge và kiểm loss/gradient</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Robotics / simulation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Binding, controller, TaskSpec và scorer</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Operator / data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Thu seed, correction, QA và lineage</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Task owner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Chốt domain, yêu cầu và nghiệm thu</a:t>
                      </a:r>
                    </a:p>
                  </a:txBody>
                  <a:tcPr marL="91440" marR="91440" marT="45720" marB="45720">
                    <a:solidFill>
                      <a:srgbClr val="FFFFFF"/>
                    </a:solidFill>
                  </a:tcPr>
                </a:tc>
              </a:tr>
            </a:tbl>
          </a:graphicData>
        </a:graphic>
      </p:graphicFrame>
      <p:sp>
        <p:nvSpPr>
          <p:cNvPr id="19" name="content">
            <a:extLst xmlns:a="http://schemas.openxmlformats.org/drawingml/2006/main">
              <a:ext uri="{FF2B5EF4-FFF2-40B4-BE49-F238E27FC236}">
                <a16:creationId xmlns:a16="http://schemas.microsoft.com/office/drawing/2014/main" id="{A991C789-3C1B-40DD-A723-C5F05C4AA307}"/>
              </a:ext>
            </a:extLst>
          </p:cNvPr>
          <p:cNvSpPr>
            <a:spLocks xmlns:a="http://schemas.openxmlformats.org/drawingml/2006/main" noGrp="1"/>
          </p:cNvSpPr>
          <p:nvPr/>
        </p:nvSpPr>
        <p:spPr>
          <a:xfrm xmlns:a="http://schemas.openxmlformats.org/drawingml/2006/main">
            <a:off x="11049000" y="6648450"/>
            <a:ext cx="904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00" b="0">
                <a:solidFill>
                  <a:srgbClr val="FFFFFF"/>
                </a:solidFill>
                <a:latin typeface="Arial"/>
                <a:ea typeface="Arial"/>
                <a:cs typeface="Arial"/>
              </a:defRPr>
            </a:defPPr>
          </a:lstStyle>
          <a:p xmlns:a="http://schemas.openxmlformats.org/drawingml/2006/main">
            <a:pPr>
              <a:defRPr sz="900" b="0">
                <a:solidFill>
                  <a:srgbClr val="FFFFFF"/>
                </a:solidFill>
                <a:latin typeface="Arial"/>
                <a:ea typeface="Arial"/>
                <a:cs typeface="Arial"/>
              </a:defRPr>
            </a:pPr>
            <a:r>
              <a:rPr sz="900" b="0">
                <a:solidFill>
                  <a:srgbClr val="FFFFFF"/>
                </a:solidFill>
                <a:latin typeface="Arial"/>
                <a:ea typeface="Arial"/>
                <a:cs typeface="Arial"/>
              </a:rPr>
              <a:t>23 / 23</a:t>
            </a:r>
          </a:p>
        </p:txBody>
      </p:sp>
    </p:spTree>
    <p:extLst>
      <p:ext uri="{BB962C8B-B14F-4D97-AF65-F5344CB8AC3E}">
        <p14:creationId xmlns:p14="http://schemas.microsoft.com/office/powerpoint/2010/main" val="2663236439"/>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2026-10-07T09:57:26.0050000Z</dcterms:created>
  <dcterms:modified xsi:type="dcterms:W3CDTF">2026-10-07T09:57:26.0050000Z</dcterms:modified>
</coreProperties>
</file>