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e84fcbac05f4ca9" /><Relationship Type="http://schemas.openxmlformats.org/officeDocument/2006/relationships/extended-properties" Target="/docProps/app.xml" Id="R9dbdcc199d3e49f5" /><Relationship Type="http://schemas.openxmlformats.org/officeDocument/2006/relationships/officeDocument" Target="/ppt/presentation.xml" Id="Rdfc176a1a5f34d69" /></Relationships>
</file>

<file path=ppt/presentation.xml><?xml version="1.0" encoding="utf-8"?>
<p:presentation xmlns:p="http://schemas.openxmlformats.org/presentationml/2006/main">
  <p:sldMasterIdLst>
    <p:sldMasterId xmlns:r="http://schemas.openxmlformats.org/officeDocument/2006/relationships" id="2147483648" r:id="R29ae388a1c0942f1"/>
  </p:sldMasterIdLst>
  <p:notesMasterIdLst>
    <p:notesMasterId xmlns:r="http://schemas.openxmlformats.org/officeDocument/2006/relationships" r:id="Rf6b18f69a4e944de"/>
  </p:notesMasterIdLst>
  <p:sldIdLst>
    <p:sldId xmlns:r="http://schemas.openxmlformats.org/officeDocument/2006/relationships" id="256" r:id="R5db51c981693435e"/>
    <p:sldId xmlns:r="http://schemas.openxmlformats.org/officeDocument/2006/relationships" id="257" r:id="Rb2a79268cc5a4ae2"/>
    <p:sldId xmlns:r="http://schemas.openxmlformats.org/officeDocument/2006/relationships" id="258" r:id="R4121af1022874e87"/>
    <p:sldId xmlns:r="http://schemas.openxmlformats.org/officeDocument/2006/relationships" id="259" r:id="R8ad0240df740427c"/>
    <p:sldId xmlns:r="http://schemas.openxmlformats.org/officeDocument/2006/relationships" id="260" r:id="R2800d0131cba4a1f"/>
    <p:sldId xmlns:r="http://schemas.openxmlformats.org/officeDocument/2006/relationships" id="261" r:id="Rb101b52a5acd4cae"/>
    <p:sldId xmlns:r="http://schemas.openxmlformats.org/officeDocument/2006/relationships" id="262" r:id="R9d32d88ebf904ebc"/>
    <p:sldId xmlns:r="http://schemas.openxmlformats.org/officeDocument/2006/relationships" id="263" r:id="Rd50e71c4f71d41ca"/>
    <p:sldId xmlns:r="http://schemas.openxmlformats.org/officeDocument/2006/relationships" id="264" r:id="R957473da2407424c"/>
    <p:sldId xmlns:r="http://schemas.openxmlformats.org/officeDocument/2006/relationships" id="265" r:id="Rba6e98c70d504606"/>
    <p:sldId xmlns:r="http://schemas.openxmlformats.org/officeDocument/2006/relationships" id="266" r:id="Rdb89ad9472344fda"/>
    <p:sldId xmlns:r="http://schemas.openxmlformats.org/officeDocument/2006/relationships" id="267" r:id="R7526d81ffea24a50"/>
    <p:sldId xmlns:r="http://schemas.openxmlformats.org/officeDocument/2006/relationships" id="268" r:id="R9e9f5d6bde2a4f12"/>
    <p:sldId xmlns:r="http://schemas.openxmlformats.org/officeDocument/2006/relationships" id="269" r:id="R9cca8637ee954ee0"/>
    <p:sldId xmlns:r="http://schemas.openxmlformats.org/officeDocument/2006/relationships" id="270" r:id="Rd0f06107d1f24fe4"/>
    <p:sldId xmlns:r="http://schemas.openxmlformats.org/officeDocument/2006/relationships" id="271" r:id="Rf0e7d03239094ffe"/>
    <p:sldId xmlns:r="http://schemas.openxmlformats.org/officeDocument/2006/relationships" id="272" r:id="Rc9f2a5f4782d4fbc"/>
    <p:sldId xmlns:r="http://schemas.openxmlformats.org/officeDocument/2006/relationships" id="273" r:id="R6d22703ad7524ddf"/>
    <p:sldId xmlns:r="http://schemas.openxmlformats.org/officeDocument/2006/relationships" id="274" r:id="R0216f08148224ee4"/>
    <p:sldId xmlns:r="http://schemas.openxmlformats.org/officeDocument/2006/relationships" id="275" r:id="R9f7b2e3e62d54ec4"/>
    <p:sldId xmlns:r="http://schemas.openxmlformats.org/officeDocument/2006/relationships" id="276" r:id="R7ad08f9e0c1d4a5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023dd87ebf84b8a" /><Relationship Type="http://schemas.openxmlformats.org/officeDocument/2006/relationships/slideMaster" Target="/ppt/slideMasters/slideMaster1.xml" Id="R29ae388a1c0942f1" /><Relationship Type="http://schemas.openxmlformats.org/officeDocument/2006/relationships/notesMaster" Target="/ppt/notesMasters/notesMaster1.xml" Id="Rf6b18f69a4e944de" /><Relationship Type="http://schemas.openxmlformats.org/officeDocument/2006/relationships/presProps" Target="/ppt/presProps.xml" Id="R65ac08517b2c467c" /><Relationship Type="http://schemas.openxmlformats.org/officeDocument/2006/relationships/viewProps" Target="/ppt/viewProps.xml" Id="R620329619bbe47ac" /><Relationship Type="http://schemas.openxmlformats.org/officeDocument/2006/relationships/tableStyles" Target="/ppt/tableStyles.xml" Id="R816804b6a9694a74" /><Relationship Type="http://schemas.openxmlformats.org/officeDocument/2006/relationships/slide" Target="/ppt/slides/slide1.xml" Id="R5db51c981693435e" /><Relationship Type="http://schemas.openxmlformats.org/officeDocument/2006/relationships/slide" Target="/ppt/slides/slide2.xml" Id="Rb2a79268cc5a4ae2" /><Relationship Type="http://schemas.openxmlformats.org/officeDocument/2006/relationships/slide" Target="/ppt/slides/slide3.xml" Id="R4121af1022874e87" /><Relationship Type="http://schemas.openxmlformats.org/officeDocument/2006/relationships/slide" Target="/ppt/slides/slide4.xml" Id="R8ad0240df740427c" /><Relationship Type="http://schemas.openxmlformats.org/officeDocument/2006/relationships/slide" Target="/ppt/slides/slide5.xml" Id="R2800d0131cba4a1f" /><Relationship Type="http://schemas.openxmlformats.org/officeDocument/2006/relationships/slide" Target="/ppt/slides/slide6.xml" Id="Rb101b52a5acd4cae" /><Relationship Type="http://schemas.openxmlformats.org/officeDocument/2006/relationships/slide" Target="/ppt/slides/slide7.xml" Id="R9d32d88ebf904ebc" /><Relationship Type="http://schemas.openxmlformats.org/officeDocument/2006/relationships/slide" Target="/ppt/slides/slide8.xml" Id="Rd50e71c4f71d41ca" /><Relationship Type="http://schemas.openxmlformats.org/officeDocument/2006/relationships/slide" Target="/ppt/slides/slide9.xml" Id="R957473da2407424c" /><Relationship Type="http://schemas.openxmlformats.org/officeDocument/2006/relationships/slide" Target="/ppt/slides/slide10.xml" Id="Rba6e98c70d504606" /><Relationship Type="http://schemas.openxmlformats.org/officeDocument/2006/relationships/slide" Target="/ppt/slides/slide11.xml" Id="Rdb89ad9472344fda" /><Relationship Type="http://schemas.openxmlformats.org/officeDocument/2006/relationships/slide" Target="/ppt/slides/slide12.xml" Id="R7526d81ffea24a50" /><Relationship Type="http://schemas.openxmlformats.org/officeDocument/2006/relationships/slide" Target="/ppt/slides/slide13.xml" Id="R9e9f5d6bde2a4f12" /><Relationship Type="http://schemas.openxmlformats.org/officeDocument/2006/relationships/slide" Target="/ppt/slides/slide14.xml" Id="R9cca8637ee954ee0" /><Relationship Type="http://schemas.openxmlformats.org/officeDocument/2006/relationships/slide" Target="/ppt/slides/slide15.xml" Id="Rd0f06107d1f24fe4" /><Relationship Type="http://schemas.openxmlformats.org/officeDocument/2006/relationships/slide" Target="/ppt/slides/slide16.xml" Id="Rf0e7d03239094ffe" /><Relationship Type="http://schemas.openxmlformats.org/officeDocument/2006/relationships/slide" Target="/ppt/slides/slide17.xml" Id="Rc9f2a5f4782d4fbc" /><Relationship Type="http://schemas.openxmlformats.org/officeDocument/2006/relationships/slide" Target="/ppt/slides/slide18.xml" Id="R6d22703ad7524ddf" /><Relationship Type="http://schemas.openxmlformats.org/officeDocument/2006/relationships/slide" Target="/ppt/slides/slide19.xml" Id="R0216f08148224ee4" /><Relationship Type="http://schemas.openxmlformats.org/officeDocument/2006/relationships/slide" Target="/ppt/slides/slide20.xml" Id="R9f7b2e3e62d54ec4" /><Relationship Type="http://schemas.openxmlformats.org/officeDocument/2006/relationships/slide" Target="/ppt/slides/slide21.xml" Id="R7ad08f9e0c1d4a5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caa31e43f0b4bb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fcdaf6c419e4869" /><Relationship Type="http://schemas.openxmlformats.org/officeDocument/2006/relationships/notesMaster" Target="/ppt/notesMasters/notesMaster1.xml" Id="R74b68ca923994805"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89c1f503874662" /><Relationship Type="http://schemas.openxmlformats.org/officeDocument/2006/relationships/notesMaster" Target="/ppt/notesMasters/notesMaster1.xml" Id="Rbc45bdf371f744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ce8e2044a2144a5d" /><Relationship Type="http://schemas.openxmlformats.org/officeDocument/2006/relationships/notesMaster" Target="/ppt/notesMasters/notesMaster1.xml" Id="R4795d4fa71e342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240fbf721c14a3a" /><Relationship Type="http://schemas.openxmlformats.org/officeDocument/2006/relationships/notesMaster" Target="/ppt/notesMasters/notesMaster1.xml" Id="Rcfb18988e8094a55" /></Relationships>
</file>

<file path=ppt/notesSlides/_rels/notesSlide5.xml.rels>&#65279;<?xml version="1.0" encoding="utf-8"?><Relationships xmlns="http://schemas.openxmlformats.org/package/2006/relationships"><Relationship Type="http://schemas.openxmlformats.org/officeDocument/2006/relationships/slide" Target="/ppt/slides/slide5.xml" Id="R6324f73124074116" /><Relationship Type="http://schemas.openxmlformats.org/officeDocument/2006/relationships/notesMaster" Target="/ppt/notesMasters/notesMaster1.xml" Id="R04aff145716a404b" /></Relationships>
</file>

<file path=ppt/notesSlides/_rels/notesSlide6.xml.rels>&#65279;<?xml version="1.0" encoding="utf-8"?><Relationships xmlns="http://schemas.openxmlformats.org/package/2006/relationships"><Relationship Type="http://schemas.openxmlformats.org/officeDocument/2006/relationships/slide" Target="/ppt/slides/slide6.xml" Id="R4196f6f106ae405f" /><Relationship Type="http://schemas.openxmlformats.org/officeDocument/2006/relationships/notesMaster" Target="/ppt/notesMasters/notesMaster1.xml" Id="R15089dc994ae46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c28459caf2437e" /><Relationship Type="http://schemas.openxmlformats.org/officeDocument/2006/relationships/notesMaster" Target="/ppt/notesMasters/notesMaster1.xml" Id="R2dbd25af6d1347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aef5058f5a34750" /><Relationship Type="http://schemas.openxmlformats.org/officeDocument/2006/relationships/notesMaster" Target="/ppt/notesMasters/notesMaster1.xml" Id="Re7e12b8806014390" /></Relationships>
</file>

<file path=ppt/notesSlides/_rels/notesSlide9.xml.rels>&#65279;<?xml version="1.0" encoding="utf-8"?><Relationships xmlns="http://schemas.openxmlformats.org/package/2006/relationships"><Relationship Type="http://schemas.openxmlformats.org/officeDocument/2006/relationships/slide" Target="/ppt/slides/slide9.xml" Id="R70dbd7d260994b9f" /><Relationship Type="http://schemas.openxmlformats.org/officeDocument/2006/relationships/notesMaster" Target="/ppt/notesMasters/notesMaster1.xml" Id="Rc0656f6f8ab94b2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6f61413b384e97" /><Relationship Type="http://schemas.openxmlformats.org/officeDocument/2006/relationships/notesMaster" Target="/ppt/notesMasters/notesMaster1.xml" Id="R798dea4c79f5465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6144f2e5be4ac9" /><Relationship Type="http://schemas.openxmlformats.org/officeDocument/2006/relationships/notesMaster" Target="/ppt/notesMasters/notesMaster1.xml" Id="Rd1378deb7c28441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e4996358ac3489b" /><Relationship Type="http://schemas.openxmlformats.org/officeDocument/2006/relationships/notesMaster" Target="/ppt/notesMasters/notesMaster1.xml" Id="R049859f341c645f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fcfbaeb17fe4e1d" /><Relationship Type="http://schemas.openxmlformats.org/officeDocument/2006/relationships/notesMaster" Target="/ppt/notesMasters/notesMaster1.xml" Id="Re6bd8f33c9dd4d2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29287f0dfd141cf" /><Relationship Type="http://schemas.openxmlformats.org/officeDocument/2006/relationships/notesMaster" Target="/ppt/notesMasters/notesMaster1.xml" Id="R6729750e151a4c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4ae121f2f234268" /><Relationship Type="http://schemas.openxmlformats.org/officeDocument/2006/relationships/notesMaster" Target="/ppt/notesMasters/notesMaster1.xml" Id="R103c20cd4ff2435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c6cb467614a466c" /><Relationship Type="http://schemas.openxmlformats.org/officeDocument/2006/relationships/notesMaster" Target="/ppt/notesMasters/notesMaster1.xml" Id="R94981f0d7ccc4cf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b0f27ea79b44f03" /><Relationship Type="http://schemas.openxmlformats.org/officeDocument/2006/relationships/notesMaster" Target="/ppt/notesMasters/notesMaster1.xml" Id="R807c88347e7048d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7ee52ce02154b7c" /><Relationship Type="http://schemas.openxmlformats.org/officeDocument/2006/relationships/notesMaster" Target="/ppt/notesMasters/notesMaster1.xml" Id="R3007b8c9013e476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1952b69f93d4b8a" /><Relationship Type="http://schemas.openxmlformats.org/officeDocument/2006/relationships/notesMaster" Target="/ppt/notesMasters/notesMaster1.xml" Id="Rdc46097e33ad476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df0f2256784f57" /><Relationship Type="http://schemas.openxmlformats.org/officeDocument/2006/relationships/notesMaster" Target="/ppt/notesMasters/notesMaster1.xml" Id="R4bc6a6660d1a436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b18c18a09a34845" /><Relationship Type="http://schemas.openxmlformats.org/officeDocument/2006/relationships/notesMaster" Target="/ppt/notesMasters/notesMaster1.xml" Id="R8a73f78511bc412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Review draft, October 7, 2026. Real hardware is a separate acceptance stage.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The scenario is an industrial proxy. No factory workflow survey, DENSO labor rates or production ROI has been measured. Training method, representation, controller and latency can still be bottlenecks.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Figure Index, August 25, 2026: https://www.figure.ai/news/introducing-index . 16 million uploaded videos and USD 15 million creator payouts. Payout is not total dataset cost. The previously supplied video https://www.youtube.com/watch?v=zKaeODg7xeE was checked against transcript/source descriptions, not audited frame by frame.</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Do not infer causality for the proposed flywheel from these results. The two columns are independent studies, not comparable benchmarks.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Existing AI illustration, not a recorded GR1 rollout. Draft geometry: object 40 x 25 x 15 mm, A1 interior 80 x 60 mm, timeout 30 s and stable 2 s. Task owner must calibrate before final protocol. Fixed torso, no walking or precision assembly in the MVP.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engine is not a new foundation model. Latent vectors are encoder representations, not a separate source category. Outcomes are independent of the policy input.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Workflow utility is a separate hypothesis from a source R versus R+S gain. Keep rejected data, failed experiments and no-gain receipts. A failed action is not automatically a positive behavior cloning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1, page 2, full original figure. Right-hand benchmarks are author results with different integration budgets.</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The reason to select FluxVLA is the common lifecycle from data/training to simulation evaluation and real-world inference runners/operators. Upstream support is not evidence that our A1 robot integration exists.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FluxVLAData public GR1 setting has 256x256 RGB at 20 fps, 29-D active robot state/action. These are compatibility examples and do not determine the pending A1 binding. R_A1 is proposed data, not an already collected 20-root dataset. Appearance augmentation preserves labels only when semantics are invariant. Generated video usually lacks native action labels. Human wrist motion is not robot joint action or contact/finger supervision.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 et al. (2026), FluxVLA Engine, arXiv:2609.17210v1. https://arxiv.org/html/2609.17210v1 . Original extracted Figures 1 and 2, CC BY 4.0. Figures and upstream results belong to the authors. Integrations use different budgets and are not a controlled leaderboard for A1. Figure 2, original full region.</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 MP4 frames are decoded and sampled with synchronized state/action. Prompt tokenization and image transforms produce model inputs. Normalization, action chunk horizons and masks must match the checkpoint. Future target actions are for training, never inference inputs.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Training flow target is executed future actions minus sampled noise, under the selected interpolation convention and action masks. N1.5 selected input example: state padded 64, active action 29 / padded 32, horizon 16. Verify actual tensor semantics rather than inventing shapes. Official N1.5 frozen-VLM learning is distinct from the selected Flux visual-unfreeze recipe. Human comparator R_common versus R_common+H keeps architecture, robot wrist objective and VLM freeze identical. Human loss updates the common head/shared trunk, not the native robot decoder directly. FOCA/H are unintegrated research branches with separate gates and budgets.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A latent is an actual encoder vector with a known hook, source and version. Do not invent grounding text or claim a latent probe establishes causality. Log prediction, command and response separately. Reload parity and upstream GR1 smoke tests precede A1 trials. Real-robot inference is an upstream capability requiring a separate local integration and acceptance protocol.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Existing AI illustration, not a native episode. Controlled hypotheses include bad grasp pose, insufficient contact coverage, action prediction or binding/controller errors. First inspect actual command-response divergence. Keep unknown when the measurements do not distinguish the hypotheses.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Binding/controller repair precedes training. Representation bottlenecks require evidence and a separately controlled visual/interface adaptation. Bad grasp corrections need full grasp-lift-transport context. Failed action traces remain diagnostic data and are not automatically positive cloning targets. Controlled tests and no-gain records are part of the flywheel.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Independent final is outside the adaptive flywheel. Fix task strata, seeds, scorer, binding and recipe before opening final. Both arms passing a quality gate is not statistical equivalence. Under true success 95%, probability of passing the draft gate is about 43.6%; under 97%, about 81.8%, so task owner must accept the power tradeoff. Reference: examples/engineering-loop/README.md, linear 35x4 predictor with ideal sim state, scripted sequence and proximity-weld grasp, 32 tests; S 12/12, R 0/12, C 0/12 final in that restricted scope. These are not GR00T/GR1 performance or data efficiency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Budget assumptions from deliverables/DENSO-Noi-dung-form-y-tuong.md and docs/implementation-plan/skill-a1/04-evaluation-and-cost.md. Capture/reset 40 attempts x 6 minutes = 4 operator hours. QA 40 x 3 minutes = 2 engineer hours. Labor rates, yield and integration hours are editable planning assumptions, not DENSO/Vietnam wages. Public Runpod pricing checked October 6, 2026: https://www.runpod.io/pricing . 180 GPU hours is a capacity cap, not a measured runtime forecast. Total: 40 + 40 + 4800 + 286.20 + 21 = 5187.20 USD. H, FOCA and real hardware have separate gates/caps.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Four stages, each estimated 2–3 weeks, total 8–12 conditional weeks. No committed date or production deployment promise. Team and task ownership are not yet named. Separate optional human/action-free/workflow studies and hardware acceptance may require additional resources and schedule.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The executed CPU MuJoCo reference checks a restricted data/training/eval path; it does not establish native VLA training, human transfer, real robot control or cost saving. The contribution is a testable data-decision workflow around existing model engineering.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Public website: https://hiwe0305.github.io/denso-challenge/#overview . Review draft, not a factory acceptance report. Following slides are appendices.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FOCA, arXiv:2606.20867v1, section 5 Q2, Table 2, Appendix D.3. https://arxiv.org/html/2606.20867v1 . LIBERO 40% demonstrations (approximately 20/task): pi0 89.9%, FOCA + DreamGen 95.7%. Action-free generated video phase learns future alignment with a frozen future target encoder. Robot adaptation still uses action supervision plus the implicit objective. These are external results in their own protocol.</a:t>
            </a:r>
          </a:p>
          <a:p xmlns:a="http://schemas.openxmlformats.org/drawingml/2006/main">
            <a:r>
              <a:t>Selected public FluxVLA GR00T N1.5 recipe: https://github.com/FluxVLA/FluxVLA/blob/main/configs/gr00tn15/gr00tn15_eagle_3b_robocasa_30_eps_full_finetune.py . Pin commit, checkpoint, transforms, optimizer groups and gradient manifest before running. Official NVIDIA N1.5 uses a frozen VLM; selected Flux recipe permits visual adaptation and freezes language. https://research.nvidia.com/labs/gear/gr00t-n1_5/ . A1 integration has not run.</a:t>
            </a:r>
          </a:p>
          <a:p xmlns:a="http://schemas.openxmlformats.org/drawingml/2006/main">
            <a:r>
              <a:t>OpenVLA: https://arxiv.org/abs/2406.09246 . pi0: https://arxiv.org/abs/2410.24164 . DreamGen: https://research.nvidia.com/labs/gear/dreamgen/ . DreamZero: source catalog in idea-v3-2026-10-05/15-dataset-training-blueprint.md . DreamerV3: https://arxiv.org/abs/2301.04104 . Project synthesis: idea-v3-2026-10-05/15-dataset-training-blueprint.md and the website research catalog. Do not present any optional branch as integrated functionality.</a:t>
            </a:r>
          </a:p>
          <a:p xmlns:a="http://schemas.openxmlformats.org/drawingml/2006/main">
            <a:r>
              <a:t>FOCA single-task A1 needs train-only task-mismatched negatives or an explicit objective adaptation. Code/interface and extra generation/learning compute remain gates. Human wrist transfer does not establish native finger/contact skill.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Official DENSO submission checklist preserved. This is a review draft. Team identities and capability evidence are still missing. Interests can include data while the challenge topic remains Humanoid &amp; Robot.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specification: IDEA.md, docs/implementation-plan/skill-a1/README.md, 04-evaluation-and-cost.md, 05-data-decision-and-run-contracts.md and idea-v3-2026-10-05/16-model-ai-va-data-flywheel.md. Proposed native pilot, not measured native success or saving. Team names, member capabilities and ownership have not been supplied. Listed roles describe required work, not verified team credentials.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62500f11994c2b" /><Relationship Type="http://schemas.openxmlformats.org/officeDocument/2006/relationships/image" Target="/ppt/media/image2.png" Id="R62ab29d9a7864b51" /><Relationship Type="http://schemas.openxmlformats.org/officeDocument/2006/relationships/image" Target="/ppt/media/image3.png" Id="R021aaa1b977d4fa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ca5d925adf44acb" /><Relationship Type="http://schemas.openxmlformats.org/officeDocument/2006/relationships/image" Target="/ppt/media/image.png" Id="R7500cdc34920456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52c2dd0911a4948" /><Relationship Type="http://schemas.openxmlformats.org/officeDocument/2006/relationships/image" Target="/ppt/media/image4.png" Id="R96d4c1a979c242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7c5f9786dda4d0f" /><Relationship Type="http://schemas.openxmlformats.org/officeDocument/2006/relationships/image" Target="/ppt/media/image5.png" Id="R9e7f0225d37c4e8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2c4d6a29b764a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3ac4976023f40e1"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48dfe835362458f"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9bfbfb9d82de4198"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8416f96fafc5428f"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cf0afb215e34ee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335013a3833e4533" /><Relationship Type="http://schemas.openxmlformats.org/officeDocument/2006/relationships/image" Target="/ppt/media/image4.png" Id="R40e03d013b5941ba"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2facd69d95de43b7" /><Relationship Type="http://schemas.openxmlformats.org/officeDocument/2006/relationships/image" Target="/ppt/media/image5.png" Id="R2d6c0bba7e564dcf"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3ecdf9a5a2154f0c"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147d0dc8c35345e4" /><Relationship Type="http://schemas.openxmlformats.org/officeDocument/2006/relationships/image" Target="/ppt/media/image.jpeg" Id="R3ad68cebca814fe8"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51623292618347a9" /><Relationship Type="http://schemas.openxmlformats.org/officeDocument/2006/relationships/image" Target="/ppt/media/image6.png" Id="R65e36816698749f4"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b2511e4e4f1b4971"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7d0b1646e43645d9" /><Relationship Type="http://schemas.openxmlformats.org/officeDocument/2006/relationships/image" Target="/ppt/media/image.png" Id="Rf3b45f5673a24eb6"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df52277db16e4f30" /><Relationship Type="http://schemas.openxmlformats.org/officeDocument/2006/relationships/image" Target="/ppt/media/image2.jpeg" Id="Rbae83699d84c4ca1"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3594f1ab7e41444b"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809b74a9ba644dde"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8a65a172bb60420f"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fdc0348a40f54791" /><Relationship Type="http://schemas.openxmlformats.org/officeDocument/2006/relationships/image" Target="/ppt/media/image7.png" Id="R38a78d2fa2f64120"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311b268a1d94440a" /></Relationships>
</file>

<file path=ppt/slideLayouts/slideLayout1.xml><?xml version="1.0" encoding="utf-8"?>
<p:sldLayout xmlns:p="http://schemas.openxmlformats.org/presentationml/2006/main" preserve="1">
  <p:cSld name="Title Slide">
    <p:bg>
      <p:bgPr>
        <a:blipFill xmlns:a="http://schemas.openxmlformats.org/drawingml/2006/main" rotWithShape="1">
          <a:blip xmlns:r="http://schemas.openxmlformats.org/officeDocument/2006/relationships" r:embed="R62ab29d9a7864b51">
            <a:lum/>
          </a:blip>
          <a:srcRect l="0" t="0" r="0" b="0"/>
          <a:stretch>
            <a:fillRect l="0" t="0" r="0" b="0"/>
          </a:stretch>
        </a:blipFill>
      </p:bgPr>
    </p:bg>
    <p:spTree>
      <p:nvGrpSpPr>
        <p:cNvPr id="1" name=""/>
        <p:cNvGrpSpPr/>
        <p:nvPr/>
      </p:nvGrpSpPr>
      <p:grpSpPr>
        <a:xfrm xmlns:a="http://schemas.openxmlformats.org/drawingml/2006/main"/>
      </p:grpSpPr>
      <p:sp>
        <p:nvSpPr>
          <p:cNvPr id="3" name="Subtitle 2">
            <a:extLst xmlns:a="http://schemas.openxmlformats.org/drawingml/2006/main">
              <a:ext uri="{FF2B5EF4-FFF2-40B4-BE49-F238E27FC236}">
                <a16:creationId xmlns:a16="http://schemas.microsoft.com/office/drawing/2014/main" id="{DD476EAB-5135-4168-A526-1281A15F2E54}"/>
              </a:ext>
            </a:extLst>
          </p:cNvPr>
          <p:cNvSpPr>
            <a:spLocks xmlns:a="http://schemas.openxmlformats.org/drawingml/2006/main" noGrp="1"/>
          </p:cNvSpPr>
          <p:nvPr>
            <p:ph type="subTitle" idx="1"/>
          </p:nvPr>
        </p:nvSpPr>
        <p:spPr>
          <a:xfrm xmlns:a="http://schemas.openxmlformats.org/drawingml/2006/main">
            <a:off x="1685925" y="4306888"/>
            <a:ext cx="9144000" cy="788987"/>
          </a:xfrm>
          <a:prstGeom xmlns:a="http://schemas.openxmlformats.org/drawingml/2006/main" prst="rect">
            <a:avLst/>
          </a:prstGeom>
        </p:spPr>
        <p:txBody>
          <a:bodyPr xmlns:a="http://schemas.openxmlformats.org/drawingml/2006/main"/>
          <a:lstStyle xmlns:a="http://schemas.openxmlformats.org/drawingml/2006/main">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3CD26953-F69F-42C2-A54B-F597330672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6B744D73-302D-4A28-90DE-C5E45A7C1A5A}"/>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057E0E6-AABA-4ACA-8BEA-B428EC9A8A3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pic>
        <p:nvPicPr>
          <p:cNvPr id="12" name="Picture 1">
            <a:extLst xmlns:a="http://schemas.openxmlformats.org/drawingml/2006/main">
              <a:ext uri="{FF2B5EF4-FFF2-40B4-BE49-F238E27FC236}">
                <a16:creationId xmlns:a16="http://schemas.microsoft.com/office/drawing/2014/main" id="{4650BBB6-9921-469F-81A2-E0489CF75532}"/>
              </a:ext>
            </a:extLst>
          </p:cNvPr>
          <p:cNvPicPr>
            <a:picLocks xmlns:a="http://schemas.openxmlformats.org/drawingml/2006/main" noChangeAspect="1"/>
          </p:cNvPicPr>
          <p:nvPr/>
        </p:nvPicPr>
        <p:blipFill>
          <a:blip xmlns:r="http://schemas.openxmlformats.org/officeDocument/2006/relationships" xmlns:a="http://schemas.openxmlformats.org/drawingml/2006/main" r:embed="R021aaa1b977d4fa9">
            <a:duotone>
              <a:schemeClr val="bg2">
                <a:shade val="45000"/>
                <a:satMod val="135000"/>
              </a:schemeClr>
              <a:prstClr val="white"/>
            </a:duotone>
          </a:blip>
          <a:stretch xmlns:a="http://schemas.openxmlformats.org/drawingml/2006/main">
            <a:fillRect l="0" t="0" r="0" b="0"/>
          </a:stretch>
        </p:blipFill>
        <p:spPr>
          <a:xfrm xmlns:a="http://schemas.openxmlformats.org/drawingml/2006/main">
            <a:off x="5815113" y="1164887"/>
            <a:ext cx="5770529" cy="2308212"/>
          </a:xfrm>
          <a:prstGeom xmlns:a="http://schemas.openxmlformats.org/drawingml/2006/main" prst="rect">
            <a:avLst/>
          </a:prstGeom>
        </p:spPr>
      </p:pic>
    </p:spTree>
  </p:cSld>
</p:sldLayout>
</file>

<file path=ppt/slideLayouts/slideLayout2.xml><?xml version="1.0" encoding="utf-8"?>
<p:sldLayout xmlns:p="http://schemas.openxmlformats.org/presentationml/2006/main" preserve="1" userDrawn="1">
  <p:cSld name="Title and Content">
    <p:bg>
      <p:bgPr>
        <a:blipFill xmlns:a="http://schemas.openxmlformats.org/drawingml/2006/main" rotWithShape="1">
          <a:blip xmlns:r="http://schemas.openxmlformats.org/officeDocument/2006/relationships" r:embed="R7500cdc349204563">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0885E91C-B279-4771-A6D6-01AFC370A44D}"/>
              </a:ext>
            </a:extLst>
          </p:cNvPr>
          <p:cNvSpPr>
            <a:spLocks xmlns:a="http://schemas.openxmlformats.org/drawingml/2006/main" noGrp="1"/>
          </p:cNvSpPr>
          <p:nvPr>
            <p:ph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B1BF17-92F7-4792-899A-1F2D73C4454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97F976D0-EE37-4B31-87EA-7820D621EFC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9F7B01B-9930-4C02-B383-AC141BAF99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7" name="Straight Connector 6">
            <a:extLst xmlns:a="http://schemas.openxmlformats.org/drawingml/2006/main">
              <a:ext uri="{FF2B5EF4-FFF2-40B4-BE49-F238E27FC236}">
                <a16:creationId xmlns:a16="http://schemas.microsoft.com/office/drawing/2014/main" id="{6F02C4A0-0C71-49A5-8AAA-D9E10FC4DBEE}"/>
              </a:ext>
            </a:extLst>
          </p:cNvPr>
          <p:cNvSpPr>
            <a:spLocks xmlns:a="http://schemas.openxmlformats.org/drawingml/2006/main" noGrp="1"/>
          </p:cNvSpPr>
          <p:nvPr/>
        </p:nvSpPr>
        <p:spPr>
          <a:xfrm xmlns:a="http://schemas.openxmlformats.org/drawingml/2006/main">
            <a:off x="4168877" y="1110586"/>
            <a:ext cx="3903407" cy="0"/>
          </a:xfrm>
          <a:prstGeom xmlns:a="http://schemas.openxmlformats.org/drawingml/2006/main" prst="line">
            <a:avLst/>
          </a:prstGeom>
          <a:ln xmlns:a="http://schemas.openxmlformats.org/drawingml/2006/main" w="19050">
            <a:solidFill>
              <a:schemeClr val="bg1"/>
            </a:solidFill>
          </a:ln>
        </p:spPr>
        <p: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p:style>
      </p:sp>
    </p:spTree>
  </p:cSld>
</p:sldLayout>
</file>

<file path=ppt/slideLayouts/slideLayout3.xml><?xml version="1.0" encoding="utf-8"?>
<p:sldLayout xmlns:p="http://schemas.openxmlformats.org/presentationml/2006/main" type="secHead" preserve="1">
  <p:cSld name="Section Header">
    <p:bg>
      <p:bgPr>
        <a:blipFill xmlns:a="http://schemas.openxmlformats.org/drawingml/2006/main" rotWithShape="1">
          <a:blip xmlns:r="http://schemas.openxmlformats.org/officeDocument/2006/relationships" r:embed="R96d4c1a979c2420f">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B0906D-35BC-4927-92F8-905C043059E6}"/>
              </a:ext>
            </a:extLst>
          </p:cNvPr>
          <p:cNvSpPr>
            <a:spLocks xmlns:a="http://schemas.openxmlformats.org/drawingml/2006/main" noGrp="1"/>
          </p:cNvSpPr>
          <p:nvPr>
            <p:ph type="title" idx="0"/>
          </p:nvPr>
        </p:nvSpPr>
        <p:spPr>
          <a:xfrm xmlns:a="http://schemas.openxmlformats.org/drawingml/2006/main">
            <a:off x="831850" y="1709738"/>
            <a:ext cx="10515600" cy="2852737"/>
          </a:xfrm>
          <a:prstGeom xmlns:a="http://schemas.openxmlformats.org/drawingml/2006/main" prst="rect">
            <a:avLst/>
          </a:prstGeo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C8699B3-7648-4820-9323-C443BD59035B}"/>
              </a:ext>
            </a:extLst>
          </p:cNvPr>
          <p:cNvSpPr>
            <a:spLocks xmlns:a="http://schemas.openxmlformats.org/drawingml/2006/main" noGrp="1"/>
          </p:cNvSpPr>
          <p:nvPr>
            <p:ph type="body" idx="1"/>
          </p:nvPr>
        </p:nvSpPr>
        <p:spPr>
          <a:xfrm xmlns:a="http://schemas.openxmlformats.org/drawingml/2006/main">
            <a:off x="831850" y="4589463"/>
            <a:ext cx="10515600" cy="1500187"/>
          </a:xfrm>
          <a:prstGeom xmlns:a="http://schemas.openxmlformats.org/drawingml/2006/main" prst="rect">
            <a:avLst/>
          </a:prstGeo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Edit Master text styles</a:t>
            </a:r>
          </a:p>
        </p:txBody>
      </p:sp>
      <p:sp>
        <p:nvSpPr>
          <p:cNvPr id="4" name="Date Placeholder 3">
            <a:extLst xmlns:a="http://schemas.openxmlformats.org/drawingml/2006/main">
              <a:ext uri="{FF2B5EF4-FFF2-40B4-BE49-F238E27FC236}">
                <a16:creationId xmlns:a16="http://schemas.microsoft.com/office/drawing/2014/main" id="{82630805-DDF8-4EF7-A3AB-8C678FE2761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30D1CF93-1484-4C82-8055-C750BCE2DB2F}"/>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96BD413-0DD9-48B2-9BF9-7F0162A354EB}"/>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4.xml><?xml version="1.0" encoding="utf-8"?>
<p:sldLayout xmlns:p="http://schemas.openxmlformats.org/presentationml/2006/main" type="twoObj" preserve="1">
  <p:cSld name="Two Content">
    <p:bg>
      <p:bgPr>
        <a:blipFill xmlns:a="http://schemas.openxmlformats.org/drawingml/2006/main" rotWithShape="1">
          <a:blip xmlns:r="http://schemas.openxmlformats.org/officeDocument/2006/relationships" r:embed="R9e7f0225d37c4e89">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FF9477B-8FA0-4E2E-A411-CEC74214AA98}"/>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565F1BA-8F75-4BED-97D1-C251B77DEC27}"/>
              </a:ext>
            </a:extLst>
          </p:cNvPr>
          <p:cNvSpPr>
            <a:spLocks xmlns:a="http://schemas.openxmlformats.org/drawingml/2006/main" noGrp="1"/>
          </p:cNvSpPr>
          <p:nvPr>
            <p:ph idx="1"/>
          </p:nvPr>
        </p:nvSpPr>
        <p:spPr>
          <a:xfrm xmlns:a="http://schemas.openxmlformats.org/drawingml/2006/main">
            <a:off x="838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0B5CA33D-41D7-40DC-A274-8FC51B8212FC}"/>
              </a:ext>
            </a:extLst>
          </p:cNvPr>
          <p:cNvSpPr>
            <a:spLocks xmlns:a="http://schemas.openxmlformats.org/drawingml/2006/main" noGrp="1"/>
          </p:cNvSpPr>
          <p:nvPr>
            <p:ph idx="2"/>
          </p:nvPr>
        </p:nvSpPr>
        <p:spPr>
          <a:xfrm xmlns:a="http://schemas.openxmlformats.org/drawingml/2006/main">
            <a:off x="6172200" y="1825625"/>
            <a:ext cx="5181600" cy="4351338"/>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AD8451D-EDDF-4006-9B3A-830C2DE1A60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D79FCCC-B709-4F98-9C0A-BFADD1048C2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E9937E2-6B2D-496B-AD46-366C8AB48D3C}"/>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5.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223868D-1D5E-4FB3-B9FE-4C5AEA810C2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9BA2360F-8409-4B7C-A1BA-23F94EC04AE9}"/>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4" name="Footer Placeholder 3">
            <a:extLst xmlns:a="http://schemas.openxmlformats.org/drawingml/2006/main">
              <a:ext uri="{FF2B5EF4-FFF2-40B4-BE49-F238E27FC236}">
                <a16:creationId xmlns:a16="http://schemas.microsoft.com/office/drawing/2014/main" id="{8F2CC6F3-6DFE-4EE5-9764-0A5BDB6A113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0BF3DB0-DA2D-4F21-9AEA-32AB9CEEAB9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6.xml><?xml version="1.0" encoding="utf-8"?>
<p:sldLayout xmlns:p="http://schemas.openxmlformats.org/presentationml/2006/main"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7735B704-75BC-42AD-B346-4C42C2A14A9B}"/>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CC3AE045-0DF1-4911-98B6-B7D2A377959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0913BC8A-5FD7-4283-A9EC-B9084264E187}"/>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7.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87D74A-B972-4C78-B025-F598CD59A409}"/>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0064ED1-440E-41DD-80C2-5A260F32D936}"/>
              </a:ext>
            </a:extLst>
          </p:cNvPr>
          <p:cNvSpPr>
            <a:spLocks xmlns:a="http://schemas.openxmlformats.org/drawingml/2006/main" noGrp="1"/>
          </p:cNvSpPr>
          <p:nvPr>
            <p:ph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2DFCF4AA-6B43-4D37-869F-726FE35BC881}"/>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73BB77D6-496C-4B12-8E6A-7F9AD8C4A680}"/>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0F75702-FB53-48E4-A4F7-4FE3F5EFB045}"/>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235C7EA-54A0-485D-9B98-80FBABA0055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8.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AE029DB-84DD-4499-8643-849CF0ABD2B3}"/>
              </a:ext>
            </a:extLst>
          </p:cNvPr>
          <p:cNvSpPr>
            <a:spLocks xmlns:a="http://schemas.openxmlformats.org/drawingml/2006/main" noGrp="1"/>
          </p:cNvSpPr>
          <p:nvPr>
            <p:ph type="title" idx="0"/>
          </p:nvPr>
        </p:nvSpPr>
        <p:spPr>
          <a:xfrm xmlns:a="http://schemas.openxmlformats.org/drawingml/2006/main">
            <a:off x="839788" y="457200"/>
            <a:ext cx="3932237" cy="1600200"/>
          </a:xfrm>
          <a:prstGeom xmlns:a="http://schemas.openxmlformats.org/drawingml/2006/main" prst="rect">
            <a:avLst/>
          </a:prstGeo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07BECDC3-4C71-4F83-B92A-EE0E8443A808}"/>
              </a:ext>
            </a:extLst>
          </p:cNvPr>
          <p:cNvSpPr>
            <a:spLocks xmlns:a="http://schemas.openxmlformats.org/drawingml/2006/main" noGrp="1"/>
          </p:cNvSpPr>
          <p:nvPr>
            <p:ph type="pic" idx="1"/>
          </p:nvPr>
        </p:nvSpPr>
        <p:spPr>
          <a:xfrm xmlns:a="http://schemas.openxmlformats.org/drawingml/2006/main">
            <a:off x="5183188" y="987425"/>
            <a:ext cx="6172200" cy="4873625"/>
          </a:xfrm>
          <a:prstGeom xmlns:a="http://schemas.openxmlformats.org/drawingml/2006/main" prst="rect">
            <a:avLst/>
          </a:prstGeo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Click icon to add picture</a:t>
            </a:r>
          </a:p>
        </p:txBody>
      </p:sp>
      <p:sp>
        <p:nvSpPr>
          <p:cNvPr id="4" name="Text Placeholder 3">
            <a:extLst xmlns:a="http://schemas.openxmlformats.org/drawingml/2006/main">
              <a:ext uri="{FF2B5EF4-FFF2-40B4-BE49-F238E27FC236}">
                <a16:creationId xmlns:a16="http://schemas.microsoft.com/office/drawing/2014/main" id="{EE44B493-DE98-432C-A8D0-B319DCF088D6}"/>
              </a:ext>
            </a:extLst>
          </p:cNvPr>
          <p:cNvSpPr>
            <a:spLocks xmlns:a="http://schemas.openxmlformats.org/drawingml/2006/main" noGrp="1"/>
          </p:cNvSpPr>
          <p:nvPr>
            <p:ph type="body" idx="2"/>
          </p:nvPr>
        </p:nvSpPr>
        <p:spPr>
          <a:xfrm xmlns:a="http://schemas.openxmlformats.org/drawingml/2006/main">
            <a:off x="839788" y="2057400"/>
            <a:ext cx="3932237" cy="3811588"/>
          </a:xfrm>
          <a:prstGeom xmlns:a="http://schemas.openxmlformats.org/drawingml/2006/main" prst="rect">
            <a:avLst/>
          </a:prstGeo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Edit Master text styles</a:t>
            </a:r>
          </a:p>
        </p:txBody>
      </p:sp>
      <p:sp>
        <p:nvSpPr>
          <p:cNvPr id="5" name="Date Placeholder 4">
            <a:extLst xmlns:a="http://schemas.openxmlformats.org/drawingml/2006/main">
              <a:ext uri="{FF2B5EF4-FFF2-40B4-BE49-F238E27FC236}">
                <a16:creationId xmlns:a16="http://schemas.microsoft.com/office/drawing/2014/main" id="{04A26AD4-6475-4AAF-A74D-BDE08160083D}"/>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865FF541-011C-415E-988A-7E0FCAD5D780}"/>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25AE6748-3AE2-4F8D-9126-E7640F1FEDDA}"/>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9.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DD1A92D-AC44-49A7-9BF6-6AD60256CE32}"/>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DFD0966E-7D30-406A-8EAB-1F2F2A0966B6}"/>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F52D9B5-3042-405B-87AA-60D30995EACC}"/>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834EED6B-86B8-4FB0-8663-DB3BC67054F2}"/>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0CC2184-4DBC-454D-9C7B-828A9D44E2A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0.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3FD053A5-0BBB-43F5-B10F-91FEA6C7ACEF}"/>
              </a:ext>
            </a:extLst>
          </p:cNvPr>
          <p:cNvSpPr>
            <a:spLocks xmlns:a="http://schemas.openxmlformats.org/drawingml/2006/main" noGrp="1"/>
          </p:cNvSpPr>
          <p:nvPr>
            <p:ph type="title" idx="0"/>
          </p:nvPr>
        </p:nvSpPr>
        <p:spPr>
          <a:xfrm xmlns:a="http://schemas.openxmlformats.org/drawingml/2006/main">
            <a:off x="8724900" y="365125"/>
            <a:ext cx="26289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ED0E8C3B-B826-4987-8FD1-E44A4150069D}"/>
              </a:ext>
            </a:extLst>
          </p:cNvPr>
          <p:cNvSpPr>
            <a:spLocks xmlns:a="http://schemas.openxmlformats.org/drawingml/2006/main" noGrp="1"/>
          </p:cNvSpPr>
          <p:nvPr>
            <p:ph type="body" idx="1"/>
          </p:nvPr>
        </p:nvSpPr>
        <p:spPr>
          <a:xfrm xmlns:a="http://schemas.openxmlformats.org/drawingml/2006/main">
            <a:off x="838200" y="365125"/>
            <a:ext cx="7734300" cy="5811838"/>
          </a:xfrm>
          <a:prstGeom xmlns:a="http://schemas.openxmlformats.org/drawingml/2006/main" prst="rect">
            <a:avLst/>
          </a:prstGeom>
        </p:spPr>
        <p:txBody>
          <a:bodyPr xmlns:a="http://schemas.openxmlformats.org/drawingml/2006/main" vert="eaVert"/>
          <a:lstStyle xmlns:a="http://schemas.openxmlformats.org/drawingml/2006/main"/>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E6DA0FD5-0058-4319-864D-46A863D791E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5" name="Footer Placeholder 4">
            <a:extLst xmlns:a="http://schemas.openxmlformats.org/drawingml/2006/main">
              <a:ext uri="{FF2B5EF4-FFF2-40B4-BE49-F238E27FC236}">
                <a16:creationId xmlns:a16="http://schemas.microsoft.com/office/drawing/2014/main" id="{04B44F6C-6464-41A7-AF8E-F94E0E93AB9C}"/>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66304FC-4637-47E2-86A8-2B63B60D13D0}"/>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11.xml><?xml version="1.0" encoding="utf-8"?>
<p:sldLayout xmlns:p="http://schemas.openxmlformats.org/presentationml/2006/main" preserve="1">
  <p:cSld name="2_Content with Caption">
    <p:bg>
      <p:bgPr>
        <a:blipFill xmlns:a="http://schemas.openxmlformats.org/drawingml/2006/main" rotWithShape="1">
          <a:blip xmlns:r="http://schemas.openxmlformats.org/officeDocument/2006/relationships" r:embed="R40e03d013b5941ba">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46F9509-30BC-4B1E-AB26-4D6575FF7C13}"/>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3321C82D-046B-4F75-A935-16BA527BB455}"/>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C4331828-D716-48E2-B6F2-6910EEF7EB63}"/>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95B2B34-A3F0-4BD7-99E1-421064E7BB19}"/>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A82D4EB4-8C3F-4B6D-8BF9-EA7BA03E7E04}"/>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34F31488-1555-49F3-82E1-EA4271F890A4}"/>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2.xml><?xml version="1.0" encoding="utf-8"?>
<p:sldLayout xmlns:p="http://schemas.openxmlformats.org/presentationml/2006/main" preserve="1">
  <p:cSld name="3_Content with Caption">
    <p:bg>
      <p:bgPr>
        <a:blipFill xmlns:a="http://schemas.openxmlformats.org/drawingml/2006/main" rotWithShape="1">
          <a:blip xmlns:r="http://schemas.openxmlformats.org/officeDocument/2006/relationships" r:embed="R2d6c0bba7e564dcf">
            <a:lum/>
          </a:blip>
          <a:srcRect l="0" t="0" r="0" b="0"/>
          <a:stretch>
            <a:fillRect l="0" t="0" r="0" b="0"/>
          </a:stretch>
        </a:blipFill>
      </p:bgPr>
    </p:bg>
    <p:spTree>
      <p:nvGrpSpPr>
        <p:cNvPr id="1" name=""/>
        <p:cNvGrpSpPr/>
        <p:nvPr/>
      </p:nvGrpSpPr>
      <p:grpSpPr>
        <a:xfrm xmlns:a="http://schemas.openxmlformats.org/drawingml/2006/main"/>
      </p:grpSpPr>
      <p:sp>
        <p:nvSpPr>
          <p:cNvPr id="3" name="Content Placeholder 2">
            <a:extLst xmlns:a="http://schemas.openxmlformats.org/drawingml/2006/main">
              <a:ext uri="{FF2B5EF4-FFF2-40B4-BE49-F238E27FC236}">
                <a16:creationId xmlns:a16="http://schemas.microsoft.com/office/drawing/2014/main" id="{FA34909E-DA60-4937-9B3C-7EA971D96B0B}"/>
              </a:ext>
            </a:extLst>
          </p:cNvPr>
          <p:cNvSpPr>
            <a:spLocks xmlns:a="http://schemas.openxmlformats.org/drawingml/2006/main" noGrp="1"/>
          </p:cNvSpPr>
          <p:nvPr>
            <p:ph idx="1"/>
          </p:nvPr>
        </p:nvSpPr>
        <p:spPr>
          <a:xfrm xmlns:a="http://schemas.openxmlformats.org/drawingml/2006/main">
            <a:off x="4779390" y="987424"/>
            <a:ext cx="6896510" cy="4873625"/>
          </a:xfrm>
          <a:prstGeom xmlns:a="http://schemas.openxmlformats.org/drawingml/2006/main" prst="rect">
            <a:avLst/>
          </a:prstGeo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E7A90903-4F05-4E4E-B136-237F76306186}"/>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6" name="Footer Placeholder 5">
            <a:extLst xmlns:a="http://schemas.openxmlformats.org/drawingml/2006/main">
              <a:ext uri="{FF2B5EF4-FFF2-40B4-BE49-F238E27FC236}">
                <a16:creationId xmlns:a16="http://schemas.microsoft.com/office/drawing/2014/main" id="{A7AE810D-9F46-4331-96BF-4958EC4E103E}"/>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B5B6C0DB-065F-4CDD-943C-D9FF8788BC18}"/>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
        <p:nvSpPr>
          <p:cNvPr id="16" name="Picture Placeholder 15">
            <a:extLst xmlns:a="http://schemas.openxmlformats.org/drawingml/2006/main">
              <a:ext uri="{FF2B5EF4-FFF2-40B4-BE49-F238E27FC236}">
                <a16:creationId xmlns:a16="http://schemas.microsoft.com/office/drawing/2014/main" id="{009DE2FE-42C5-4634-9725-3F525B22B8B5}"/>
              </a:ext>
            </a:extLst>
          </p:cNvPr>
          <p:cNvSpPr>
            <a:spLocks xmlns:a="http://schemas.openxmlformats.org/drawingml/2006/main" noGrp="1"/>
          </p:cNvSpPr>
          <p:nvPr>
            <p:ph type="pic" idx="13"/>
          </p:nvPr>
        </p:nvSpPr>
        <p:spPr>
          <a:xfrm xmlns:a="http://schemas.openxmlformats.org/drawingml/2006/main">
            <a:off x="0" y="987424"/>
            <a:ext cx="5183188" cy="4873625"/>
          </a:xfrm>
          <a:custGeom xmlns:a="http://schemas.openxmlformats.org/drawingml/2006/main">
            <a:gdLst>
              <a:gd name="connsiteX0" fmla="*/ 976445 w 5183188"/>
              <a:gd name="connsiteY0" fmla="*/ 0 h 4873625"/>
              <a:gd name="connsiteX1" fmla="*/ 2746376 w 5183188"/>
              <a:gd name="connsiteY1" fmla="*/ 0 h 4873625"/>
              <a:gd name="connsiteX2" fmla="*/ 5170608 w 5183188"/>
              <a:gd name="connsiteY2" fmla="*/ 2187663 h 4873625"/>
              <a:gd name="connsiteX3" fmla="*/ 5183188 w 5183188"/>
              <a:gd name="connsiteY3" fmla="*/ 2436794 h 4873625"/>
              <a:gd name="connsiteX4" fmla="*/ 5183188 w 5183188"/>
              <a:gd name="connsiteY4" fmla="*/ 2436813 h 4873625"/>
              <a:gd name="connsiteX5" fmla="*/ 2995525 w 5183188"/>
              <a:gd name="connsiteY5" fmla="*/ 4861045 h 4873625"/>
              <a:gd name="connsiteX6" fmla="*/ 2746395 w 5183188"/>
              <a:gd name="connsiteY6" fmla="*/ 4873625 h 4873625"/>
              <a:gd name="connsiteX7" fmla="*/ 976445 w 5183188"/>
              <a:gd name="connsiteY7" fmla="*/ 4873625 h 4873625"/>
              <a:gd name="connsiteX8" fmla="*/ 27927 w 5183188"/>
              <a:gd name="connsiteY8" fmla="*/ 4682128 h 4873625"/>
              <a:gd name="connsiteX9" fmla="*/ 0 w 5183188"/>
              <a:gd name="connsiteY9" fmla="*/ 4668675 h 4873625"/>
              <a:gd name="connsiteX10" fmla="*/ 0 w 5183188"/>
              <a:gd name="connsiteY10" fmla="*/ 204950 h 4873625"/>
              <a:gd name="connsiteX11" fmla="*/ 27927 w 5183188"/>
              <a:gd name="connsiteY11" fmla="*/ 191497 h 4873625"/>
              <a:gd name="connsiteX12" fmla="*/ 976445 w 5183188"/>
              <a:gd name="connsiteY12" fmla="*/ 0 h 4873625"/>
            </a:gdLst>
            <a:rect l="l" t="t" r="r" b="b"/>
            <a:pathLst>
              <a:path w="5183188" h="4873625">
                <a:moveTo>
                  <a:pt x="976445" y="0"/>
                </a:moveTo>
                <a:lnTo>
                  <a:pt x="2746376" y="0"/>
                </a:lnTo>
                <a:cubicBezTo>
                  <a:pt x="4008078" y="0"/>
                  <a:pt x="5045819" y="958885"/>
                  <a:pt x="5170608" y="2187663"/>
                </a:cubicBezTo>
                <a:lnTo>
                  <a:pt x="5183188" y="2436794"/>
                </a:lnTo>
                <a:lnTo>
                  <a:pt x="5183188" y="2436813"/>
                </a:lnTo>
                <a:cubicBezTo>
                  <a:pt x="5183188" y="3698515"/>
                  <a:pt x="4224303" y="4736256"/>
                  <a:pt x="2995525" y="4861045"/>
                </a:cubicBezTo>
                <a:lnTo>
                  <a:pt x="2746395" y="4873625"/>
                </a:lnTo>
                <a:lnTo>
                  <a:pt x="976445" y="4873625"/>
                </a:lnTo>
                <a:cubicBezTo>
                  <a:pt x="639991" y="4873625"/>
                  <a:pt x="319464" y="4805438"/>
                  <a:pt x="27927" y="4682128"/>
                </a:cubicBezTo>
                <a:lnTo>
                  <a:pt x="0" y="4668675"/>
                </a:lnTo>
                <a:lnTo>
                  <a:pt x="0" y="204950"/>
                </a:lnTo>
                <a:lnTo>
                  <a:pt x="27927" y="191497"/>
                </a:lnTo>
                <a:cubicBezTo>
                  <a:pt x="319464" y="68188"/>
                  <a:pt x="639991" y="0"/>
                  <a:pt x="976445" y="0"/>
                </a:cubicBezTo>
                <a:close/>
              </a:path>
            </a:pathLst>
          </a:custGeom>
        </p:spPr>
        <p:txBody>
          <a:bodyPr xmlns:a="http://schemas.openxmlformats.org/drawingml/2006/main" wrap="square">
            <a:noAutofit/>
          </a:bodyPr>
          <a:lstStyle xmlns:a="http://schemas.openxmlformats.org/drawingml/2006/main"/>
          <a:p xmlns:a="http://schemas.openxmlformats.org/drawingml/2006/main">
            <a:r>
              <a:t>Click icon to add picture</a:t>
            </a:r>
          </a:p>
        </p:txBody>
      </p:sp>
      <p:sp>
        <p:nvSpPr>
          <p:cNvPr id="9" name="Title 1">
            <a:extLst xmlns:a="http://schemas.openxmlformats.org/drawingml/2006/main">
              <a:ext uri="{FF2B5EF4-FFF2-40B4-BE49-F238E27FC236}">
                <a16:creationId xmlns:a16="http://schemas.microsoft.com/office/drawing/2014/main" id="{10C268A3-DF84-4F52-8726-DE9F389CEA06}"/>
              </a:ext>
            </a:extLst>
          </p:cNvPr>
          <p:cNvSpPr>
            <a:spLocks xmlns:a="http://schemas.openxmlformats.org/drawingml/2006/main" noGrp="1"/>
          </p:cNvSpPr>
          <p:nvPr>
            <p:ph type="title" idx="0"/>
          </p:nvPr>
        </p:nvSpPr>
        <p:spPr>
          <a:xfrm xmlns:a="http://schemas.openxmlformats.org/drawingml/2006/main">
            <a:off x="838200" y="22009"/>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Tree>
  </p:cSld>
</p:sldLayout>
</file>

<file path=ppt/slideLayouts/slideLayout13.xml><?xml version="1.0" encoding="utf-8"?>
<p:sldLayout xmlns:p="http://schemas.openxmlformats.org/presentationml/2006/main" matchingName="Title.Content Slide">
  <p:cSld name="Title.Content Slide">
    <p:spTree>
      <p:nvGrpSpPr>
        <p:cNvPr id="1" name=""/>
        <p:cNvGrpSpPr/>
        <p:nvPr/>
      </p:nvGrpSpPr>
      <p:grpSpPr>
        <a:xfrm xmlns:a="http://schemas.openxmlformats.org/drawingml/2006/main"/>
      </p:grpSpPr>
      <p:sp>
        <p:nvSpPr>
          <p:cNvPr id="85" name="Google Shape;85;g2893b70371c_0_647">
            <a:extLst xmlns:a="http://schemas.openxmlformats.org/drawingml/2006/main">
              <a:ext uri="{FF2B5EF4-FFF2-40B4-BE49-F238E27FC236}">
                <a16:creationId xmlns:a16="http://schemas.microsoft.com/office/drawing/2014/main" id="{6402517A-AE40-46CB-83E3-257A504B9F9A}"/>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86" name="Google Shape;86;g2893b70371c_0_647">
            <a:extLst xmlns:a="http://schemas.openxmlformats.org/drawingml/2006/main">
              <a:ext uri="{FF2B5EF4-FFF2-40B4-BE49-F238E27FC236}">
                <a16:creationId xmlns:a16="http://schemas.microsoft.com/office/drawing/2014/main" id="{1EC34D21-2348-4A83-9CBD-617A7D6F5AE3}"/>
              </a:ext>
            </a:extLst>
          </p:cNvPr>
          <p:cNvSpPr>
            <a:spLocks xmlns:a="http://schemas.openxmlformats.org/drawingml/2006/main" noGrp="1"/>
          </p:cNvSpPr>
          <p:nvPr>
            <p:ph type="body" idx="1"/>
          </p:nvPr>
        </p:nvSpPr>
        <p:spPr>
          <a:xfrm xmlns:a="http://schemas.openxmlformats.org/drawingml/2006/main">
            <a:off x="1" y="789405"/>
            <a:ext cx="12192000" cy="528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720000" tIns="45700" rIns="648000" bIns="45700" anchor="t">
            <a:normAutofit/>
          </a:bodyPr>
          <a:lstStyle xmlns:a="http://schemas.openxmlformats.org/drawingml/2006/main">
            <a:lvl1pPr marL="457200" indent="-323786" algn="l">
              <a:lnSpc>
                <a:spcPct val="100000"/>
              </a:lnSpc>
              <a:spcBef>
                <a:spcPts val="300"/>
              </a:spcBef>
              <a:spcAft>
                <a:spcPts val="0"/>
              </a:spcAft>
              <a:buSzPts val="1499"/>
              <a:buChar char="•"/>
              <a:defRPr sz="1499">
                <a:latin typeface="Verdana"/>
                <a:ea typeface="Verdana"/>
                <a:cs typeface="Verdana"/>
              </a:defRPr>
            </a:lvl1pPr>
            <a:lvl2pPr marL="914400" indent="-323786" algn="l">
              <a:lnSpc>
                <a:spcPct val="100000"/>
              </a:lnSpc>
              <a:spcBef>
                <a:spcPts val="449"/>
              </a:spcBef>
              <a:spcAft>
                <a:spcPts val="0"/>
              </a:spcAft>
              <a:buSzPts val="1499"/>
              <a:buChar char="•"/>
              <a:defRPr sz="1499">
                <a:latin typeface="Verdana"/>
                <a:ea typeface="Verdana"/>
                <a:cs typeface="Verdana"/>
              </a:defRPr>
            </a:lvl2pPr>
            <a:lvl3pPr marL="1371600" indent="-314261" algn="l">
              <a:lnSpc>
                <a:spcPct val="100000"/>
              </a:lnSpc>
              <a:spcBef>
                <a:spcPts val="449"/>
              </a:spcBef>
              <a:spcAft>
                <a:spcPts val="0"/>
              </a:spcAft>
              <a:buSzPts val="1349"/>
              <a:buChar char="•"/>
              <a:defRPr sz="1349">
                <a:latin typeface="Verdana"/>
                <a:ea typeface="Verdana"/>
                <a:cs typeface="Verdana"/>
              </a:defRPr>
            </a:lvl3pPr>
            <a:lvl4pPr marL="1828800" indent="-304736" algn="l">
              <a:lnSpc>
                <a:spcPct val="100000"/>
              </a:lnSpc>
              <a:spcBef>
                <a:spcPts val="449"/>
              </a:spcBef>
              <a:spcAft>
                <a:spcPts val="0"/>
              </a:spcAft>
              <a:buSzPts val="1199"/>
              <a:buChar char="•"/>
              <a:defRPr sz="1199">
                <a:latin typeface="Verdana"/>
                <a:ea typeface="Verdana"/>
                <a:cs typeface="Verdana"/>
              </a:defRPr>
            </a:lvl4pPr>
            <a:lvl5pPr marL="2286000" indent="-266636" algn="l">
              <a:lnSpc>
                <a:spcPct val="100000"/>
              </a:lnSpc>
              <a:spcBef>
                <a:spcPts val="449"/>
              </a:spcBef>
              <a:spcAft>
                <a:spcPts val="0"/>
              </a:spcAft>
              <a:buSzPts val="599"/>
              <a:buChar char="•"/>
              <a:defRPr sz="599">
                <a:latin typeface="Verdana"/>
                <a:ea typeface="Verdana"/>
                <a:cs typeface="Verdana"/>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87" name="Google Shape;87;g2893b70371c_0_647">
            <a:extLst xmlns:a="http://schemas.openxmlformats.org/drawingml/2006/main">
              <a:ext uri="{FF2B5EF4-FFF2-40B4-BE49-F238E27FC236}">
                <a16:creationId xmlns:a16="http://schemas.microsoft.com/office/drawing/2014/main" id="{6ED3A0E9-C29A-4837-B2B7-1A538248CE8C}"/>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a:lvl1pPr>
            <a:lvl2pPr marL="0" indent="0" algn="r">
              <a:spcBef>
                <a:spcPts val="0"/>
              </a:spcBef>
              <a:buNone/>
              <a:defRPr/>
            </a:lvl2pPr>
            <a:lvl3pPr marL="0" indent="0" algn="r">
              <a:spcBef>
                <a:spcPts val="0"/>
              </a:spcBef>
              <a:buNone/>
              <a:defRPr/>
            </a:lvl3pPr>
            <a:lvl4pPr marL="0" indent="0" algn="r">
              <a:spcBef>
                <a:spcPts val="0"/>
              </a:spcBef>
              <a:buNone/>
              <a:defRPr/>
            </a:lvl4pPr>
            <a:lvl5pPr marL="0" indent="0" algn="r">
              <a:spcBef>
                <a:spcPts val="0"/>
              </a:spcBef>
              <a:buNone/>
              <a:defRPr/>
            </a:lvl5pPr>
            <a:lvl6pPr marL="0" indent="0" algn="r">
              <a:spcBef>
                <a:spcPts val="0"/>
              </a:spcBef>
              <a:buNone/>
              <a:defRPr/>
            </a:lvl6pPr>
            <a:lvl7pPr marL="0" indent="0" algn="r">
              <a:spcBef>
                <a:spcPts val="0"/>
              </a:spcBef>
              <a:buNone/>
              <a:defRPr/>
            </a:lvl7pPr>
            <a:lvl8pPr marL="0" indent="0" algn="r">
              <a:spcBef>
                <a:spcPts val="0"/>
              </a:spcBef>
              <a:buNone/>
              <a:defRPr/>
            </a:lvl8pPr>
            <a:lvl9pPr marL="0" indent="0" algn="r">
              <a:spcBef>
                <a:spcPts val="0"/>
              </a:spcBef>
              <a:buNone/>
              <a:defRPr/>
            </a:lvl9pPr>
          </a:lstStyle>
          <a:p xmlns:a="http://schemas.openxmlformats.org/drawingml/2006/main">
            <a:fld id="{A74DB8E4-0DF9-4658-8AF8-1D74F81145F2}" type="slidenum">
              <a:t>‹#›</a:t>
            </a:fld>
            <a:endParaRPr/>
          </a:p>
        </p:txBody>
      </p:sp>
    </p:spTree>
  </p:cSld>
</p:sldLayout>
</file>

<file path=ppt/slideLayouts/slideLayout14.xml><?xml version="1.0" encoding="utf-8"?>
<p:sldLayout xmlns:p="http://schemas.openxmlformats.org/presentationml/2006/main" preserve="1">
  <p:cSld name="Custom Layout">
    <p:spTree>
      <p:nvGrpSpPr>
        <p:cNvPr id="1" name=""/>
        <p:cNvGrpSpPr/>
        <p:nvPr/>
      </p:nvGrpSpPr>
      <p:grpSpPr>
        <a:xfrm xmlns:a="http://schemas.openxmlformats.org/drawingml/2006/main"/>
      </p:grpSpPr>
      <p:pic>
        <p:nvPicPr>
          <p:cNvPr id="5" name="Picture 3">
            <a:extLst xmlns:a="http://schemas.openxmlformats.org/drawingml/2006/main">
              <a:ext uri="{FF2B5EF4-FFF2-40B4-BE49-F238E27FC236}">
                <a16:creationId xmlns:a16="http://schemas.microsoft.com/office/drawing/2014/main" id="{BEBEE005-DE03-4476-8BC7-FD3AE1E4B54D}"/>
              </a:ext>
            </a:extLst>
          </p:cNvPr>
          <p:cNvPicPr>
            <a:picLocks xmlns:a="http://schemas.openxmlformats.org/drawingml/2006/main" noChangeAspect="1"/>
          </p:cNvPicPr>
          <p:nvPr/>
        </p:nvPicPr>
        <p:blipFill>
          <a:blip xmlns:r="http://schemas.openxmlformats.org/officeDocument/2006/relationships" xmlns:a="http://schemas.openxmlformats.org/drawingml/2006/main" r:embed="R3ad68cebca814fe8"/>
          <a:stretch xmlns:a="http://schemas.openxmlformats.org/drawingml/2006/main">
            <a:fillRect l="0" t="0" r="0" b="0"/>
          </a:stretch>
        </p:blipFill>
        <p:spPr>
          <a:xfrm xmlns:a="http://schemas.openxmlformats.org/drawingml/2006/main">
            <a:off x="68090" y="1411497"/>
            <a:ext cx="12036357" cy="5342089"/>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4E62F9C0-FC99-427B-BB04-CD2171584D6E}"/>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r>
              <a:t>Click to edit Master title style</a:t>
            </a:r>
          </a:p>
        </p:txBody>
      </p:sp>
      <p:sp>
        <p:nvSpPr>
          <p:cNvPr id="3" name="正方形/長方形 5">
            <a:extLst xmlns:a="http://schemas.openxmlformats.org/drawingml/2006/main">
              <a:ext uri="{FF2B5EF4-FFF2-40B4-BE49-F238E27FC236}">
                <a16:creationId xmlns:a16="http://schemas.microsoft.com/office/drawing/2014/main" id="{2E7483FB-6091-4DAF-9AEE-C7FA49D6313B}"/>
              </a:ext>
            </a:extLst>
          </p:cNvPr>
          <p:cNvSpPr>
            <a:spLocks xmlns:a="http://schemas.openxmlformats.org/drawingml/2006/main" noGrp="1"/>
          </p:cNvSpPr>
          <p:nvPr/>
        </p:nvSpPr>
        <p:spPr>
          <a:xfrm xmlns:a="http://schemas.openxmlformats.org/drawingml/2006/main">
            <a:off x="-18943" y="1303507"/>
            <a:ext cx="12304976" cy="5564221"/>
          </a:xfrm>
          <a:prstGeom xmlns:a="http://schemas.openxmlformats.org/drawingml/2006/main" prst="rect">
            <a:avLst/>
          </a:prstGeom>
          <a:solidFill xmlns:a="http://schemas.openxmlformats.org/drawingml/2006/main">
            <a:schemeClr val="bg1">
              <a:alpha val="30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defTabSz="684543">
              <a:buNone/>
            </a:pPr>
            <a:endParaRPr sz="1348">
              <a:solidFill>
                <a:prstClr val="white"/>
              </a:solidFill>
              <a:latin typeface="Calibri"/>
              <a:ea typeface="Calibri"/>
              <a:cs typeface="Calibri"/>
            </a:endParaRPr>
          </a:p>
        </p:txBody>
      </p:sp>
    </p:spTree>
  </p:cSld>
</p:sldLayout>
</file>

<file path=ppt/slideLayouts/slideLayout15.xml><?xml version="1.0" encoding="utf-8"?>
<p:sldLayout xmlns:p="http://schemas.openxmlformats.org/presentationml/2006/main" matchingName="フッターなし">
  <p:cSld name="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923DDDB2-505E-4FF7-B1B7-0743890AB5FB}"/>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92" name="Google Shape;405;g2893b70371c_0_1188">
            <a:extLst xmlns:a="http://schemas.openxmlformats.org/drawingml/2006/main">
              <a:ext uri="{FF2B5EF4-FFF2-40B4-BE49-F238E27FC236}">
                <a16:creationId xmlns:a16="http://schemas.microsoft.com/office/drawing/2014/main" id="{7EB68CBB-4823-4C7B-A78C-70ACFBCAC75C}"/>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65e36816698749f4">
            <a:alphaModFix/>
          </a:blip>
          <a:srcRect xmlns:a="http://schemas.openxmlformats.org/drawingml/2006/main" l="0" t="0" r="0" b="0"/>
          <a:stretch xmlns:a="http://schemas.openxmlformats.org/drawingml/2006/main"/>
        </p:blipFill>
        <p:spPr>
          <a:xfrm xmlns:a="http://schemas.openxmlformats.org/drawingml/2006/main">
            <a:off x="0" y="1361872"/>
            <a:ext cx="12192000" cy="5555878"/>
          </a:xfrm>
          <a:prstGeom xmlns:a="http://schemas.openxmlformats.org/drawingml/2006/main" prst="rect">
            <a:avLst/>
          </a:prstGeom>
          <a:ln xmlns:a="http://schemas.openxmlformats.org/drawingml/2006/main">
            <a:noFill/>
          </a:ln>
        </p:spPr>
      </p:pic>
    </p:spTree>
  </p:cSld>
</p:sldLayout>
</file>

<file path=ppt/slideLayouts/slideLayout16.xml><?xml version="1.0" encoding="utf-8"?>
<p:sldLayout xmlns:p="http://schemas.openxmlformats.org/presentationml/2006/main" matchingName="フッターなし" preserve="1">
  <p:cSld name="1_フッターなし">
    <p:spTree>
      <p:nvGrpSpPr>
        <p:cNvPr id="1" name=""/>
        <p:cNvGrpSpPr/>
        <p:nvPr/>
      </p:nvGrpSpPr>
      <p:grpSpPr>
        <a:xfrm xmlns:a="http://schemas.openxmlformats.org/drawingml/2006/main"/>
      </p:grpSpPr>
      <p:sp>
        <p:nvSpPr>
          <p:cNvPr id="89" name="Google Shape;89;g2893b70371c_0_712">
            <a:extLst xmlns:a="http://schemas.openxmlformats.org/drawingml/2006/main">
              <a:ext uri="{FF2B5EF4-FFF2-40B4-BE49-F238E27FC236}">
                <a16:creationId xmlns:a16="http://schemas.microsoft.com/office/drawing/2014/main" id="{28993DE7-7A48-434E-8EF1-1446046D94E8}"/>
              </a:ext>
            </a:extLst>
          </p:cNvPr>
          <p:cNvSpPr>
            <a:spLocks xmlns:a="http://schemas.openxmlformats.org/drawingml/2006/main" noGrp="1"/>
          </p:cNvSpPr>
          <p:nvPr>
            <p:ph type="sldNum" idx="12"/>
          </p:nvPr>
        </p:nvSpPr>
        <p:spPr>
          <a:xfrm xmlns:a="http://schemas.openxmlformats.org/drawingml/2006/main">
            <a:off x="10872225" y="18168"/>
            <a:ext cx="1316700" cy="350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indent="0" algn="r">
              <a:spcBef>
                <a:spcPts val="0"/>
              </a:spcBef>
              <a:buNone/>
              <a:defRPr sz="1050" b="0" i="0" u="none" cap="none">
                <a:solidFill>
                  <a:srgbClr val="828282"/>
                </a:solidFill>
                <a:latin typeface="Verdana"/>
                <a:ea typeface="Verdana"/>
                <a:cs typeface="Verdana"/>
              </a:defRPr>
            </a:lvl1pPr>
            <a:lvl2pPr marL="0" indent="0" algn="r">
              <a:spcBef>
                <a:spcPts val="0"/>
              </a:spcBef>
              <a:buNone/>
              <a:defRPr sz="1050" b="0" i="0" u="none" cap="none">
                <a:solidFill>
                  <a:srgbClr val="828282"/>
                </a:solidFill>
                <a:latin typeface="Verdana"/>
                <a:ea typeface="Verdana"/>
                <a:cs typeface="Verdana"/>
              </a:defRPr>
            </a:lvl2pPr>
            <a:lvl3pPr marL="0" indent="0" algn="r">
              <a:spcBef>
                <a:spcPts val="0"/>
              </a:spcBef>
              <a:buNone/>
              <a:defRPr sz="1050" b="0" i="0" u="none" cap="none">
                <a:solidFill>
                  <a:srgbClr val="828282"/>
                </a:solidFill>
                <a:latin typeface="Verdana"/>
                <a:ea typeface="Verdana"/>
                <a:cs typeface="Verdana"/>
              </a:defRPr>
            </a:lvl3pPr>
            <a:lvl4pPr marL="0" indent="0" algn="r">
              <a:spcBef>
                <a:spcPts val="0"/>
              </a:spcBef>
              <a:buNone/>
              <a:defRPr sz="1050" b="0" i="0" u="none" cap="none">
                <a:solidFill>
                  <a:srgbClr val="828282"/>
                </a:solidFill>
                <a:latin typeface="Verdana"/>
                <a:ea typeface="Verdana"/>
                <a:cs typeface="Verdana"/>
              </a:defRPr>
            </a:lvl4pPr>
            <a:lvl5pPr marL="0" indent="0" algn="r">
              <a:spcBef>
                <a:spcPts val="0"/>
              </a:spcBef>
              <a:buNone/>
              <a:defRPr sz="1050" b="0" i="0" u="none" cap="none">
                <a:solidFill>
                  <a:srgbClr val="828282"/>
                </a:solidFill>
                <a:latin typeface="Verdana"/>
                <a:ea typeface="Verdana"/>
                <a:cs typeface="Verdana"/>
              </a:defRPr>
            </a:lvl5pPr>
            <a:lvl6pPr marL="0" indent="0" algn="r">
              <a:spcBef>
                <a:spcPts val="0"/>
              </a:spcBef>
              <a:buNone/>
              <a:defRPr sz="1050" b="0" i="0" u="none" cap="none">
                <a:solidFill>
                  <a:srgbClr val="828282"/>
                </a:solidFill>
                <a:latin typeface="Verdana"/>
                <a:ea typeface="Verdana"/>
                <a:cs typeface="Verdana"/>
              </a:defRPr>
            </a:lvl6pPr>
            <a:lvl7pPr marL="0" indent="0" algn="r">
              <a:spcBef>
                <a:spcPts val="0"/>
              </a:spcBef>
              <a:buNone/>
              <a:defRPr sz="1050" b="0" i="0" u="none" cap="none">
                <a:solidFill>
                  <a:srgbClr val="828282"/>
                </a:solidFill>
                <a:latin typeface="Verdana"/>
                <a:ea typeface="Verdana"/>
                <a:cs typeface="Verdana"/>
              </a:defRPr>
            </a:lvl7pPr>
            <a:lvl8pPr marL="0" indent="0" algn="r">
              <a:spcBef>
                <a:spcPts val="0"/>
              </a:spcBef>
              <a:buNone/>
              <a:defRPr sz="1050" b="0" i="0" u="none" cap="none">
                <a:solidFill>
                  <a:srgbClr val="828282"/>
                </a:solidFill>
                <a:latin typeface="Verdana"/>
                <a:ea typeface="Verdana"/>
                <a:cs typeface="Verdana"/>
              </a:defRPr>
            </a:lvl8pPr>
            <a:lvl9pPr marL="0" indent="0" algn="r">
              <a:spcBef>
                <a:spcPts val="0"/>
              </a:spcBef>
              <a:buNone/>
              <a:defRPr sz="1050" b="0" i="0" u="none" cap="none">
                <a:solidFill>
                  <a:srgbClr val="828282"/>
                </a:solidFill>
                <a:latin typeface="Verdana"/>
                <a:ea typeface="Verdana"/>
                <a:cs typeface="Verdana"/>
              </a:defRPr>
            </a:lvl9pPr>
          </a:lstStyle>
          <a:p xmlns:a="http://schemas.openxmlformats.org/drawingml/2006/main">
            <a:pPr marL="0" lvl="0" indent="0" algn="r">
              <a:spcBef>
                <a:spcPts val="0"/>
              </a:spcBef>
              <a:spcAft>
                <a:spcPts val="0"/>
              </a:spcAft>
              <a:buNone/>
            </a:pPr>
            <a:r>
              <a:t> </a:t>
            </a:r>
          </a:p>
        </p:txBody>
      </p:sp>
      <p:sp>
        <p:nvSpPr>
          <p:cNvPr id="7" name="Google Shape;271;g2893b70371c_0_651">
            <a:extLst xmlns:a="http://schemas.openxmlformats.org/drawingml/2006/main">
              <a:ext uri="{FF2B5EF4-FFF2-40B4-BE49-F238E27FC236}">
                <a16:creationId xmlns:a16="http://schemas.microsoft.com/office/drawing/2014/main" id="{F513FFFE-0615-4FA0-8487-355DBC22CF28}"/>
              </a:ext>
            </a:extLst>
          </p:cNvPr>
          <p:cNvSpPr>
            <a:spLocks xmlns:a="http://schemas.openxmlformats.org/drawingml/2006/main" noGrp="1"/>
          </p:cNvSpPr>
          <p:nvPr/>
        </p:nvSpPr>
        <p:spPr>
          <a:xfrm xmlns:a="http://schemas.openxmlformats.org/drawingml/2006/main">
            <a:off x="0" y="1066800"/>
            <a:ext cx="12188925" cy="5791200"/>
          </a:xfrm>
          <a:prstGeom xmlns:a="http://schemas.openxmlformats.org/drawingml/2006/main" prst="rect">
            <a:avLst/>
          </a:prstGeom>
          <a:solidFill xmlns:a="http://schemas.openxmlformats.org/drawingml/2006/main">
            <a:schemeClr val="bg1">
              <a:alpha val="590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7.xml><?xml version="1.0" encoding="utf-8"?>
<p:sldLayout xmlns:p="http://schemas.openxmlformats.org/presentationml/2006/main" matchingName="フッターなし" preserve="1" userDrawn="1">
  <p:cSld name="1_フッターなし">
    <p:bg>
      <p:bgPr>
        <a:blipFill xmlns:a="http://schemas.openxmlformats.org/drawingml/2006/main" rotWithShape="1">
          <a:blip xmlns:r="http://schemas.openxmlformats.org/officeDocument/2006/relationships" r:embed="Rf3b45f5673a24eb6">
            <a:lum/>
          </a:blip>
          <a:srcRect l="0" t="0" r="0" b="0"/>
          <a:stretch>
            <a:fillRect l="0" t="0" r="0" b="0"/>
          </a:stretch>
        </a:blipFill>
      </p:bgPr>
    </p:bg>
    <p:spTree>
      <p:nvGrpSpPr>
        <p:cNvPr id="1" name=""/>
        <p:cNvGrpSpPr/>
        <p:nvPr/>
      </p:nvGrpSpPr>
      <p:grpSpPr>
        <a:xfrm xmlns:a="http://schemas.openxmlformats.org/drawingml/2006/main"/>
      </p:grpSpPr>
      <p:sp>
        <p:nvSpPr>
          <p:cNvPr id="7" name="Google Shape;271;g2893b70371c_0_651">
            <a:extLst xmlns:a="http://schemas.openxmlformats.org/drawingml/2006/main">
              <a:ext uri="{FF2B5EF4-FFF2-40B4-BE49-F238E27FC236}">
                <a16:creationId xmlns:a16="http://schemas.microsoft.com/office/drawing/2014/main" id="{B4077064-1AE9-437D-96EA-CF89EA62BF72}"/>
              </a:ext>
            </a:extLst>
          </p:cNvPr>
          <p:cNvSpPr>
            <a:spLocks xmlns:a="http://schemas.openxmlformats.org/drawingml/2006/main" noGrp="1"/>
          </p:cNvSpPr>
          <p:nvPr/>
        </p:nvSpPr>
        <p:spPr>
          <a:xfrm xmlns:a="http://schemas.openxmlformats.org/drawingml/2006/main">
            <a:off x="0" y="1241729"/>
            <a:ext cx="12188925" cy="5791200"/>
          </a:xfrm>
          <a:prstGeom xmlns:a="http://schemas.openxmlformats.org/drawingml/2006/main" prst="rect">
            <a:avLst/>
          </a:prstGeom>
          <a:solidFill xmlns:a="http://schemas.openxmlformats.org/drawingml/2006/main">
            <a:schemeClr val="bg1"/>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
        <p:nvSpPr>
          <p:cNvPr id="2" name="Title 1">
            <a:extLst xmlns:a="http://schemas.openxmlformats.org/drawingml/2006/main">
              <a:ext uri="{FF2B5EF4-FFF2-40B4-BE49-F238E27FC236}">
                <a16:creationId xmlns:a16="http://schemas.microsoft.com/office/drawing/2014/main" id="{86BF1113-9B20-4A36-B1E2-DFC2899C37F7}"/>
              </a:ext>
            </a:extLst>
          </p:cNvPr>
          <p:cNvSpPr>
            <a:spLocks xmlns:a="http://schemas.openxmlformats.org/drawingml/2006/main" noGrp="1"/>
          </p:cNvSpPr>
          <p:nvPr>
            <p:ph type="title" idx="0"/>
          </p:nvPr>
        </p:nvSpPr>
        <p:spPr>
          <a:xfrm xmlns:a="http://schemas.openxmlformats.org/drawingml/2006/main">
            <a:off x="5911133" y="237903"/>
            <a:ext cx="10515600" cy="1325563"/>
          </a:xfrm>
          <a:prstGeom xmlns:a="http://schemas.openxmlformats.org/drawingml/2006/main" prst="rect">
            <a:avLst/>
          </a:prstGeom>
        </p:spPr>
        <p:txBody>
          <a:bodyPr xmlns:a="http://schemas.openxmlformats.org/drawingml/2006/main"/>
          <a:lstStyle xmlns:a="http://schemas.openxmlformats.org/drawingml/2006/main">
            <a:lvl1pPr>
              <a:buNone/>
              <a:defRPr sz="3600">
                <a:latin typeface="Times New Roman"/>
                <a:ea typeface="Times New Roman"/>
                <a:cs typeface="Times New Roman"/>
              </a:defRPr>
            </a:lvl1pPr>
          </a:lstStyle>
          <a:p xmlns:a="http://schemas.openxmlformats.org/drawingml/2006/main">
            <a:r>
              <a:t>Click to edit Master title style</a:t>
            </a:r>
          </a:p>
        </p:txBody>
      </p:sp>
    </p:spTree>
  </p:cSld>
</p:sldLayout>
</file>

<file path=ppt/slideLayouts/slideLayout18.xml><?xml version="1.0" encoding="utf-8"?>
<p:sldLayout xmlns:p="http://schemas.openxmlformats.org/presentationml/2006/main" matchingName="3_タイトルとコンテンツ">
  <p:cSld name="3_タイトルとコンテンツ">
    <p:spTree>
      <p:nvGrpSpPr>
        <p:cNvPr id="1" name=""/>
        <p:cNvGrpSpPr/>
        <p:nvPr/>
      </p:nvGrpSpPr>
      <p:grpSpPr>
        <a:xfrm xmlns:a="http://schemas.openxmlformats.org/drawingml/2006/main"/>
      </p:grpSpPr>
      <p:sp>
        <p:nvSpPr>
          <p:cNvPr id="94" name="Google Shape;94;g2893b70371c_0_1057">
            <a:extLst xmlns:a="http://schemas.openxmlformats.org/drawingml/2006/main">
              <a:ext uri="{FF2B5EF4-FFF2-40B4-BE49-F238E27FC236}">
                <a16:creationId xmlns:a16="http://schemas.microsoft.com/office/drawing/2014/main" id="{05961A3D-EB02-4034-9D32-0A3A2012E959}"/>
              </a:ext>
            </a:extLst>
          </p:cNvPr>
          <p:cNvSpPr>
            <a:spLocks xmlns:a="http://schemas.openxmlformats.org/drawingml/2006/main" noGrp="1"/>
          </p:cNvSpPr>
          <p:nvPr>
            <p:ph type="dt" idx="10"/>
          </p:nvPr>
        </p:nvSpPr>
        <p:spPr>
          <a:xfrm xmlns:a="http://schemas.openxmlformats.org/drawingml/2006/main">
            <a:off x="609601"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fld id="{57020DAE-7ED0-4B17-B656-7E9590772B44}" type="datetimeFigureOut">
              <a:t>7/31/2026</a:t>
            </a:fld>
            <a:endParaRPr/>
          </a:p>
        </p:txBody>
      </p:sp>
      <p:sp>
        <p:nvSpPr>
          <p:cNvPr id="95" name="Google Shape;95;g2893b70371c_0_1057">
            <a:extLst xmlns:a="http://schemas.openxmlformats.org/drawingml/2006/main">
              <a:ext uri="{FF2B5EF4-FFF2-40B4-BE49-F238E27FC236}">
                <a16:creationId xmlns:a16="http://schemas.microsoft.com/office/drawing/2014/main" id="{DC7BE9C6-3B6A-4C36-B01A-FBC0D943DD01}"/>
              </a:ext>
            </a:extLst>
          </p:cNvPr>
          <p:cNvSpPr>
            <a:spLocks xmlns:a="http://schemas.openxmlformats.org/drawingml/2006/main" noGrp="1"/>
          </p:cNvSpPr>
          <p:nvPr>
            <p:ph type="ftr" idx="11"/>
          </p:nvPr>
        </p:nvSpPr>
        <p:spPr>
          <a:xfrm xmlns:a="http://schemas.openxmlformats.org/drawingml/2006/main">
            <a:off x="4165600" y="6356355"/>
            <a:ext cx="38607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R="0" algn="l">
              <a:spcBef>
                <a:spcPts val="0"/>
              </a:spcBef>
              <a:spcAft>
                <a:spcPts val="0"/>
              </a:spcAft>
              <a:buSzPts val="1400"/>
              <a:buNone/>
              <a:defRPr sz="1800">
                <a:solidFill>
                  <a:schemeClr val="dk1"/>
                </a:solidFill>
                <a:latin typeface="Verdana"/>
                <a:ea typeface="Verdana"/>
                <a:cs typeface="Verdana"/>
              </a:defRPr>
            </a:lvl1pPr>
            <a:lvl2pPr marR="0" algn="l">
              <a:spcBef>
                <a:spcPts val="0"/>
              </a:spcBef>
              <a:spcAft>
                <a:spcPts val="0"/>
              </a:spcAft>
              <a:buSzPts val="1400"/>
              <a:buNone/>
              <a:defRPr sz="1800" b="0" i="0" u="none" cap="none">
                <a:solidFill>
                  <a:schemeClr val="dk1"/>
                </a:solidFill>
                <a:latin typeface="Verdana"/>
                <a:ea typeface="Verdana"/>
                <a:cs typeface="Verdana"/>
              </a:defRPr>
            </a:lvl2pPr>
            <a:lvl3pPr marR="0" algn="l">
              <a:spcBef>
                <a:spcPts val="0"/>
              </a:spcBef>
              <a:spcAft>
                <a:spcPts val="0"/>
              </a:spcAft>
              <a:buSzPts val="1400"/>
              <a:buNone/>
              <a:defRPr sz="1800" b="0" i="0" u="none" cap="none">
                <a:solidFill>
                  <a:schemeClr val="dk1"/>
                </a:solidFill>
                <a:latin typeface="Verdana"/>
                <a:ea typeface="Verdana"/>
                <a:cs typeface="Verdana"/>
              </a:defRPr>
            </a:lvl3pPr>
            <a:lvl4pPr marR="0" algn="l">
              <a:spcBef>
                <a:spcPts val="0"/>
              </a:spcBef>
              <a:spcAft>
                <a:spcPts val="0"/>
              </a:spcAft>
              <a:buSzPts val="1400"/>
              <a:buNone/>
              <a:defRPr sz="1800" b="0" i="0" u="none" cap="none">
                <a:solidFill>
                  <a:schemeClr val="dk1"/>
                </a:solidFill>
                <a:latin typeface="Verdana"/>
                <a:ea typeface="Verdana"/>
                <a:cs typeface="Verdana"/>
              </a:defRPr>
            </a:lvl4pPr>
            <a:lvl5pPr marR="0" algn="l">
              <a:spcBef>
                <a:spcPts val="0"/>
              </a:spcBef>
              <a:spcAft>
                <a:spcPts val="0"/>
              </a:spcAft>
              <a:buSzPts val="1400"/>
              <a:buNone/>
              <a:defRPr sz="1800" b="0" i="0" u="none" cap="none">
                <a:solidFill>
                  <a:schemeClr val="dk1"/>
                </a:solidFill>
                <a:latin typeface="Verdana"/>
                <a:ea typeface="Verdana"/>
                <a:cs typeface="Verdana"/>
              </a:defRPr>
            </a:lvl5pPr>
            <a:lvl6pPr marR="0" algn="l">
              <a:spcBef>
                <a:spcPts val="0"/>
              </a:spcBef>
              <a:spcAft>
                <a:spcPts val="0"/>
              </a:spcAft>
              <a:buSzPts val="1400"/>
              <a:buNone/>
              <a:defRPr sz="1800" b="0" i="0" u="none" cap="none">
                <a:solidFill>
                  <a:schemeClr val="dk1"/>
                </a:solidFill>
                <a:latin typeface="Verdana"/>
                <a:ea typeface="Verdana"/>
                <a:cs typeface="Verdana"/>
              </a:defRPr>
            </a:lvl6pPr>
            <a:lvl7pPr marR="0" algn="l">
              <a:spcBef>
                <a:spcPts val="0"/>
              </a:spcBef>
              <a:spcAft>
                <a:spcPts val="0"/>
              </a:spcAft>
              <a:buSzPts val="1400"/>
              <a:buNone/>
              <a:defRPr sz="1800" b="0" i="0" u="none" cap="none">
                <a:solidFill>
                  <a:schemeClr val="dk1"/>
                </a:solidFill>
                <a:latin typeface="Verdana"/>
                <a:ea typeface="Verdana"/>
                <a:cs typeface="Verdana"/>
              </a:defRPr>
            </a:lvl7pPr>
            <a:lvl8pPr marR="0" algn="l">
              <a:spcBef>
                <a:spcPts val="0"/>
              </a:spcBef>
              <a:spcAft>
                <a:spcPts val="0"/>
              </a:spcAft>
              <a:buSzPts val="1400"/>
              <a:buNone/>
              <a:defRPr sz="1800" b="0" i="0" u="none" cap="none">
                <a:solidFill>
                  <a:schemeClr val="dk1"/>
                </a:solidFill>
                <a:latin typeface="Verdana"/>
                <a:ea typeface="Verdana"/>
                <a:cs typeface="Verdana"/>
              </a:defRPr>
            </a:lvl8pPr>
            <a:lvl9pPr marR="0" algn="l">
              <a:spcBef>
                <a:spcPts val="0"/>
              </a:spcBef>
              <a:spcAft>
                <a:spcPts val="0"/>
              </a:spcAft>
              <a:buSzPts val="1400"/>
              <a:buNone/>
              <a:defRPr sz="1800" b="0" i="0" u="none" cap="none">
                <a:solidFill>
                  <a:schemeClr val="dk1"/>
                </a:solidFill>
                <a:latin typeface="Verdana"/>
                <a:ea typeface="Verdana"/>
                <a:cs typeface="Verdana"/>
              </a:defRPr>
            </a:lvl9pPr>
          </a:lstStyle>
          <a:p xmlns:a="http://schemas.openxmlformats.org/drawingml/2006/main">
            <a:endParaRPr/>
          </a:p>
        </p:txBody>
      </p:sp>
      <p:sp>
        <p:nvSpPr>
          <p:cNvPr id="96" name="Google Shape;96;g2893b70371c_0_1057">
            <a:extLst xmlns:a="http://schemas.openxmlformats.org/drawingml/2006/main">
              <a:ext uri="{FF2B5EF4-FFF2-40B4-BE49-F238E27FC236}">
                <a16:creationId xmlns:a16="http://schemas.microsoft.com/office/drawing/2014/main" id="{27B3D72C-BDC5-4960-914B-9FD0208ECCDD}"/>
              </a:ext>
            </a:extLst>
          </p:cNvPr>
          <p:cNvSpPr>
            <a:spLocks xmlns:a="http://schemas.openxmlformats.org/drawingml/2006/main" noGrp="1"/>
          </p:cNvSpPr>
          <p:nvPr>
            <p:ph type="sldNum" idx="12"/>
          </p:nvPr>
        </p:nvSpPr>
        <p:spPr>
          <a:xfrm xmlns:a="http://schemas.openxmlformats.org/drawingml/2006/main">
            <a:off x="8737600" y="6356355"/>
            <a:ext cx="2844900" cy="3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spcBef>
                <a:spcPts val="0"/>
              </a:spcBef>
              <a:buNone/>
              <a:defRPr sz="787">
                <a:solidFill>
                  <a:srgbClr val="828282"/>
                </a:solidFill>
                <a:latin typeface="Verdana"/>
                <a:ea typeface="Verdana"/>
                <a:cs typeface="Verdana"/>
              </a:defRPr>
            </a:lvl1pPr>
            <a:lvl2pPr marL="0" marR="0" indent="0" algn="r">
              <a:spcBef>
                <a:spcPts val="0"/>
              </a:spcBef>
              <a:buNone/>
              <a:defRPr sz="787">
                <a:solidFill>
                  <a:srgbClr val="828282"/>
                </a:solidFill>
                <a:latin typeface="Verdana"/>
                <a:ea typeface="Verdana"/>
                <a:cs typeface="Verdana"/>
              </a:defRPr>
            </a:lvl2pPr>
            <a:lvl3pPr marL="0" marR="0" indent="0" algn="r">
              <a:spcBef>
                <a:spcPts val="0"/>
              </a:spcBef>
              <a:buNone/>
              <a:defRPr sz="787">
                <a:solidFill>
                  <a:srgbClr val="828282"/>
                </a:solidFill>
                <a:latin typeface="Verdana"/>
                <a:ea typeface="Verdana"/>
                <a:cs typeface="Verdana"/>
              </a:defRPr>
            </a:lvl3pPr>
            <a:lvl4pPr marL="0" marR="0" indent="0" algn="r">
              <a:spcBef>
                <a:spcPts val="0"/>
              </a:spcBef>
              <a:buNone/>
              <a:defRPr sz="787">
                <a:solidFill>
                  <a:srgbClr val="828282"/>
                </a:solidFill>
                <a:latin typeface="Verdana"/>
                <a:ea typeface="Verdana"/>
                <a:cs typeface="Verdana"/>
              </a:defRPr>
            </a:lvl4pPr>
            <a:lvl5pPr marL="0" marR="0" indent="0" algn="r">
              <a:spcBef>
                <a:spcPts val="0"/>
              </a:spcBef>
              <a:buNone/>
              <a:defRPr sz="787">
                <a:solidFill>
                  <a:srgbClr val="828282"/>
                </a:solidFill>
                <a:latin typeface="Verdana"/>
                <a:ea typeface="Verdana"/>
                <a:cs typeface="Verdana"/>
              </a:defRPr>
            </a:lvl5pPr>
            <a:lvl6pPr marL="0" marR="0" indent="0" algn="r">
              <a:spcBef>
                <a:spcPts val="0"/>
              </a:spcBef>
              <a:buNone/>
              <a:defRPr sz="787">
                <a:solidFill>
                  <a:srgbClr val="828282"/>
                </a:solidFill>
                <a:latin typeface="Verdana"/>
                <a:ea typeface="Verdana"/>
                <a:cs typeface="Verdana"/>
              </a:defRPr>
            </a:lvl6pPr>
            <a:lvl7pPr marL="0" marR="0" indent="0" algn="r">
              <a:spcBef>
                <a:spcPts val="0"/>
              </a:spcBef>
              <a:buNone/>
              <a:defRPr sz="787">
                <a:solidFill>
                  <a:srgbClr val="828282"/>
                </a:solidFill>
                <a:latin typeface="Verdana"/>
                <a:ea typeface="Verdana"/>
                <a:cs typeface="Verdana"/>
              </a:defRPr>
            </a:lvl7pPr>
            <a:lvl8pPr marL="0" marR="0" indent="0" algn="r">
              <a:spcBef>
                <a:spcPts val="0"/>
              </a:spcBef>
              <a:buNone/>
              <a:defRPr sz="787">
                <a:solidFill>
                  <a:srgbClr val="828282"/>
                </a:solidFill>
                <a:latin typeface="Verdana"/>
                <a:ea typeface="Verdana"/>
                <a:cs typeface="Verdana"/>
              </a:defRPr>
            </a:lvl8pPr>
            <a:lvl9pPr marL="0" marR="0" indent="0" algn="r">
              <a:spcBef>
                <a:spcPts val="0"/>
              </a:spcBef>
              <a:buNone/>
              <a:defRPr sz="787">
                <a:solidFill>
                  <a:srgbClr val="828282"/>
                </a:solidFill>
                <a:latin typeface="Verdana"/>
                <a:ea typeface="Verdana"/>
                <a:cs typeface="Verdana"/>
              </a:defRPr>
            </a:lvl9pPr>
          </a:lstStyle>
          <a:p xmlns:a="http://schemas.openxmlformats.org/drawingml/2006/main">
            <a:fld id="{A74DB8E4-0DF9-4658-8AF8-1D74F81145F2}" type="slidenum">
              <a:t>‹#›</a:t>
            </a:fld>
            <a:endParaRPr/>
          </a:p>
        </p:txBody>
      </p:sp>
      <p:pic>
        <p:nvPicPr>
          <p:cNvPr id="101" name="Google Shape;270;g2893b70371c_0_651">
            <a:extLst xmlns:a="http://schemas.openxmlformats.org/drawingml/2006/main">
              <a:ext uri="{FF2B5EF4-FFF2-40B4-BE49-F238E27FC236}">
                <a16:creationId xmlns:a16="http://schemas.microsoft.com/office/drawing/2014/main" id="{7DC82366-D73D-4A1C-A999-E0E2D4B7469D}"/>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bae83699d84c4ca1">
            <a:alphaModFix/>
          </a:blip>
          <a:srcRect xmlns:a="http://schemas.openxmlformats.org/drawingml/2006/main" l="0" t="0" r="0" b="24477"/>
          <a:stretch xmlns:a="http://schemas.openxmlformats.org/drawingml/2006/main"/>
        </p:blipFill>
        <p:spPr>
          <a:xfrm xmlns:a="http://schemas.openxmlformats.org/drawingml/2006/main" rot="0" flipH="0" flipV="0">
            <a:off x="0" y="1322962"/>
            <a:ext cx="12188925" cy="5535038"/>
          </a:xfrm>
          <a:prstGeom xmlns:a="http://schemas.openxmlformats.org/drawingml/2006/main" prst="rect">
            <a:avLst/>
          </a:prstGeom>
          <a:ln xmlns:a="http://schemas.openxmlformats.org/drawingml/2006/main">
            <a:noFill/>
          </a:ln>
        </p:spPr>
      </p:pic>
      <p:sp>
        <p:nvSpPr>
          <p:cNvPr id="8" name="Google Shape;271;g2893b70371c_0_651">
            <a:extLst xmlns:a="http://schemas.openxmlformats.org/drawingml/2006/main">
              <a:ext uri="{FF2B5EF4-FFF2-40B4-BE49-F238E27FC236}">
                <a16:creationId xmlns:a16="http://schemas.microsoft.com/office/drawing/2014/main" id="{09FF9530-9044-4A29-A8A0-FDEC06515A38}"/>
              </a:ext>
            </a:extLst>
          </p:cNvPr>
          <p:cNvSpPr>
            <a:spLocks xmlns:a="http://schemas.openxmlformats.org/drawingml/2006/main" noGrp="1"/>
          </p:cNvSpPr>
          <p:nvPr/>
        </p:nvSpPr>
        <p:spPr>
          <a:xfrm xmlns:a="http://schemas.openxmlformats.org/drawingml/2006/main" rot="0" flipH="0" flipV="0">
            <a:off x="214009" y="1554254"/>
            <a:ext cx="11799651" cy="5054572"/>
          </a:xfrm>
          <a:prstGeom xmlns:a="http://schemas.openxmlformats.org/drawingml/2006/main" prst="rect">
            <a:avLst/>
          </a:prstGeom>
          <a:solidFill xmlns:a="http://schemas.openxmlformats.org/drawingml/2006/main">
            <a:schemeClr val="lt1">
              <a:alpha val="29800"/>
            </a:schemeClr>
          </a:solidFill>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marR="0" lvl="0" indent="0" algn="ctr">
              <a:spcBef>
                <a:spcPts val="0"/>
              </a:spcBef>
              <a:spcAft>
                <a:spcPts val="0"/>
              </a:spcAft>
              <a:buNone/>
            </a:pPr>
            <a:endParaRPr sz="1348" b="0" i="0" u="none" cap="none">
              <a:solidFill>
                <a:srgbClr val="FFFFFF"/>
              </a:solidFill>
              <a:latin typeface="Calibri"/>
              <a:ea typeface="Calibri"/>
              <a:cs typeface="Calibri"/>
            </a:endParaRPr>
          </a:p>
        </p:txBody>
      </p:sp>
    </p:spTree>
  </p:cSld>
</p:sldLayout>
</file>

<file path=ppt/slideLayouts/slideLayout19.xml><?xml version="1.0" encoding="utf-8"?>
<p:sldLayout xmlns:p="http://schemas.openxmlformats.org/presentationml/2006/main" matchingName="Agenda Slide">
  <p:cSld name="Agenda Slide">
    <p:spTree>
      <p:nvGrpSpPr>
        <p:cNvPr id="1" name=""/>
        <p:cNvGrpSpPr/>
        <p:nvPr/>
      </p:nvGrpSpPr>
      <p:grpSpPr>
        <a:xfrm xmlns:a="http://schemas.openxmlformats.org/drawingml/2006/main"/>
      </p:grpSpPr>
      <p:sp>
        <p:nvSpPr>
          <p:cNvPr id="102" name="Google Shape;102;g2893b70371c_0_1754">
            <a:extLst xmlns:a="http://schemas.openxmlformats.org/drawingml/2006/main">
              <a:ext uri="{FF2B5EF4-FFF2-40B4-BE49-F238E27FC236}">
                <a16:creationId xmlns:a16="http://schemas.microsoft.com/office/drawing/2014/main" id="{4E447481-1FA0-42B4-9F3B-6C27C599EABC}"/>
              </a:ext>
            </a:extLst>
          </p:cNvPr>
          <p:cNvSpPr>
            <a:spLocks xmlns:a="http://schemas.openxmlformats.org/drawingml/2006/main" noGrp="1"/>
          </p:cNvSpPr>
          <p:nvPr>
            <p:ph type="title" idx="0"/>
          </p:nvPr>
        </p:nvSpPr>
        <p:spPr>
          <a:xfrm xmlns:a="http://schemas.openxmlformats.org/drawingml/2006/main">
            <a:off x="60359" y="198323"/>
            <a:ext cx="12071100" cy="359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60000" tIns="0" rIns="1440000" bIns="0" anchor="t">
            <a:noAutofit/>
          </a:bodyPr>
          <a:lstStyle xmlns:a="http://schemas.openxmlformats.org/drawingml/2006/main">
            <a:lvl1pPr algn="l">
              <a:spcBef>
                <a:spcPts val="0"/>
              </a:spcBef>
              <a:spcAft>
                <a:spcPts val="0"/>
              </a:spcAft>
              <a:buSzPts val="4400"/>
              <a:buNone/>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xmlns:a="http://schemas.openxmlformats.org/drawingml/2006/main">
            <a:r>
              <a:t>Click to edit Master title style</a:t>
            </a:r>
            <a:endParaRPr/>
          </a:p>
        </p:txBody>
      </p:sp>
      <p:sp>
        <p:nvSpPr>
          <p:cNvPr id="103" name="Google Shape;103;g2893b70371c_0_1754">
            <a:extLst xmlns:a="http://schemas.openxmlformats.org/drawingml/2006/main">
              <a:ext uri="{FF2B5EF4-FFF2-40B4-BE49-F238E27FC236}">
                <a16:creationId xmlns:a16="http://schemas.microsoft.com/office/drawing/2014/main" id="{3D128BF5-C85B-415A-9C09-758F81429373}"/>
              </a:ext>
            </a:extLst>
          </p:cNvPr>
          <p:cNvSpPr>
            <a:spLocks xmlns:a="http://schemas.openxmlformats.org/drawingml/2006/main" noGrp="1"/>
          </p:cNvSpPr>
          <p:nvPr>
            <p:ph type="body" idx="1"/>
          </p:nvPr>
        </p:nvSpPr>
        <p:spPr>
          <a:xfrm xmlns:a="http://schemas.openxmlformats.org/drawingml/2006/main">
            <a:off x="7" y="839011"/>
            <a:ext cx="12192000" cy="5033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144000" tIns="396000" rIns="648000" bIns="45700" anchor="t">
            <a:normAutofit/>
          </a:bodyPr>
          <a:lstStyle xmlns:a="http://schemas.openxmlformats.org/drawingml/2006/main">
            <a:lvl1pPr marL="457200" marR="0" indent="-228600" algn="l">
              <a:lnSpc>
                <a:spcPct val="120000"/>
              </a:lnSpc>
              <a:spcBef>
                <a:spcPts val="0"/>
              </a:spcBef>
              <a:spcAft>
                <a:spcPts val="0"/>
              </a:spcAft>
              <a:buSzPts val="3400"/>
              <a:buFont typeface="verdana"/>
              <a:buNone/>
              <a:defRPr sz="3400">
                <a:latin typeface="Verdana"/>
                <a:ea typeface="Verdana"/>
                <a:cs typeface="Verdana"/>
              </a:defRPr>
            </a:lvl1pPr>
            <a:lvl2pPr marL="914400" indent="-323786" algn="l">
              <a:lnSpc>
                <a:spcPct val="100000"/>
              </a:lnSpc>
              <a:spcBef>
                <a:spcPts val="600"/>
              </a:spcBef>
              <a:spcAft>
                <a:spcPts val="0"/>
              </a:spcAft>
              <a:buSzPts val="1499"/>
              <a:buFont typeface="verdana"/>
              <a:buAutoNum type="arabicPeriod"/>
              <a:defRPr/>
            </a:lvl2pPr>
            <a:lvl3pPr marL="1371600" indent="-314261" algn="l">
              <a:lnSpc>
                <a:spcPct val="100000"/>
              </a:lnSpc>
              <a:spcBef>
                <a:spcPts val="449"/>
              </a:spcBef>
              <a:spcAft>
                <a:spcPts val="0"/>
              </a:spcAft>
              <a:buSzPts val="1349"/>
              <a:buFont typeface="verdana"/>
              <a:buAutoNum type="arabicPeriod"/>
              <a:defRPr/>
            </a:lvl3pPr>
            <a:lvl4pPr marL="1828800" indent="-304736" algn="l">
              <a:lnSpc>
                <a:spcPct val="100000"/>
              </a:lnSpc>
              <a:spcBef>
                <a:spcPts val="449"/>
              </a:spcBef>
              <a:spcAft>
                <a:spcPts val="0"/>
              </a:spcAft>
              <a:buSzPts val="1199"/>
              <a:buFont typeface="verdana"/>
              <a:buAutoNum type="arabicPeriod"/>
              <a:defRPr/>
            </a:lvl4pPr>
            <a:lvl5pPr marL="2286000" indent="-266636" algn="l">
              <a:lnSpc>
                <a:spcPct val="100000"/>
              </a:lnSpc>
              <a:spcBef>
                <a:spcPts val="449"/>
              </a:spcBef>
              <a:spcAft>
                <a:spcPts val="0"/>
              </a:spcAft>
              <a:buSzPts val="599"/>
              <a:buFont typeface="verdana"/>
              <a:buAutoNum type="arabicPeriod"/>
              <a:defRPr/>
            </a:lvl5pPr>
            <a:lvl6pPr marL="2743200" indent="-228600" algn="l">
              <a:spcBef>
                <a:spcPts val="500"/>
              </a:spcBef>
              <a:spcAft>
                <a:spcPts val="0"/>
              </a:spcAft>
              <a:buSzPts val="1800"/>
              <a:buNone/>
              <a:defRPr/>
            </a:lvl6pPr>
            <a:lvl7pPr marL="3200400" indent="-228600" algn="l">
              <a:spcBef>
                <a:spcPts val="500"/>
              </a:spcBef>
              <a:spcAft>
                <a:spcPts val="0"/>
              </a:spcAft>
              <a:buSzPts val="1800"/>
              <a:buNone/>
              <a:defRPr/>
            </a:lvl7pPr>
            <a:lvl8pPr marL="3657600" indent="-228600" algn="l">
              <a:spcBef>
                <a:spcPts val="500"/>
              </a:spcBef>
              <a:spcAft>
                <a:spcPts val="0"/>
              </a:spcAft>
              <a:buSzPts val="1800"/>
              <a:buNone/>
              <a:defRPr/>
            </a:lvl8pPr>
            <a:lvl9pPr marL="4114800" indent="-228600" algn="l">
              <a:spcBef>
                <a:spcPts val="500"/>
              </a:spcBef>
              <a:spcAft>
                <a:spcPts val="0"/>
              </a:spcAft>
              <a:buSzPts val="1800"/>
              <a:buNone/>
              <a:defRPr/>
            </a:lvl9pPr>
          </a:lstStyle>
          <a:p xmlns:a="http://schemas.openxmlformats.org/drawingml/2006/main">
            <a:pPr lvl="0">
              <a:buNone/>
            </a:pPr>
            <a:r>
              <a:t>Edit Master text styles</a:t>
            </a:r>
          </a:p>
        </p:txBody>
      </p:sp>
      <p:sp>
        <p:nvSpPr>
          <p:cNvPr id="104" name="Google Shape;104;g2893b70371c_0_1754">
            <a:extLst xmlns:a="http://schemas.openxmlformats.org/drawingml/2006/main">
              <a:ext uri="{FF2B5EF4-FFF2-40B4-BE49-F238E27FC236}">
                <a16:creationId xmlns:a16="http://schemas.microsoft.com/office/drawing/2014/main" id="{757E8AE4-54E0-4D4D-AAAA-2A1D5CD4FD40}"/>
              </a:ext>
            </a:extLst>
          </p:cNvPr>
          <p:cNvSpPr>
            <a:spLocks xmlns:a="http://schemas.openxmlformats.org/drawingml/2006/main" noGrp="1"/>
          </p:cNvSpPr>
          <p:nvPr>
            <p:ph type="sldNum" idx="12"/>
          </p:nvPr>
        </p:nvSpPr>
        <p:spPr>
          <a:xfrm xmlns:a="http://schemas.openxmlformats.org/drawingml/2006/main">
            <a:off x="8797384" y="6302718"/>
            <a:ext cx="2743200" cy="485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1pPr>
            <a:lvl2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2pPr>
            <a:lvl3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3pPr>
            <a:lvl4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4pPr>
            <a:lvl5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5pPr>
            <a:lvl6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6pPr>
            <a:lvl7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7pPr>
            <a:lvl8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8pPr>
            <a:lvl9pPr marL="0" marR="0" indent="0" algn="r">
              <a:lnSpc>
                <a:spcPct val="100000"/>
              </a:lnSpc>
              <a:spcBef>
                <a:spcPts val="0"/>
              </a:spcBef>
              <a:spcAft>
                <a:spcPts val="0"/>
              </a:spcAft>
              <a:buClr>
                <a:srgbClr val="828282"/>
              </a:buClr>
              <a:buSzPts val="1400"/>
              <a:buFont typeface="Verdana"/>
              <a:buNone/>
              <a:defRPr sz="1400" b="0" i="0" u="none" cap="none">
                <a:solidFill>
                  <a:srgbClr val="828282"/>
                </a:solidFill>
                <a:latin typeface="Verdana"/>
                <a:ea typeface="Verdana"/>
                <a:cs typeface="Verdana"/>
              </a:defRPr>
            </a:lvl9pPr>
          </a:lstStyle>
          <a:p xmlns:a="http://schemas.openxmlformats.org/drawingml/2006/main">
            <a:fld id="{A74DB8E4-0DF9-4658-8AF8-1D74F81145F2}" type="slidenum">
              <a:t>‹#›</a:t>
            </a:fld>
            <a:endParaRPr/>
          </a:p>
        </p:txBody>
      </p:sp>
    </p:spTree>
  </p:cSld>
</p:sldLayout>
</file>

<file path=ppt/slideLayouts/slideLayout20.xml><?xml version="1.0" encoding="utf-8"?>
<p:sldLayout xmlns:p="http://schemas.openxmlformats.org/presentationml/2006/main" matchingName="Section header" type="secHead">
  <p:cSld name="1_Section header">
    <p:spTree>
      <p:nvGrpSpPr>
        <p:cNvPr id="1" name=""/>
        <p:cNvGrpSpPr/>
        <p:nvPr/>
      </p:nvGrpSpPr>
      <p:grpSpPr>
        <a:xfrm xmlns:a="http://schemas.openxmlformats.org/drawingml/2006/main"/>
      </p:grpSpPr>
      <p:sp>
        <p:nvSpPr>
          <p:cNvPr id="114" name="Google Shape;114;p17">
            <a:extLst xmlns:a="http://schemas.openxmlformats.org/drawingml/2006/main">
              <a:ext uri="{FF2B5EF4-FFF2-40B4-BE49-F238E27FC236}">
                <a16:creationId xmlns:a16="http://schemas.microsoft.com/office/drawing/2014/main" id="{56925189-82B4-48B7-A58B-57CE6AAA98BD}"/>
              </a:ext>
            </a:extLst>
          </p:cNvPr>
          <p:cNvSpPr>
            <a:spLocks xmlns:a="http://schemas.openxmlformats.org/drawingml/2006/main" noGrp="1"/>
          </p:cNvSpPr>
          <p:nvPr>
            <p:ph type="title" idx="0"/>
          </p:nvPr>
        </p:nvSpPr>
        <p:spPr>
          <a:xfrm xmlns:a="http://schemas.openxmlformats.org/drawingml/2006/main">
            <a:off x="415600" y="2867800"/>
            <a:ext cx="11360800" cy="1122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ctr">
              <a:lnSpc>
                <a:spcPct val="100000"/>
              </a:lnSpc>
              <a:spcBef>
                <a:spcPts val="0"/>
              </a:spcBef>
              <a:spcAft>
                <a:spcPts val="0"/>
              </a:spcAft>
              <a:buSzPts val="3600"/>
              <a:buNone/>
              <a:defRPr sz="4800"/>
            </a:lvl1pPr>
            <a:lvl2pPr algn="ctr">
              <a:lnSpc>
                <a:spcPct val="100000"/>
              </a:lnSpc>
              <a:spcBef>
                <a:spcPts val="0"/>
              </a:spcBef>
              <a:spcAft>
                <a:spcPts val="0"/>
              </a:spcAft>
              <a:buSzPts val="3600"/>
              <a:buNone/>
              <a:defRPr sz="4800"/>
            </a:lvl2pPr>
            <a:lvl3pPr algn="ctr">
              <a:lnSpc>
                <a:spcPct val="100000"/>
              </a:lnSpc>
              <a:spcBef>
                <a:spcPts val="0"/>
              </a:spcBef>
              <a:spcAft>
                <a:spcPts val="0"/>
              </a:spcAft>
              <a:buSzPts val="3600"/>
              <a:buNone/>
              <a:defRPr sz="4800"/>
            </a:lvl3pPr>
            <a:lvl4pPr algn="ctr">
              <a:lnSpc>
                <a:spcPct val="100000"/>
              </a:lnSpc>
              <a:spcBef>
                <a:spcPts val="0"/>
              </a:spcBef>
              <a:spcAft>
                <a:spcPts val="0"/>
              </a:spcAft>
              <a:buSzPts val="3600"/>
              <a:buNone/>
              <a:defRPr sz="4800"/>
            </a:lvl4pPr>
            <a:lvl5pPr algn="ctr">
              <a:lnSpc>
                <a:spcPct val="100000"/>
              </a:lnSpc>
              <a:spcBef>
                <a:spcPts val="0"/>
              </a:spcBef>
              <a:spcAft>
                <a:spcPts val="0"/>
              </a:spcAft>
              <a:buSzPts val="3600"/>
              <a:buNone/>
              <a:defRPr sz="4800"/>
            </a:lvl5pPr>
            <a:lvl6pPr algn="ctr">
              <a:lnSpc>
                <a:spcPct val="100000"/>
              </a:lnSpc>
              <a:spcBef>
                <a:spcPts val="0"/>
              </a:spcBef>
              <a:spcAft>
                <a:spcPts val="0"/>
              </a:spcAft>
              <a:buSzPts val="3600"/>
              <a:buNone/>
              <a:defRPr sz="4800"/>
            </a:lvl6pPr>
            <a:lvl7pPr algn="ctr">
              <a:lnSpc>
                <a:spcPct val="100000"/>
              </a:lnSpc>
              <a:spcBef>
                <a:spcPts val="0"/>
              </a:spcBef>
              <a:spcAft>
                <a:spcPts val="0"/>
              </a:spcAft>
              <a:buSzPts val="3600"/>
              <a:buNone/>
              <a:defRPr sz="4800"/>
            </a:lvl7pPr>
            <a:lvl8pPr algn="ctr">
              <a:lnSpc>
                <a:spcPct val="100000"/>
              </a:lnSpc>
              <a:spcBef>
                <a:spcPts val="0"/>
              </a:spcBef>
              <a:spcAft>
                <a:spcPts val="0"/>
              </a:spcAft>
              <a:buSzPts val="3600"/>
              <a:buNone/>
              <a:defRPr sz="4800"/>
            </a:lvl8pPr>
            <a:lvl9pPr algn="ctr">
              <a:lnSpc>
                <a:spcPct val="100000"/>
              </a:lnSpc>
              <a:spcBef>
                <a:spcPts val="0"/>
              </a:spcBef>
              <a:spcAft>
                <a:spcPts val="0"/>
              </a:spcAft>
              <a:buSzPts val="3600"/>
              <a:buNone/>
              <a:defRPr sz="4800"/>
            </a:lvl9pPr>
          </a:lstStyle>
          <a:p xmlns:a="http://schemas.openxmlformats.org/drawingml/2006/main">
            <a:r>
              <a:t>Click to edit Master title style</a:t>
            </a:r>
            <a:endParaRPr/>
          </a:p>
        </p:txBody>
      </p:sp>
      <p:sp>
        <p:nvSpPr>
          <p:cNvPr id="115" name="Google Shape;115;p17">
            <a:extLst xmlns:a="http://schemas.openxmlformats.org/drawingml/2006/main">
              <a:ext uri="{FF2B5EF4-FFF2-40B4-BE49-F238E27FC236}">
                <a16:creationId xmlns:a16="http://schemas.microsoft.com/office/drawing/2014/main" id="{A129D591-916E-42CE-9BAB-4754C3C5C5B5}"/>
              </a:ext>
            </a:extLst>
          </p:cNvPr>
          <p:cNvSpPr>
            <a:spLocks xmlns:a="http://schemas.openxmlformats.org/drawingml/2006/main" noGrp="1"/>
          </p:cNvSpPr>
          <p:nvPr>
            <p:ph type="sldNum" idx="12"/>
          </p:nvPr>
        </p:nvSpPr>
        <p:spPr>
          <a:xfrm xmlns:a="http://schemas.openxmlformats.org/drawingml/2006/main">
            <a:off x="11296611" y="6217623"/>
            <a:ext cx="731600" cy="524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marL="0" marR="0" indent="0" algn="r">
              <a:buClr>
                <a:srgbClr val="000000"/>
              </a:buClr>
              <a:buSzPts val="1333"/>
              <a:buFont typeface="Arial"/>
              <a:buNone/>
              <a:defRPr sz="1333" b="0" i="0" u="none" cap="none">
                <a:solidFill>
                  <a:srgbClr val="595959"/>
                </a:solidFill>
                <a:latin typeface="Arial"/>
                <a:ea typeface="Arial"/>
                <a:cs typeface="Arial"/>
              </a:defRPr>
            </a:lvl1pPr>
            <a:lvl2pPr marL="0" marR="0" indent="0" algn="r">
              <a:buClr>
                <a:srgbClr val="000000"/>
              </a:buClr>
              <a:buSzPts val="1333"/>
              <a:buFont typeface="Arial"/>
              <a:buNone/>
              <a:defRPr sz="1333" b="0" i="0" u="none" cap="none">
                <a:solidFill>
                  <a:srgbClr val="595959"/>
                </a:solidFill>
                <a:latin typeface="Arial"/>
                <a:ea typeface="Arial"/>
                <a:cs typeface="Arial"/>
              </a:defRPr>
            </a:lvl2pPr>
            <a:lvl3pPr marL="0" marR="0" indent="0" algn="r">
              <a:buClr>
                <a:srgbClr val="000000"/>
              </a:buClr>
              <a:buSzPts val="1333"/>
              <a:buFont typeface="Arial"/>
              <a:buNone/>
              <a:defRPr sz="1333" b="0" i="0" u="none" cap="none">
                <a:solidFill>
                  <a:srgbClr val="595959"/>
                </a:solidFill>
                <a:latin typeface="Arial"/>
                <a:ea typeface="Arial"/>
                <a:cs typeface="Arial"/>
              </a:defRPr>
            </a:lvl3pPr>
            <a:lvl4pPr marL="0" marR="0" indent="0" algn="r">
              <a:buClr>
                <a:srgbClr val="000000"/>
              </a:buClr>
              <a:buSzPts val="1333"/>
              <a:buFont typeface="Arial"/>
              <a:buNone/>
              <a:defRPr sz="1333" b="0" i="0" u="none" cap="none">
                <a:solidFill>
                  <a:srgbClr val="595959"/>
                </a:solidFill>
                <a:latin typeface="Arial"/>
                <a:ea typeface="Arial"/>
                <a:cs typeface="Arial"/>
              </a:defRPr>
            </a:lvl4pPr>
            <a:lvl5pPr marL="0" marR="0" indent="0" algn="r">
              <a:buClr>
                <a:srgbClr val="000000"/>
              </a:buClr>
              <a:buSzPts val="1333"/>
              <a:buFont typeface="Arial"/>
              <a:buNone/>
              <a:defRPr sz="1333" b="0" i="0" u="none" cap="none">
                <a:solidFill>
                  <a:srgbClr val="595959"/>
                </a:solidFill>
                <a:latin typeface="Arial"/>
                <a:ea typeface="Arial"/>
                <a:cs typeface="Arial"/>
              </a:defRPr>
            </a:lvl5pPr>
            <a:lvl6pPr marL="0" marR="0" indent="0" algn="r">
              <a:buClr>
                <a:srgbClr val="000000"/>
              </a:buClr>
              <a:buSzPts val="1333"/>
              <a:buFont typeface="Arial"/>
              <a:buNone/>
              <a:defRPr sz="1333" b="0" i="0" u="none" cap="none">
                <a:solidFill>
                  <a:srgbClr val="595959"/>
                </a:solidFill>
                <a:latin typeface="Arial"/>
                <a:ea typeface="Arial"/>
                <a:cs typeface="Arial"/>
              </a:defRPr>
            </a:lvl6pPr>
            <a:lvl7pPr marL="0" marR="0" indent="0" algn="r">
              <a:buClr>
                <a:srgbClr val="000000"/>
              </a:buClr>
              <a:buSzPts val="1333"/>
              <a:buFont typeface="Arial"/>
              <a:buNone/>
              <a:defRPr sz="1333" b="0" i="0" u="none" cap="none">
                <a:solidFill>
                  <a:srgbClr val="595959"/>
                </a:solidFill>
                <a:latin typeface="Arial"/>
                <a:ea typeface="Arial"/>
                <a:cs typeface="Arial"/>
              </a:defRPr>
            </a:lvl7pPr>
            <a:lvl8pPr marL="0" marR="0" indent="0" algn="r">
              <a:buClr>
                <a:srgbClr val="000000"/>
              </a:buClr>
              <a:buSzPts val="1333"/>
              <a:buFont typeface="Arial"/>
              <a:buNone/>
              <a:defRPr sz="1333" b="0" i="0" u="none" cap="none">
                <a:solidFill>
                  <a:srgbClr val="595959"/>
                </a:solidFill>
                <a:latin typeface="Arial"/>
                <a:ea typeface="Arial"/>
                <a:cs typeface="Arial"/>
              </a:defRPr>
            </a:lvl8pPr>
            <a:lvl9pPr marL="0" marR="0" indent="0" algn="r">
              <a:buClr>
                <a:srgbClr val="000000"/>
              </a:buClr>
              <a:buSzPts val="1333"/>
              <a:buFont typeface="Arial"/>
              <a:buNone/>
              <a:defRPr sz="1333" b="0" i="0" u="none" cap="none">
                <a:solidFill>
                  <a:srgbClr val="595959"/>
                </a:solidFill>
                <a:latin typeface="Arial"/>
                <a:ea typeface="Arial"/>
                <a:cs typeface="Arial"/>
              </a:defRPr>
            </a:lvl9pPr>
          </a:lstStyle>
          <a:p xmlns:a="http://schemas.openxmlformats.org/drawingml/2006/main">
            <a:fld id="{A74DB8E4-0DF9-4658-8AF8-1D74F81145F2}" type="slidenum">
              <a:t>‹#›</a:t>
            </a:fld>
            <a:endParaRPr/>
          </a:p>
        </p:txBody>
      </p:sp>
    </p:spTree>
  </p:cSld>
</p:sldLayout>
</file>

<file path=ppt/slideLayouts/slideLayout21.xml><?xml version="1.0" encoding="utf-8"?>
<p:sldLayout xmlns:p="http://schemas.openxmlformats.org/presentationml/2006/main" preserve="1">
  <p:cSld name="1_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CCEB5612-64C5-4907-A736-6A3E1FF8270E}"/>
              </a:ext>
            </a:extLst>
          </p:cNvPr>
          <p:cNvSpPr>
            <a:spLocks xmlns:a="http://schemas.openxmlformats.org/drawingml/2006/main" noGrp="1"/>
          </p:cNvSpPr>
          <p:nvPr>
            <p:ph type="dt" idx="10"/>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57020DAE-7ED0-4B17-B656-7E9590772B44}" type="datetimeFigureOut">
              <a:t>7/31/2026</a:t>
            </a:fld>
            <a:endParaRPr/>
          </a:p>
        </p:txBody>
      </p:sp>
      <p:sp>
        <p:nvSpPr>
          <p:cNvPr id="3" name="Footer Placeholder 2">
            <a:extLst xmlns:a="http://schemas.openxmlformats.org/drawingml/2006/main">
              <a:ext uri="{FF2B5EF4-FFF2-40B4-BE49-F238E27FC236}">
                <a16:creationId xmlns:a16="http://schemas.microsoft.com/office/drawing/2014/main" id="{18B5C147-FB1E-41ED-81E0-899FC292CA8B}"/>
              </a:ext>
            </a:extLst>
          </p:cNvPr>
          <p:cNvSpPr>
            <a:spLocks xmlns:a="http://schemas.openxmlformats.org/drawingml/2006/main" noGrp="1"/>
          </p:cNvSpPr>
          <p:nvPr>
            <p:ph type="ftr" idx="11"/>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18370E5-D010-40F8-B639-08BD8325DAB2}"/>
              </a:ext>
            </a:extLst>
          </p:cNvPr>
          <p:cNvSpPr>
            <a:spLocks xmlns:a="http://schemas.openxmlformats.org/drawingml/2006/main" noGrp="1"/>
          </p:cNvSpPr>
          <p:nvPr>
            <p:ph type="sldNum" idx="12"/>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a:fld id="{A74DB8E4-0DF9-4658-8AF8-1D74F81145F2}" type="slidenum">
              <a:t>‹#›</a:t>
            </a:fld>
            <a:endParaRPr/>
          </a:p>
        </p:txBody>
      </p:sp>
    </p:spTree>
  </p:cSld>
</p:sldLayout>
</file>

<file path=ppt/slideLayouts/slideLayout22.xml><?xml version="1.0" encoding="utf-8"?>
<p:sldLayout xmlns:p="http://schemas.openxmlformats.org/presentationml/2006/main" type="twoTxTwoObj">
  <p:cSld name="Comparison">
    <p:bg>
      <p:bgPr>
        <a:blipFill xmlns:a="http://schemas.openxmlformats.org/drawingml/2006/main" rotWithShape="1">
          <a:blip xmlns:r="http://schemas.openxmlformats.org/officeDocument/2006/relationships" r:embed="R38a78d2fa2f64120">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664936E-CF30-45D0-9285-9620AED5D308}"/>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lvl1pPr>
              <a:buNone/>
              <a:defRPr>
                <a:solidFill>
                  <a:schemeClr val="bg1"/>
                </a:solidFill>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CE9DA252-1D22-4C05-975C-A699B87B0D9B}"/>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4" name="Content Placeholder 3">
            <a:extLst xmlns:a="http://schemas.openxmlformats.org/drawingml/2006/main">
              <a:ext uri="{FF2B5EF4-FFF2-40B4-BE49-F238E27FC236}">
                <a16:creationId xmlns:a16="http://schemas.microsoft.com/office/drawing/2014/main" id="{263CA32C-393B-4F33-898F-D503954CB19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02334E5-BF0C-43BE-941E-57E96CC40D0B}"/>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Edit Master text styles</a:t>
            </a:r>
          </a:p>
        </p:txBody>
      </p:sp>
      <p:sp>
        <p:nvSpPr>
          <p:cNvPr id="6" name="Content Placeholder 5">
            <a:extLst xmlns:a="http://schemas.openxmlformats.org/drawingml/2006/main">
              <a:ext uri="{FF2B5EF4-FFF2-40B4-BE49-F238E27FC236}">
                <a16:creationId xmlns:a16="http://schemas.microsoft.com/office/drawing/2014/main" id="{DD2478C4-6D32-4C9E-97E9-F99A5866CFAA}"/>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lvl1pPr>
              <a:buNone/>
              <a:defRPr>
                <a:solidFill>
                  <a:schemeClr val="bg1"/>
                </a:solidFill>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xmlns:a="http://schemas.openxmlformats.org/drawingml/2006/main">
            <a:pPr lvl="0">
              <a:buNone/>
            </a:pPr>
            <a:r>
              <a:t>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A429B990-DC85-4EC0-B3DE-7EE61F6EC1B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57020DAE-7ED0-4B17-B656-7E9590772B44}" type="datetimeFigureOut">
              <a:t>7/31/2026</a:t>
            </a:fld>
            <a:endParaRPr/>
          </a:p>
        </p:txBody>
      </p:sp>
      <p:sp>
        <p:nvSpPr>
          <p:cNvPr id="8" name="Footer Placeholder 7">
            <a:extLst xmlns:a="http://schemas.openxmlformats.org/drawingml/2006/main">
              <a:ext uri="{FF2B5EF4-FFF2-40B4-BE49-F238E27FC236}">
                <a16:creationId xmlns:a16="http://schemas.microsoft.com/office/drawing/2014/main" id="{A496D77F-D50E-4A0F-ACD6-57D0CBD16D3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FD883289-3713-4137-9AA6-70519C5A9F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solidFill>
                  <a:schemeClr val="bg1">
                    <a:lumMod val="75000"/>
                  </a:schemeClr>
                </a:solidFill>
              </a:defRPr>
            </a:lvl1pPr>
          </a:lstStyle>
          <a:p xmlns:a="http://schemas.openxmlformats.org/drawingml/2006/main">
            <a:fld id="{A74DB8E4-0DF9-4658-8AF8-1D74F81145F2}" type="slidenum">
              <a:t>‹#›</a:t>
            </a:fld>
            <a:endParaRPr/>
          </a:p>
        </p:txBody>
      </p:sp>
    </p:spTree>
  </p:cSld>
</p:sldLayout>
</file>

<file path=ppt/slideLayouts/slideLayout23.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1bfbdb64af2f49ba" /><Relationship Type="http://schemas.openxmlformats.org/officeDocument/2006/relationships/theme" Target="/ppt/slideMasters/theme/theme2.xml" Id="R1c60c070a4a045a8" /><Relationship Type="http://schemas.openxmlformats.org/officeDocument/2006/relationships/slideLayout" Target="/ppt/slideLayouts/slideLayout1.xml" Id="Rc1497941d077468f" /><Relationship Type="http://schemas.openxmlformats.org/officeDocument/2006/relationships/slideLayout" Target="/ppt/slideLayouts/slideLayout2.xml" Id="R4e29abd144264de9" /><Relationship Type="http://schemas.openxmlformats.org/officeDocument/2006/relationships/slideLayout" Target="/ppt/slideLayouts/slideLayout3.xml" Id="R5d3f9fd49d60439c" /><Relationship Type="http://schemas.openxmlformats.org/officeDocument/2006/relationships/slideLayout" Target="/ppt/slideLayouts/slideLayout4.xml" Id="Re866c17cd9f54da4" /><Relationship Type="http://schemas.openxmlformats.org/officeDocument/2006/relationships/slideLayout" Target="/ppt/slideLayouts/slideLayout5.xml" Id="R0422c9ca50394cc4" /><Relationship Type="http://schemas.openxmlformats.org/officeDocument/2006/relationships/slideLayout" Target="/ppt/slideLayouts/slideLayout6.xml" Id="R65aef0516bfc4751" /><Relationship Type="http://schemas.openxmlformats.org/officeDocument/2006/relationships/slideLayout" Target="/ppt/slideLayouts/slideLayout7.xml" Id="R05982e03cc054f03" /><Relationship Type="http://schemas.openxmlformats.org/officeDocument/2006/relationships/slideLayout" Target="/ppt/slideLayouts/slideLayout8.xml" Id="R0a7369fc126c4a55" /><Relationship Type="http://schemas.openxmlformats.org/officeDocument/2006/relationships/slideLayout" Target="/ppt/slideLayouts/slideLayout9.xml" Id="Ra25c52617f77461e" /><Relationship Type="http://schemas.openxmlformats.org/officeDocument/2006/relationships/slideLayout" Target="/ppt/slideLayouts/slideLayout10.xml" Id="R87692995c2a94322" /><Relationship Type="http://schemas.openxmlformats.org/officeDocument/2006/relationships/slideLayout" Target="/ppt/slideLayouts/slideLayout11.xml" Id="R38016c1121844f1e" /><Relationship Type="http://schemas.openxmlformats.org/officeDocument/2006/relationships/slideLayout" Target="/ppt/slideLayouts/slideLayout12.xml" Id="Rf95bb49e4e6846ce" /><Relationship Type="http://schemas.openxmlformats.org/officeDocument/2006/relationships/slideLayout" Target="/ppt/slideLayouts/slideLayout13.xml" Id="Rd1fb508454a84de0" /><Relationship Type="http://schemas.openxmlformats.org/officeDocument/2006/relationships/slideLayout" Target="/ppt/slideLayouts/slideLayout14.xml" Id="R82260bb10fc5450d" /><Relationship Type="http://schemas.openxmlformats.org/officeDocument/2006/relationships/slideLayout" Target="/ppt/slideLayouts/slideLayout15.xml" Id="R20e7f9fd07ed41f5" /><Relationship Type="http://schemas.openxmlformats.org/officeDocument/2006/relationships/slideLayout" Target="/ppt/slideLayouts/slideLayout16.xml" Id="R54f4b6a167e64233" /><Relationship Type="http://schemas.openxmlformats.org/officeDocument/2006/relationships/slideLayout" Target="/ppt/slideLayouts/slideLayout17.xml" Id="R1674267bbb584550" /><Relationship Type="http://schemas.openxmlformats.org/officeDocument/2006/relationships/slideLayout" Target="/ppt/slideLayouts/slideLayout18.xml" Id="R9023f582a09440a7" /><Relationship Type="http://schemas.openxmlformats.org/officeDocument/2006/relationships/slideLayout" Target="/ppt/slideLayouts/slideLayout19.xml" Id="R13804d4f1f804bd2" /><Relationship Type="http://schemas.openxmlformats.org/officeDocument/2006/relationships/slideLayout" Target="/ppt/slideLayouts/slideLayout20.xml" Id="Rbdcb3c92c2864d85" /><Relationship Type="http://schemas.openxmlformats.org/officeDocument/2006/relationships/slideLayout" Target="/ppt/slideLayouts/slideLayout21.xml" Id="Reac90231501844af" /><Relationship Type="http://schemas.openxmlformats.org/officeDocument/2006/relationships/slideLayout" Target="/ppt/slideLayouts/slideLayout22.xml" Id="Re0f1593c7345400d" /><Relationship Type="http://schemas.openxmlformats.org/officeDocument/2006/relationships/slideLayout" Target="/ppt/slideLayouts/slideLayout23.xml" Id="Re5ff7f33af524120" /></Relationships>
</file>

<file path=ppt/slideMasters/slideMaster1.xml><?xml version="1.0" encoding="utf-8"?>
<p:sldMaster xmlns:p="http://schemas.openxmlformats.org/presentationml/2006/main">
  <p:cSld>
    <p:bg>
      <p:bgPr>
        <a:blipFill xmlns:a="http://schemas.openxmlformats.org/drawingml/2006/main" rotWithShape="1">
          <a:blip xmlns:r="http://schemas.openxmlformats.org/officeDocument/2006/relationships" r:embed="R1bfbdb64af2f49ba">
            <a:lum/>
          </a:blip>
          <a:srcRect l="0" t="0" r="0" b="0"/>
          <a:stretch>
            <a:fillRect l="0" t="0" r="0" b="0"/>
          </a:stretch>
        </a:blipFill>
      </p:bgPr>
    </p:bg>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F547C7B6-1650-658B-2731-3089BD1BDEEB}"/>
              </a:ext>
            </a:extLst>
          </p:cNvPr>
          <p:cNvSpPr>
            <a:spLocks xmlns:a="http://schemas.openxmlformats.org/drawingml/2006/main" noGrp="1"/>
          </p:cNvSpPr>
          <p:nvPr/>
        </p:nvSpPr>
        <p:spPr>
          <a:xfrm xmlns:a="http://schemas.openxmlformats.org/drawingml/2006/main">
            <a:off x="5672138" y="63818"/>
            <a:ext cx="1285875" cy="1619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00" b="0">
                <a:solidFill>
                  <a:srgbClr val="7B233B"/>
                </a:solidFill>
                <a:latin typeface="Arial"/>
                <a:ea typeface="Arial"/>
                <a:cs typeface="Arial"/>
              </a:defRPr>
            </a:pPr>
            <a:r>
              <a:rPr sz="900" b="0">
                <a:solidFill>
                  <a:srgbClr val="7B233B"/>
                </a:solidFill>
                <a:latin typeface="Arial"/>
                <a:ea typeface="Arial"/>
                <a:cs typeface="Arial"/>
              </a:rPr>
              <a:t>CONFIDENTIAL</a:t>
            </a: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497941d077468f"/>
    <p:sldLayoutId xmlns:r="http://schemas.openxmlformats.org/officeDocument/2006/relationships" id="2147483650" r:id="R4e29abd144264de9"/>
    <p:sldLayoutId xmlns:r="http://schemas.openxmlformats.org/officeDocument/2006/relationships" id="2147483651" r:id="R5d3f9fd49d60439c"/>
    <p:sldLayoutId xmlns:r="http://schemas.openxmlformats.org/officeDocument/2006/relationships" id="2147483652" r:id="Re866c17cd9f54da4"/>
    <p:sldLayoutId xmlns:r="http://schemas.openxmlformats.org/officeDocument/2006/relationships" id="2147483653" r:id="R0422c9ca50394cc4"/>
    <p:sldLayoutId xmlns:r="http://schemas.openxmlformats.org/officeDocument/2006/relationships" id="2147483654" r:id="R65aef0516bfc4751"/>
    <p:sldLayoutId xmlns:r="http://schemas.openxmlformats.org/officeDocument/2006/relationships" id="2147483655" r:id="R05982e03cc054f03"/>
    <p:sldLayoutId xmlns:r="http://schemas.openxmlformats.org/officeDocument/2006/relationships" id="2147483656" r:id="R0a7369fc126c4a55"/>
    <p:sldLayoutId xmlns:r="http://schemas.openxmlformats.org/officeDocument/2006/relationships" id="2147483657" r:id="Ra25c52617f77461e"/>
    <p:sldLayoutId xmlns:r="http://schemas.openxmlformats.org/officeDocument/2006/relationships" id="2147483658" r:id="R87692995c2a94322"/>
    <p:sldLayoutId xmlns:r="http://schemas.openxmlformats.org/officeDocument/2006/relationships" id="2147483659" r:id="R38016c1121844f1e"/>
    <p:sldLayoutId xmlns:r="http://schemas.openxmlformats.org/officeDocument/2006/relationships" id="2147483660" r:id="Rf95bb49e4e6846ce"/>
    <p:sldLayoutId xmlns:r="http://schemas.openxmlformats.org/officeDocument/2006/relationships" id="2147483661" r:id="Rd1fb508454a84de0"/>
    <p:sldLayoutId xmlns:r="http://schemas.openxmlformats.org/officeDocument/2006/relationships" id="2147483662" r:id="R82260bb10fc5450d"/>
    <p:sldLayoutId xmlns:r="http://schemas.openxmlformats.org/officeDocument/2006/relationships" id="2147483663" r:id="R20e7f9fd07ed41f5"/>
    <p:sldLayoutId xmlns:r="http://schemas.openxmlformats.org/officeDocument/2006/relationships" id="2147483664" r:id="R54f4b6a167e64233"/>
    <p:sldLayoutId xmlns:r="http://schemas.openxmlformats.org/officeDocument/2006/relationships" id="2147483665" r:id="R1674267bbb584550"/>
    <p:sldLayoutId xmlns:r="http://schemas.openxmlformats.org/officeDocument/2006/relationships" id="2147483666" r:id="R9023f582a09440a7"/>
    <p:sldLayoutId xmlns:r="http://schemas.openxmlformats.org/officeDocument/2006/relationships" id="2147483667" r:id="R13804d4f1f804bd2"/>
    <p:sldLayoutId xmlns:r="http://schemas.openxmlformats.org/officeDocument/2006/relationships" id="2147483668" r:id="Rbdcb3c92c2864d85"/>
    <p:sldLayoutId xmlns:r="http://schemas.openxmlformats.org/officeDocument/2006/relationships" id="2147483669" r:id="Reac90231501844af"/>
    <p:sldLayoutId xmlns:r="http://schemas.openxmlformats.org/officeDocument/2006/relationships" id="2147483670" r:id="Re0f1593c7345400d"/>
    <p:sldLayoutId xmlns:r="http://schemas.openxmlformats.org/officeDocument/2006/relationships" id="2147483671" r:id="Re5ff7f33af524120"/>
  </p:sldLayoutIdLst>
  <p:txStyles>
    <p:titleStyle>
      <a:lvl1pPr xmlns:a="http://schemas.openxmlformats.org/drawingml/2006/main" algn="l" defTabSz="914400">
        <a:lnSpc>
          <a:spcPct val="90000"/>
        </a:lnSpc>
        <a:spcBef>
          <a:spcPct val="0"/>
        </a:spcBef>
        <a:buNone/>
        <a:defRPr sz="4400" b="1" kern="1200">
          <a:solidFill>
            <a:schemeClr val="bg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bg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bg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bg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bg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bg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5c0bd330ec4344" /><Relationship Type="http://schemas.openxmlformats.org/officeDocument/2006/relationships/notesSlide" Target="/ppt/notesSlides/notesSlide1.xml" Id="Rebaed27bd8ad422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7.xml" Id="R2343cdec5ffb4cee" /><Relationship Type="http://schemas.openxmlformats.org/officeDocument/2006/relationships/image" Target="/ppt/media/image8.png" Id="R8d7e94e8dbba47af" /><Relationship Type="http://schemas.openxmlformats.org/officeDocument/2006/relationships/notesSlide" Target="/ppt/notesSlides/notesSlide2.xml" Id="R585e94bbe2bd466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7.xml" Id="Rab3e85f9a8584110" /><Relationship Type="http://schemas.openxmlformats.org/officeDocument/2006/relationships/image" Target="/ppt/media/image8.png" Id="R33659610bb6d42dc" /><Relationship Type="http://schemas.openxmlformats.org/officeDocument/2006/relationships/notesSlide" Target="/ppt/notesSlides/notesSlide3.xml" Id="R8a56f2475fb540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7.xml" Id="R28374bd2bc944627" /><Relationship Type="http://schemas.openxmlformats.org/officeDocument/2006/relationships/image" Target="/ppt/media/image8.png" Id="R4bbb983991804d68" /><Relationship Type="http://schemas.openxmlformats.org/officeDocument/2006/relationships/image" Target="/ppt/media/image9.png" Id="Rb2168aef50ba4363" /><Relationship Type="http://schemas.openxmlformats.org/officeDocument/2006/relationships/notesSlide" Target="/ppt/notesSlides/notesSlide4.xml" Id="R34d9acba529b44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7.xml" Id="Rb953b0c4d97a4b0a" /><Relationship Type="http://schemas.openxmlformats.org/officeDocument/2006/relationships/image" Target="/ppt/media/image8.png" Id="Rb49a07fd969f4caf" /><Relationship Type="http://schemas.openxmlformats.org/officeDocument/2006/relationships/notesSlide" Target="/ppt/notesSlides/notesSlide5.xml" Id="R5de559d67dcb4fd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7.xml" Id="Rcc0f199620ee4718" /><Relationship Type="http://schemas.openxmlformats.org/officeDocument/2006/relationships/image" Target="/ppt/media/image8.png" Id="Rb148531d94484017" /><Relationship Type="http://schemas.openxmlformats.org/officeDocument/2006/relationships/notesSlide" Target="/ppt/notesSlides/notesSlide6.xml" Id="R56bdcd6371e34d2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7.xml" Id="R357e694a76c24978" /><Relationship Type="http://schemas.openxmlformats.org/officeDocument/2006/relationships/image" Target="/ppt/media/image8.png" Id="Ra84f7360cf874f62" /><Relationship Type="http://schemas.openxmlformats.org/officeDocument/2006/relationships/image" Target="/ppt/media/image10.png" Id="R7a1b89adc47e4cf9" /><Relationship Type="http://schemas.openxmlformats.org/officeDocument/2006/relationships/notesSlide" Target="/ppt/notesSlides/notesSlide7.xml" Id="R77989dbc8d6a4df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7.xml" Id="R7ab1577803834812" /><Relationship Type="http://schemas.openxmlformats.org/officeDocument/2006/relationships/image" Target="/ppt/media/image8.png" Id="Ra572ddf80a484706" /><Relationship Type="http://schemas.openxmlformats.org/officeDocument/2006/relationships/notesSlide" Target="/ppt/notesSlides/notesSlide8.xml" Id="R8b17469488db4fd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7.xml" Id="R769a898b93654dd2" /><Relationship Type="http://schemas.openxmlformats.org/officeDocument/2006/relationships/image" Target="/ppt/media/image8.png" Id="R546a4e3a1f0644f0" /><Relationship Type="http://schemas.openxmlformats.org/officeDocument/2006/relationships/image" Target="/ppt/media/image11.png" Id="R5eaad076280c4bfc" /><Relationship Type="http://schemas.openxmlformats.org/officeDocument/2006/relationships/notesSlide" Target="/ppt/notesSlides/notesSlide9.xml" Id="Re1b4744f401a45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7.xml" Id="R824101750ac8409e" /><Relationship Type="http://schemas.openxmlformats.org/officeDocument/2006/relationships/image" Target="/ppt/media/image8.png" Id="R9d6a889fef9648a1" /><Relationship Type="http://schemas.openxmlformats.org/officeDocument/2006/relationships/notesSlide" Target="/ppt/notesSlides/notesSlide10.xml" Id="Raf8de0f902f94f4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7.xml" Id="R8f315a29bc6e4a40" /><Relationship Type="http://schemas.openxmlformats.org/officeDocument/2006/relationships/image" Target="/ppt/media/image8.png" Id="Rdf799f252aaa4204" /><Relationship Type="http://schemas.openxmlformats.org/officeDocument/2006/relationships/notesSlide" Target="/ppt/notesSlides/notesSlide11.xml" Id="Re380bb32561241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7.xml" Id="Rc515fc73971b4143" /><Relationship Type="http://schemas.openxmlformats.org/officeDocument/2006/relationships/image" Target="/ppt/media/image8.png" Id="R6e22ecdaf1e142a8" /><Relationship Type="http://schemas.openxmlformats.org/officeDocument/2006/relationships/image" Target="/ppt/media/image12.png" Id="R884da5684e5d41a4" /><Relationship Type="http://schemas.openxmlformats.org/officeDocument/2006/relationships/notesSlide" Target="/ppt/notesSlides/notesSlide12.xml" Id="R3c12c135603e49a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7.xml" Id="R3400cf38568e4774" /><Relationship Type="http://schemas.openxmlformats.org/officeDocument/2006/relationships/image" Target="/ppt/media/image8.png" Id="R8760c50c50c54ccc" /><Relationship Type="http://schemas.openxmlformats.org/officeDocument/2006/relationships/notesSlide" Target="/ppt/notesSlides/notesSlide13.xml" Id="Ra884779edc9f47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7.xml" Id="R705a3f5382474ae3" /><Relationship Type="http://schemas.openxmlformats.org/officeDocument/2006/relationships/image" Target="/ppt/media/image13.png" Id="Rbebb3803d56f4f78" /><Relationship Type="http://schemas.openxmlformats.org/officeDocument/2006/relationships/notesSlide" Target="/ppt/notesSlides/notesSlide14.xml" Id="R86e5a275777747b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7.xml" Id="Rea91cac89f914679" /><Relationship Type="http://schemas.openxmlformats.org/officeDocument/2006/relationships/image" Target="/ppt/media/image8.png" Id="R423c426640fe4f44" /><Relationship Type="http://schemas.openxmlformats.org/officeDocument/2006/relationships/notesSlide" Target="/ppt/notesSlides/notesSlide15.xml" Id="Rdced8f1e963f43c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7.xml" Id="Rb8086b79bbb14361" /><Relationship Type="http://schemas.openxmlformats.org/officeDocument/2006/relationships/image" Target="/ppt/media/image14.png" Id="R35cf30502d574361" /><Relationship Type="http://schemas.openxmlformats.org/officeDocument/2006/relationships/notesSlide" Target="/ppt/notesSlides/notesSlide16.xml" Id="R38f6ada67d8b49d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7.xml" Id="R44578eb39b474aa0" /><Relationship Type="http://schemas.openxmlformats.org/officeDocument/2006/relationships/image" Target="/ppt/media/image15.png" Id="R0e43e865803741aa" /><Relationship Type="http://schemas.openxmlformats.org/officeDocument/2006/relationships/notesSlide" Target="/ppt/notesSlides/notesSlide17.xml" Id="R82c053c1b499407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2.xml" Id="Re13dbb601e8b4c65" /><Relationship Type="http://schemas.openxmlformats.org/officeDocument/2006/relationships/image" Target="/ppt/media/image16.png" Id="Ra98b2d7091c14af0" /><Relationship Type="http://schemas.openxmlformats.org/officeDocument/2006/relationships/notesSlide" Target="/ppt/notesSlides/notesSlide18.xml" Id="R902c7e53b1a947b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7.xml" Id="R605f9868d07743c0" /><Relationship Type="http://schemas.openxmlformats.org/officeDocument/2006/relationships/image" Target="/ppt/media/image8.png" Id="R7092f27d117e4896" /><Relationship Type="http://schemas.openxmlformats.org/officeDocument/2006/relationships/notesSlide" Target="/ppt/notesSlides/notesSlide19.xml" Id="Rc4f310a6817540b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3.xml" Id="R0c37c36d2ddf45f9" /><Relationship Type="http://schemas.openxmlformats.org/officeDocument/2006/relationships/image" Target="/ppt/media/image8.png" Id="R2304340d3c5a4f72" /><Relationship Type="http://schemas.openxmlformats.org/officeDocument/2006/relationships/image" Target="/ppt/media/image17.png" Id="R218adde666454c27" /><Relationship Type="http://schemas.openxmlformats.org/officeDocument/2006/relationships/image" Target="/ppt/media/image18.png" Id="R4ab6cd5e825f44ec" /><Relationship Type="http://schemas.openxmlformats.org/officeDocument/2006/relationships/notesSlide" Target="/ppt/notesSlides/notesSlide20.xml" Id="R96da421c6f5044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7.xml" Id="Rd25ad90a8f044892" /><Relationship Type="http://schemas.openxmlformats.org/officeDocument/2006/relationships/image" Target="/ppt/media/image8.png" Id="Re2dbbcee47074c80" /><Relationship Type="http://schemas.openxmlformats.org/officeDocument/2006/relationships/notesSlide" Target="/ppt/notesSlides/notesSlide21.xml" Id="R6905f8592a4f45e8"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Subtitle 3">
            <a:extLst xmlns:a="http://schemas.openxmlformats.org/drawingml/2006/main">
              <a:ext uri="{FF2B5EF4-FFF2-40B4-BE49-F238E27FC236}">
                <a16:creationId xmlns:a16="http://schemas.microsoft.com/office/drawing/2014/main" id="{3BFDC539-FE20-43A3-91DA-DC6AC6A72CAE}"/>
              </a:ext>
            </a:extLst>
          </p:cNvPr>
          <p:cNvSpPr>
            <a:spLocks xmlns:a="http://schemas.openxmlformats.org/drawingml/2006/main" noGrp="1"/>
          </p:cNvSpPr>
          <p:nvPr>
            <p:ph type="subTitle" idx="1"/>
          </p:nvPr>
        </p:nvSpPr>
        <p:spPr>
          <a:xfrm xmlns:a="http://schemas.openxmlformats.org/drawingml/2006/main">
            <a:off x="5810250" y="4143375"/>
            <a:ext cx="5905500" cy="1238250"/>
          </a:xfrm>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HUMANOID</a:t>
            </a:r>
            <a:endParaRPr/>
          </a:p>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SKILL LEARNING</a:t>
            </a:r>
            <a:endParaRPr/>
          </a:p>
        </p:txBody>
      </p:sp>
      <p:sp>
        <p:nvSpPr>
          <p:cNvPr id="5" name="content">
            <a:extLst xmlns:a="http://schemas.openxmlformats.org/drawingml/2006/main">
              <a:ext uri="{FF2B5EF4-FFF2-40B4-BE49-F238E27FC236}">
                <a16:creationId xmlns:a16="http://schemas.microsoft.com/office/drawing/2014/main" id="{59783F51-B372-43C7-9A2A-011FB2420147}"/>
              </a:ext>
            </a:extLst>
          </p:cNvPr>
          <p:cNvSpPr>
            <a:spLocks xmlns:a="http://schemas.openxmlformats.org/drawingml/2006/main" noGrp="1"/>
          </p:cNvSpPr>
          <p:nvPr/>
        </p:nvSpPr>
        <p:spPr>
          <a:xfrm xmlns:a="http://schemas.openxmlformats.org/drawingml/2006/main">
            <a:off x="5810250" y="5543550"/>
            <a:ext cx="5810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FFFFFF"/>
                </a:solidFill>
                <a:latin typeface="Arial"/>
                <a:ea typeface="Arial"/>
                <a:cs typeface="Arial"/>
              </a:defRPr>
            </a:pPr>
            <a:r>
              <a:rPr sz="1950" b="0">
                <a:solidFill>
                  <a:srgbClr val="FFFFFF"/>
                </a:solidFill>
                <a:latin typeface="Arial"/>
                <a:ea typeface="Arial"/>
                <a:cs typeface="Arial"/>
              </a:rPr>
              <a:t>Data flywheel kết hợp Model Engine</a:t>
            </a:r>
          </a:p>
          <a:p xmlns:a="http://schemas.openxmlformats.org/drawingml/2006/main">
            <a:pPr algn="l">
              <a:buNone/>
              <a:defRPr sz="1950" b="0">
                <a:solidFill>
                  <a:srgbClr val="FFFFFF"/>
                </a:solidFill>
                <a:latin typeface="Arial"/>
                <a:ea typeface="Arial"/>
                <a:cs typeface="Arial"/>
              </a:defRPr>
            </a:pPr>
            <a:r>
              <a:rPr sz="1950" b="0">
                <a:solidFill>
                  <a:srgbClr val="FFFFFF"/>
                </a:solidFill>
                <a:latin typeface="Arial"/>
                <a:ea typeface="Arial"/>
                <a:cs typeface="Arial"/>
              </a:rPr>
              <a:t>để phát triển kỹ năng robot</a:t>
            </a:r>
          </a:p>
        </p:txBody>
      </p:sp>
      <p:sp>
        <p:nvSpPr>
          <p:cNvPr id="6" name="content">
            <a:extLst xmlns:a="http://schemas.openxmlformats.org/drawingml/2006/main">
              <a:ext uri="{FF2B5EF4-FFF2-40B4-BE49-F238E27FC236}">
                <a16:creationId xmlns:a16="http://schemas.microsoft.com/office/drawing/2014/main" id="{7DB7453C-BEF1-46D6-B7D3-DC09EF978A76}"/>
              </a:ext>
            </a:extLst>
          </p:cNvPr>
          <p:cNvSpPr>
            <a:spLocks xmlns:a="http://schemas.openxmlformats.org/drawingml/2006/main" noGrp="1"/>
          </p:cNvSpPr>
          <p:nvPr/>
        </p:nvSpPr>
        <p:spPr>
          <a:xfrm xmlns:a="http://schemas.openxmlformats.org/drawingml/2006/main">
            <a:off x="5810250" y="644842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a:defPPr>
          </a:lstStyle>
          <a:p xmlns:a="http://schemas.openxmlformats.org/drawingml/2006/main">
            <a:pPr algn="l">
              <a:buNone/>
              <a:defRPr sz="1500" b="0">
                <a:solidFill>
                  <a:srgbClr val="FFFFFF"/>
                </a:solidFill>
                <a:latin typeface="Arial"/>
                <a:ea typeface="Arial"/>
                <a:cs typeface="Arial"/>
              </a:defRPr>
            </a:pPr>
            <a:r>
              <a:rPr sz="1500" b="0">
                <a:solidFill>
                  <a:srgbClr val="FFFFFF"/>
                </a:solidFill>
                <a:latin typeface="Arial"/>
                <a:ea typeface="Arial"/>
                <a:cs typeface="Arial"/>
              </a:rPr>
              <a:t>GR00T N1.5 qua FluxVLA · A1 trong mô phỏng</a:t>
            </a:r>
          </a:p>
        </p:txBody>
      </p:sp>
    </p:spTree>
    <p:extLst>
      <p:ext uri="{BB962C8B-B14F-4D97-AF65-F5344CB8AC3E}">
        <p14:creationId xmlns:p14="http://schemas.microsoft.com/office/powerpoint/2010/main" val="347258958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9" name="Picture 2">
            <a:extLst xmlns:a="http://schemas.openxmlformats.org/drawingml/2006/main">
              <a:ext uri="{FF2B5EF4-FFF2-40B4-BE49-F238E27FC236}">
                <a16:creationId xmlns:a16="http://schemas.microsoft.com/office/drawing/2014/main" id="{7BDB215A-222B-49F4-8BCB-5F7191E901DC}"/>
              </a:ext>
            </a:extLst>
          </p:cNvPr>
          <p:cNvPicPr>
            <a:picLocks xmlns:a="http://schemas.openxmlformats.org/drawingml/2006/main" noChangeAspect="1"/>
          </p:cNvPicPr>
          <p:nvPr/>
        </p:nvPicPr>
        <p:blipFill>
          <a:blip xmlns:r="http://schemas.openxmlformats.org/officeDocument/2006/relationships" xmlns:a="http://schemas.openxmlformats.org/drawingml/2006/main" r:embed="R8d7e94e8dbba47a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7" name="Shape 28">
            <a:extLst xmlns:a="http://schemas.openxmlformats.org/drawingml/2006/main">
              <a:ext uri="{FF2B5EF4-FFF2-40B4-BE49-F238E27FC236}">
                <a16:creationId xmlns:a16="http://schemas.microsoft.com/office/drawing/2014/main" id="{695A614A-B9F4-6A89-E317-E1EF6EF66318}"/>
              </a:ext>
            </a:extLst>
          </p:cNvPr>
          <p:cNvSpPr>
            <a:spLocks xmlns:a="http://schemas.openxmlformats.org/drawingml/2006/main" noGrp="1"/>
          </p:cNvSpPr>
          <p:nvPr/>
        </p:nvSpPr>
        <p:spPr>
          <a:xfrm xmlns:a="http://schemas.openxmlformats.org/drawingml/2006/main">
            <a:off x="174724" y="61457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Text 29">
            <a:extLst xmlns:a="http://schemas.openxmlformats.org/drawingml/2006/main">
              <a:ext uri="{FF2B5EF4-FFF2-40B4-BE49-F238E27FC236}">
                <a16:creationId xmlns:a16="http://schemas.microsoft.com/office/drawing/2014/main" id="{7C6611E4-874C-84AB-FDF4-EDC3849F3FAB}"/>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9" name="Text 30">
            <a:extLst xmlns:a="http://schemas.openxmlformats.org/drawingml/2006/main">
              <a:ext uri="{FF2B5EF4-FFF2-40B4-BE49-F238E27FC236}">
                <a16:creationId xmlns:a16="http://schemas.microsoft.com/office/drawing/2014/main" id="{167F4014-3FA8-094F-0851-4733A2F34CCB}"/>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marL="0" indent="0" algn="l">
              <a:buNone/>
              <a:defRPr sz="1275" b="0">
                <a:solidFill>
                  <a:srgbClr val="FFFFFF"/>
                </a:solidFill>
                <a:latin typeface="Arial"/>
                <a:ea typeface="Arial"/>
                <a:cs typeface="Arial"/>
              </a:defRPr>
            </a:pPr>
            <a:r>
              <a:rPr sz="1275" b="0">
                <a:solidFill>
                  <a:srgbClr val="FFFFFF"/>
                </a:solidFill>
                <a:latin typeface="Arial"/>
                <a:ea typeface="Arial"/>
                <a:cs typeface="Arial"/>
              </a:rPr>
              <a:t>Persona đầu: kỹ sư robot learning. Hiện trạng và chi phí tại DENSO cần task owner xác nhận.</a:t>
            </a:r>
          </a:p>
        </p:txBody>
      </p:sp>
      <p:sp>
        <p:nvSpPr>
          <p:cNvPr id="6" name="Title 1">
            <a:extLst xmlns:a="http://schemas.openxmlformats.org/drawingml/2006/main">
              <a:ext uri="{FF2B5EF4-FFF2-40B4-BE49-F238E27FC236}">
                <a16:creationId xmlns:a16="http://schemas.microsoft.com/office/drawing/2014/main" id="{068FF458-3F02-01F7-C559-8B60370FD27D}"/>
              </a:ext>
            </a:extLst>
          </p:cNvPr>
          <p:cNvSpPr>
            <a:spLocks xmlns:a="http://schemas.openxmlformats.org/drawingml/2006/main" noGrp="1"/>
          </p:cNvSpPr>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vl1pPr algn="l" defTabSz="914400">
              <a:lnSpc>
                <a:spcPct val="90000"/>
              </a:lnSpc>
              <a:spcBef>
                <a:spcPct val="0"/>
              </a:spcBef>
              <a:buNone/>
              <a:defRPr sz="3600" b="1" kern="1200">
                <a:solidFill>
                  <a:schemeClr val="bg1"/>
                </a:solidFill>
                <a:latin typeface="Times New Roman"/>
                <a:ea typeface="Times New Roman"/>
                <a:cs typeface="Times New Roman"/>
              </a:defRPr>
            </a:lvl1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Vấn đề thực tế</a:t>
            </a:r>
          </a:p>
        </p:txBody>
      </p:sp>
      <p:sp>
        <p:nvSpPr>
          <p:cNvPr id="20" name="">
            <a:extLst xmlns:a="http://schemas.openxmlformats.org/drawingml/2006/main">
              <a:ext uri="{FF2B5EF4-FFF2-40B4-BE49-F238E27FC236}">
                <a16:creationId xmlns:a16="http://schemas.microsoft.com/office/drawing/2014/main" id="{BE71D62D-8F13-45B8-A27F-8A41BFF83F8E}"/>
              </a:ext>
            </a:extLst>
          </p:cNvPr>
          <p:cNvSpPr>
            <a:spLocks xmlns:a="http://schemas.openxmlformats.org/drawingml/2006/main" noGrp="1"/>
          </p:cNvSpPr>
          <p:nvPr/>
        </p:nvSpPr>
        <p:spPr>
          <a:xfrm xmlns:a="http://schemas.openxmlformats.org/drawingml/2006/main">
            <a:off x="533400" y="1581150"/>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a:solidFill>
                  <a:srgbClr val="153251"/>
                </a:solidFill>
                <a:latin typeface="Arial"/>
                <a:ea typeface="Arial"/>
                <a:cs typeface="Arial"/>
              </a:defRPr>
            </a:defPPr>
          </a:lstStyle>
          <a:p xmlns:a="http://schemas.openxmlformats.org/drawingml/2006/main">
            <a:pPr>
              <a:buNone/>
              <a:defRPr sz="2700" b="1">
                <a:solidFill>
                  <a:srgbClr val="153251"/>
                </a:solidFill>
                <a:latin typeface="Arial"/>
                <a:ea typeface="Arial"/>
                <a:cs typeface="Arial"/>
              </a:defRPr>
            </a:pPr>
            <a:r>
              <a:rPr sz="2700" b="1">
                <a:solidFill>
                  <a:srgbClr val="153251"/>
                </a:solidFill>
                <a:latin typeface="Arial"/>
                <a:ea typeface="Arial"/>
                <a:cs typeface="Arial"/>
              </a:rPr>
              <a:t>Mỗi điều kiện mới có thể mở lại cả vòng làm việc</a:t>
            </a:r>
          </a:p>
        </p:txBody>
      </p:sp>
      <p:graphicFrame>
        <p:nvGraphicFramePr>
          <p:cNvPr id="21" name="">
            <a:extLst xmlns:a="http://schemas.openxmlformats.org/drawingml/2006/main">
              <a:ext uri="{FF2B5EF4-FFF2-40B4-BE49-F238E27FC236}">
                <a16:creationId xmlns:a16="http://schemas.microsoft.com/office/drawing/2014/main" id="{BEB2B8BC-297C-41E4-9DD3-9BDF904DEB8A}"/>
              </a:ext>
            </a:extLst>
          </p:cNvPr>
          <p:cNvGraphicFramePr/>
          <p:nvPr/>
        </p:nvGraphicFramePr>
        <p:xfrm>
          <a:off xmlns:a="http://schemas.openxmlformats.org/drawingml/2006/main" x="533400" y="2609850"/>
          <a:ext xmlns:a="http://schemas.openxmlformats.org/drawingml/2006/main" cx="11125200" cy="2667000"/>
        </p:xfrm>
        <a:graphic xmlns:a="http://schemas.openxmlformats.org/drawingml/2006/main">
          <a:graphicData uri="http://schemas.openxmlformats.org/drawingml/2006/table">
            <a:tbl>
              <a:tblPr/>
              <a:tblGrid>
                <a:gridCol w="3190875"/>
                <a:gridCol w="3238500"/>
                <a:gridCol w="4695825"/>
              </a:tblGrid>
              <a:tr h="419100">
                <a:tc>
                  <a:txBody>
                    <a:bodyPr>
                      <a:noAutofit/>
                    </a:bodyPr>
                    <a:lstStyle/>
                    <a:p>
                      <a:r>
                        <a:rPr sz="1800" b="1">
                          <a:solidFill>
                            <a:srgbClr val="FFFFFF"/>
                          </a:solidFill>
                          <a:latin typeface="Arial"/>
                          <a:ea typeface="Arial"/>
                          <a:cs typeface="Arial"/>
                        </a:rPr>
                        <a:t>Công việc lặp lại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Chi phí phát sinh</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Thông tin còn thiếu</a:t>
                      </a:r>
                    </a:p>
                  </a:txBody>
                  <a:tcPr marL="95250" marR="95250" marT="76200" marB="66675" anchor="t">
                    <a:solidFill>
                      <a:srgbClr val="153251"/>
                    </a:solidFill>
                  </a:tcPr>
                </a:tc>
              </a:tr>
              <a:tr h="749300">
                <a:tc>
                  <a:txBody>
                    <a:bodyPr>
                      <a:noAutofit/>
                    </a:bodyPr>
                    <a:lstStyle/>
                    <a:p>
                      <a:r>
                        <a:rPr sz="1875" b="0">
                          <a:solidFill>
                            <a:srgbClr val="153251"/>
                          </a:solidFill>
                          <a:latin typeface="Arial"/>
                          <a:ea typeface="Arial"/>
                          <a:cs typeface="Arial"/>
                        </a:rPr>
                        <a:t>Thu mẫu và reset</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Operator, thiết bị, hiệu chuẩn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Mẫu nào mở được coverage?</a:t>
                      </a:r>
                    </a:p>
                  </a:txBody>
                  <a:tcPr marL="95250" marR="95250" marT="76200" marB="66675" anchor="t">
                    <a:solidFill>
                      <a:srgbClr val="FFFFFF"/>
                    </a:solidFill>
                  </a:tcPr>
                </a:tc>
              </a:tr>
              <a:tr h="749300">
                <a:tc>
                  <a:txBody>
                    <a:bodyPr>
                      <a:noAutofit/>
                    </a:bodyPr>
                    <a:lstStyle/>
                    <a:p>
                      <a:r>
                        <a:rPr sz="1875" b="0">
                          <a:solidFill>
                            <a:srgbClr val="153251"/>
                          </a:solidFill>
                          <a:latin typeface="Arial"/>
                          <a:ea typeface="Arial"/>
                          <a:cs typeface="Arial"/>
                        </a:rPr>
                        <a:t>QA, tích hợp và training</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Giờ kỹ sư và compute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Nhãn có đúng robot và task?</a:t>
                      </a:r>
                    </a:p>
                  </a:txBody>
                  <a:tcPr marL="95250" marR="95250" marT="76200" marB="66675" anchor="t">
                    <a:solidFill>
                      <a:srgbClr val="FFFFFF"/>
                    </a:solidFill>
                  </a:tcPr>
                </a:tc>
              </a:tr>
              <a:tr h="749300">
                <a:tc>
                  <a:txBody>
                    <a:bodyPr>
                      <a:noAutofit/>
                    </a:bodyPr>
                    <a:lstStyle/>
                    <a:p>
                      <a:r>
                        <a:rPr sz="1875" b="0">
                          <a:solidFill>
                            <a:srgbClr val="153251"/>
                          </a:solidFill>
                          <a:latin typeface="Arial"/>
                          <a:ea typeface="Arial"/>
                          <a:cs typeface="Arial"/>
                        </a:rPr>
                        <a:t>Thử lỗi và làm lại</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Thêm dữ liệu, thêm lượt thử</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Sửa dữ liệu, model hay controller?</a:t>
                      </a:r>
                    </a:p>
                  </a:txBody>
                  <a:tcPr marL="95250" marR="95250" marT="76200" marB="66675" anchor="t">
                    <a:solidFill>
                      <a:srgbClr val="FFFFFF"/>
                    </a:solidFill>
                  </a:tcPr>
                </a:tc>
              </a:tr>
            </a:tbl>
          </a:graphicData>
        </a:graphic>
      </p:graphicFrame>
      <p:sp>
        <p:nvSpPr>
          <p:cNvPr id="22" name="">
            <a:extLst xmlns:a="http://schemas.openxmlformats.org/drawingml/2006/main">
              <a:ext uri="{FF2B5EF4-FFF2-40B4-BE49-F238E27FC236}">
                <a16:creationId xmlns:a16="http://schemas.microsoft.com/office/drawing/2014/main" id="{F27CFDB2-D122-48F7-8A17-BCFC8BD6D76A}"/>
              </a:ext>
            </a:extLst>
          </p:cNvPr>
          <p:cNvSpPr>
            <a:spLocks xmlns:a="http://schemas.openxmlformats.org/drawingml/2006/main" noGrp="1"/>
          </p:cNvSpPr>
          <p:nvPr/>
        </p:nvSpPr>
        <p:spPr>
          <a:xfrm xmlns:a="http://schemas.openxmlformats.org/drawingml/2006/main">
            <a:off x="533400" y="5467350"/>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007F83"/>
                </a:solidFill>
                <a:latin typeface="Arial"/>
                <a:ea typeface="Arial"/>
                <a:cs typeface="Arial"/>
              </a:defRPr>
            </a:defPPr>
          </a:lstStyle>
          <a:p xmlns:a="http://schemas.openxmlformats.org/drawingml/2006/main">
            <a:pPr>
              <a:buNone/>
              <a:defRPr sz="1950" b="1">
                <a:solidFill>
                  <a:srgbClr val="007F83"/>
                </a:solidFill>
                <a:latin typeface="Arial"/>
                <a:ea typeface="Arial"/>
                <a:cs typeface="Arial"/>
              </a:defRPr>
            </a:pPr>
            <a:r>
              <a:rPr sz="1950" b="1">
                <a:solidFill>
                  <a:srgbClr val="007F83"/>
                </a:solidFill>
                <a:latin typeface="Arial"/>
                <a:ea typeface="Arial"/>
                <a:cs typeface="Arial"/>
              </a:rPr>
              <a:t>Giả thuyết: chọn đúng dữ liệu giúp đạt cùng chất lượng với ít tổng công hơn</a:t>
            </a:r>
          </a:p>
        </p:txBody>
      </p:sp>
      <p:sp>
        <p:nvSpPr>
          <p:cNvPr id="23" name="">
            <a:extLst xmlns:a="http://schemas.openxmlformats.org/drawingml/2006/main">
              <a:ext uri="{FF2B5EF4-FFF2-40B4-BE49-F238E27FC236}">
                <a16:creationId xmlns:a16="http://schemas.microsoft.com/office/drawing/2014/main" id="{B4471E7A-81B8-40D4-A8B3-F6DE4667996E}"/>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02 / 21</a:t>
            </a:r>
          </a:p>
        </p:txBody>
      </p:sp>
    </p:spTree>
    <p:extLst>
      <p:ext uri="{BB962C8B-B14F-4D97-AF65-F5344CB8AC3E}">
        <p14:creationId xmlns:p14="http://schemas.microsoft.com/office/powerpoint/2010/main" val="333330260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7C874BCA-B73D-4F1C-A9DB-4C8623DE1192}"/>
              </a:ext>
            </a:extLst>
          </p:cNvPr>
          <p:cNvPicPr>
            <a:picLocks xmlns:a="http://schemas.openxmlformats.org/drawingml/2006/main" noChangeAspect="1"/>
          </p:cNvPicPr>
          <p:nvPr/>
        </p:nvPicPr>
        <p:blipFill>
          <a:blip xmlns:r="http://schemas.openxmlformats.org/officeDocument/2006/relationships" xmlns:a="http://schemas.openxmlformats.org/drawingml/2006/main" r:embed="R33659610bb6d42d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Bằng chứng cho cơ hội</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Số liệu bên ngoài theo protocol riêng. Chưa phải kết quả A1 hoặc số đo chi phí tại DENSO.</a:t>
            </a:r>
          </a:p>
        </p:txBody>
      </p:sp>
      <p:sp>
        <p:nvSpPr>
          <p:cNvPr id="11" name="">
            <a:extLst xmlns:a="http://schemas.openxmlformats.org/drawingml/2006/main">
              <a:ext uri="{FF2B5EF4-FFF2-40B4-BE49-F238E27FC236}">
                <a16:creationId xmlns:a16="http://schemas.microsoft.com/office/drawing/2014/main" id="{6A694D47-0EEA-4591-B721-B99B82EFDFF8}"/>
              </a:ext>
            </a:extLst>
          </p:cNvPr>
          <p:cNvSpPr>
            <a:spLocks xmlns:a="http://schemas.openxmlformats.org/drawingml/2006/main" noGrp="1"/>
          </p:cNvSpPr>
          <p:nvPr/>
        </p:nvSpPr>
        <p:spPr>
          <a:xfrm xmlns:a="http://schemas.openxmlformats.org/drawingml/2006/main">
            <a:off x="533400"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16 triệu video</a:t>
            </a:r>
          </a:p>
        </p:txBody>
      </p:sp>
      <p:sp>
        <p:nvSpPr>
          <p:cNvPr id="12" name="">
            <a:extLst xmlns:a="http://schemas.openxmlformats.org/drawingml/2006/main">
              <a:ext uri="{FF2B5EF4-FFF2-40B4-BE49-F238E27FC236}">
                <a16:creationId xmlns:a16="http://schemas.microsoft.com/office/drawing/2014/main" id="{A77FA06B-91D0-49FB-BDA9-A91F81704A9A}"/>
              </a:ext>
            </a:extLst>
          </p:cNvPr>
          <p:cNvSpPr>
            <a:spLocks xmlns:a="http://schemas.openxmlformats.org/drawingml/2006/main" noGrp="1"/>
          </p:cNvSpPr>
          <p:nvPr/>
        </p:nvSpPr>
        <p:spPr>
          <a:xfrm xmlns:a="http://schemas.openxmlformats.org/drawingml/2006/main">
            <a:off x="533400"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15 triệu USD trả creators</a:t>
            </a:r>
          </a:p>
        </p:txBody>
      </p:sp>
      <p:sp>
        <p:nvSpPr>
          <p:cNvPr id="13" name="">
            <a:extLst xmlns:a="http://schemas.openxmlformats.org/drawingml/2006/main">
              <a:ext uri="{FF2B5EF4-FFF2-40B4-BE49-F238E27FC236}">
                <a16:creationId xmlns:a16="http://schemas.microsoft.com/office/drawing/2014/main" id="{7C5DADD9-84D3-478E-BF5B-B4744C5DA8EF}"/>
              </a:ext>
            </a:extLst>
          </p:cNvPr>
          <p:cNvSpPr>
            <a:spLocks xmlns:a="http://schemas.openxmlformats.org/drawingml/2006/main" noGrp="1"/>
          </p:cNvSpPr>
          <p:nvPr/>
        </p:nvSpPr>
        <p:spPr>
          <a:xfrm xmlns:a="http://schemas.openxmlformats.org/drawingml/2006/main">
            <a:off x="533400"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Figure Index vẫn cần filtering, dedup,</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cân bằng dữ liệu và annotation.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Payout chỉ là một phần chi phí dataset.</a:t>
            </a:r>
          </a:p>
        </p:txBody>
      </p:sp>
      <p:sp>
        <p:nvSpPr>
          <p:cNvPr id="14" name="">
            <a:extLst xmlns:a="http://schemas.openxmlformats.org/drawingml/2006/main">
              <a:ext uri="{FF2B5EF4-FFF2-40B4-BE49-F238E27FC236}">
                <a16:creationId xmlns:a16="http://schemas.microsoft.com/office/drawing/2014/main" id="{30F7D939-613D-486E-AD51-3BD7653C4462}"/>
              </a:ext>
            </a:extLst>
          </p:cNvPr>
          <p:cNvSpPr>
            <a:spLocks xmlns:a="http://schemas.openxmlformats.org/drawingml/2006/main" noGrp="1"/>
          </p:cNvSpPr>
          <p:nvPr/>
        </p:nvSpPr>
        <p:spPr>
          <a:xfrm xmlns:a="http://schemas.openxmlformats.org/drawingml/2006/main">
            <a:off x="6429375" y="1666875"/>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1">
                <a:solidFill>
                  <a:srgbClr val="007F83"/>
                </a:solidFill>
                <a:latin typeface="Arial"/>
                <a:ea typeface="Arial"/>
                <a:cs typeface="Arial"/>
              </a:defRPr>
            </a:defPPr>
          </a:lstStyle>
          <a:p xmlns:a="http://schemas.openxmlformats.org/drawingml/2006/main">
            <a:pPr>
              <a:buNone/>
              <a:defRPr sz="3225" b="1">
                <a:solidFill>
                  <a:srgbClr val="007F83"/>
                </a:solidFill>
                <a:latin typeface="Arial"/>
                <a:ea typeface="Arial"/>
                <a:cs typeface="Arial"/>
              </a:defRPr>
            </a:pPr>
            <a:r>
              <a:rPr sz="3225" b="1">
                <a:solidFill>
                  <a:srgbClr val="007F83"/>
                </a:solidFill>
                <a:latin typeface="Arial"/>
                <a:ea typeface="Arial"/>
                <a:cs typeface="Arial"/>
              </a:rPr>
              <a:t>89,9% so với 95,7%</a:t>
            </a:r>
          </a:p>
        </p:txBody>
      </p:sp>
      <p:sp>
        <p:nvSpPr>
          <p:cNvPr id="15" name="">
            <a:extLst xmlns:a="http://schemas.openxmlformats.org/drawingml/2006/main">
              <a:ext uri="{FF2B5EF4-FFF2-40B4-BE49-F238E27FC236}">
                <a16:creationId xmlns:a16="http://schemas.microsoft.com/office/drawing/2014/main" id="{5030AB49-88D7-4FEB-A6E4-59DF6C4739B4}"/>
              </a:ext>
            </a:extLst>
          </p:cNvPr>
          <p:cNvSpPr>
            <a:spLocks xmlns:a="http://schemas.openxmlformats.org/drawingml/2006/main" noGrp="1"/>
          </p:cNvSpPr>
          <p:nvPr/>
        </p:nvSpPr>
        <p:spPr>
          <a:xfrm xmlns:a="http://schemas.openxmlformats.org/drawingml/2006/main">
            <a:off x="6429375" y="2428875"/>
            <a:ext cx="5238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153251"/>
                </a:solidFill>
                <a:latin typeface="Arial"/>
                <a:ea typeface="Arial"/>
                <a:cs typeface="Arial"/>
              </a:defRPr>
            </a:defPPr>
          </a:lstStyle>
          <a:p xmlns:a="http://schemas.openxmlformats.org/drawingml/2006/main">
            <a:pPr>
              <a:buNone/>
              <a:defRPr sz="2325" b="1">
                <a:solidFill>
                  <a:srgbClr val="153251"/>
                </a:solidFill>
                <a:latin typeface="Arial"/>
                <a:ea typeface="Arial"/>
                <a:cs typeface="Arial"/>
              </a:defRPr>
            </a:pPr>
            <a:r>
              <a:rPr sz="2325" b="1">
                <a:solidFill>
                  <a:srgbClr val="153251"/>
                </a:solidFill>
                <a:latin typeface="Arial"/>
                <a:ea typeface="Arial"/>
                <a:cs typeface="Arial"/>
              </a:rPr>
              <a:t>FOCA + DreamGen trên LIBERO</a:t>
            </a:r>
          </a:p>
        </p:txBody>
      </p:sp>
      <p:sp>
        <p:nvSpPr>
          <p:cNvPr id="16" name="">
            <a:extLst xmlns:a="http://schemas.openxmlformats.org/drawingml/2006/main">
              <a:ext uri="{FF2B5EF4-FFF2-40B4-BE49-F238E27FC236}">
                <a16:creationId xmlns:a16="http://schemas.microsoft.com/office/drawing/2014/main" id="{BE25D8D4-E768-4D70-8A68-5CCB9FB98B3B}"/>
              </a:ext>
            </a:extLst>
          </p:cNvPr>
          <p:cNvSpPr>
            <a:spLocks xmlns:a="http://schemas.openxmlformats.org/drawingml/2006/main" noGrp="1"/>
          </p:cNvSpPr>
          <p:nvPr/>
        </p:nvSpPr>
        <p:spPr>
          <a:xfrm xmlns:a="http://schemas.openxmlformats.org/drawingml/2006/main">
            <a:off x="6429375" y="3143250"/>
            <a:ext cx="52387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0">
                <a:solidFill>
                  <a:srgbClr val="153251"/>
                </a:solidFill>
                <a:latin typeface="Arial"/>
                <a:ea typeface="Arial"/>
                <a:cs typeface="Arial"/>
              </a:defRPr>
            </a:defPPr>
          </a:lstStyle>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π0 baseline và FOCA + DreamGen,</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cùng setting 40% robot demos.</a:t>
            </a:r>
          </a:p>
          <a:p xmlns:a="http://schemas.openxmlformats.org/drawingml/2006/main">
            <a:pPr>
              <a:buNone/>
              <a:defRPr sz="2025" b="0">
                <a:solidFill>
                  <a:srgbClr val="153251"/>
                </a:solidFill>
                <a:latin typeface="Arial"/>
                <a:ea typeface="Arial"/>
                <a:cs typeface="Arial"/>
              </a:defRPr>
            </a:pPr>
            <a:r>
              <a:rPr sz="2025" b="0">
                <a:solidFill>
                  <a:srgbClr val="153251"/>
                </a:solidFill>
                <a:latin typeface="Arial"/>
                <a:ea typeface="Arial"/>
                <a:cs typeface="Arial"/>
              </a:rPr>
              <a:t>Robot adaptation vẫn dùng action labels.</a:t>
            </a:r>
          </a:p>
        </p:txBody>
      </p:sp>
      <p:sp>
        <p:nvSpPr>
          <p:cNvPr id="17" name="">
            <a:extLst xmlns:a="http://schemas.openxmlformats.org/drawingml/2006/main">
              <a:ext uri="{FF2B5EF4-FFF2-40B4-BE49-F238E27FC236}">
                <a16:creationId xmlns:a16="http://schemas.microsoft.com/office/drawing/2014/main" id="{9451EAD6-A454-49C2-A989-324FCD20D82D}"/>
              </a:ext>
            </a:extLst>
          </p:cNvPr>
          <p:cNvSpPr>
            <a:spLocks xmlns:a="http://schemas.openxmlformats.org/drawingml/2006/main" noGrp="1"/>
          </p:cNvSpPr>
          <p:nvPr/>
        </p:nvSpPr>
        <p:spPr>
          <a:xfrm xmlns:a="http://schemas.openxmlformats.org/drawingml/2006/main">
            <a:off x="533400" y="5067300"/>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1">
                <a:solidFill>
                  <a:srgbClr val="153251"/>
                </a:solidFill>
                <a:latin typeface="Arial"/>
                <a:ea typeface="Arial"/>
                <a:cs typeface="Arial"/>
              </a:defRPr>
            </a:defPPr>
          </a:lstStyle>
          <a:p xmlns:a="http://schemas.openxmlformats.org/drawingml/2006/main">
            <a:pPr>
              <a:buNone/>
              <a:defRPr sz="2175" b="1">
                <a:solidFill>
                  <a:srgbClr val="153251"/>
                </a:solidFill>
                <a:latin typeface="Arial"/>
                <a:ea typeface="Arial"/>
                <a:cs typeface="Arial"/>
              </a:defRPr>
            </a:pPr>
            <a:r>
              <a:rPr sz="2175" b="1">
                <a:solidFill>
                  <a:srgbClr val="153251"/>
                </a:solidFill>
                <a:latin typeface="Arial"/>
                <a:ea typeface="Arial"/>
                <a:cs typeface="Arial"/>
              </a:rPr>
              <a:t>Supervision phù hợp và phép kiểm quyết định giá trị sử dụng của dữ liệu.</a:t>
            </a:r>
          </a:p>
        </p:txBody>
      </p:sp>
      <p:sp>
        <p:nvSpPr>
          <p:cNvPr id="18" name="">
            <a:extLst xmlns:a="http://schemas.openxmlformats.org/drawingml/2006/main">
              <a:ext uri="{FF2B5EF4-FFF2-40B4-BE49-F238E27FC236}">
                <a16:creationId xmlns:a16="http://schemas.microsoft.com/office/drawing/2014/main" id="{D048AF20-57D9-4EBC-A2B6-F28E87810966}"/>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03 / 21</a:t>
            </a:r>
          </a:p>
        </p:txBody>
      </p:sp>
    </p:spTree>
    <p:extLst>
      <p:ext uri="{BB962C8B-B14F-4D97-AF65-F5344CB8AC3E}">
        <p14:creationId xmlns:p14="http://schemas.microsoft.com/office/powerpoint/2010/main" val="419144437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FF15801E-A431-4087-A405-E160EFB7AFA1}"/>
              </a:ext>
            </a:extLst>
          </p:cNvPr>
          <p:cNvPicPr>
            <a:picLocks xmlns:a="http://schemas.openxmlformats.org/drawingml/2006/main" noChangeAspect="1"/>
          </p:cNvPicPr>
          <p:nvPr/>
        </p:nvPicPr>
        <p:blipFill>
          <a:blip xmlns:r="http://schemas.openxmlformats.org/officeDocument/2006/relationships" xmlns:a="http://schemas.openxmlformats.org/drawingml/2006/main" r:embed="R4bbb983991804d68"/>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5905500" y="238125"/>
            <a:ext cx="5715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Bài toán A1</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GR1 gắp–đặt trong mô phỏng. Geometry, cycle time và ngưỡng cần task owner chốt.</a:t>
            </a:r>
          </a:p>
        </p:txBody>
      </p:sp>
      <p:pic>
        <p:nvPicPr>
          <p:cNvPr id="18" name="">
            <a:extLst xmlns:a="http://schemas.openxmlformats.org/drawingml/2006/main">
              <a:ext uri="{FF2B5EF4-FFF2-40B4-BE49-F238E27FC236}">
                <a16:creationId xmlns:a16="http://schemas.microsoft.com/office/drawing/2014/main" id="{2E2063A8-1BC9-4C37-8565-1CC76AA75761}"/>
              </a:ext>
            </a:extLst>
          </p:cNvPr>
          <p:cNvPicPr>
            <a:picLocks xmlns:a="http://schemas.openxmlformats.org/drawingml/2006/main" noChangeAspect="1"/>
          </p:cNvPicPr>
          <p:nvPr/>
        </p:nvPicPr>
        <p:blipFill>
          <a:blip xmlns:r="http://schemas.openxmlformats.org/officeDocument/2006/relationships" xmlns:a="http://schemas.openxmlformats.org/drawingml/2006/main" r:embed="Rb2168aef50ba4363"/>
          <a:stretch xmlns:a="http://schemas.openxmlformats.org/drawingml/2006/main"/>
        </p:blipFill>
        <p:spPr>
          <a:xfrm xmlns:a="http://schemas.openxmlformats.org/drawingml/2006/main">
            <a:off x="536391" y="1638300"/>
            <a:ext cx="5280393" cy="2971800"/>
          </a:xfrm>
          <a:prstGeom xmlns:a="http://schemas.openxmlformats.org/drawingml/2006/main" prst="rect">
            <a:avLst/>
          </a:prstGeom>
        </p:spPr>
      </p:pic>
      <p:sp>
        <p:nvSpPr>
          <p:cNvPr id="9" name="content">
            <a:extLst xmlns:a="http://schemas.openxmlformats.org/drawingml/2006/main">
              <a:ext uri="{FF2B5EF4-FFF2-40B4-BE49-F238E27FC236}">
                <a16:creationId xmlns:a16="http://schemas.microsoft.com/office/drawing/2014/main" id="{873357A5-FE21-4002-8322-2CE6CBC9C407}"/>
              </a:ext>
            </a:extLst>
          </p:cNvPr>
          <p:cNvSpPr>
            <a:spLocks xmlns:a="http://schemas.openxmlformats.org/drawingml/2006/main" noGrp="1"/>
          </p:cNvSpPr>
          <p:nvPr/>
        </p:nvSpPr>
        <p:spPr>
          <a:xfrm xmlns:a="http://schemas.openxmlformats.org/drawingml/2006/main">
            <a:off x="6248400" y="1609725"/>
            <a:ext cx="5334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“Lấy linh kiện vàng, đặt vào A1,</a:t>
            </a:r>
          </a:p>
          <a:p xmlns:a="http://schemas.openxmlformats.org/drawingml/2006/main">
            <a:pPr algn="l">
              <a:buNone/>
              <a:defRPr sz="2250" b="1">
                <a:solidFill>
                  <a:srgbClr val="153251"/>
                </a:solidFill>
                <a:latin typeface="Arial"/>
                <a:ea typeface="Arial"/>
                <a:cs typeface="Arial"/>
              </a:defRPr>
            </a:pPr>
            <a:r>
              <a:rPr sz="2250" b="1">
                <a:solidFill>
                  <a:srgbClr val="153251"/>
                </a:solidFill>
                <a:latin typeface="Arial"/>
                <a:ea typeface="Arial"/>
                <a:cs typeface="Arial"/>
              </a:rPr>
              <a:t>nhả rồi rút tay.”</a:t>
            </a:r>
          </a:p>
        </p:txBody>
      </p:sp>
      <p:sp>
        <p:nvSpPr>
          <p:cNvPr id="10" name="content">
            <a:extLst xmlns:a="http://schemas.openxmlformats.org/drawingml/2006/main">
              <a:ext uri="{FF2B5EF4-FFF2-40B4-BE49-F238E27FC236}">
                <a16:creationId xmlns:a16="http://schemas.microsoft.com/office/drawing/2014/main" id="{0D8E12F2-1A23-4350-9C4F-419259A7DC33}"/>
              </a:ext>
            </a:extLst>
          </p:cNvPr>
          <p:cNvSpPr>
            <a:spLocks xmlns:a="http://schemas.openxmlformats.org/drawingml/2006/main" noGrp="1"/>
          </p:cNvSpPr>
          <p:nvPr/>
        </p:nvSpPr>
        <p:spPr>
          <a:xfrm xmlns:a="http://schemas.openxmlformats.org/drawingml/2006/main">
            <a:off x="6248400" y="2676525"/>
            <a:ext cx="5334000" cy="1790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Lấy đúng ID vật</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Footprint nằm trọn trong A1</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Có mặt đỡ, vật ổn định</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Đã nhả và tay đã rút</a:t>
            </a:r>
          </a:p>
        </p:txBody>
      </p:sp>
      <p:sp>
        <p:nvSpPr>
          <p:cNvPr id="11" name="content">
            <a:extLst xmlns:a="http://schemas.openxmlformats.org/drawingml/2006/main">
              <a:ext uri="{FF2B5EF4-FFF2-40B4-BE49-F238E27FC236}">
                <a16:creationId xmlns:a16="http://schemas.microsoft.com/office/drawing/2014/main" id="{93E00171-F1B9-43E2-A12A-8AB8D858A951}"/>
              </a:ext>
            </a:extLst>
          </p:cNvPr>
          <p:cNvSpPr>
            <a:spLocks xmlns:a="http://schemas.openxmlformats.org/drawingml/2006/main" noGrp="1"/>
          </p:cNvSpPr>
          <p:nvPr/>
        </p:nvSpPr>
        <p:spPr>
          <a:xfrm xmlns:a="http://schemas.openxmlformats.org/drawingml/2006/main">
            <a:off x="533400" y="4667250"/>
            <a:ext cx="52863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4B637B"/>
                </a:solidFill>
                <a:latin typeface="Arial"/>
                <a:ea typeface="Arial"/>
                <a:cs typeface="Arial"/>
              </a:defRPr>
            </a:pPr>
            <a:r>
              <a:rPr sz="1350" b="0">
                <a:solidFill>
                  <a:srgbClr val="4B637B"/>
                </a:solidFill>
                <a:latin typeface="Arial"/>
                <a:ea typeface="Arial"/>
                <a:cs typeface="Arial"/>
              </a:rPr>
              <a:t>Ảnh minh họa AI, chưa là rollout native.</a:t>
            </a:r>
          </a:p>
        </p:txBody>
      </p:sp>
      <p:sp>
        <p:nvSpPr>
          <p:cNvPr id="12" name="content">
            <a:extLst xmlns:a="http://schemas.openxmlformats.org/drawingml/2006/main">
              <a:ext uri="{FF2B5EF4-FFF2-40B4-BE49-F238E27FC236}">
                <a16:creationId xmlns:a16="http://schemas.microsoft.com/office/drawing/2014/main" id="{1D0CAFEA-A62D-48A3-B03F-FBAD339C3C52}"/>
              </a:ext>
            </a:extLst>
          </p:cNvPr>
          <p:cNvSpPr>
            <a:spLocks xmlns:a="http://schemas.openxmlformats.org/drawingml/2006/main" noGrp="1"/>
          </p:cNvSpPr>
          <p:nvPr/>
        </p:nvSpPr>
        <p:spPr>
          <a:xfrm xmlns:a="http://schemas.openxmlformats.org/drawingml/2006/main">
            <a:off x="533400" y="4933950"/>
            <a:ext cx="111252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Geometry đề xuất: vật 40 × 25 × 15 mm, vùng trong A1 80 × 60 mm.</a:t>
            </a:r>
          </a:p>
          <a:p xmlns:a="http://schemas.openxmlformats.org/drawingml/2006/main">
            <a:pPr algn="l">
              <a:buNone/>
              <a:defRPr sz="1725" b="0">
                <a:solidFill>
                  <a:srgbClr val="4B637B"/>
                </a:solidFill>
                <a:latin typeface="Arial"/>
                <a:ea typeface="Arial"/>
                <a:cs typeface="Arial"/>
              </a:defRPr>
            </a:pPr>
            <a:r>
              <a:rPr sz="1725" b="0">
                <a:solidFill>
                  <a:srgbClr val="4B637B"/>
                </a:solidFill>
                <a:latin typeface="Arial"/>
                <a:ea typeface="Arial"/>
                <a:cs typeface="Arial"/>
              </a:rPr>
              <a:t>Draft: timeout 30 s, ổn định 2 s. Không yêu cầu yaw trong MVP.</a:t>
            </a:r>
          </a:p>
        </p:txBody>
      </p:sp>
      <p:sp>
        <p:nvSpPr>
          <p:cNvPr id="19" name="">
            <a:extLst xmlns:a="http://schemas.openxmlformats.org/drawingml/2006/main">
              <a:ext uri="{FF2B5EF4-FFF2-40B4-BE49-F238E27FC236}">
                <a16:creationId xmlns:a16="http://schemas.microsoft.com/office/drawing/2014/main" id="{061552B3-776A-4349-9918-FC4F9CAE0314}"/>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04 / 21</a:t>
            </a:r>
          </a:p>
        </p:txBody>
      </p:sp>
    </p:spTree>
    <p:extLst>
      <p:ext uri="{BB962C8B-B14F-4D97-AF65-F5344CB8AC3E}">
        <p14:creationId xmlns:p14="http://schemas.microsoft.com/office/powerpoint/2010/main" val="419144437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BD66C1DF-3C25-46CA-9F2B-06964275B517}"/>
              </a:ext>
            </a:extLst>
          </p:cNvPr>
          <p:cNvPicPr>
            <a:picLocks xmlns:a="http://schemas.openxmlformats.org/drawingml/2006/main" noChangeAspect="1"/>
          </p:cNvPicPr>
          <p:nvPr/>
        </p:nvPicPr>
        <p:blipFill>
          <a:blip xmlns:r="http://schemas.openxmlformats.org/officeDocument/2006/relationships" xmlns:a="http://schemas.openxmlformats.org/drawingml/2006/main" r:embed="Rb49a07fd969f4caf"/>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Data Core và Model Engine</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Đóng góp của đội: quyết định dữ liệu, QA/lineage, A1 binding/scorer và phép đo chất lượng–tổng công.</a:t>
            </a:r>
          </a:p>
        </p:txBody>
      </p:sp>
      <p:sp>
        <p:nvSpPr>
          <p:cNvPr id="11" name="">
            <a:extLst xmlns:a="http://schemas.openxmlformats.org/drawingml/2006/main">
              <a:ext uri="{FF2B5EF4-FFF2-40B4-BE49-F238E27FC236}">
                <a16:creationId xmlns:a16="http://schemas.microsoft.com/office/drawing/2014/main" id="{DC781A97-18AB-4BB2-913A-F98B4F716532}"/>
              </a:ext>
            </a:extLst>
          </p:cNvPr>
          <p:cNvSpPr>
            <a:spLocks xmlns:a="http://schemas.openxmlformats.org/drawingml/2006/main" noGrp="1"/>
          </p:cNvSpPr>
          <p:nvPr/>
        </p:nvSpPr>
        <p:spPr>
          <a:xfrm xmlns:a="http://schemas.openxmlformats.org/drawingml/2006/main">
            <a:off x="533400" y="1571625"/>
            <a:ext cx="111252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700" b="1">
                <a:solidFill>
                  <a:srgbClr val="153251"/>
                </a:solidFill>
                <a:latin typeface="Arial"/>
                <a:ea typeface="Arial"/>
                <a:cs typeface="Arial"/>
              </a:defRPr>
            </a:defPPr>
          </a:lstStyle>
          <a:p xmlns:a="http://schemas.openxmlformats.org/drawingml/2006/main">
            <a:pPr>
              <a:buNone/>
              <a:defRPr sz="2700" b="1">
                <a:solidFill>
                  <a:srgbClr val="153251"/>
                </a:solidFill>
                <a:latin typeface="Arial"/>
                <a:ea typeface="Arial"/>
                <a:cs typeface="Arial"/>
              </a:defRPr>
            </a:pPr>
            <a:r>
              <a:rPr sz="2700" b="1">
                <a:solidFill>
                  <a:srgbClr val="153251"/>
                </a:solidFill>
                <a:latin typeface="Arial"/>
                <a:ea typeface="Arial"/>
                <a:cs typeface="Arial"/>
              </a:rPr>
              <a:t>Hai phần nối bằng dữ liệu có hợp đồng rõ ràng</a:t>
            </a:r>
          </a:p>
        </p:txBody>
      </p:sp>
      <p:graphicFrame>
        <p:nvGraphicFramePr>
          <p:cNvPr id="12" name="">
            <a:extLst xmlns:a="http://schemas.openxmlformats.org/drawingml/2006/main">
              <a:ext uri="{FF2B5EF4-FFF2-40B4-BE49-F238E27FC236}">
                <a16:creationId xmlns:a16="http://schemas.microsoft.com/office/drawing/2014/main" id="{D4C3EE02-4D27-4B47-A803-F9CA3B9539C3}"/>
              </a:ext>
            </a:extLst>
          </p:cNvPr>
          <p:cNvGraphicFramePr/>
          <p:nvPr/>
        </p:nvGraphicFramePr>
        <p:xfrm>
          <a:off xmlns:a="http://schemas.openxmlformats.org/drawingml/2006/main" x="533400" y="2476500"/>
          <a:ext xmlns:a="http://schemas.openxmlformats.org/drawingml/2006/main" cx="11125200" cy="2724150"/>
        </p:xfrm>
        <a:graphic xmlns:a="http://schemas.openxmlformats.org/drawingml/2006/main">
          <a:graphicData uri="http://schemas.openxmlformats.org/drawingml/2006/table">
            <a:tbl>
              <a:tblPr/>
              <a:tblGrid>
                <a:gridCol w="2714625"/>
                <a:gridCol w="4238625"/>
                <a:gridCol w="4171950"/>
              </a:tblGrid>
              <a:tr h="419100">
                <a:tc>
                  <a:txBody>
                    <a:bodyPr>
                      <a:noAutofit/>
                    </a:bodyPr>
                    <a:lstStyle/>
                    <a:p>
                      <a:r>
                        <a:rPr sz="1800" b="1">
                          <a:solidFill>
                            <a:srgbClr val="FFFFFF"/>
                          </a:solidFill>
                          <a:latin typeface="Arial"/>
                          <a:ea typeface="Arial"/>
                          <a:cs typeface="Arial"/>
                        </a:rPr>
                        <a:t>Thành phần</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Việc thực hiện</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Đầu ra đi sang bước tiếp</a:t>
                      </a:r>
                    </a:p>
                  </a:txBody>
                  <a:tcPr marL="95250" marR="95250" marT="76200" marB="66675" anchor="t">
                    <a:solidFill>
                      <a:srgbClr val="153251"/>
                    </a:solidFill>
                  </a:tcPr>
                </a:tc>
              </a:tr>
              <a:tr h="768350">
                <a:tc>
                  <a:txBody>
                    <a:bodyPr>
                      <a:noAutofit/>
                    </a:bodyPr>
                    <a:lstStyle/>
                    <a:p>
                      <a:r>
                        <a:rPr sz="1875" b="0">
                          <a:solidFill>
                            <a:srgbClr val="153251"/>
                          </a:solidFill>
                          <a:latin typeface="Arial"/>
                          <a:ea typeface="Arial"/>
                          <a:cs typeface="Arial"/>
                        </a:rPr>
                        <a:t>Data Core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Chọn nguồn, QA, roots/splits, phát hành</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Release ID, samples, targets, masks</a:t>
                      </a:r>
                    </a:p>
                  </a:txBody>
                  <a:tcPr marL="95250" marR="95250" marT="76200" marB="66675" anchor="t">
                    <a:solidFill>
                      <a:srgbClr val="FFFFFF"/>
                    </a:solidFill>
                  </a:tcPr>
                </a:tc>
              </a:tr>
              <a:tr h="768350">
                <a:tc>
                  <a:txBody>
                    <a:bodyPr>
                      <a:noAutofit/>
                    </a:bodyPr>
                    <a:lstStyle/>
                    <a:p>
                      <a:r>
                        <a:rPr sz="1875" b="0">
                          <a:solidFill>
                            <a:srgbClr val="153251"/>
                          </a:solidFill>
                          <a:latin typeface="Arial"/>
                          <a:ea typeface="Arial"/>
                          <a:cs typeface="Arial"/>
                        </a:rPr>
                        <a:t>Model Engine Core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FluxVLA chạy GR00T N1.5 adaptation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Checkpoint + processor/stats + recipe</a:t>
                      </a:r>
                    </a:p>
                  </a:txBody>
                  <a:tcPr marL="95250" marR="95250" marT="76200" marB="66675" anchor="t">
                    <a:solidFill>
                      <a:srgbClr val="FFFFFF"/>
                    </a:solidFill>
                  </a:tcPr>
                </a:tc>
              </a:tr>
              <a:tr h="768350">
                <a:tc>
                  <a:txBody>
                    <a:bodyPr>
                      <a:noAutofit/>
                    </a:bodyPr>
                    <a:lstStyle/>
                    <a:p>
                      <a:r>
                        <a:rPr sz="1875" b="0">
                          <a:solidFill>
                            <a:srgbClr val="153251"/>
                          </a:solidFill>
                          <a:latin typeface="Arial"/>
                          <a:ea typeface="Arial"/>
                          <a:cs typeface="Arial"/>
                        </a:rPr>
                        <a:t>Runtime và evaluation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Chạy closed-loop, ghi command/response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Trace, full-task outcome, cost ledger</a:t>
                      </a:r>
                    </a:p>
                  </a:txBody>
                  <a:tcPr marL="95250" marR="95250" marT="76200" marB="66675" anchor="t">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6246BCA4-96C6-42A6-B4DA-015231C264A0}"/>
              </a:ext>
            </a:extLst>
          </p:cNvPr>
          <p:cNvSpPr>
            <a:spLocks xmlns:a="http://schemas.openxmlformats.org/drawingml/2006/main" noGrp="1"/>
          </p:cNvSpPr>
          <p:nvPr/>
        </p:nvSpPr>
        <p:spPr>
          <a:xfrm xmlns:a="http://schemas.openxmlformats.org/drawingml/2006/main">
            <a:off x="533400" y="546735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007F83"/>
                </a:solidFill>
                <a:latin typeface="Arial"/>
                <a:ea typeface="Arial"/>
                <a:cs typeface="Arial"/>
              </a:defRPr>
            </a:defPPr>
          </a:lstStyle>
          <a:p xmlns:a="http://schemas.openxmlformats.org/drawingml/2006/main">
            <a:pPr>
              <a:buNone/>
              <a:defRPr sz="2025" b="1">
                <a:solidFill>
                  <a:srgbClr val="007F83"/>
                </a:solidFill>
                <a:latin typeface="Arial"/>
                <a:ea typeface="Arial"/>
                <a:cs typeface="Arial"/>
              </a:defRPr>
            </a:pPr>
            <a:r>
              <a:rPr sz="2025" b="1">
                <a:solidFill>
                  <a:srgbClr val="007F83"/>
                </a:solidFill>
                <a:latin typeface="Arial"/>
                <a:ea typeface="Arial"/>
                <a:cs typeface="Arial"/>
              </a:rPr>
              <a:t>Trace và kết quả kiểm định quay về Data Core để chọn can thiệp vòng sau</a:t>
            </a:r>
          </a:p>
        </p:txBody>
      </p:sp>
      <p:sp>
        <p:nvSpPr>
          <p:cNvPr id="14" name="">
            <a:extLst xmlns:a="http://schemas.openxmlformats.org/drawingml/2006/main">
              <a:ext uri="{FF2B5EF4-FFF2-40B4-BE49-F238E27FC236}">
                <a16:creationId xmlns:a16="http://schemas.microsoft.com/office/drawing/2014/main" id="{9CDFF2C8-C96F-4E40-9396-30FF866C55FB}"/>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05 / 21</a:t>
            </a:r>
          </a:p>
        </p:txBody>
      </p:sp>
    </p:spTree>
    <p:extLst>
      <p:ext uri="{BB962C8B-B14F-4D97-AF65-F5344CB8AC3E}">
        <p14:creationId xmlns:p14="http://schemas.microsoft.com/office/powerpoint/2010/main" val="419144437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49C8DAD9-4C59-4B08-9D3D-7F5835CD7095}"/>
              </a:ext>
            </a:extLst>
          </p:cNvPr>
          <p:cNvPicPr>
            <a:picLocks xmlns:a="http://schemas.openxmlformats.org/drawingml/2006/main" noChangeAspect="1"/>
          </p:cNvPicPr>
          <p:nvPr/>
        </p:nvPicPr>
        <p:blipFill>
          <a:blip xmlns:r="http://schemas.openxmlformats.org/officeDocument/2006/relationships" xmlns:a="http://schemas.openxmlformats.org/drawingml/2006/main" r:embed="Rb148531d94484017"/>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Vòng lặp dữ liệu</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Final evaluation nằm ngoài vòng thích nghi. Kỹ sư giữ quyền quyết định khi bằng chứng chưa đủ.</a:t>
            </a:r>
          </a:p>
        </p:txBody>
      </p:sp>
      <p:graphicFrame>
        <p:nvGraphicFramePr>
          <p:cNvPr id="11" name="">
            <a:extLst xmlns:a="http://schemas.openxmlformats.org/drawingml/2006/main">
              <a:ext uri="{FF2B5EF4-FFF2-40B4-BE49-F238E27FC236}">
                <a16:creationId xmlns:a16="http://schemas.microsoft.com/office/drawing/2014/main" id="{E2808203-C585-4D3E-9C5E-815072AC7155}"/>
              </a:ext>
            </a:extLst>
          </p:cNvPr>
          <p:cNvGraphicFramePr/>
          <p:nvPr/>
        </p:nvGraphicFramePr>
        <p:xfrm>
          <a:off xmlns:a="http://schemas.openxmlformats.org/drawingml/2006/main" x="533400" y="1600200"/>
          <a:ext xmlns:a="http://schemas.openxmlformats.org/drawingml/2006/main" cx="11125200" cy="3829050"/>
        </p:xfrm>
        <a:graphic xmlns:a="http://schemas.openxmlformats.org/drawingml/2006/main">
          <a:graphicData uri="http://schemas.openxmlformats.org/drawingml/2006/table">
            <a:tbl>
              <a:tblPr/>
              <a:tblGrid>
                <a:gridCol w="2238375"/>
                <a:gridCol w="5048250"/>
                <a:gridCol w="3838575"/>
              </a:tblGrid>
              <a:tr h="419100">
                <a:tc>
                  <a:txBody>
                    <a:bodyPr>
                      <a:noAutofit/>
                    </a:bodyPr>
                    <a:lstStyle/>
                    <a:p>
                      <a:r>
                        <a:rPr sz="1800" b="1">
                          <a:solidFill>
                            <a:srgbClr val="FFFFFF"/>
                          </a:solidFill>
                          <a:latin typeface="Arial"/>
                          <a:ea typeface="Arial"/>
                          <a:cs typeface="Arial"/>
                        </a:rPr>
                        <a:t>Bước</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Hành động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Đầu ra kiểm được</a:t>
                      </a:r>
                    </a:p>
                  </a:txBody>
                  <a:tcPr marL="95250" marR="95250" marT="76200" marB="66675" anchor="t">
                    <a:solidFill>
                      <a:srgbClr val="153251"/>
                    </a:solidFill>
                  </a:tcPr>
                </a:tc>
              </a:tr>
              <a:tr h="568325">
                <a:tc>
                  <a:txBody>
                    <a:bodyPr>
                      <a:noAutofit/>
                    </a:bodyPr>
                    <a:lstStyle/>
                    <a:p>
                      <a:r>
                        <a:rPr sz="1725" b="0">
                          <a:solidFill>
                            <a:srgbClr val="153251"/>
                          </a:solidFill>
                          <a:latin typeface="Arial"/>
                          <a:ea typeface="Arial"/>
                          <a:cs typeface="Arial"/>
                        </a:rPr>
                        <a:t>01  Chạy</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Policy chạy task, ghi cả lỗi và unknown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Episode trace + outcome</a:t>
                      </a:r>
                    </a:p>
                  </a:txBody>
                  <a:tcPr marL="95250" marR="95250" marT="76200" marB="66675" anchor="t">
                    <a:solidFill>
                      <a:srgbClr val="FFFFFF"/>
                    </a:solidFill>
                  </a:tcPr>
                </a:tc>
              </a:tr>
              <a:tr h="568325">
                <a:tc>
                  <a:txBody>
                    <a:bodyPr>
                      <a:noAutofit/>
                    </a:bodyPr>
                    <a:lstStyle/>
                    <a:p>
                      <a:r>
                        <a:rPr sz="1725" b="0">
                          <a:solidFill>
                            <a:srgbClr val="153251"/>
                          </a:solidFill>
                          <a:latin typeface="Arial"/>
                          <a:ea typeface="Arial"/>
                          <a:cs typeface="Arial"/>
                        </a:rPr>
                        <a:t>02  Phân tích</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Kiểm hệ thống, thử giả thuyết lỗi</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Facts, alternatives, controlled test</a:t>
                      </a:r>
                    </a:p>
                  </a:txBody>
                  <a:tcPr marL="95250" marR="95250" marT="76200" marB="66675" anchor="t">
                    <a:solidFill>
                      <a:srgbClr val="FFFFFF"/>
                    </a:solidFill>
                  </a:tcPr>
                </a:tc>
              </a:tr>
              <a:tr h="568325">
                <a:tc>
                  <a:txBody>
                    <a:bodyPr>
                      <a:noAutofit/>
                    </a:bodyPr>
                    <a:lstStyle/>
                    <a:p>
                      <a:r>
                        <a:rPr sz="1725" b="0">
                          <a:solidFill>
                            <a:srgbClr val="153251"/>
                          </a:solidFill>
                          <a:latin typeface="Arial"/>
                          <a:ea typeface="Arial"/>
                          <a:cs typeface="Arial"/>
                        </a:rPr>
                        <a:t>03  Chọn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Reuse, sim execution, correction hoặc repair</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Kế hoạch có quyền dùng và cost cap</a:t>
                      </a:r>
                    </a:p>
                  </a:txBody>
                  <a:tcPr marL="95250" marR="95250" marT="76200" marB="66675" anchor="t">
                    <a:solidFill>
                      <a:srgbClr val="FFFFFF"/>
                    </a:solidFill>
                  </a:tcPr>
                </a:tc>
              </a:tr>
              <a:tr h="568325">
                <a:tc>
                  <a:txBody>
                    <a:bodyPr>
                      <a:noAutofit/>
                    </a:bodyPr>
                    <a:lstStyle/>
                    <a:p>
                      <a:r>
                        <a:rPr sz="1725" b="0">
                          <a:solidFill>
                            <a:srgbClr val="153251"/>
                          </a:solidFill>
                          <a:latin typeface="Arial"/>
                          <a:ea typeface="Arial"/>
                          <a:cs typeface="Arial"/>
                        </a:rPr>
                        <a:t>04  Phát hành</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QA labels/contact, dedup, giữ roots/splits</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Dataset release bất biến</a:t>
                      </a:r>
                    </a:p>
                  </a:txBody>
                  <a:tcPr marL="95250" marR="95250" marT="76200" marB="66675" anchor="t">
                    <a:solidFill>
                      <a:srgbClr val="FFFFFF"/>
                    </a:solidFill>
                  </a:tcPr>
                </a:tc>
              </a:tr>
              <a:tr h="568325">
                <a:tc>
                  <a:txBody>
                    <a:bodyPr>
                      <a:noAutofit/>
                    </a:bodyPr>
                    <a:lstStyle/>
                    <a:p>
                      <a:r>
                        <a:rPr sz="1725" b="0">
                          <a:solidFill>
                            <a:srgbClr val="153251"/>
                          </a:solidFill>
                          <a:latin typeface="Arial"/>
                          <a:ea typeface="Arial"/>
                          <a:cs typeface="Arial"/>
                        </a:rPr>
                        <a:t>05  Học</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Train phạm vi đã chọn, kèm replay</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Candidate + update/reload receipts</a:t>
                      </a:r>
                    </a:p>
                  </a:txBody>
                  <a:tcPr marL="95250" marR="95250" marT="76200" marB="66675" anchor="t">
                    <a:solidFill>
                      <a:srgbClr val="FFFFFF"/>
                    </a:solidFill>
                  </a:tcPr>
                </a:tc>
              </a:tr>
              <a:tr h="568325">
                <a:tc>
                  <a:txBody>
                    <a:bodyPr>
                      <a:noAutofit/>
                    </a:bodyPr>
                    <a:lstStyle/>
                    <a:p>
                      <a:r>
                        <a:rPr sz="1725" b="0">
                          <a:solidFill>
                            <a:srgbClr val="153251"/>
                          </a:solidFill>
                          <a:latin typeface="Arial"/>
                          <a:ea typeface="Arial"/>
                          <a:cs typeface="Arial"/>
                        </a:rPr>
                        <a:t>06  Đo lại</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Development gain, regression và tổng công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Promote, no-gain, defer hoặc stop</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DA325A90-51E0-4D97-B53D-1BC240CB8098}"/>
              </a:ext>
            </a:extLst>
          </p:cNvPr>
          <p:cNvSpPr>
            <a:spLocks xmlns:a="http://schemas.openxmlformats.org/drawingml/2006/main" noGrp="1"/>
          </p:cNvSpPr>
          <p:nvPr/>
        </p:nvSpPr>
        <p:spPr>
          <a:xfrm xmlns:a="http://schemas.openxmlformats.org/drawingml/2006/main">
            <a:off x="533400" y="5572125"/>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007F83"/>
                </a:solidFill>
                <a:latin typeface="Arial"/>
                <a:ea typeface="Arial"/>
                <a:cs typeface="Arial"/>
              </a:defRPr>
            </a:defPPr>
          </a:lstStyle>
          <a:p xmlns:a="http://schemas.openxmlformats.org/drawingml/2006/main">
            <a:pPr>
              <a:buNone/>
              <a:defRPr sz="1875" b="1">
                <a:solidFill>
                  <a:srgbClr val="007F83"/>
                </a:solidFill>
                <a:latin typeface="Arial"/>
                <a:ea typeface="Arial"/>
                <a:cs typeface="Arial"/>
              </a:defRPr>
            </a:pPr>
            <a:r>
              <a:rPr sz="1875" b="1">
                <a:solidFill>
                  <a:srgbClr val="007F83"/>
                </a:solidFill>
                <a:latin typeface="Arial"/>
                <a:ea typeface="Arial"/>
                <a:cs typeface="Arial"/>
              </a:rPr>
              <a:t>Kết quả bước 06 quyết định vòng tiếp theo. Chỉ tăng dữ liệu khi có lý do và supervision hợp lệ.</a:t>
            </a:r>
          </a:p>
        </p:txBody>
      </p:sp>
      <p:sp>
        <p:nvSpPr>
          <p:cNvPr id="13" name="">
            <a:extLst xmlns:a="http://schemas.openxmlformats.org/drawingml/2006/main">
              <a:ext uri="{FF2B5EF4-FFF2-40B4-BE49-F238E27FC236}">
                <a16:creationId xmlns:a16="http://schemas.microsoft.com/office/drawing/2014/main" id="{FA012FDC-E718-422D-B031-34917E88F38F}"/>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06 / 21</a:t>
            </a:r>
          </a:p>
        </p:txBody>
      </p:sp>
    </p:spTree>
    <p:extLst>
      <p:ext uri="{BB962C8B-B14F-4D97-AF65-F5344CB8AC3E}">
        <p14:creationId xmlns:p14="http://schemas.microsoft.com/office/powerpoint/2010/main" val="419144437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C5A6485F-E2CD-416F-B200-F5E45FD4D0D9}"/>
              </a:ext>
            </a:extLst>
          </p:cNvPr>
          <p:cNvPicPr>
            <a:picLocks xmlns:a="http://schemas.openxmlformats.org/drawingml/2006/main" noChangeAspect="1"/>
          </p:cNvPicPr>
          <p:nvPr/>
        </p:nvPicPr>
        <p:blipFill>
          <a:blip xmlns:r="http://schemas.openxmlformats.org/officeDocument/2006/relationships" xmlns:a="http://schemas.openxmlformats.org/drawingml/2006/main" r:embed="Ra84f7360cf874f62"/>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Engine Core</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FluxVLA hỗ trợ train, eval và inference robot thật. Native A1 và robot thật của đội chưa được kiểm chứng.</a:t>
            </a:r>
          </a:p>
        </p:txBody>
      </p:sp>
      <p:pic>
        <p:nvPicPr>
          <p:cNvPr id="11" name="">
            <a:extLst xmlns:a="http://schemas.openxmlformats.org/drawingml/2006/main">
              <a:ext uri="{FF2B5EF4-FFF2-40B4-BE49-F238E27FC236}">
                <a16:creationId xmlns:a16="http://schemas.microsoft.com/office/drawing/2014/main" id="{1EC66C52-2B55-4D85-83BC-81626B39E454}"/>
              </a:ext>
            </a:extLst>
          </p:cNvPr>
          <p:cNvPicPr>
            <a:picLocks xmlns:a="http://schemas.openxmlformats.org/drawingml/2006/main" noChangeAspect="1"/>
          </p:cNvPicPr>
          <p:nvPr/>
        </p:nvPicPr>
        <p:blipFill>
          <a:blip xmlns:r="http://schemas.openxmlformats.org/officeDocument/2006/relationships" xmlns:a="http://schemas.openxmlformats.org/drawingml/2006/main" r:embed="R7a1b89adc47e4cf9"/>
          <a:stretch xmlns:a="http://schemas.openxmlformats.org/drawingml/2006/main"/>
        </p:blipFill>
        <p:spPr>
          <a:xfrm xmlns:a="http://schemas.openxmlformats.org/drawingml/2006/main">
            <a:off x="1419003" y="1524000"/>
            <a:ext cx="9353993" cy="39433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75627EB-D5E8-4F11-8EA1-EC0422052BED}"/>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153251"/>
                </a:solidFill>
                <a:latin typeface="Arial"/>
                <a:ea typeface="Arial"/>
                <a:cs typeface="Arial"/>
              </a:defRPr>
            </a:defPPr>
          </a:lstStyle>
          <a:p xmlns:a="http://schemas.openxmlformats.org/drawingml/2006/main">
            <a:pPr>
              <a:buNone/>
              <a:defRPr sz="1800" b="1">
                <a:solidFill>
                  <a:srgbClr val="153251"/>
                </a:solidFill>
                <a:latin typeface="Arial"/>
                <a:ea typeface="Arial"/>
                <a:cs typeface="Arial"/>
              </a:defRPr>
            </a:pPr>
            <a:r>
              <a:rPr sz="1800" b="1">
                <a:solidFill>
                  <a:srgbClr val="153251"/>
                </a:solidFill>
                <a:latin typeface="Arial"/>
                <a:ea typeface="Arial"/>
                <a:cs typeface="Arial"/>
              </a:rPr>
              <a:t>Framework: FluxVLA     Policy nền: GR00T N1.5     Môi trường đầu: RoboCasa / GR1</a:t>
            </a:r>
          </a:p>
        </p:txBody>
      </p:sp>
      <p:sp>
        <p:nvSpPr>
          <p:cNvPr id="13" name="">
            <a:extLst xmlns:a="http://schemas.openxmlformats.org/drawingml/2006/main">
              <a:ext uri="{FF2B5EF4-FFF2-40B4-BE49-F238E27FC236}">
                <a16:creationId xmlns:a16="http://schemas.microsoft.com/office/drawing/2014/main" id="{C2A19C32-4F4B-4C00-987C-61DDE0ED9FF9}"/>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07 / 21</a:t>
            </a:r>
          </a:p>
        </p:txBody>
      </p:sp>
      <p:sp>
        <p:nvSpPr>
          <p:cNvPr id="14" name="">
            <a:extLst xmlns:a="http://schemas.openxmlformats.org/drawingml/2006/main">
              <a:ext uri="{FF2B5EF4-FFF2-40B4-BE49-F238E27FC236}">
                <a16:creationId xmlns:a16="http://schemas.microsoft.com/office/drawing/2014/main" id="{C5143C73-CDA8-4609-8449-3C6E92DFC51D}"/>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1 (2026), CC BY 4.0. Benchmarks trong hình là của tác giả.</a:t>
            </a:r>
          </a:p>
        </p:txBody>
      </p:sp>
    </p:spTree>
    <p:extLst>
      <p:ext uri="{BB962C8B-B14F-4D97-AF65-F5344CB8AC3E}">
        <p14:creationId xmlns:p14="http://schemas.microsoft.com/office/powerpoint/2010/main" val="4191444374"/>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893EED5C-1E8D-491B-A6F7-E54605754738}"/>
              </a:ext>
            </a:extLst>
          </p:cNvPr>
          <p:cNvPicPr>
            <a:picLocks xmlns:a="http://schemas.openxmlformats.org/drawingml/2006/main" noChangeAspect="1"/>
          </p:cNvPicPr>
          <p:nvPr/>
        </p:nvPicPr>
        <p:blipFill>
          <a:blip xmlns:r="http://schemas.openxmlformats.org/officeDocument/2006/relationships" xmlns:a="http://schemas.openxmlformats.org/drawingml/2006/main" r:embed="Ra572ddf80a484706"/>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Dataset cho MVP</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Synthetic là cách tạo dữ liệu. Loader và loss phụ thuộc supervision thực có, không phụ thuộc tên nguồn.</a:t>
            </a:r>
          </a:p>
        </p:txBody>
      </p:sp>
      <p:graphicFrame>
        <p:nvGraphicFramePr>
          <p:cNvPr id="14" name="">
            <a:extLst xmlns:a="http://schemas.openxmlformats.org/drawingml/2006/main">
              <a:ext uri="{FF2B5EF4-FFF2-40B4-BE49-F238E27FC236}">
                <a16:creationId xmlns:a16="http://schemas.microsoft.com/office/drawing/2014/main" id="{3AA5AC23-AC0D-498B-922E-64D77D25B7C2}"/>
              </a:ext>
            </a:extLst>
          </p:cNvPr>
          <p:cNvGraphicFramePr/>
          <p:nvPr/>
        </p:nvGraphicFramePr>
        <p:xfrm>
          <a:off xmlns:a="http://schemas.openxmlformats.org/drawingml/2006/main" x="533400" y="1619250"/>
          <a:ext xmlns:a="http://schemas.openxmlformats.org/drawingml/2006/main" cx="11125200" cy="3714750"/>
        </p:xfrm>
        <a:graphic xmlns:a="http://schemas.openxmlformats.org/drawingml/2006/main">
          <a:graphicData uri="http://schemas.openxmlformats.org/drawingml/2006/table">
            <a:tbl>
              <a:tblPr/>
              <a:tblGrid>
                <a:gridCol w="2524125"/>
                <a:gridCol w="4476750"/>
                <a:gridCol w="4124325"/>
              </a:tblGrid>
              <a:tr h="419100">
                <a:tc>
                  <a:txBody>
                    <a:bodyPr>
                      <a:noAutofit/>
                    </a:bodyPr>
                    <a:lstStyle/>
                    <a:p>
                      <a:r>
                        <a:rPr sz="1800" b="1">
                          <a:solidFill>
                            <a:srgbClr val="FFFFFF"/>
                          </a:solidFill>
                          <a:latin typeface="Arial"/>
                          <a:ea typeface="Arial"/>
                          <a:cs typeface="Arial"/>
                        </a:rPr>
                        <a:t>Dữ liệu</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Format và trường chính</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Cách sử dụng</a:t>
                      </a:r>
                    </a:p>
                  </a:txBody>
                  <a:tcPr marL="95250" marR="95250" marT="76200" marB="66675" anchor="t">
                    <a:solidFill>
                      <a:srgbClr val="153251"/>
                    </a:solidFill>
                  </a:tcPr>
                </a:tc>
              </a:tr>
              <a:tr h="823913">
                <a:tc>
                  <a:txBody>
                    <a:bodyPr>
                      <a:noAutofit/>
                    </a:bodyPr>
                    <a:lstStyle/>
                    <a:p>
                      <a:r>
                        <a:rPr sz="1725" b="0">
                          <a:solidFill>
                            <a:srgbClr val="153251"/>
                          </a:solidFill>
                          <a:latin typeface="Arial"/>
                          <a:ea typeface="Arial"/>
                          <a:cs typeface="Arial"/>
                        </a:rPr>
                        <a:t>FluxVLAData</a:t>
                      </a:r>
                    </a:p>
                    <a:p>
                      <a:r>
                        <a:rPr sz="1725" b="0">
                          <a:solidFill>
                            <a:srgbClr val="153251"/>
                          </a:solidFill>
                          <a:latin typeface="Arial"/>
                          <a:ea typeface="Arial"/>
                          <a:cs typeface="Arial"/>
                        </a:rPr>
                        <a:t>Kiểm compatibility</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LeRobot v2.1</a:t>
                      </a:r>
                    </a:p>
                    <a:p>
                      <a:r>
                        <a:rPr sz="1725" b="0">
                          <a:solidFill>
                            <a:srgbClr val="153251"/>
                          </a:solidFill>
                          <a:latin typeface="Arial"/>
                          <a:ea typeface="Arial"/>
                          <a:cs typeface="Arial"/>
                        </a:rPr>
                        <a:t>MP4 + Parquet + metadata</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24 tasks / 720 episodes</a:t>
                      </a:r>
                    </a:p>
                    <a:p>
                      <a:r>
                        <a:rPr sz="1725" b="0">
                          <a:solidFill>
                            <a:srgbClr val="153251"/>
                          </a:solidFill>
                          <a:latin typeface="Arial"/>
                          <a:ea typeface="Arial"/>
                          <a:cs typeface="Arial"/>
                        </a:rPr>
                        <a:t>Giữ task gốc, không đổi nhãn thành A1</a:t>
                      </a:r>
                    </a:p>
                  </a:txBody>
                  <a:tcPr marL="95250" marR="95250" marT="76200" marB="66675" anchor="t">
                    <a:solidFill>
                      <a:srgbClr val="FFFFFF"/>
                    </a:solidFill>
                  </a:tcPr>
                </a:tc>
              </a:tr>
              <a:tr h="823913">
                <a:tc>
                  <a:txBody>
                    <a:bodyPr>
                      <a:noAutofit/>
                    </a:bodyPr>
                    <a:lstStyle/>
                    <a:p>
                      <a:r>
                        <a:rPr sz="1725" b="0">
                          <a:solidFill>
                            <a:srgbClr val="153251"/>
                          </a:solidFill>
                          <a:latin typeface="Arial"/>
                          <a:ea typeface="Arial"/>
                          <a:cs typeface="Arial"/>
                        </a:rPr>
                        <a:t>R_A1</a:t>
                      </a:r>
                    </a:p>
                    <a:p>
                      <a:r>
                        <a:rPr sz="1725" b="0">
                          <a:solidFill>
                            <a:srgbClr val="153251"/>
                          </a:solidFill>
                          <a:latin typeface="Arial"/>
                          <a:ea typeface="Arial"/>
                          <a:cs typeface="Arial"/>
                        </a:rPr>
                        <a:t>Expert / correction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RGB MP4 + signals Parquet</a:t>
                      </a:r>
                    </a:p>
                    <a:p>
                      <a:r>
                        <a:rPr sz="1725" b="0">
                          <a:solidFill>
                            <a:srgbClr val="153251"/>
                          </a:solidFill>
                          <a:latin typeface="Arial"/>
                          <a:ea typeface="Arial"/>
                          <a:cs typeface="Arial"/>
                        </a:rPr>
                        <a:t>Instruction JSONL + calibration / QA</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Robot state + executed action</a:t>
                      </a:r>
                    </a:p>
                    <a:p>
                      <a:r>
                        <a:rPr sz="1725" b="0">
                          <a:solidFill>
                            <a:srgbClr val="153251"/>
                          </a:solidFill>
                          <a:latin typeface="Arial"/>
                          <a:ea typeface="Arial"/>
                          <a:cs typeface="Arial"/>
                        </a:rPr>
                        <a:t>20 train roots là giả định planning</a:t>
                      </a:r>
                    </a:p>
                  </a:txBody>
                  <a:tcPr marL="95250" marR="95250" marT="76200" marB="66675" anchor="t">
                    <a:solidFill>
                      <a:srgbClr val="FFFFFF"/>
                    </a:solidFill>
                  </a:tcPr>
                </a:tc>
              </a:tr>
              <a:tr h="823913">
                <a:tc>
                  <a:txBody>
                    <a:bodyPr>
                      <a:noAutofit/>
                    </a:bodyPr>
                    <a:lstStyle/>
                    <a:p>
                      <a:r>
                        <a:rPr sz="1725" b="0">
                          <a:solidFill>
                            <a:srgbClr val="153251"/>
                          </a:solidFill>
                          <a:latin typeface="Arial"/>
                          <a:ea typeface="Arial"/>
                          <a:cs typeface="Arial"/>
                        </a:rPr>
                        <a:t>S_exec</a:t>
                      </a:r>
                    </a:p>
                    <a:p>
                      <a:r>
                        <a:rPr sz="1725" b="0">
                          <a:solidFill>
                            <a:srgbClr val="153251"/>
                          </a:solidFill>
                          <a:latin typeface="Arial"/>
                          <a:ea typeface="Arial"/>
                          <a:cs typeface="Arial"/>
                        </a:rPr>
                        <a:t>Dẫn xuất từ R train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Cùng schema robot + parent root</a:t>
                      </a:r>
                    </a:p>
                    <a:p>
                      <a:r>
                        <a:rPr sz="1725" b="0">
                          <a:solidFill>
                            <a:srgbClr val="153251"/>
                          </a:solidFill>
                          <a:latin typeface="Arial"/>
                          <a:ea typeface="Arial"/>
                          <a:cs typeface="Arial"/>
                        </a:rPr>
                        <a:t>Transform recipe + sim/contact log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Biến đổi seed, thực thi lại, QA</a:t>
                      </a:r>
                    </a:p>
                    <a:p>
                      <a:r>
                        <a:rPr sz="1725" b="0">
                          <a:solidFill>
                            <a:srgbClr val="153251"/>
                          </a:solidFill>
                          <a:latin typeface="Arial"/>
                          <a:ea typeface="Arial"/>
                          <a:cs typeface="Arial"/>
                        </a:rPr>
                        <a:t>Tạo RGB/state/action mới</a:t>
                      </a:r>
                    </a:p>
                  </a:txBody>
                  <a:tcPr marL="95250" marR="95250" marT="76200" marB="66675" anchor="t">
                    <a:solidFill>
                      <a:srgbClr val="FFFFFF"/>
                    </a:solidFill>
                  </a:tcPr>
                </a:tc>
              </a:tr>
              <a:tr h="823913">
                <a:tc>
                  <a:txBody>
                    <a:bodyPr>
                      <a:noAutofit/>
                    </a:bodyPr>
                    <a:lstStyle/>
                    <a:p>
                      <a:r>
                        <a:rPr sz="1725" b="0">
                          <a:solidFill>
                            <a:srgbClr val="153251"/>
                          </a:solidFill>
                          <a:latin typeface="Arial"/>
                          <a:ea typeface="Arial"/>
                          <a:cs typeface="Arial"/>
                        </a:rPr>
                        <a:t>Video / human</a:t>
                      </a:r>
                    </a:p>
                    <a:p>
                      <a:r>
                        <a:rPr sz="1725" b="0">
                          <a:solidFill>
                            <a:srgbClr val="153251"/>
                          </a:solidFill>
                          <a:latin typeface="Arial"/>
                          <a:ea typeface="Arial"/>
                          <a:cs typeface="Arial"/>
                        </a:rPr>
                        <a:t>Pilot bổ sung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MP4 + text / timestamps</a:t>
                      </a:r>
                    </a:p>
                    <a:p>
                      <a:r>
                        <a:rPr sz="1725" b="0">
                          <a:solidFill>
                            <a:srgbClr val="153251"/>
                          </a:solidFill>
                          <a:latin typeface="Arial"/>
                          <a:ea typeface="Arial"/>
                          <a:cs typeface="Arial"/>
                        </a:rPr>
                        <a:t>Pose, camera và confidence nếu có</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Action-free dùng future objective</a:t>
                      </a:r>
                    </a:p>
                    <a:p>
                      <a:r>
                        <a:rPr sz="1725" b="0">
                          <a:solidFill>
                            <a:srgbClr val="153251"/>
                          </a:solidFill>
                          <a:latin typeface="Arial"/>
                          <a:ea typeface="Arial"/>
                          <a:cs typeface="Arial"/>
                        </a:rPr>
                        <a:t>Wrist labels dùng common-motion</a:t>
                      </a:r>
                    </a:p>
                  </a:txBody>
                  <a:tcPr marL="95250" marR="95250" marT="76200" marB="66675" anchor="t">
                    <a:solidFill>
                      <a:srgbClr val="FFFFFF"/>
                    </a:solidFill>
                  </a:tcPr>
                </a:tc>
              </a:tr>
            </a:tbl>
          </a:graphicData>
        </a:graphic>
      </p:graphicFrame>
      <p:sp>
        <p:nvSpPr>
          <p:cNvPr id="15" name="">
            <a:extLst xmlns:a="http://schemas.openxmlformats.org/drawingml/2006/main">
              <a:ext uri="{FF2B5EF4-FFF2-40B4-BE49-F238E27FC236}">
                <a16:creationId xmlns:a16="http://schemas.microsoft.com/office/drawing/2014/main" id="{B7F868FE-F69D-4DDA-9CFA-5945DAECA91E}"/>
              </a:ext>
            </a:extLst>
          </p:cNvPr>
          <p:cNvSpPr>
            <a:spLocks xmlns:a="http://schemas.openxmlformats.org/drawingml/2006/main" noGrp="1"/>
          </p:cNvSpPr>
          <p:nvPr/>
        </p:nvSpPr>
        <p:spPr>
          <a:xfrm xmlns:a="http://schemas.openxmlformats.org/drawingml/2006/main">
            <a:off x="533400" y="555307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1">
                <a:solidFill>
                  <a:srgbClr val="007F83"/>
                </a:solidFill>
                <a:latin typeface="Arial"/>
                <a:ea typeface="Arial"/>
                <a:cs typeface="Arial"/>
              </a:defRPr>
            </a:defPPr>
          </a:lstStyle>
          <a:p xmlns:a="http://schemas.openxmlformats.org/drawingml/2006/main">
            <a:pPr>
              <a:buNone/>
              <a:defRPr sz="1875" b="1">
                <a:solidFill>
                  <a:srgbClr val="007F83"/>
                </a:solidFill>
                <a:latin typeface="Arial"/>
                <a:ea typeface="Arial"/>
                <a:cs typeface="Arial"/>
              </a:defRPr>
            </a:pPr>
            <a:r>
              <a:rPr sz="1875" b="1">
                <a:solidFill>
                  <a:srgbClr val="007F83"/>
                </a:solidFill>
                <a:latin typeface="Arial"/>
                <a:ea typeface="Arial"/>
                <a:cs typeface="Arial"/>
              </a:rPr>
              <a:t>Chia roots trước khi sinh biến thể. 100 variants từ một root vẫn chỉ là một nguồn độc lập.</a:t>
            </a:r>
          </a:p>
        </p:txBody>
      </p:sp>
      <p:sp>
        <p:nvSpPr>
          <p:cNvPr id="16" name="">
            <a:extLst xmlns:a="http://schemas.openxmlformats.org/drawingml/2006/main">
              <a:ext uri="{FF2B5EF4-FFF2-40B4-BE49-F238E27FC236}">
                <a16:creationId xmlns:a16="http://schemas.microsoft.com/office/drawing/2014/main" id="{BAE1DE2D-5274-46A6-9F63-E6E674C67822}"/>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08 / 21</a:t>
            </a:r>
          </a:p>
        </p:txBody>
      </p:sp>
    </p:spTree>
    <p:extLst>
      <p:ext uri="{BB962C8B-B14F-4D97-AF65-F5344CB8AC3E}">
        <p14:creationId xmlns:p14="http://schemas.microsoft.com/office/powerpoint/2010/main" val="4191444374"/>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4ED938F1-507E-4BAD-B681-4A002F72A9D8}"/>
              </a:ext>
            </a:extLst>
          </p:cNvPr>
          <p:cNvPicPr>
            <a:picLocks xmlns:a="http://schemas.openxmlformats.org/drawingml/2006/main" noChangeAspect="1"/>
          </p:cNvPicPr>
          <p:nvPr/>
        </p:nvPicPr>
        <p:blipFill>
          <a:blip xmlns:r="http://schemas.openxmlformats.org/officeDocument/2006/relationships" xmlns:a="http://schemas.openxmlformats.org/drawingml/2006/main" r:embed="R546a4e3a1f0644f0"/>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Episode thành model batch</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Hình gốc FluxVLA Figure 2. Đội phải kiểm sample–batch, camera, timebase, units và action masks cho A1.</a:t>
            </a:r>
          </a:p>
        </p:txBody>
      </p:sp>
      <p:pic>
        <p:nvPicPr>
          <p:cNvPr id="11" name="">
            <a:extLst xmlns:a="http://schemas.openxmlformats.org/drawingml/2006/main">
              <a:ext uri="{FF2B5EF4-FFF2-40B4-BE49-F238E27FC236}">
                <a16:creationId xmlns:a16="http://schemas.microsoft.com/office/drawing/2014/main" id="{F85087AE-4B02-4E96-AFE0-A1D87516DF92}"/>
              </a:ext>
            </a:extLst>
          </p:cNvPr>
          <p:cNvPicPr>
            <a:picLocks xmlns:a="http://schemas.openxmlformats.org/drawingml/2006/main" noChangeAspect="1"/>
          </p:cNvPicPr>
          <p:nvPr/>
        </p:nvPicPr>
        <p:blipFill>
          <a:blip xmlns:r="http://schemas.openxmlformats.org/officeDocument/2006/relationships" xmlns:a="http://schemas.openxmlformats.org/drawingml/2006/main" r:embed="R5eaad076280c4bfc"/>
          <a:stretch xmlns:a="http://schemas.openxmlformats.org/drawingml/2006/main"/>
        </p:blipFill>
        <p:spPr>
          <a:xfrm xmlns:a="http://schemas.openxmlformats.org/drawingml/2006/main">
            <a:off x="1119768" y="1524000"/>
            <a:ext cx="9952463" cy="4000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C2888DF9-AF34-4C54-AF1B-92FE0D99E8D5}"/>
              </a:ext>
            </a:extLst>
          </p:cNvPr>
          <p:cNvSpPr>
            <a:spLocks xmlns:a="http://schemas.openxmlformats.org/drawingml/2006/main" noGrp="1"/>
          </p:cNvSpPr>
          <p:nvPr/>
        </p:nvSpPr>
        <p:spPr>
          <a:xfrm xmlns:a="http://schemas.openxmlformats.org/drawingml/2006/main">
            <a:off x="533400" y="5562600"/>
            <a:ext cx="11125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007F83"/>
                </a:solidFill>
                <a:latin typeface="Arial"/>
                <a:ea typeface="Arial"/>
                <a:cs typeface="Arial"/>
              </a:defRPr>
            </a:defPPr>
          </a:lstStyle>
          <a:p xmlns:a="http://schemas.openxmlformats.org/drawingml/2006/main">
            <a:pPr>
              <a:buNone/>
              <a:defRPr sz="1950" b="1">
                <a:solidFill>
                  <a:srgbClr val="007F83"/>
                </a:solidFill>
                <a:latin typeface="Arial"/>
                <a:ea typeface="Arial"/>
                <a:cs typeface="Arial"/>
              </a:defRPr>
            </a:pPr>
            <a:r>
              <a:rPr sz="1950" b="1">
                <a:solidFill>
                  <a:srgbClr val="007F83"/>
                </a:solidFill>
                <a:latin typeface="Arial"/>
                <a:ea typeface="Arial"/>
                <a:cs typeface="Arial"/>
              </a:rPr>
              <a:t>Episode lưu trữ, sample thời gian và batch model là ba mức dữ liệu khác nhau</a:t>
            </a:r>
          </a:p>
        </p:txBody>
      </p:sp>
      <p:sp>
        <p:nvSpPr>
          <p:cNvPr id="13" name="">
            <a:extLst xmlns:a="http://schemas.openxmlformats.org/drawingml/2006/main">
              <a:ext uri="{FF2B5EF4-FFF2-40B4-BE49-F238E27FC236}">
                <a16:creationId xmlns:a16="http://schemas.microsoft.com/office/drawing/2014/main" id="{E4275B1E-4314-4F73-B40B-029CA9B68A64}"/>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09 / 21</a:t>
            </a:r>
          </a:p>
        </p:txBody>
      </p:sp>
      <p:sp>
        <p:nvSpPr>
          <p:cNvPr id="14" name="">
            <a:extLst xmlns:a="http://schemas.openxmlformats.org/drawingml/2006/main">
              <a:ext uri="{FF2B5EF4-FFF2-40B4-BE49-F238E27FC236}">
                <a16:creationId xmlns:a16="http://schemas.microsoft.com/office/drawing/2014/main" id="{ED006F2C-6591-4B62-8A73-75CDE50131F9}"/>
              </a:ext>
            </a:extLst>
          </p:cNvPr>
          <p:cNvSpPr>
            <a:spLocks xmlns:a="http://schemas.openxmlformats.org/drawingml/2006/main" noGrp="1"/>
          </p:cNvSpPr>
          <p:nvPr/>
        </p:nvSpPr>
        <p:spPr>
          <a:xfrm xmlns:a="http://schemas.openxmlformats.org/drawingml/2006/main">
            <a:off x="533400" y="1362075"/>
            <a:ext cx="11125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125" b="0">
                <a:solidFill>
                  <a:srgbClr val="4B637B"/>
                </a:solidFill>
                <a:latin typeface="Arial"/>
                <a:ea typeface="Arial"/>
                <a:cs typeface="Arial"/>
              </a:defRPr>
            </a:defPPr>
          </a:lstStyle>
          <a:p xmlns:a="http://schemas.openxmlformats.org/drawingml/2006/main">
            <a:pPr>
              <a:buNone/>
              <a:defRPr sz="1125" b="0">
                <a:solidFill>
                  <a:srgbClr val="4B637B"/>
                </a:solidFill>
                <a:latin typeface="Arial"/>
                <a:ea typeface="Arial"/>
                <a:cs typeface="Arial"/>
              </a:defRPr>
            </a:pPr>
            <a:r>
              <a:rPr sz="1125" b="0">
                <a:solidFill>
                  <a:srgbClr val="4B637B"/>
                </a:solidFill>
                <a:latin typeface="Arial"/>
                <a:ea typeface="Arial"/>
                <a:cs typeface="Arial"/>
              </a:rPr>
              <a:t>Li và cộng sự, FluxVLA Figure 2 (2026), CC BY 4.0. Hình trích nguyên từ paper.</a:t>
            </a:r>
          </a:p>
        </p:txBody>
      </p:sp>
    </p:spTree>
    <p:extLst>
      <p:ext uri="{BB962C8B-B14F-4D97-AF65-F5344CB8AC3E}">
        <p14:creationId xmlns:p14="http://schemas.microsoft.com/office/powerpoint/2010/main" val="419144437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6" name="Picture 6">
            <a:extLst xmlns:a="http://schemas.openxmlformats.org/drawingml/2006/main">
              <a:ext uri="{FF2B5EF4-FFF2-40B4-BE49-F238E27FC236}">
                <a16:creationId xmlns:a16="http://schemas.microsoft.com/office/drawing/2014/main" id="{325EA69B-FC93-46F3-9820-662CA3184488}"/>
              </a:ext>
            </a:extLst>
          </p:cNvPr>
          <p:cNvPicPr>
            <a:picLocks xmlns:a="http://schemas.openxmlformats.org/drawingml/2006/main" noChangeAspect="1"/>
          </p:cNvPicPr>
          <p:nvPr/>
        </p:nvPicPr>
        <p:blipFill>
          <a:blip xmlns:r="http://schemas.openxmlformats.org/officeDocument/2006/relationships" xmlns:a="http://schemas.openxmlformats.org/drawingml/2006/main" r:embed="R9d6a889fef9648a1"/>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Model AI học như thế nào</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MVP kế thừa pretrained weights. Không pretrain lại foundation VLM từ đầu. A1 recipe cần pin và kiểm gradients.</a:t>
            </a:r>
          </a:p>
        </p:txBody>
      </p:sp>
      <p:graphicFrame>
        <p:nvGraphicFramePr>
          <p:cNvPr id="17" name="">
            <a:extLst xmlns:a="http://schemas.openxmlformats.org/drawingml/2006/main">
              <a:ext uri="{FF2B5EF4-FFF2-40B4-BE49-F238E27FC236}">
                <a16:creationId xmlns:a16="http://schemas.microsoft.com/office/drawing/2014/main" id="{CF6FBD6A-0D04-4EAD-A0F6-B7CF76C0C088}"/>
              </a:ext>
            </a:extLst>
          </p:cNvPr>
          <p:cNvGraphicFramePr/>
          <p:nvPr/>
        </p:nvGraphicFramePr>
        <p:xfrm>
          <a:off xmlns:a="http://schemas.openxmlformats.org/drawingml/2006/main" x="533400" y="1619250"/>
          <a:ext xmlns:a="http://schemas.openxmlformats.org/drawingml/2006/main" cx="11125200" cy="3810000"/>
        </p:xfrm>
        <a:graphic xmlns:a="http://schemas.openxmlformats.org/drawingml/2006/main">
          <a:graphicData uri="http://schemas.openxmlformats.org/drawingml/2006/table">
            <a:tbl>
              <a:tblPr/>
              <a:tblGrid>
                <a:gridCol w="2428875"/>
                <a:gridCol w="4953000"/>
                <a:gridCol w="3743325"/>
              </a:tblGrid>
              <a:tr h="419100">
                <a:tc>
                  <a:txBody>
                    <a:bodyPr>
                      <a:noAutofit/>
                    </a:bodyPr>
                    <a:lstStyle/>
                    <a:p>
                      <a:r>
                        <a:rPr sz="1800" b="1">
                          <a:solidFill>
                            <a:srgbClr val="FFFFFF"/>
                          </a:solidFill>
                          <a:latin typeface="Arial"/>
                          <a:ea typeface="Arial"/>
                          <a:cs typeface="Arial"/>
                        </a:rPr>
                        <a:t>Bước</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Tensor / target đi qua model</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Phần được học</a:t>
                      </a:r>
                    </a:p>
                  </a:txBody>
                  <a:tcPr marL="95250" marR="95250" marT="76200" marB="66675" anchor="t">
                    <a:solidFill>
                      <a:srgbClr val="153251"/>
                    </a:solidFill>
                  </a:tcPr>
                </a:tc>
              </a:tr>
              <a:tr h="1047750">
                <a:tc>
                  <a:txBody>
                    <a:bodyPr>
                      <a:noAutofit/>
                    </a:bodyPr>
                    <a:lstStyle/>
                    <a:p>
                      <a:r>
                        <a:rPr sz="1725" b="0">
                          <a:solidFill>
                            <a:srgbClr val="153251"/>
                          </a:solidFill>
                          <a:latin typeface="Arial"/>
                          <a:ea typeface="Arial"/>
                          <a:cs typeface="Arial"/>
                        </a:rPr>
                        <a:t>01  Robot baseline</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RGB + text thành Eagle features</a:t>
                      </a:r>
                    </a:p>
                    <a:p>
                      <a:r>
                        <a:rPr sz="1725" b="0">
                          <a:solidFill>
                            <a:srgbClr val="153251"/>
                          </a:solidFill>
                          <a:latin typeface="Arial"/>
                          <a:ea typeface="Arial"/>
                          <a:cs typeface="Arial"/>
                        </a:rPr>
                        <a:t>State + noisy actions + time vào DiT</a:t>
                      </a:r>
                    </a:p>
                    <a:p>
                      <a:r>
                        <a:rPr sz="1725" b="0">
                          <a:solidFill>
                            <a:srgbClr val="153251"/>
                          </a:solidFill>
                          <a:latin typeface="Arial"/>
                          <a:ea typeface="Arial"/>
                          <a:cs typeface="Arial"/>
                        </a:rPr>
                        <a:t>Target velocity = future action − noise</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Action loss theo flow velocity</a:t>
                      </a:r>
                    </a:p>
                    <a:p>
                      <a:r>
                        <a:rPr sz="1725" b="0">
                          <a:solidFill>
                            <a:srgbClr val="153251"/>
                          </a:solidFill>
                          <a:latin typeface="Arial"/>
                          <a:ea typeface="Arial"/>
                          <a:cs typeface="Arial"/>
                        </a:rPr>
                        <a:t>ACT + visual tune</a:t>
                      </a:r>
                    </a:p>
                    <a:p>
                      <a:r>
                        <a:rPr sz="1725" b="0">
                          <a:solidFill>
                            <a:srgbClr val="153251"/>
                          </a:solidFill>
                          <a:latin typeface="Arial"/>
                          <a:ea typeface="Arial"/>
                          <a:cs typeface="Arial"/>
                        </a:rPr>
                        <a:t>Language frozen</a:t>
                      </a:r>
                    </a:p>
                  </a:txBody>
                  <a:tcPr marL="95250" marR="95250" marT="76200" marB="66675" anchor="t">
                    <a:solidFill>
                      <a:srgbClr val="FFFFFF"/>
                    </a:solidFill>
                  </a:tcPr>
                </a:tc>
              </a:tr>
              <a:tr h="781050">
                <a:tc>
                  <a:txBody>
                    <a:bodyPr>
                      <a:noAutofit/>
                    </a:bodyPr>
                    <a:lstStyle/>
                    <a:p>
                      <a:r>
                        <a:rPr sz="1725" b="0">
                          <a:solidFill>
                            <a:srgbClr val="153251"/>
                          </a:solidFill>
                          <a:latin typeface="Arial"/>
                          <a:ea typeface="Arial"/>
                          <a:cs typeface="Arial"/>
                        </a:rPr>
                        <a:t>02  Candidate R + S_exec</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Cùng robot schema, labels qua QA</a:t>
                      </a:r>
                    </a:p>
                    <a:p>
                      <a:r>
                        <a:rPr sz="1725" b="0">
                          <a:solidFill>
                            <a:srgbClr val="153251"/>
                          </a:solidFill>
                          <a:latin typeface="Arial"/>
                          <a:ea typeface="Arial"/>
                          <a:cs typeface="Arial"/>
                        </a:rPr>
                        <a:t>Replay R giữ điều kiện đã làm tốt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Cùng recipe với baseline</a:t>
                      </a:r>
                    </a:p>
                    <a:p>
                      <a:r>
                        <a:rPr sz="1725" b="0">
                          <a:solidFill>
                            <a:srgbClr val="153251"/>
                          </a:solidFill>
                          <a:latin typeface="Arial"/>
                          <a:ea typeface="Arial"/>
                          <a:cs typeface="Arial"/>
                        </a:rPr>
                        <a:t>Ghi thêm generation / QA / compute</a:t>
                      </a:r>
                    </a:p>
                  </a:txBody>
                  <a:tcPr marL="95250" marR="95250" marT="76200" marB="66675" anchor="t">
                    <a:solidFill>
                      <a:srgbClr val="FFFFFF"/>
                    </a:solidFill>
                  </a:tcPr>
                </a:tc>
              </a:tr>
              <a:tr h="781050">
                <a:tc>
                  <a:txBody>
                    <a:bodyPr>
                      <a:noAutofit/>
                    </a:bodyPr>
                    <a:lstStyle/>
                    <a:p>
                      <a:r>
                        <a:rPr sz="1725" b="0">
                          <a:solidFill>
                            <a:srgbClr val="153251"/>
                          </a:solidFill>
                          <a:latin typeface="Arial"/>
                          <a:ea typeface="Arial"/>
                          <a:cs typeface="Arial"/>
                        </a:rPr>
                        <a:t>03  Video pilot riêng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Current / future frames thành features</a:t>
                      </a:r>
                    </a:p>
                    <a:p>
                      <a:r>
                        <a:rPr sz="1725" b="0">
                          <a:solidFill>
                            <a:srgbClr val="153251"/>
                          </a:solidFill>
                          <a:latin typeface="Arial"/>
                          <a:ea typeface="Arial"/>
                          <a:cs typeface="Arial"/>
                        </a:rPr>
                        <a:t>Future target encoder frozen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FOCA-style implicit alignment</a:t>
                      </a:r>
                    </a:p>
                    <a:p>
                      <a:r>
                        <a:rPr sz="1725" b="0">
                          <a:solidFill>
                            <a:srgbClr val="153251"/>
                          </a:solidFill>
                          <a:latin typeface="Arial"/>
                          <a:ea typeface="Arial"/>
                          <a:cs typeface="Arial"/>
                        </a:rPr>
                        <a:t>Robot phase vẫn có action loss</a:t>
                      </a:r>
                    </a:p>
                  </a:txBody>
                  <a:tcPr marL="95250" marR="95250" marT="76200" marB="66675" anchor="t">
                    <a:solidFill>
                      <a:srgbClr val="FFFFFF"/>
                    </a:solidFill>
                  </a:tcPr>
                </a:tc>
              </a:tr>
              <a:tr h="781050">
                <a:tc>
                  <a:txBody>
                    <a:bodyPr>
                      <a:noAutofit/>
                    </a:bodyPr>
                    <a:lstStyle/>
                    <a:p>
                      <a:r>
                        <a:rPr sz="1725" b="0">
                          <a:solidFill>
                            <a:srgbClr val="153251"/>
                          </a:solidFill>
                          <a:latin typeface="Arial"/>
                          <a:ea typeface="Arial"/>
                          <a:cs typeface="Arial"/>
                        </a:rPr>
                        <a:t>04  Human pilot riêng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Tracked wrists + geometry / masks</a:t>
                      </a:r>
                    </a:p>
                    <a:p>
                      <a:r>
                        <a:rPr sz="1725" b="0">
                          <a:solidFill>
                            <a:srgbClr val="153251"/>
                          </a:solidFill>
                          <a:latin typeface="Arial"/>
                          <a:ea typeface="Arial"/>
                          <a:cs typeface="Arial"/>
                        </a:rPr>
                        <a:t>Common motion target 18D</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Common head + shared motor trunk</a:t>
                      </a:r>
                    </a:p>
                    <a:p>
                      <a:r>
                        <a:rPr sz="1725" b="0">
                          <a:solidFill>
                            <a:srgbClr val="153251"/>
                          </a:solidFill>
                          <a:latin typeface="Arial"/>
                          <a:ea typeface="Arial"/>
                          <a:cs typeface="Arial"/>
                        </a:rPr>
                        <a:t>VLM frozen ở cả hai đối chứng</a:t>
                      </a:r>
                    </a:p>
                  </a:txBody>
                  <a:tcPr marL="95250" marR="95250" marT="76200" marB="66675" anchor="t">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0330EAFB-AC21-4FE5-9AAF-A9EF46747549}"/>
              </a:ext>
            </a:extLst>
          </p:cNvPr>
          <p:cNvSpPr>
            <a:spLocks xmlns:a="http://schemas.openxmlformats.org/drawingml/2006/main" noGrp="1"/>
          </p:cNvSpPr>
          <p:nvPr/>
        </p:nvSpPr>
        <p:spPr>
          <a:xfrm xmlns:a="http://schemas.openxmlformats.org/drawingml/2006/main">
            <a:off x="533400" y="5476875"/>
            <a:ext cx="11125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Robot recipe: tune ACT + visual, language frozen. Kiểm optimizer groups và gradients trước run.</a:t>
            </a:r>
          </a:p>
        </p:txBody>
      </p:sp>
      <p:sp>
        <p:nvSpPr>
          <p:cNvPr id="19" name="">
            <a:extLst xmlns:a="http://schemas.openxmlformats.org/drawingml/2006/main">
              <a:ext uri="{FF2B5EF4-FFF2-40B4-BE49-F238E27FC236}">
                <a16:creationId xmlns:a16="http://schemas.microsoft.com/office/drawing/2014/main" id="{C01D67D8-2D03-4F50-8F6C-6F56FBBF31BC}"/>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10 / 21</a:t>
            </a:r>
          </a:p>
        </p:txBody>
      </p:sp>
    </p:spTree>
    <p:extLst>
      <p:ext uri="{BB962C8B-B14F-4D97-AF65-F5344CB8AC3E}">
        <p14:creationId xmlns:p14="http://schemas.microsoft.com/office/powerpoint/2010/main" val="419144437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B2EF74FD-FA86-4F1C-9443-9BF2B9F9C789}"/>
              </a:ext>
            </a:extLst>
          </p:cNvPr>
          <p:cNvPicPr>
            <a:picLocks xmlns:a="http://schemas.openxmlformats.org/drawingml/2006/main" noChangeAspect="1"/>
          </p:cNvPicPr>
          <p:nvPr/>
        </p:nvPicPr>
        <p:blipFill>
          <a:blip xmlns:r="http://schemas.openxmlformats.org/officeDocument/2006/relationships" xmlns:a="http://schemas.openxmlformats.org/drawingml/2006/main" r:embed="Rdf799f252aaa4204"/>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Inference trên robot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Inference dùng quan sát hiện tại. Future action targets và privileged scorer state không đi vào policy.</a:t>
            </a:r>
          </a:p>
        </p:txBody>
      </p:sp>
      <p:graphicFrame>
        <p:nvGraphicFramePr>
          <p:cNvPr id="11" name="">
            <a:extLst xmlns:a="http://schemas.openxmlformats.org/drawingml/2006/main">
              <a:ext uri="{FF2B5EF4-FFF2-40B4-BE49-F238E27FC236}">
                <a16:creationId xmlns:a16="http://schemas.microsoft.com/office/drawing/2014/main" id="{0F722EDB-D7A5-4303-897F-2F7113D34274}"/>
              </a:ext>
            </a:extLst>
          </p:cNvPr>
          <p:cNvGraphicFramePr/>
          <p:nvPr/>
        </p:nvGraphicFramePr>
        <p:xfrm>
          <a:off xmlns:a="http://schemas.openxmlformats.org/drawingml/2006/main" x="533400" y="1619250"/>
          <a:ext xmlns:a="http://schemas.openxmlformats.org/drawingml/2006/main" cx="11125200" cy="3667125"/>
        </p:xfrm>
        <a:graphic xmlns:a="http://schemas.openxmlformats.org/drawingml/2006/main">
          <a:graphicData uri="http://schemas.openxmlformats.org/drawingml/2006/table">
            <a:tbl>
              <a:tblPr/>
              <a:tblGrid>
                <a:gridCol w="2714625"/>
                <a:gridCol w="4381500"/>
                <a:gridCol w="4029075"/>
              </a:tblGrid>
              <a:tr h="419100">
                <a:tc>
                  <a:txBody>
                    <a:bodyPr>
                      <a:noAutofit/>
                    </a:bodyPr>
                    <a:lstStyle/>
                    <a:p>
                      <a:r>
                        <a:rPr sz="1800" b="1">
                          <a:solidFill>
                            <a:srgbClr val="FFFFFF"/>
                          </a:solidFill>
                          <a:latin typeface="Arial"/>
                          <a:ea typeface="Arial"/>
                          <a:cs typeface="Arial"/>
                        </a:rPr>
                        <a:t>Ranh giới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vào</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Dữ liệu đầu ra</a:t>
                      </a:r>
                    </a:p>
                  </a:txBody>
                  <a:tcPr marL="95250" marR="95250" marT="76200" marB="66675" anchor="t">
                    <a:solidFill>
                      <a:srgbClr val="153251"/>
                    </a:solidFill>
                  </a:tcPr>
                </a:tc>
              </a:tr>
              <a:tr h="649605">
                <a:tc>
                  <a:txBody>
                    <a:bodyPr>
                      <a:noAutofit/>
                    </a:bodyPr>
                    <a:lstStyle/>
                    <a:p>
                      <a:r>
                        <a:rPr sz="1725" b="0">
                          <a:solidFill>
                            <a:srgbClr val="153251"/>
                          </a:solidFill>
                          <a:latin typeface="Arial"/>
                          <a:ea typeface="Arial"/>
                          <a:cs typeface="Arial"/>
                        </a:rPr>
                        <a:t>Camera và preprocessing</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RGB + instruction + measured state</a:t>
                      </a:r>
                    </a:p>
                    <a:p>
                      <a:r>
                        <a:rPr sz="1725" b="0">
                          <a:solidFill>
                            <a:srgbClr val="153251"/>
                          </a:solidFill>
                          <a:latin typeface="Arial"/>
                          <a:ea typeface="Arial"/>
                          <a:cs typeface="Arial"/>
                        </a:rPr>
                        <a:t>Processor / camera / timing đã pin</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 tensors, tokens, masks</a:t>
                      </a:r>
                    </a:p>
                    <a:p>
                      <a:r>
                        <a:rPr sz="1725" b="0">
                          <a:solidFill>
                            <a:srgbClr val="153251"/>
                          </a:solidFill>
                          <a:latin typeface="Arial"/>
                          <a:ea typeface="Arial"/>
                          <a:cs typeface="Arial"/>
                        </a:rPr>
                        <a:t>State theo robot profile</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Eagle VLM</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Images + text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Encoded features có layer/shape/version</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DiT Action Expert</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Features + state + noise/time</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Action chunk theo horizon đã khóa</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Binding và controller</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Chunk đã denormalize</a:t>
                      </a:r>
                    </a:p>
                    <a:p>
                      <a:r>
                        <a:rPr sz="1725" b="0">
                          <a:solidFill>
                            <a:srgbClr val="153251"/>
                          </a:solidFill>
                          <a:latin typeface="Arial"/>
                          <a:ea typeface="Arial"/>
                          <a:cs typeface="Arial"/>
                        </a:rPr>
                        <a:t>Order, units, limits, execution prefix</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Sent commands + robot readback</a:t>
                      </a:r>
                    </a:p>
                    <a:p>
                      <a:r>
                        <a:rPr sz="1725" b="0">
                          <a:solidFill>
                            <a:srgbClr val="153251"/>
                          </a:solidFill>
                          <a:latin typeface="Arial"/>
                          <a:ea typeface="Arial"/>
                          <a:cs typeface="Arial"/>
                        </a:rPr>
                        <a:t>Quan sát mới cho closed-loop</a:t>
                      </a:r>
                    </a:p>
                  </a:txBody>
                  <a:tcPr marL="95250" marR="95250" marT="76200" marB="66675" anchor="t">
                    <a:solidFill>
                      <a:srgbClr val="FFFFFF"/>
                    </a:solidFill>
                  </a:tcPr>
                </a:tc>
              </a:tr>
              <a:tr h="649605">
                <a:tc>
                  <a:txBody>
                    <a:bodyPr>
                      <a:noAutofit/>
                    </a:bodyPr>
                    <a:lstStyle/>
                    <a:p>
                      <a:r>
                        <a:rPr sz="1725" b="0">
                          <a:solidFill>
                            <a:srgbClr val="153251"/>
                          </a:solidFill>
                          <a:latin typeface="Arial"/>
                          <a:ea typeface="Arial"/>
                          <a:cs typeface="Arial"/>
                        </a:rPr>
                        <a:t>Scorer độc lập</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Object / contact / task criteria</a:t>
                      </a:r>
                    </a:p>
                  </a:txBody>
                  <a:tcPr marL="95250" marR="95250" marT="76200" marB="66675" anchor="t">
                    <a:solidFill>
                      <a:srgbClr val="FFFFFF"/>
                    </a:solidFill>
                  </a:tcPr>
                </a:tc>
                <a:tc>
                  <a:txBody>
                    <a:bodyPr>
                      <a:noAutofit/>
                    </a:bodyPr>
                    <a:lstStyle/>
                    <a:p>
                      <a:r>
                        <a:rPr sz="1725" b="0">
                          <a:solidFill>
                            <a:srgbClr val="153251"/>
                          </a:solidFill>
                          <a:latin typeface="Arial"/>
                          <a:ea typeface="Arial"/>
                          <a:cs typeface="Arial"/>
                        </a:rPr>
                        <a:t>Full-task, stage, timeout, unknown</a:t>
                      </a:r>
                    </a:p>
                    <a:p>
                      <a:r>
                        <a:rPr sz="1725" b="0">
                          <a:solidFill>
                            <a:srgbClr val="153251"/>
                          </a:solidFill>
                          <a:latin typeface="Arial"/>
                          <a:ea typeface="Arial"/>
                          <a:cs typeface="Arial"/>
                        </a:rPr>
                        <a:t>Evidence gửi về flywheel</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68F09DD1-2194-44CF-8D91-7E12F6F72349}"/>
              </a:ext>
            </a:extLst>
          </p:cNvPr>
          <p:cNvSpPr>
            <a:spLocks xmlns:a="http://schemas.openxmlformats.org/drawingml/2006/main" noGrp="1"/>
          </p:cNvSpPr>
          <p:nvPr/>
        </p:nvSpPr>
        <p:spPr>
          <a:xfrm xmlns:a="http://schemas.openxmlformats.org/drawingml/2006/main">
            <a:off x="533400" y="5543550"/>
            <a:ext cx="1112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007F83"/>
                </a:solidFill>
                <a:latin typeface="Arial"/>
                <a:ea typeface="Arial"/>
                <a:cs typeface="Arial"/>
              </a:defRPr>
            </a:defPPr>
          </a:lstStyle>
          <a:p xmlns:a="http://schemas.openxmlformats.org/drawingml/2006/main">
            <a:pPr>
              <a:buNone/>
              <a:defRPr sz="2025" b="1">
                <a:solidFill>
                  <a:srgbClr val="007F83"/>
                </a:solidFill>
                <a:latin typeface="Arial"/>
                <a:ea typeface="Arial"/>
                <a:cs typeface="Arial"/>
              </a:defRPr>
            </a:pPr>
            <a:r>
              <a:rPr sz="2025" b="1">
                <a:solidFill>
                  <a:srgbClr val="007F83"/>
                </a:solidFill>
                <a:latin typeface="Arial"/>
                <a:ea typeface="Arial"/>
                <a:cs typeface="Arial"/>
              </a:rPr>
              <a:t>Sim trước. Robot thật cần SDK/controller/camera binding và nghiệm thu riêng.</a:t>
            </a:r>
          </a:p>
        </p:txBody>
      </p:sp>
      <p:sp>
        <p:nvSpPr>
          <p:cNvPr id="13" name="">
            <a:extLst xmlns:a="http://schemas.openxmlformats.org/drawingml/2006/main">
              <a:ext uri="{FF2B5EF4-FFF2-40B4-BE49-F238E27FC236}">
                <a16:creationId xmlns:a16="http://schemas.microsoft.com/office/drawing/2014/main" id="{B6CD6B83-67FE-44B3-982A-D771E61C7AF4}"/>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11 / 21</a:t>
            </a:r>
          </a:p>
        </p:txBody>
      </p:sp>
    </p:spTree>
    <p:extLst>
      <p:ext uri="{BB962C8B-B14F-4D97-AF65-F5344CB8AC3E}">
        <p14:creationId xmlns:p14="http://schemas.microsoft.com/office/powerpoint/2010/main" val="419144437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3" name="Picture 6">
            <a:extLst xmlns:a="http://schemas.openxmlformats.org/drawingml/2006/main">
              <a:ext uri="{FF2B5EF4-FFF2-40B4-BE49-F238E27FC236}">
                <a16:creationId xmlns:a16="http://schemas.microsoft.com/office/drawing/2014/main" id="{504102A0-346C-4096-A47D-804EC2F2EDFC}"/>
              </a:ext>
            </a:extLst>
          </p:cNvPr>
          <p:cNvPicPr>
            <a:picLocks xmlns:a="http://schemas.openxmlformats.org/drawingml/2006/main" noChangeAspect="1"/>
          </p:cNvPicPr>
          <p:nvPr/>
        </p:nvPicPr>
        <p:blipFill>
          <a:blip xmlns:r="http://schemas.openxmlformats.org/officeDocument/2006/relationships" xmlns:a="http://schemas.openxmlformats.org/drawingml/2006/main" r:embed="R6e22ecdaf1e142a8"/>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5905500" y="238125"/>
            <a:ext cx="5715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Ví dụ robot rơi vật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Ảnh dựng để giải thích. Chưa có episode E0 native hoặc measurement của đội.</a:t>
            </a:r>
          </a:p>
        </p:txBody>
      </p:sp>
      <p:pic>
        <p:nvPicPr>
          <p:cNvPr id="18" name="">
            <a:extLst xmlns:a="http://schemas.openxmlformats.org/drawingml/2006/main">
              <a:ext uri="{FF2B5EF4-FFF2-40B4-BE49-F238E27FC236}">
                <a16:creationId xmlns:a16="http://schemas.microsoft.com/office/drawing/2014/main" id="{1AFF8561-325B-4C52-A53D-989D00150FA6}"/>
              </a:ext>
            </a:extLst>
          </p:cNvPr>
          <p:cNvPicPr>
            <a:picLocks xmlns:a="http://schemas.openxmlformats.org/drawingml/2006/main" noChangeAspect="1"/>
          </p:cNvPicPr>
          <p:nvPr/>
        </p:nvPicPr>
        <p:blipFill>
          <a:blip xmlns:r="http://schemas.openxmlformats.org/officeDocument/2006/relationships" xmlns:a="http://schemas.openxmlformats.org/drawingml/2006/main" r:embed="R884da5684e5d41a4"/>
          <a:stretch xmlns:a="http://schemas.openxmlformats.org/drawingml/2006/main"/>
        </p:blipFill>
        <p:spPr>
          <a:xfrm xmlns:a="http://schemas.openxmlformats.org/drawingml/2006/main">
            <a:off x="537965" y="1724025"/>
            <a:ext cx="5229620" cy="2943225"/>
          </a:xfrm>
          <a:prstGeom xmlns:a="http://schemas.openxmlformats.org/drawingml/2006/main" prst="rect">
            <a:avLst/>
          </a:prstGeom>
        </p:spPr>
      </p:pic>
      <p:sp>
        <p:nvSpPr>
          <p:cNvPr id="9" name="content">
            <a:extLst xmlns:a="http://schemas.openxmlformats.org/drawingml/2006/main">
              <a:ext uri="{FF2B5EF4-FFF2-40B4-BE49-F238E27FC236}">
                <a16:creationId xmlns:a16="http://schemas.microsoft.com/office/drawing/2014/main" id="{25983A0B-2C07-4957-8715-42BC053B3BA7}"/>
              </a:ext>
            </a:extLst>
          </p:cNvPr>
          <p:cNvSpPr>
            <a:spLocks xmlns:a="http://schemas.openxmlformats.org/drawingml/2006/main" noGrp="1"/>
          </p:cNvSpPr>
          <p:nvPr/>
        </p:nvSpPr>
        <p:spPr>
          <a:xfrm xmlns:a="http://schemas.openxmlformats.org/drawingml/2006/main">
            <a:off x="6191250" y="1609725"/>
            <a:ext cx="5400675"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153251"/>
                </a:solidFill>
                <a:latin typeface="Arial"/>
                <a:ea typeface="Arial"/>
                <a:cs typeface="Arial"/>
              </a:defRPr>
            </a:pPr>
            <a:r>
              <a:rPr sz="2325" b="1">
                <a:solidFill>
                  <a:srgbClr val="153251"/>
                </a:solidFill>
                <a:latin typeface="Arial"/>
                <a:ea typeface="Arial"/>
                <a:cs typeface="Arial"/>
              </a:rPr>
              <a:t>Rơi vật trước ô A1</a:t>
            </a:r>
          </a:p>
        </p:txBody>
      </p:sp>
      <p:sp>
        <p:nvSpPr>
          <p:cNvPr id="10" name="content">
            <a:extLst xmlns:a="http://schemas.openxmlformats.org/drawingml/2006/main">
              <a:ext uri="{FF2B5EF4-FFF2-40B4-BE49-F238E27FC236}">
                <a16:creationId xmlns:a16="http://schemas.microsoft.com/office/drawing/2014/main" id="{5DFD7C2B-C987-49BD-A814-7EAE7F644171}"/>
              </a:ext>
            </a:extLst>
          </p:cNvPr>
          <p:cNvSpPr>
            <a:spLocks xmlns:a="http://schemas.openxmlformats.org/drawingml/2006/main" noGrp="1"/>
          </p:cNvSpPr>
          <p:nvPr/>
        </p:nvSpPr>
        <p:spPr>
          <a:xfrm xmlns:a="http://schemas.openxmlformats.org/drawingml/2006/main">
            <a:off x="6191250" y="2305050"/>
            <a:ext cx="5400675"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Cả task thất bại.</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Mốc đã đạt vẫn giữ trong trace.</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Mốc chưa tới ghi “chưa thử”.</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Một outcome chưa cho biết</a:t>
            </a:r>
          </a:p>
          <a:p xmlns:a="http://schemas.openxmlformats.org/drawingml/2006/main">
            <a:pPr algn="l">
              <a:buNone/>
              <a:defRPr sz="2025" b="0">
                <a:solidFill>
                  <a:srgbClr val="153251"/>
                </a:solidFill>
                <a:latin typeface="Arial"/>
                <a:ea typeface="Arial"/>
                <a:cs typeface="Arial"/>
              </a:defRPr>
            </a:pPr>
            <a:r>
              <a:rPr sz="2025" b="0">
                <a:solidFill>
                  <a:srgbClr val="153251"/>
                </a:solidFill>
                <a:latin typeface="Arial"/>
                <a:ea typeface="Arial"/>
                <a:cs typeface="Arial"/>
              </a:rPr>
              <a:t>module nào gây ra lỗi.</a:t>
            </a:r>
          </a:p>
        </p:txBody>
      </p:sp>
      <p:sp>
        <p:nvSpPr>
          <p:cNvPr id="11" name="content">
            <a:extLst xmlns:a="http://schemas.openxmlformats.org/drawingml/2006/main">
              <a:ext uri="{FF2B5EF4-FFF2-40B4-BE49-F238E27FC236}">
                <a16:creationId xmlns:a16="http://schemas.microsoft.com/office/drawing/2014/main" id="{68F4D850-8085-4781-AC7B-C7D503ADF9B0}"/>
              </a:ext>
            </a:extLst>
          </p:cNvPr>
          <p:cNvSpPr>
            <a:spLocks xmlns:a="http://schemas.openxmlformats.org/drawingml/2006/main" noGrp="1"/>
          </p:cNvSpPr>
          <p:nvPr/>
        </p:nvSpPr>
        <p:spPr>
          <a:xfrm xmlns:a="http://schemas.openxmlformats.org/drawingml/2006/main">
            <a:off x="533400" y="4743450"/>
            <a:ext cx="52387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4B637B"/>
                </a:solidFill>
                <a:latin typeface="Arial"/>
                <a:ea typeface="Arial"/>
                <a:cs typeface="Arial"/>
              </a:defRPr>
            </a:pPr>
            <a:r>
              <a:rPr sz="1350" b="0">
                <a:solidFill>
                  <a:srgbClr val="4B637B"/>
                </a:solidFill>
                <a:latin typeface="Arial"/>
                <a:ea typeface="Arial"/>
                <a:cs typeface="Arial"/>
              </a:rPr>
              <a:t>Ảnh minh họa AI, không phải episode E0 native.</a:t>
            </a:r>
          </a:p>
        </p:txBody>
      </p:sp>
      <p:sp>
        <p:nvSpPr>
          <p:cNvPr id="12" name="content">
            <a:extLst xmlns:a="http://schemas.openxmlformats.org/drawingml/2006/main">
              <a:ext uri="{FF2B5EF4-FFF2-40B4-BE49-F238E27FC236}">
                <a16:creationId xmlns:a16="http://schemas.microsoft.com/office/drawing/2014/main" id="{ED91529B-148F-446B-B798-C3779C917FAA}"/>
              </a:ext>
            </a:extLst>
          </p:cNvPr>
          <p:cNvSpPr>
            <a:spLocks xmlns:a="http://schemas.openxmlformats.org/drawingml/2006/main" noGrp="1"/>
          </p:cNvSpPr>
          <p:nvPr/>
        </p:nvSpPr>
        <p:spPr>
          <a:xfrm xmlns:a="http://schemas.openxmlformats.org/drawingml/2006/main">
            <a:off x="533400" y="5124450"/>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007F83"/>
                </a:solidFill>
                <a:latin typeface="Arial"/>
                <a:ea typeface="Arial"/>
                <a:cs typeface="Arial"/>
              </a:defRPr>
            </a:pPr>
            <a:r>
              <a:rPr sz="1950" b="1">
                <a:solidFill>
                  <a:srgbClr val="007F83"/>
                </a:solidFill>
                <a:latin typeface="Arial"/>
                <a:ea typeface="Arial"/>
                <a:cs typeface="Arial"/>
              </a:rPr>
              <a:t>Trace cần nối RGB / features / action / command / response với thời điểm vật rơi.</a:t>
            </a:r>
          </a:p>
        </p:txBody>
      </p:sp>
      <p:sp>
        <p:nvSpPr>
          <p:cNvPr id="19" name="">
            <a:extLst xmlns:a="http://schemas.openxmlformats.org/drawingml/2006/main">
              <a:ext uri="{FF2B5EF4-FFF2-40B4-BE49-F238E27FC236}">
                <a16:creationId xmlns:a16="http://schemas.microsoft.com/office/drawing/2014/main" id="{63D4EDFB-24B0-483D-9EA6-85402B4B5AA3}"/>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12 / 21</a:t>
            </a:r>
          </a:p>
        </p:txBody>
      </p:sp>
    </p:spTree>
    <p:extLst>
      <p:ext uri="{BB962C8B-B14F-4D97-AF65-F5344CB8AC3E}">
        <p14:creationId xmlns:p14="http://schemas.microsoft.com/office/powerpoint/2010/main" val="4191444374"/>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11" name="Picture 6">
            <a:extLst xmlns:a="http://schemas.openxmlformats.org/drawingml/2006/main">
              <a:ext uri="{FF2B5EF4-FFF2-40B4-BE49-F238E27FC236}">
                <a16:creationId xmlns:a16="http://schemas.microsoft.com/office/drawing/2014/main" id="{ABD69C54-8BEA-4C44-9AFB-C306ED6A03C5}"/>
              </a:ext>
            </a:extLst>
          </p:cNvPr>
          <p:cNvPicPr>
            <a:picLocks xmlns:a="http://schemas.openxmlformats.org/drawingml/2006/main" noChangeAspect="1"/>
          </p:cNvPicPr>
          <p:nvPr/>
        </p:nvPicPr>
        <p:blipFill>
          <a:blip xmlns:r="http://schemas.openxmlformats.org/officeDocument/2006/relationships" xmlns:a="http://schemas.openxmlformats.org/drawingml/2006/main" r:embed="R8760c50c50c54ccc"/>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Lỗi và phạm vi can thiệp</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Bằng chứng chưa phân biệt được nguyên nhân thì thu thêm evidence. Không tự động train vì failure rate tăng.</a:t>
            </a:r>
          </a:p>
        </p:txBody>
      </p:sp>
      <p:graphicFrame>
        <p:nvGraphicFramePr>
          <p:cNvPr id="16" name="">
            <a:extLst xmlns:a="http://schemas.openxmlformats.org/drawingml/2006/main">
              <a:ext uri="{FF2B5EF4-FFF2-40B4-BE49-F238E27FC236}">
                <a16:creationId xmlns:a16="http://schemas.microsoft.com/office/drawing/2014/main" id="{B4B8998E-3EA9-4CAC-91ED-52E99979BECD}"/>
              </a:ext>
            </a:extLst>
          </p:cNvPr>
          <p:cNvGraphicFramePr/>
          <p:nvPr/>
        </p:nvGraphicFramePr>
        <p:xfrm>
          <a:off xmlns:a="http://schemas.openxmlformats.org/drawingml/2006/main" x="533400" y="1647825"/>
          <a:ext xmlns:a="http://schemas.openxmlformats.org/drawingml/2006/main" cx="11125200" cy="2819400"/>
        </p:xfrm>
        <a:graphic xmlns:a="http://schemas.openxmlformats.org/drawingml/2006/main">
          <a:graphicData uri="http://schemas.openxmlformats.org/drawingml/2006/table">
            <a:tbl>
              <a:tblPr firstRow="1" bandRow="0"/>
              <a:tblGrid>
                <a:gridCol w="2714625"/>
                <a:gridCol w="4229100"/>
                <a:gridCol w="4181475"/>
              </a:tblGrid>
              <a:tr h="381000">
                <a:tc>
                  <a:txBody>
                    <a:bodyPr wrap="square" lIns="85725" tIns="57150" rIns="85725" bIns="57150">
                      <a:noAutofit/>
                    </a:bodyPr>
                    <a:lstStyle/>
                    <a:p>
                      <a:r>
                        <a:rPr sz="1650" b="1">
                          <a:solidFill>
                            <a:srgbClr val="FFFFFF"/>
                          </a:solidFill>
                          <a:latin typeface="Arial"/>
                          <a:ea typeface="Arial"/>
                          <a:cs typeface="Arial"/>
                        </a:rPr>
                        <a:t>Giả thuyết</a:t>
                      </a:r>
                    </a:p>
                  </a:txBody>
                  <a:tcPr marL="91440" marR="91440" marT="45720" marB="45720">
                    <a:solidFill>
                      <a:srgbClr val="203F68"/>
                    </a:solidFill>
                  </a:tcPr>
                </a:tc>
                <a:tc>
                  <a:txBody>
                    <a:bodyPr wrap="square" lIns="85725" tIns="57150" rIns="85725" bIns="57150">
                      <a:noAutofit/>
                    </a:bodyPr>
                    <a:lstStyle/>
                    <a:p>
                      <a:r>
                        <a:rPr sz="1650" b="1">
                          <a:solidFill>
                            <a:srgbClr val="FFFFFF"/>
                          </a:solidFill>
                          <a:latin typeface="Arial"/>
                          <a:ea typeface="Arial"/>
                          <a:cs typeface="Arial"/>
                        </a:rPr>
                        <a:t>Phép kiểm</a:t>
                      </a:r>
                    </a:p>
                  </a:txBody>
                  <a:tcPr marL="91440" marR="91440" marT="45720" marB="45720">
                    <a:solidFill>
                      <a:srgbClr val="203F68"/>
                    </a:solidFill>
                  </a:tcPr>
                </a:tc>
                <a:tc>
                  <a:txBody>
                    <a:bodyPr wrap="square" lIns="85725" tIns="57150" rIns="85725" bIns="57150">
                      <a:noAutofit/>
                    </a:bodyPr>
                    <a:lstStyle/>
                    <a:p>
                      <a:r>
                        <a:rPr sz="1650" b="1">
                          <a:solidFill>
                            <a:srgbClr val="FFFFFF"/>
                          </a:solidFill>
                          <a:latin typeface="Arial"/>
                          <a:ea typeface="Arial"/>
                          <a:cs typeface="Arial"/>
                        </a:rPr>
                        <a:t>Quyết định có điều kiện</a:t>
                      </a:r>
                    </a:p>
                  </a:txBody>
                  <a:tcPr marL="91440" marR="91440" marT="45720" marB="45720">
                    <a:solidFill>
                      <a:srgbClr val="203F68"/>
                    </a:solidFill>
                  </a:tcPr>
                </a:tc>
              </a:tr>
              <a:tr h="812800">
                <a:tc>
                  <a:txBody>
                    <a:bodyPr wrap="square" lIns="85725" tIns="57150" rIns="85725" bIns="57150">
                      <a:noAutofit/>
                    </a:bodyPr>
                    <a:lstStyle/>
                    <a:p>
                      <a:r>
                        <a:rPr sz="1650" b="0">
                          <a:solidFill>
                            <a:srgbClr val="153251"/>
                          </a:solidFill>
                          <a:latin typeface="Arial"/>
                          <a:ea typeface="Arial"/>
                          <a:cs typeface="Arial"/>
                        </a:rPr>
                        <a:t>Binding / controller sai</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Replay chunk, so sent command và response</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Repair, re-pin và lập lại baseline</a:t>
                      </a:r>
                    </a:p>
                  </a:txBody>
                  <a:tcPr marL="91440" marR="91440" marT="45720" marB="45720">
                    <a:solidFill>
                      <a:srgbClr val="FFFFFF"/>
                    </a:solidFill>
                  </a:tcPr>
                </a:tc>
              </a:tr>
              <a:tr h="812800">
                <a:tc>
                  <a:txBody>
                    <a:bodyPr wrap="square" lIns="85725" tIns="57150" rIns="85725" bIns="57150">
                      <a:noAutofit/>
                    </a:bodyPr>
                    <a:lstStyle/>
                    <a:p>
                      <a:r>
                        <a:rPr sz="1650" b="0">
                          <a:solidFill>
                            <a:srgbClr val="153251"/>
                          </a:solidFill>
                          <a:latin typeface="Arial"/>
                          <a:ea typeface="Arial"/>
                          <a:cs typeface="Arial"/>
                        </a:rPr>
                        <a:t>Pose gắp chưa tốt</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So transport từ expert grip và policy grip</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Correction giữ context gắp–nâng–chuyển</a:t>
                      </a:r>
                    </a:p>
                  </a:txBody>
                  <a:tcPr marL="91440" marR="91440" marT="45720" marB="45720">
                    <a:solidFill>
                      <a:srgbClr val="FFFFFF"/>
                    </a:solidFill>
                  </a:tcPr>
                </a:tc>
              </a:tr>
              <a:tr h="812800">
                <a:tc>
                  <a:txBody>
                    <a:bodyPr wrap="square" lIns="85725" tIns="57150" rIns="85725" bIns="57150">
                      <a:noAutofit/>
                    </a:bodyPr>
                    <a:lstStyle/>
                    <a:p>
                      <a:r>
                        <a:rPr sz="1650" b="0">
                          <a:solidFill>
                            <a:srgbClr val="153251"/>
                          </a:solidFill>
                          <a:latin typeface="Arial"/>
                          <a:ea typeface="Arial"/>
                          <a:cs typeface="Arial"/>
                        </a:rPr>
                        <a:t>Coverage/contact thiếu</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Kiểm trajectory/contact và variants kiểm soát</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Thử sim positive hoặc correction</a:t>
                      </a:r>
                    </a:p>
                  </a:txBody>
                  <a:tcPr marL="91440" marR="91440" marT="45720" marB="45720">
                    <a:solidFill>
                      <a:srgbClr val="FFFFFF"/>
                    </a:solidFill>
                  </a:tcPr>
                </a:tc>
              </a:tr>
            </a:tbl>
          </a:graphicData>
        </a:graphic>
      </p:graphicFrame>
      <p:sp>
        <p:nvSpPr>
          <p:cNvPr id="9" name="content">
            <a:extLst xmlns:a="http://schemas.openxmlformats.org/drawingml/2006/main">
              <a:ext uri="{FF2B5EF4-FFF2-40B4-BE49-F238E27FC236}">
                <a16:creationId xmlns:a16="http://schemas.microsoft.com/office/drawing/2014/main" id="{CDFFB64D-D931-406E-B2B5-999E0FCFC221}"/>
              </a:ext>
            </a:extLst>
          </p:cNvPr>
          <p:cNvSpPr>
            <a:spLocks xmlns:a="http://schemas.openxmlformats.org/drawingml/2006/main" noGrp="1"/>
          </p:cNvSpPr>
          <p:nvPr/>
        </p:nvSpPr>
        <p:spPr>
          <a:xfrm xmlns:a="http://schemas.openxmlformats.org/drawingml/2006/main">
            <a:off x="533400" y="4686300"/>
            <a:ext cx="11125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1">
                <a:solidFill>
                  <a:srgbClr val="007F83"/>
                </a:solidFill>
                <a:latin typeface="Arial"/>
                <a:ea typeface="Arial"/>
                <a:cs typeface="Arial"/>
              </a:defRPr>
            </a:pPr>
            <a:r>
              <a:rPr sz="1950" b="1">
                <a:solidFill>
                  <a:srgbClr val="007F83"/>
                </a:solidFill>
                <a:latin typeface="Arial"/>
                <a:ea typeface="Arial"/>
                <a:cs typeface="Arial"/>
              </a:rPr>
              <a:t>Quyết định train phải nêu dữ liệu mới, objective và modules sẽ cập nhật</a:t>
            </a:r>
          </a:p>
        </p:txBody>
      </p:sp>
      <p:sp>
        <p:nvSpPr>
          <p:cNvPr id="10" name="content">
            <a:extLst xmlns:a="http://schemas.openxmlformats.org/drawingml/2006/main">
              <a:ext uri="{FF2B5EF4-FFF2-40B4-BE49-F238E27FC236}">
                <a16:creationId xmlns:a16="http://schemas.microsoft.com/office/drawing/2014/main" id="{ED4F1B63-E3B6-4AC8-A78F-E245AEEAFDAF}"/>
              </a:ext>
            </a:extLst>
          </p:cNvPr>
          <p:cNvSpPr>
            <a:spLocks xmlns:a="http://schemas.openxmlformats.org/drawingml/2006/main" noGrp="1"/>
          </p:cNvSpPr>
          <p:nvPr/>
        </p:nvSpPr>
        <p:spPr>
          <a:xfrm xmlns:a="http://schemas.openxmlformats.org/drawingml/2006/main">
            <a:off x="533400" y="5248275"/>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153251"/>
                </a:solidFill>
                <a:latin typeface="Arial"/>
                <a:ea typeface="Arial"/>
                <a:cs typeface="Arial"/>
              </a:defRPr>
            </a:pPr>
            <a:r>
              <a:rPr sz="1725" b="0">
                <a:solidFill>
                  <a:srgbClr val="153251"/>
                </a:solidFill>
                <a:latin typeface="Arial"/>
                <a:ea typeface="Arial"/>
                <a:cs typeface="Arial"/>
              </a:rPr>
              <a:t>Binding lỗi: sửa hệ thống và replay baseline. Coverage thiếu: thử correction hoặc sim execution.</a:t>
            </a:r>
          </a:p>
          <a:p xmlns:a="http://schemas.openxmlformats.org/drawingml/2006/main">
            <a:pPr algn="l">
              <a:buNone/>
              <a:defRPr sz="1725" b="0">
                <a:solidFill>
                  <a:srgbClr val="153251"/>
                </a:solidFill>
                <a:latin typeface="Arial"/>
                <a:ea typeface="Arial"/>
                <a:cs typeface="Arial"/>
              </a:defRPr>
            </a:pPr>
            <a:r>
              <a:rPr sz="1725" b="0">
                <a:solidFill>
                  <a:srgbClr val="153251"/>
                </a:solidFill>
                <a:latin typeface="Arial"/>
                <a:ea typeface="Arial"/>
                <a:cs typeface="Arial"/>
              </a:rPr>
              <a:t>Candidate chỉ được giữ khi development gain, regression và tổng công đạt gate.</a:t>
            </a:r>
          </a:p>
        </p:txBody>
      </p:sp>
      <p:sp>
        <p:nvSpPr>
          <p:cNvPr id="17" name="">
            <a:extLst xmlns:a="http://schemas.openxmlformats.org/drawingml/2006/main">
              <a:ext uri="{FF2B5EF4-FFF2-40B4-BE49-F238E27FC236}">
                <a16:creationId xmlns:a16="http://schemas.microsoft.com/office/drawing/2014/main" id="{B4AD9366-C280-4AC8-99CC-6C9317DE70EF}"/>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13 / 21</a:t>
            </a:r>
          </a:p>
        </p:txBody>
      </p:sp>
    </p:spTree>
    <p:extLst>
      <p:ext uri="{BB962C8B-B14F-4D97-AF65-F5344CB8AC3E}">
        <p14:creationId xmlns:p14="http://schemas.microsoft.com/office/powerpoint/2010/main" val="4191444374"/>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B3F269B-5EF9-4D07-98F2-086120AD0FF4}"/>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Benchmark và evaluation</a:t>
            </a:r>
          </a:p>
        </p:txBody>
      </p:sp>
      <p:pic>
        <p:nvPicPr>
          <p:cNvPr id="7" name="">
            <a:extLst xmlns:a="http://schemas.openxmlformats.org/drawingml/2006/main">
              <a:ext uri="{FF2B5EF4-FFF2-40B4-BE49-F238E27FC236}">
                <a16:creationId xmlns:a16="http://schemas.microsoft.com/office/drawing/2014/main" id="{7F958FD0-891E-419D-814F-23051116DFAA}"/>
              </a:ext>
            </a:extLst>
          </p:cNvPr>
          <p:cNvPicPr>
            <a:picLocks xmlns:a="http://schemas.openxmlformats.org/drawingml/2006/main" noChangeAspect="1"/>
          </p:cNvPicPr>
          <p:nvPr/>
        </p:nvPicPr>
        <p:blipFill>
          <a:blip xmlns:r="http://schemas.openxmlformats.org/officeDocument/2006/relationships" xmlns:a="http://schemas.openxmlformats.org/drawingml/2006/main" r:embed="Rbebb3803d56f4f78"/>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B65230A-01A5-49C5-89B5-E34C6E9514DD}"/>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p>
        </p:txBody>
      </p:sp>
      <p:sp>
        <p:nvSpPr>
          <p:cNvPr id="9" name="">
            <a:extLst xmlns:a="http://schemas.openxmlformats.org/drawingml/2006/main">
              <a:ext uri="{FF2B5EF4-FFF2-40B4-BE49-F238E27FC236}">
                <a16:creationId xmlns:a16="http://schemas.microsoft.com/office/drawing/2014/main" id="{9C62AF44-F974-40EA-BD73-6EBC3DBF918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FFFFFF"/>
                </a:solidFill>
                <a:latin typeface="Arial"/>
                <a:ea typeface="Arial"/>
                <a:cs typeface="Arial"/>
              </a:defRPr>
            </a:defPPr>
          </a:lstStyle>
          <a:p xmlns:a="http://schemas.openxmlformats.org/drawingml/2006/main">
            <a:pPr>
              <a:buNone/>
              <a:defRPr sz="1275" b="0">
                <a:solidFill>
                  <a:srgbClr val="FFFFFF"/>
                </a:solidFill>
                <a:latin typeface="Arial"/>
                <a:ea typeface="Arial"/>
                <a:cs typeface="Arial"/>
              </a:defRPr>
            </a:pPr>
            <a:r>
              <a:rPr sz="1275" b="0">
                <a:solidFill>
                  <a:srgbClr val="FFFFFF"/>
                </a:solidFill>
                <a:latin typeface="Arial"/>
                <a:ea typeface="Arial"/>
                <a:cs typeface="Arial"/>
              </a:rPr>
              <a:t>Native A1 chưa đo. Reference MuJoCo chỉ kiểm pipeline, scorer và gates trong mô hình thu nhỏ.</a:t>
            </a:r>
          </a:p>
        </p:txBody>
      </p:sp>
      <p:graphicFrame>
        <p:nvGraphicFramePr>
          <p:cNvPr id="10" name="">
            <a:extLst xmlns:a="http://schemas.openxmlformats.org/drawingml/2006/main">
              <a:ext uri="{FF2B5EF4-FFF2-40B4-BE49-F238E27FC236}">
                <a16:creationId xmlns:a16="http://schemas.microsoft.com/office/drawing/2014/main" id="{AD2082AC-8D8F-40E7-A8F8-D2B6C7877025}"/>
              </a:ext>
            </a:extLst>
          </p:cNvPr>
          <p:cNvGraphicFramePr/>
          <p:nvPr/>
        </p:nvGraphicFramePr>
        <p:xfrm>
          <a:off xmlns:a="http://schemas.openxmlformats.org/drawingml/2006/main" x="533400" y="1619250"/>
          <a:ext xmlns:a="http://schemas.openxmlformats.org/drawingml/2006/main" cx="11125200" cy="2667000"/>
        </p:xfrm>
        <a:graphic xmlns:a="http://schemas.openxmlformats.org/drawingml/2006/main">
          <a:graphicData uri="http://schemas.openxmlformats.org/drawingml/2006/table">
            <a:tbl>
              <a:tblPr/>
              <a:tblGrid>
                <a:gridCol w="3238500"/>
                <a:gridCol w="3333750"/>
                <a:gridCol w="4552950"/>
              </a:tblGrid>
              <a:tr h="419100">
                <a:tc>
                  <a:txBody>
                    <a:bodyPr>
                      <a:noAutofit/>
                    </a:bodyPr>
                    <a:lstStyle/>
                    <a:p>
                      <a:r>
                        <a:rPr sz="1800" b="1">
                          <a:solidFill>
                            <a:srgbClr val="FFFFFF"/>
                          </a:solidFill>
                          <a:latin typeface="Arial"/>
                          <a:ea typeface="Arial"/>
                          <a:cs typeface="Arial"/>
                        </a:rPr>
                        <a:t>Câu hỏi</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Đối chứng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Cách giữ phép so công bằng</a:t>
                      </a:r>
                    </a:p>
                  </a:txBody>
                  <a:tcPr marL="95250" marR="95250" marT="76200" marB="66675" anchor="t">
                    <a:solidFill>
                      <a:srgbClr val="153251"/>
                    </a:solidFill>
                  </a:tcPr>
                </a:tc>
              </a:tr>
              <a:tr h="749300">
                <a:tc>
                  <a:txBody>
                    <a:bodyPr>
                      <a:noAutofit/>
                    </a:bodyPr>
                    <a:lstStyle/>
                    <a:p>
                      <a:r>
                        <a:rPr sz="1800" b="0">
                          <a:solidFill>
                            <a:srgbClr val="153251"/>
                          </a:solidFill>
                          <a:latin typeface="Arial"/>
                          <a:ea typeface="Arial"/>
                          <a:cs typeface="Arial"/>
                        </a:rPr>
                        <a:t>Nguồn synthetic có ích?</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R so với R + S_exec</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Cùng roots, recipe, domain, scorer</a:t>
                      </a:r>
                    </a:p>
                    <a:p>
                      <a:r>
                        <a:rPr sz="1800" b="0">
                          <a:solidFill>
                            <a:srgbClr val="153251"/>
                          </a:solidFill>
                          <a:latin typeface="Arial"/>
                          <a:ea typeface="Arial"/>
                          <a:cs typeface="Arial"/>
                        </a:rPr>
                        <a:t>Ghi thêm công và compute của S</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Flywheel chọn tốt hơn?</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Quy trình thường so với</a:t>
                      </a:r>
                    </a:p>
                    <a:p>
                      <a:r>
                        <a:rPr sz="1800" b="0">
                          <a:solidFill>
                            <a:srgbClr val="153251"/>
                          </a:solidFill>
                          <a:latin typeface="Arial"/>
                          <a:ea typeface="Arial"/>
                          <a:cs typeface="Arial"/>
                        </a:rPr>
                        <a:t>quy trình có evidence</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Matched parent–case pairs, cùng cap</a:t>
                      </a:r>
                    </a:p>
                    <a:p>
                      <a:r>
                        <a:rPr sz="1800" b="0">
                          <a:solidFill>
                            <a:srgbClr val="153251"/>
                          </a:solidFill>
                          <a:latin typeface="Arial"/>
                          <a:ea typeface="Arial"/>
                          <a:cs typeface="Arial"/>
                        </a:rPr>
                        <a:t>Cùng quyền can thiệp, đảo thứ tự case</a:t>
                      </a:r>
                    </a:p>
                  </a:txBody>
                  <a:tcPr marL="95250" marR="95250" marT="76200" marB="66675" anchor="t">
                    <a:solidFill>
                      <a:srgbClr val="FFFFFF"/>
                    </a:solidFill>
                  </a:tcPr>
                </a:tc>
              </a:tr>
              <a:tr h="749300">
                <a:tc>
                  <a:txBody>
                    <a:bodyPr>
                      <a:noAutofit/>
                    </a:bodyPr>
                    <a:lstStyle/>
                    <a:p>
                      <a:r>
                        <a:rPr sz="1800" b="0">
                          <a:solidFill>
                            <a:srgbClr val="153251"/>
                          </a:solidFill>
                          <a:latin typeface="Arial"/>
                          <a:ea typeface="Arial"/>
                          <a:cs typeface="Arial"/>
                        </a:rPr>
                        <a:t>Skill đạt yêu cầu?</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Freeze rồi independent final</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100 scene starts độc lập, full-task</a:t>
                      </a:r>
                    </a:p>
                    <a:p>
                      <a:r>
                        <a:rPr sz="1800" b="0">
                          <a:solidFill>
                            <a:srgbClr val="153251"/>
                          </a:solidFill>
                          <a:latin typeface="Arial"/>
                          <a:ea typeface="Arial"/>
                          <a:cs typeface="Arial"/>
                        </a:rPr>
                        <a:t>Ghi cả timeout / unknown / intervention</a:t>
                      </a:r>
                    </a:p>
                  </a:txBody>
                  <a:tcPr marL="95250" marR="95250" marT="76200" marB="66675" anchor="t">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4B60CF7-7D67-4864-9EDF-EFEED0E177D6}"/>
              </a:ext>
            </a:extLst>
          </p:cNvPr>
          <p:cNvSpPr>
            <a:spLocks xmlns:a="http://schemas.openxmlformats.org/drawingml/2006/main" noGrp="1"/>
          </p:cNvSpPr>
          <p:nvPr/>
        </p:nvSpPr>
        <p:spPr>
          <a:xfrm xmlns:a="http://schemas.openxmlformats.org/drawingml/2006/main">
            <a:off x="533400" y="4591050"/>
            <a:ext cx="11125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007F83"/>
                </a:solidFill>
                <a:latin typeface="Arial"/>
                <a:ea typeface="Arial"/>
                <a:cs typeface="Arial"/>
              </a:defRPr>
            </a:defPPr>
          </a:lstStyle>
          <a:p xmlns:a="http://schemas.openxmlformats.org/drawingml/2006/main">
            <a:pPr>
              <a:buNone/>
              <a:defRPr sz="2325" b="1">
                <a:solidFill>
                  <a:srgbClr val="007F83"/>
                </a:solidFill>
                <a:latin typeface="Arial"/>
                <a:ea typeface="Arial"/>
                <a:cs typeface="Arial"/>
              </a:defRPr>
            </a:pPr>
            <a:r>
              <a:rPr sz="2325" b="1">
                <a:solidFill>
                  <a:srgbClr val="007F83"/>
                </a:solidFill>
                <a:latin typeface="Arial"/>
                <a:ea typeface="Arial"/>
                <a:cs typeface="Arial"/>
              </a:rPr>
              <a:t>Gate đề xuất: lower bound exact một phía 95% ≥ 90%</a:t>
            </a:r>
          </a:p>
        </p:txBody>
      </p:sp>
      <p:sp>
        <p:nvSpPr>
          <p:cNvPr id="12" name="">
            <a:extLst xmlns:a="http://schemas.openxmlformats.org/drawingml/2006/main">
              <a:ext uri="{FF2B5EF4-FFF2-40B4-BE49-F238E27FC236}">
                <a16:creationId xmlns:a16="http://schemas.microsoft.com/office/drawing/2014/main" id="{7454677C-AB30-4D77-817C-03228D5EB6E5}"/>
              </a:ext>
            </a:extLst>
          </p:cNvPr>
          <p:cNvSpPr>
            <a:spLocks xmlns:a="http://schemas.openxmlformats.org/drawingml/2006/main" noGrp="1"/>
          </p:cNvSpPr>
          <p:nvPr/>
        </p:nvSpPr>
        <p:spPr>
          <a:xfrm xmlns:a="http://schemas.openxmlformats.org/drawingml/2006/main">
            <a:off x="533400" y="5210175"/>
            <a:ext cx="11125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53251"/>
                </a:solidFill>
                <a:latin typeface="Arial"/>
                <a:ea typeface="Arial"/>
                <a:cs typeface="Arial"/>
              </a:defRPr>
            </a:defPPr>
          </a:lstStyle>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Với n = 100 và giả định IID Bernoulli, cần ít nhất 96 successes.</a:t>
            </a:r>
          </a:p>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Chất lượng đạt gate chưa chứng minh saving. So tổng công ở cùng quality và coverage.</a:t>
            </a:r>
          </a:p>
        </p:txBody>
      </p:sp>
      <p:sp>
        <p:nvSpPr>
          <p:cNvPr id="13" name="">
            <a:extLst xmlns:a="http://schemas.openxmlformats.org/drawingml/2006/main">
              <a:ext uri="{FF2B5EF4-FFF2-40B4-BE49-F238E27FC236}">
                <a16:creationId xmlns:a16="http://schemas.microsoft.com/office/drawing/2014/main" id="{98332625-1C90-464A-B45D-B3F0CD62ED3E}"/>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14 / 21</a:t>
            </a:r>
          </a:p>
        </p:txBody>
      </p:sp>
    </p:spTree>
    <p:extLst>
      <p:ext uri="{BB962C8B-B14F-4D97-AF65-F5344CB8AC3E}">
        <p14:creationId xmlns:p14="http://schemas.microsoft.com/office/powerpoint/2010/main" val="254179327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08FF401B-0194-4A27-8B17-D0B20E405869}"/>
              </a:ext>
            </a:extLst>
          </p:cNvPr>
          <p:cNvPicPr>
            <a:picLocks xmlns:a="http://schemas.openxmlformats.org/drawingml/2006/main" noChangeAspect="1"/>
          </p:cNvPicPr>
          <p:nvPr/>
        </p:nvPicPr>
        <p:blipFill>
          <a:blip xmlns:r="http://schemas.openxmlformats.org/officeDocument/2006/relationships" xmlns:a="http://schemas.openxmlformats.org/drawingml/2006/main" r:embed="R423c426640fe4f44"/>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Ngân sách pilot</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Ngân sách giả định, chưa đo. Chưa gồm robot/cell, CPU riêng, data/license, thuế và downtime.</a:t>
            </a:r>
          </a:p>
        </p:txBody>
      </p:sp>
      <p:sp>
        <p:nvSpPr>
          <p:cNvPr id="11" name="">
            <a:extLst xmlns:a="http://schemas.openxmlformats.org/drawingml/2006/main">
              <a:ext uri="{FF2B5EF4-FFF2-40B4-BE49-F238E27FC236}">
                <a16:creationId xmlns:a16="http://schemas.microsoft.com/office/drawing/2014/main" id="{F41F463F-DC99-4E5E-9E6D-59BE10169333}"/>
              </a:ext>
            </a:extLst>
          </p:cNvPr>
          <p:cNvSpPr>
            <a:spLocks xmlns:a="http://schemas.openxmlformats.org/drawingml/2006/main" noGrp="1"/>
          </p:cNvSpPr>
          <p:nvPr/>
        </p:nvSpPr>
        <p:spPr>
          <a:xfrm xmlns:a="http://schemas.openxmlformats.org/drawingml/2006/main">
            <a:off x="533400" y="1571625"/>
            <a:ext cx="5048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525" b="1">
                <a:solidFill>
                  <a:srgbClr val="007F83"/>
                </a:solidFill>
                <a:latin typeface="Arial"/>
                <a:ea typeface="Arial"/>
                <a:cs typeface="Arial"/>
              </a:defRPr>
            </a:defPPr>
          </a:lstStyle>
          <a:p xmlns:a="http://schemas.openxmlformats.org/drawingml/2006/main">
            <a:pPr>
              <a:buNone/>
              <a:defRPr sz="3525" b="1">
                <a:solidFill>
                  <a:srgbClr val="007F83"/>
                </a:solidFill>
                <a:latin typeface="Arial"/>
                <a:ea typeface="Arial"/>
                <a:cs typeface="Arial"/>
              </a:defRPr>
            </a:pPr>
            <a:r>
              <a:rPr sz="3525" b="1">
                <a:solidFill>
                  <a:srgbClr val="007F83"/>
                </a:solidFill>
                <a:latin typeface="Arial"/>
                <a:ea typeface="Arial"/>
                <a:cs typeface="Arial"/>
              </a:rPr>
              <a:t>5.187,20 USD</a:t>
            </a:r>
          </a:p>
        </p:txBody>
      </p:sp>
      <p:sp>
        <p:nvSpPr>
          <p:cNvPr id="12" name="">
            <a:extLst xmlns:a="http://schemas.openxmlformats.org/drawingml/2006/main">
              <a:ext uri="{FF2B5EF4-FFF2-40B4-BE49-F238E27FC236}">
                <a16:creationId xmlns:a16="http://schemas.microsoft.com/office/drawing/2014/main" id="{F1F1DB44-B96D-4037-999D-891793060EC8}"/>
              </a:ext>
            </a:extLst>
          </p:cNvPr>
          <p:cNvSpPr>
            <a:spLocks xmlns:a="http://schemas.openxmlformats.org/drawingml/2006/main" noGrp="1"/>
          </p:cNvSpPr>
          <p:nvPr/>
        </p:nvSpPr>
        <p:spPr>
          <a:xfrm xmlns:a="http://schemas.openxmlformats.org/drawingml/2006/main">
            <a:off x="6191250" y="1647825"/>
            <a:ext cx="5467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75" b="0">
                <a:solidFill>
                  <a:srgbClr val="153251"/>
                </a:solidFill>
                <a:latin typeface="Arial"/>
                <a:ea typeface="Arial"/>
                <a:cs typeface="Arial"/>
              </a:defRPr>
            </a:defPPr>
          </a:lstStyle>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20 accepted train roots, giả định yield 50%</a:t>
            </a:r>
          </a:p>
          <a:p xmlns:a="http://schemas.openxmlformats.org/drawingml/2006/main">
            <a:pPr>
              <a:buNone/>
              <a:defRPr sz="1875" b="0">
                <a:solidFill>
                  <a:srgbClr val="153251"/>
                </a:solidFill>
                <a:latin typeface="Arial"/>
                <a:ea typeface="Arial"/>
                <a:cs typeface="Arial"/>
              </a:defRPr>
            </a:pPr>
            <a:r>
              <a:rPr sz="1875" b="0">
                <a:solidFill>
                  <a:srgbClr val="153251"/>
                </a:solidFill>
                <a:latin typeface="Arial"/>
                <a:ea typeface="Arial"/>
                <a:cs typeface="Arial"/>
              </a:rPr>
              <a:t>40 attempts, compute có cap và replan</a:t>
            </a:r>
          </a:p>
        </p:txBody>
      </p:sp>
      <p:graphicFrame>
        <p:nvGraphicFramePr>
          <p:cNvPr id="13" name="">
            <a:extLst xmlns:a="http://schemas.openxmlformats.org/drawingml/2006/main">
              <a:ext uri="{FF2B5EF4-FFF2-40B4-BE49-F238E27FC236}">
                <a16:creationId xmlns:a16="http://schemas.microsoft.com/office/drawing/2014/main" id="{12345595-FF6D-4FE0-84C7-DA178C56DFFF}"/>
              </a:ext>
            </a:extLst>
          </p:cNvPr>
          <p:cNvGraphicFramePr/>
          <p:nvPr/>
        </p:nvGraphicFramePr>
        <p:xfrm>
          <a:off xmlns:a="http://schemas.openxmlformats.org/drawingml/2006/main" x="533400" y="2495550"/>
          <a:ext xmlns:a="http://schemas.openxmlformats.org/drawingml/2006/main" cx="11125200" cy="2647950"/>
        </p:xfrm>
        <a:graphic xmlns:a="http://schemas.openxmlformats.org/drawingml/2006/main">
          <a:graphicData uri="http://schemas.openxmlformats.org/drawingml/2006/table">
            <a:tbl>
              <a:tblPr/>
              <a:tblGrid>
                <a:gridCol w="4191000"/>
                <a:gridCol w="4905375"/>
                <a:gridCol w="2028825"/>
              </a:tblGrid>
              <a:tr h="419100">
                <a:tc>
                  <a:txBody>
                    <a:bodyPr>
                      <a:noAutofit/>
                    </a:bodyPr>
                    <a:lstStyle/>
                    <a:p>
                      <a:r>
                        <a:rPr sz="1800" b="1">
                          <a:solidFill>
                            <a:srgbClr val="FFFFFF"/>
                          </a:solidFill>
                          <a:latin typeface="Arial"/>
                          <a:ea typeface="Arial"/>
                          <a:cs typeface="Arial"/>
                        </a:rPr>
                        <a:t>Khoản đã tính</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Cơ sở planning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USD</a:t>
                      </a:r>
                    </a:p>
                  </a:txBody>
                  <a:tcPr marL="95250" marR="95250" marT="76200" marB="66675" anchor="t">
                    <a:solidFill>
                      <a:srgbClr val="153251"/>
                    </a:solidFill>
                  </a:tcPr>
                </a:tc>
              </a:tr>
              <a:tr h="445770">
                <a:tc>
                  <a:txBody>
                    <a:bodyPr>
                      <a:noAutofit/>
                    </a:bodyPr>
                    <a:lstStyle/>
                    <a:p>
                      <a:r>
                        <a:rPr sz="1800" b="0">
                          <a:solidFill>
                            <a:srgbClr val="153251"/>
                          </a:solidFill>
                          <a:latin typeface="Arial"/>
                          <a:ea typeface="Arial"/>
                          <a:cs typeface="Arial"/>
                        </a:rPr>
                        <a:t>Capture / reset</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4 operator giờ × 10 USD</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40,00</a:t>
                      </a:r>
                    </a:p>
                  </a:txBody>
                  <a:tcPr marL="95250" marR="95250" marT="76200" marB="66675" anchor="t">
                    <a:solidFill>
                      <a:srgbClr val="FFFFFF"/>
                    </a:solidFill>
                  </a:tcPr>
                </a:tc>
              </a:tr>
              <a:tr h="445770">
                <a:tc>
                  <a:txBody>
                    <a:bodyPr>
                      <a:noAutofit/>
                    </a:bodyPr>
                    <a:lstStyle/>
                    <a:p>
                      <a:r>
                        <a:rPr sz="1800" b="0">
                          <a:solidFill>
                            <a:srgbClr val="153251"/>
                          </a:solidFill>
                          <a:latin typeface="Arial"/>
                          <a:ea typeface="Arial"/>
                          <a:cs typeface="Arial"/>
                        </a:rPr>
                        <a:t>QA</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2 engineer giờ × 20 USD</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40,00</a:t>
                      </a:r>
                    </a:p>
                  </a:txBody>
                  <a:tcPr marL="95250" marR="95250" marT="76200" marB="66675" anchor="t">
                    <a:solidFill>
                      <a:srgbClr val="FFFFFF"/>
                    </a:solidFill>
                  </a:tcPr>
                </a:tc>
              </a:tr>
              <a:tr h="445770">
                <a:tc>
                  <a:txBody>
                    <a:bodyPr>
                      <a:noAutofit/>
                    </a:bodyPr>
                    <a:lstStyle/>
                    <a:p>
                      <a:r>
                        <a:rPr sz="1800" b="0">
                          <a:solidFill>
                            <a:srgbClr val="153251"/>
                          </a:solidFill>
                          <a:latin typeface="Arial"/>
                          <a:ea typeface="Arial"/>
                          <a:cs typeface="Arial"/>
                        </a:rPr>
                        <a:t>Integration / chuẩn bị / báo cáo</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240 engineer giờ × 20 USD</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4.800,00</a:t>
                      </a:r>
                    </a:p>
                  </a:txBody>
                  <a:tcPr marL="95250" marR="95250" marT="76200" marB="66675" anchor="t">
                    <a:solidFill>
                      <a:srgbClr val="FFFFFF"/>
                    </a:solidFill>
                  </a:tcPr>
                </a:tc>
              </a:tr>
              <a:tr h="445770">
                <a:tc>
                  <a:txBody>
                    <a:bodyPr>
                      <a:noAutofit/>
                    </a:bodyPr>
                    <a:lstStyle/>
                    <a:p>
                      <a:r>
                        <a:rPr sz="1800" b="0">
                          <a:solidFill>
                            <a:srgbClr val="153251"/>
                          </a:solidFill>
                          <a:latin typeface="Arial"/>
                          <a:ea typeface="Arial"/>
                          <a:cs typeface="Arial"/>
                        </a:rPr>
                        <a:t>GPU cap</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180 A100 giờ × 1,59 USD</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286,20</a:t>
                      </a:r>
                    </a:p>
                  </a:txBody>
                  <a:tcPr marL="95250" marR="95250" marT="76200" marB="66675" anchor="t">
                    <a:solidFill>
                      <a:srgbClr val="FFFFFF"/>
                    </a:solidFill>
                  </a:tcPr>
                </a:tc>
              </a:tr>
              <a:tr h="445770">
                <a:tc>
                  <a:txBody>
                    <a:bodyPr>
                      <a:noAutofit/>
                    </a:bodyPr>
                    <a:lstStyle/>
                    <a:p>
                      <a:r>
                        <a:rPr sz="1800" b="0">
                          <a:solidFill>
                            <a:srgbClr val="153251"/>
                          </a:solidFill>
                          <a:latin typeface="Arial"/>
                          <a:ea typeface="Arial"/>
                          <a:cs typeface="Arial"/>
                        </a:rPr>
                        <a:t>Storage</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100 GB × 3 tháng × 0,07 USD</a:t>
                      </a:r>
                    </a:p>
                  </a:txBody>
                  <a:tcPr marL="95250" marR="95250" marT="76200" marB="66675" anchor="t">
                    <a:solidFill>
                      <a:srgbClr val="FFFFFF"/>
                    </a:solidFill>
                  </a:tcPr>
                </a:tc>
                <a:tc>
                  <a:txBody>
                    <a:bodyPr>
                      <a:noAutofit/>
                    </a:bodyPr>
                    <a:lstStyle/>
                    <a:p>
                      <a:r>
                        <a:rPr sz="1800" b="0">
                          <a:solidFill>
                            <a:srgbClr val="153251"/>
                          </a:solidFill>
                          <a:latin typeface="Arial"/>
                          <a:ea typeface="Arial"/>
                          <a:cs typeface="Arial"/>
                        </a:rPr>
                        <a:t>21,00</a:t>
                      </a:r>
                    </a:p>
                  </a:txBody>
                  <a:tcPr marL="95250" marR="95250" marT="76200" marB="66675" anchor="t">
                    <a:solidFill>
                      <a:srgbClr val="FFFFFF"/>
                    </a:solidFill>
                  </a:tcPr>
                </a:tc>
              </a:tr>
            </a:tbl>
          </a:graphicData>
        </a:graphic>
      </p:graphicFrame>
      <p:sp>
        <p:nvSpPr>
          <p:cNvPr id="14" name="">
            <a:extLst xmlns:a="http://schemas.openxmlformats.org/drawingml/2006/main">
              <a:ext uri="{FF2B5EF4-FFF2-40B4-BE49-F238E27FC236}">
                <a16:creationId xmlns:a16="http://schemas.microsoft.com/office/drawing/2014/main" id="{CECA0485-04B5-4525-BD5B-C0E9824C6D0B}"/>
              </a:ext>
            </a:extLst>
          </p:cNvPr>
          <p:cNvSpPr>
            <a:spLocks xmlns:a="http://schemas.openxmlformats.org/drawingml/2006/main" noGrp="1"/>
          </p:cNvSpPr>
          <p:nvPr/>
        </p:nvSpPr>
        <p:spPr>
          <a:xfrm xmlns:a="http://schemas.openxmlformats.org/drawingml/2006/main">
            <a:off x="533400" y="5467350"/>
            <a:ext cx="11125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1">
                <a:solidFill>
                  <a:srgbClr val="153251"/>
                </a:solidFill>
                <a:latin typeface="Arial"/>
                <a:ea typeface="Arial"/>
                <a:cs typeface="Arial"/>
              </a:defRPr>
            </a:defPPr>
          </a:lstStyle>
          <a:p xmlns:a="http://schemas.openxmlformats.org/drawingml/2006/main">
            <a:pPr>
              <a:buNone/>
              <a:defRPr sz="1950" b="1">
                <a:solidFill>
                  <a:srgbClr val="153251"/>
                </a:solidFill>
                <a:latin typeface="Arial"/>
                <a:ea typeface="Arial"/>
                <a:cs typeface="Arial"/>
              </a:defRPr>
            </a:pPr>
            <a:r>
              <a:rPr sz="1950" b="1">
                <a:solidFill>
                  <a:srgbClr val="153251"/>
                </a:solidFill>
                <a:latin typeface="Arial"/>
                <a:ea typeface="Arial"/>
                <a:cs typeface="Arial"/>
              </a:rPr>
              <a:t>Hiện trạng DENSO, chi phí lặp lại, lợi ích năm và ROI cần số liệu thực tế từ task owner.</a:t>
            </a:r>
          </a:p>
        </p:txBody>
      </p:sp>
      <p:sp>
        <p:nvSpPr>
          <p:cNvPr id="15" name="">
            <a:extLst xmlns:a="http://schemas.openxmlformats.org/drawingml/2006/main">
              <a:ext uri="{FF2B5EF4-FFF2-40B4-BE49-F238E27FC236}">
                <a16:creationId xmlns:a16="http://schemas.microsoft.com/office/drawing/2014/main" id="{19538986-6B4A-4D15-9453-0F731AB0AA5D}"/>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15 / 21</a:t>
            </a:r>
          </a:p>
        </p:txBody>
      </p:sp>
    </p:spTree>
    <p:extLst>
      <p:ext uri="{BB962C8B-B14F-4D97-AF65-F5344CB8AC3E}">
        <p14:creationId xmlns:p14="http://schemas.microsoft.com/office/powerpoint/2010/main" val="4191444374"/>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E66604-BBD9-4DAE-9215-8F998FDA2077}"/>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Lộ trình 8–12 tuần</a:t>
            </a:r>
            <a:endParaRPr/>
          </a:p>
        </p:txBody>
      </p:sp>
      <p:pic>
        <p:nvPicPr>
          <p:cNvPr id="3" name="">
            <a:extLst xmlns:a="http://schemas.openxmlformats.org/drawingml/2006/main">
              <a:ext uri="{FF2B5EF4-FFF2-40B4-BE49-F238E27FC236}">
                <a16:creationId xmlns:a16="http://schemas.microsoft.com/office/drawing/2014/main" id="{2B9359C4-571A-40AD-95B0-97571C109667}"/>
              </a:ext>
            </a:extLst>
          </p:cNvPr>
          <p:cNvPicPr>
            <a:picLocks xmlns:a="http://schemas.openxmlformats.org/drawingml/2006/main" noChangeAspect="1"/>
          </p:cNvPicPr>
          <p:nvPr/>
        </p:nvPicPr>
        <p:blipFill>
          <a:blip xmlns:r="http://schemas.openxmlformats.org/officeDocument/2006/relationships" xmlns:a="http://schemas.openxmlformats.org/drawingml/2006/main" r:embed="R35cf30502d574361"/>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486C94F-05A9-4905-AD1C-71F5BB4FCB3C}"/>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p>
        </p:txBody>
      </p:sp>
      <p:sp>
        <p:nvSpPr>
          <p:cNvPr id="5" name="">
            <a:extLst xmlns:a="http://schemas.openxmlformats.org/drawingml/2006/main">
              <a:ext uri="{FF2B5EF4-FFF2-40B4-BE49-F238E27FC236}">
                <a16:creationId xmlns:a16="http://schemas.microsoft.com/office/drawing/2014/main" id="{4502B23B-7DA2-408C-B04C-5C016306B876}"/>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FFFFFF"/>
                </a:solidFill>
                <a:latin typeface="Arial"/>
                <a:ea typeface="Arial"/>
                <a:cs typeface="Arial"/>
              </a:defRPr>
            </a:defPPr>
          </a:lstStyle>
          <a:p xmlns:a="http://schemas.openxmlformats.org/drawingml/2006/main">
            <a:pPr>
              <a:buNone/>
              <a:defRPr sz="1275" b="0">
                <a:solidFill>
                  <a:srgbClr val="FFFFFF"/>
                </a:solidFill>
                <a:latin typeface="Arial"/>
                <a:ea typeface="Arial"/>
                <a:cs typeface="Arial"/>
              </a:defRPr>
            </a:pPr>
            <a:r>
              <a:rPr sz="1275" b="0">
                <a:solidFill>
                  <a:srgbClr val="FFFFFF"/>
                </a:solidFill>
                <a:latin typeface="Arial"/>
                <a:ea typeface="Arial"/>
                <a:cs typeface="Arial"/>
              </a:rPr>
              <a:t>Ước lượng sau khi có task owner, kỹ sư, GPU và checkpoint. Gate chưa qua thì repair, thu hẹp hoặc replan.</a:t>
            </a:r>
          </a:p>
        </p:txBody>
      </p:sp>
      <p:graphicFrame>
        <p:nvGraphicFramePr>
          <p:cNvPr id="6" name="">
            <a:extLst xmlns:a="http://schemas.openxmlformats.org/drawingml/2006/main">
              <a:ext uri="{FF2B5EF4-FFF2-40B4-BE49-F238E27FC236}">
                <a16:creationId xmlns:a16="http://schemas.microsoft.com/office/drawing/2014/main" id="{0F0DDF5F-CE58-49C3-9C08-5602819B869B}"/>
              </a:ext>
            </a:extLst>
          </p:cNvPr>
          <p:cNvGraphicFramePr/>
          <p:nvPr/>
        </p:nvGraphicFramePr>
        <p:xfrm>
          <a:off xmlns:a="http://schemas.openxmlformats.org/drawingml/2006/main" x="533400" y="1695450"/>
          <a:ext xmlns:a="http://schemas.openxmlformats.org/drawingml/2006/main" cx="11125200" cy="3429000"/>
        </p:xfrm>
        <a:graphic xmlns:a="http://schemas.openxmlformats.org/drawingml/2006/main">
          <a:graphicData uri="http://schemas.openxmlformats.org/drawingml/2006/table">
            <a:tbl>
              <a:tblPr/>
              <a:tblGrid>
                <a:gridCol w="2524125"/>
                <a:gridCol w="4524375"/>
                <a:gridCol w="4076700"/>
              </a:tblGrid>
              <a:tr h="419100">
                <a:tc>
                  <a:txBody>
                    <a:bodyPr>
                      <a:noAutofit/>
                    </a:bodyPr>
                    <a:lstStyle/>
                    <a:p>
                      <a:r>
                        <a:rPr sz="1800" b="1">
                          <a:solidFill>
                            <a:srgbClr val="FFFFFF"/>
                          </a:solidFill>
                          <a:latin typeface="Arial"/>
                          <a:ea typeface="Arial"/>
                          <a:cs typeface="Arial"/>
                        </a:rPr>
                        <a:t>Chặng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Công việc chính</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Điều kiện qua mốc</a:t>
                      </a:r>
                    </a:p>
                  </a:txBody>
                  <a:tcPr marL="95250" marR="95250" marT="76200" marB="66675" anchor="t">
                    <a:solidFill>
                      <a:srgbClr val="153251"/>
                    </a:solidFill>
                  </a:tcPr>
                </a:tc>
              </a:tr>
              <a:tr h="752475">
                <a:tc>
                  <a:txBody>
                    <a:bodyPr>
                      <a:noAutofit/>
                    </a:bodyPr>
                    <a:lstStyle/>
                    <a:p>
                      <a:r>
                        <a:rPr sz="1875" b="0">
                          <a:solidFill>
                            <a:srgbClr val="153251"/>
                          </a:solidFill>
                          <a:latin typeface="Arial"/>
                          <a:ea typeface="Arial"/>
                          <a:cs typeface="Arial"/>
                        </a:rPr>
                        <a:t>01  2–3 tuần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Feasibility và native baseline</a:t>
                      </a:r>
                    </a:p>
                    <a:p>
                      <a:r>
                        <a:rPr sz="1875" b="0">
                          <a:solidFill>
                            <a:srgbClr val="153251"/>
                          </a:solidFill>
                          <a:latin typeface="Arial"/>
                          <a:ea typeface="Arial"/>
                          <a:cs typeface="Arial"/>
                        </a:rPr>
                        <a:t>Upstream smoke, A1 replay, update/reload</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Useful baseline</a:t>
                      </a:r>
                    </a:p>
                    <a:p>
                      <a:r>
                        <a:rPr sz="1875" b="0">
                          <a:solidFill>
                            <a:srgbClr val="153251"/>
                          </a:solidFill>
                          <a:latin typeface="Arial"/>
                          <a:ea typeface="Arial"/>
                          <a:cs typeface="Arial"/>
                        </a:rPr>
                        <a:t>Memory / throughput có số đo</a:t>
                      </a:r>
                    </a:p>
                  </a:txBody>
                  <a:tcPr marL="95250" marR="95250" marT="76200" marB="66675" anchor="t">
                    <a:solidFill>
                      <a:srgbClr val="FFFFFF"/>
                    </a:solidFill>
                  </a:tcPr>
                </a:tc>
              </a:tr>
              <a:tr h="752475">
                <a:tc>
                  <a:txBody>
                    <a:bodyPr>
                      <a:noAutofit/>
                    </a:bodyPr>
                    <a:lstStyle/>
                    <a:p>
                      <a:r>
                        <a:rPr sz="1875" b="0">
                          <a:solidFill>
                            <a:srgbClr val="153251"/>
                          </a:solidFill>
                          <a:latin typeface="Arial"/>
                          <a:ea typeface="Arial"/>
                          <a:cs typeface="Arial"/>
                        </a:rPr>
                        <a:t>02  2–3 tuần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Release R và S_exec</a:t>
                      </a:r>
                    </a:p>
                    <a:p>
                      <a:r>
                        <a:rPr sz="1875" b="0">
                          <a:solidFill>
                            <a:srgbClr val="153251"/>
                          </a:solidFill>
                          <a:latin typeface="Arial"/>
                          <a:ea typeface="Arial"/>
                          <a:cs typeface="Arial"/>
                        </a:rPr>
                        <a:t>Thực thi, QA, dedup, roots/splits</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Action / contact đúng</a:t>
                      </a:r>
                    </a:p>
                    <a:p>
                      <a:r>
                        <a:rPr sz="1875" b="0">
                          <a:solidFill>
                            <a:srgbClr val="153251"/>
                          </a:solidFill>
                          <a:latin typeface="Arial"/>
                          <a:ea typeface="Arial"/>
                          <a:cs typeface="Arial"/>
                        </a:rPr>
                        <a:t>Yield và công QA trong cap</a:t>
                      </a:r>
                    </a:p>
                  </a:txBody>
                  <a:tcPr marL="95250" marR="95250" marT="76200" marB="66675" anchor="t">
                    <a:solidFill>
                      <a:srgbClr val="FFFFFF"/>
                    </a:solidFill>
                  </a:tcPr>
                </a:tc>
              </a:tr>
              <a:tr h="752475">
                <a:tc>
                  <a:txBody>
                    <a:bodyPr>
                      <a:noAutofit/>
                    </a:bodyPr>
                    <a:lstStyle/>
                    <a:p>
                      <a:r>
                        <a:rPr sz="1875" b="0">
                          <a:solidFill>
                            <a:srgbClr val="153251"/>
                          </a:solidFill>
                          <a:latin typeface="Arial"/>
                          <a:ea typeface="Arial"/>
                          <a:cs typeface="Arial"/>
                        </a:rPr>
                        <a:t>03  2–3 tuần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Development và chọn dữ liệu</a:t>
                      </a:r>
                    </a:p>
                    <a:p>
                      <a:r>
                        <a:rPr sz="1875" b="0">
                          <a:solidFill>
                            <a:srgbClr val="153251"/>
                          </a:solidFill>
                          <a:latin typeface="Arial"/>
                          <a:ea typeface="Arial"/>
                          <a:cs typeface="Arial"/>
                        </a:rPr>
                        <a:t>R/R+S, trace, kiểm gain / no-gain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Regression + actual cost</a:t>
                      </a:r>
                    </a:p>
                    <a:p>
                      <a:r>
                        <a:rPr sz="1875" b="0">
                          <a:solidFill>
                            <a:srgbClr val="153251"/>
                          </a:solidFill>
                          <a:latin typeface="Arial"/>
                          <a:ea typeface="Arial"/>
                          <a:cs typeface="Arial"/>
                        </a:rPr>
                        <a:t>Khóa RunPlan trước final</a:t>
                      </a:r>
                    </a:p>
                  </a:txBody>
                  <a:tcPr marL="95250" marR="95250" marT="76200" marB="66675" anchor="t">
                    <a:solidFill>
                      <a:srgbClr val="FFFFFF"/>
                    </a:solidFill>
                  </a:tcPr>
                </a:tc>
              </a:tr>
              <a:tr h="752475">
                <a:tc>
                  <a:txBody>
                    <a:bodyPr>
                      <a:noAutofit/>
                    </a:bodyPr>
                    <a:lstStyle/>
                    <a:p>
                      <a:r>
                        <a:rPr sz="1875" b="0">
                          <a:solidFill>
                            <a:srgbClr val="153251"/>
                          </a:solidFill>
                          <a:latin typeface="Arial"/>
                          <a:ea typeface="Arial"/>
                          <a:cs typeface="Arial"/>
                        </a:rPr>
                        <a:t>04  2–3 tuần</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Freeze và independent final</a:t>
                      </a:r>
                    </a:p>
                    <a:p>
                      <a:r>
                        <a:rPr sz="1875" b="0">
                          <a:solidFill>
                            <a:srgbClr val="153251"/>
                          </a:solidFill>
                          <a:latin typeface="Arial"/>
                          <a:ea typeface="Arial"/>
                          <a:cs typeface="Arial"/>
                        </a:rPr>
                        <a:t>Bàn giao dataset / policy / report</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Đạt gate mới promote</a:t>
                      </a:r>
                    </a:p>
                    <a:p>
                      <a:r>
                        <a:rPr sz="1875" b="0">
                          <a:solidFill>
                            <a:srgbClr val="153251"/>
                          </a:solidFill>
                          <a:latin typeface="Arial"/>
                          <a:ea typeface="Arial"/>
                          <a:cs typeface="Arial"/>
                        </a:rPr>
                        <a:t>Fail thì report hoặc round mới</a:t>
                      </a:r>
                    </a:p>
                  </a:txBody>
                  <a:tcPr marL="95250" marR="95250" marT="76200" marB="66675" anchor="t">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E355EFE5-0F71-4942-9289-4DF845AA3C45}"/>
              </a:ext>
            </a:extLst>
          </p:cNvPr>
          <p:cNvSpPr>
            <a:spLocks xmlns:a="http://schemas.openxmlformats.org/drawingml/2006/main" noGrp="1"/>
          </p:cNvSpPr>
          <p:nvPr/>
        </p:nvSpPr>
        <p:spPr>
          <a:xfrm xmlns:a="http://schemas.openxmlformats.org/drawingml/2006/main">
            <a:off x="533400" y="5514975"/>
            <a:ext cx="11125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025" b="1">
                <a:solidFill>
                  <a:srgbClr val="007F83"/>
                </a:solidFill>
                <a:latin typeface="Arial"/>
                <a:ea typeface="Arial"/>
                <a:cs typeface="Arial"/>
              </a:defRPr>
            </a:defPPr>
          </a:lstStyle>
          <a:p xmlns:a="http://schemas.openxmlformats.org/drawingml/2006/main">
            <a:pPr>
              <a:buNone/>
              <a:defRPr sz="2025" b="1">
                <a:solidFill>
                  <a:srgbClr val="007F83"/>
                </a:solidFill>
                <a:latin typeface="Arial"/>
                <a:ea typeface="Arial"/>
                <a:cs typeface="Arial"/>
              </a:defRPr>
            </a:pPr>
            <a:r>
              <a:rPr sz="2025" b="1">
                <a:solidFill>
                  <a:srgbClr val="007F83"/>
                </a:solidFill>
                <a:latin typeface="Arial"/>
                <a:ea typeface="Arial"/>
                <a:cs typeface="Arial"/>
              </a:rPr>
              <a:t>Task thứ hai đo phần dùng lại. Human/video và robot thật đi qua gate riêng.</a:t>
            </a:r>
          </a:p>
        </p:txBody>
      </p:sp>
      <p:sp>
        <p:nvSpPr>
          <p:cNvPr id="8" name="">
            <a:extLst xmlns:a="http://schemas.openxmlformats.org/drawingml/2006/main">
              <a:ext uri="{FF2B5EF4-FFF2-40B4-BE49-F238E27FC236}">
                <a16:creationId xmlns:a16="http://schemas.microsoft.com/office/drawing/2014/main" id="{BFC5F1DE-5ECD-40C6-8849-3A96171FF09A}"/>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16 / 21</a:t>
            </a:r>
          </a:p>
        </p:txBody>
      </p:sp>
    </p:spTree>
    <p:extLst>
      <p:ext uri="{BB962C8B-B14F-4D97-AF65-F5344CB8AC3E}">
        <p14:creationId xmlns:p14="http://schemas.microsoft.com/office/powerpoint/2010/main" val="2998835788"/>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5117B43-6EAA-49AE-9640-96FF05605280}"/>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Đầu ra và hiện trạng</a:t>
            </a:r>
          </a:p>
        </p:txBody>
      </p:sp>
      <p:pic>
        <p:nvPicPr>
          <p:cNvPr id="3" name="">
            <a:extLst xmlns:a="http://schemas.openxmlformats.org/drawingml/2006/main">
              <a:ext uri="{FF2B5EF4-FFF2-40B4-BE49-F238E27FC236}">
                <a16:creationId xmlns:a16="http://schemas.microsoft.com/office/drawing/2014/main" id="{455E5364-7B46-4E25-BF4C-82CFE5BC16A9}"/>
              </a:ext>
            </a:extLst>
          </p:cNvPr>
          <p:cNvPicPr>
            <a:picLocks xmlns:a="http://schemas.openxmlformats.org/drawingml/2006/main" noChangeAspect="1"/>
          </p:cNvPicPr>
          <p:nvPr/>
        </p:nvPicPr>
        <p:blipFill>
          <a:blip xmlns:r="http://schemas.openxmlformats.org/officeDocument/2006/relationships" xmlns:a="http://schemas.openxmlformats.org/drawingml/2006/main" r:embed="R0e43e865803741aa"/>
          <a:stretch xmlns:a="http://schemas.openxmlformats.org/drawingml/2006/main"/>
        </p:blipFill>
        <p:spPr>
          <a:xfrm xmlns:a="http://schemas.openxmlformats.org/drawingml/2006/main">
            <a:off x="0" y="5989177"/>
            <a:ext cx="12192000" cy="8667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9741B52-4934-4E6B-9F36-D1075C5DCEA3}"/>
              </a:ext>
            </a:extLst>
          </p:cNvPr>
          <p:cNvSpPr>
            <a:spLocks xmlns:a="http://schemas.openxmlformats.org/drawingml/2006/main" noGrp="1"/>
          </p:cNvSpPr>
          <p:nvPr/>
        </p:nvSpPr>
        <p:spPr>
          <a:xfrm xmlns:a="http://schemas.openxmlformats.org/drawingml/2006/main">
            <a:off x="323850" y="616267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1">
                <a:solidFill>
                  <a:srgbClr val="FFFFFF"/>
                </a:solidFill>
                <a:latin typeface="Arial"/>
                <a:ea typeface="Arial"/>
                <a:cs typeface="Arial"/>
              </a:defRPr>
            </a:defPPr>
          </a:lstStyle>
          <a:p xmlns:a="http://schemas.openxmlformats.org/drawingml/2006/main">
            <a:pPr>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p>
        </p:txBody>
      </p:sp>
      <p:sp>
        <p:nvSpPr>
          <p:cNvPr id="5" name="">
            <a:extLst xmlns:a="http://schemas.openxmlformats.org/drawingml/2006/main">
              <a:ext uri="{FF2B5EF4-FFF2-40B4-BE49-F238E27FC236}">
                <a16:creationId xmlns:a16="http://schemas.microsoft.com/office/drawing/2014/main" id="{8440348A-5CE6-454B-BB30-FD51FE80298A}"/>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FFFFFF"/>
                </a:solidFill>
                <a:latin typeface="Arial"/>
                <a:ea typeface="Arial"/>
                <a:cs typeface="Arial"/>
              </a:defRPr>
            </a:defPPr>
          </a:lstStyle>
          <a:p xmlns:a="http://schemas.openxmlformats.org/drawingml/2006/main">
            <a:pPr>
              <a:buNone/>
              <a:defRPr sz="1275" b="0">
                <a:solidFill>
                  <a:srgbClr val="FFFFFF"/>
                </a:solidFill>
                <a:latin typeface="Arial"/>
                <a:ea typeface="Arial"/>
                <a:cs typeface="Arial"/>
              </a:defRPr>
            </a:pPr>
            <a:r>
              <a:rPr sz="1275" b="0">
                <a:solidFill>
                  <a:srgbClr val="FFFFFF"/>
                </a:solidFill>
                <a:latin typeface="Arial"/>
                <a:ea typeface="Arial"/>
                <a:cs typeface="Arial"/>
              </a:rPr>
              <a:t>MVP bàn giao cùng recipe, phiên bản và bằng chứng để chạy lại. Native performance và savings còn phải chứng minh.</a:t>
            </a:r>
          </a:p>
        </p:txBody>
      </p:sp>
      <p:graphicFrame>
        <p:nvGraphicFramePr>
          <p:cNvPr id="6" name="">
            <a:extLst xmlns:a="http://schemas.openxmlformats.org/drawingml/2006/main">
              <a:ext uri="{FF2B5EF4-FFF2-40B4-BE49-F238E27FC236}">
                <a16:creationId xmlns:a16="http://schemas.microsoft.com/office/drawing/2014/main" id="{EE87845E-2438-4FFE-8D26-FADBFF74EE08}"/>
              </a:ext>
            </a:extLst>
          </p:cNvPr>
          <p:cNvGraphicFramePr/>
          <p:nvPr/>
        </p:nvGraphicFramePr>
        <p:xfrm>
          <a:off xmlns:a="http://schemas.openxmlformats.org/drawingml/2006/main" x="533400" y="1695450"/>
          <a:ext xmlns:a="http://schemas.openxmlformats.org/drawingml/2006/main" cx="11125200" cy="3257550"/>
        </p:xfrm>
        <a:graphic xmlns:a="http://schemas.openxmlformats.org/drawingml/2006/main">
          <a:graphicData uri="http://schemas.openxmlformats.org/drawingml/2006/table">
            <a:tbl>
              <a:tblPr/>
              <a:tblGrid>
                <a:gridCol w="3000375"/>
                <a:gridCol w="5267325"/>
                <a:gridCol w="2857500"/>
              </a:tblGrid>
              <a:tr h="419100">
                <a:tc>
                  <a:txBody>
                    <a:bodyPr>
                      <a:noAutofit/>
                    </a:bodyPr>
                    <a:lstStyle/>
                    <a:p>
                      <a:r>
                        <a:rPr sz="1800" b="1">
                          <a:solidFill>
                            <a:srgbClr val="FFFFFF"/>
                          </a:solidFill>
                          <a:latin typeface="Arial"/>
                          <a:ea typeface="Arial"/>
                          <a:cs typeface="Arial"/>
                        </a:rPr>
                        <a:t>Đầu ra</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Đi cùng hiện vật</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Hiện trạng</a:t>
                      </a:r>
                    </a:p>
                  </a:txBody>
                  <a:tcPr marL="95250" marR="95250" marT="76200" marB="66675" anchor="t">
                    <a:solidFill>
                      <a:srgbClr val="153251"/>
                    </a:solidFill>
                  </a:tcPr>
                </a:tc>
              </a:tr>
              <a:tr h="709613">
                <a:tc>
                  <a:txBody>
                    <a:bodyPr>
                      <a:noAutofit/>
                    </a:bodyPr>
                    <a:lstStyle/>
                    <a:p>
                      <a:r>
                        <a:rPr sz="1875" b="0">
                          <a:solidFill>
                            <a:srgbClr val="153251"/>
                          </a:solidFill>
                          <a:latin typeface="Arial"/>
                          <a:ea typeface="Arial"/>
                          <a:cs typeface="Arial"/>
                        </a:rPr>
                        <a:t>Policy A1 + skill bundle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Checkpoint, processor/stats, binding</a:t>
                      </a:r>
                    </a:p>
                    <a:p>
                      <a:r>
                        <a:rPr sz="1875" b="0">
                          <a:solidFill>
                            <a:srgbClr val="153251"/>
                          </a:solidFill>
                          <a:latin typeface="Arial"/>
                          <a:ea typeface="Arial"/>
                          <a:cs typeface="Arial"/>
                        </a:rPr>
                        <a:t>Update / reload / closed-loop receipts</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Chưa native A1</a:t>
                      </a:r>
                    </a:p>
                  </a:txBody>
                  <a:tcPr marL="95250" marR="95250" marT="76200" marB="66675" anchor="t">
                    <a:solidFill>
                      <a:srgbClr val="FFFFFF"/>
                    </a:solidFill>
                  </a:tcPr>
                </a:tc>
              </a:tr>
              <a:tr h="709613">
                <a:tc>
                  <a:txBody>
                    <a:bodyPr>
                      <a:noAutofit/>
                    </a:bodyPr>
                    <a:lstStyle/>
                    <a:p>
                      <a:r>
                        <a:rPr sz="1875" b="0">
                          <a:solidFill>
                            <a:srgbClr val="153251"/>
                          </a:solidFill>
                          <a:latin typeface="Arial"/>
                          <a:ea typeface="Arial"/>
                          <a:cs typeface="Arial"/>
                        </a:rPr>
                        <a:t>Dataset release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QA, rights, timebase, targets/masks</a:t>
                      </a:r>
                    </a:p>
                    <a:p>
                      <a:r>
                        <a:rPr sz="1875" b="0">
                          <a:solidFill>
                            <a:srgbClr val="153251"/>
                          </a:solidFill>
                          <a:latin typeface="Arial"/>
                          <a:ea typeface="Arial"/>
                          <a:cs typeface="Arial"/>
                        </a:rPr>
                        <a:t>Roots, splits và coverage</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Schema đề xuất</a:t>
                      </a:r>
                    </a:p>
                  </a:txBody>
                  <a:tcPr marL="95250" marR="95250" marT="76200" marB="66675" anchor="t">
                    <a:solidFill>
                      <a:srgbClr val="FFFFFF"/>
                    </a:solidFill>
                  </a:tcPr>
                </a:tc>
              </a:tr>
              <a:tr h="709613">
                <a:tc>
                  <a:txBody>
                    <a:bodyPr>
                      <a:noAutofit/>
                    </a:bodyPr>
                    <a:lstStyle/>
                    <a:p>
                      <a:r>
                        <a:rPr sz="1875" b="0">
                          <a:solidFill>
                            <a:srgbClr val="153251"/>
                          </a:solidFill>
                          <a:latin typeface="Arial"/>
                          <a:ea typeface="Arial"/>
                          <a:cs typeface="Arial"/>
                        </a:rPr>
                        <a:t>Trace + decision receipts</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Scorer, facts / hypotheses / tests</a:t>
                      </a:r>
                    </a:p>
                    <a:p>
                      <a:r>
                        <a:rPr sz="1875" b="0">
                          <a:solidFill>
                            <a:srgbClr val="153251"/>
                          </a:solidFill>
                          <a:latin typeface="Arial"/>
                          <a:ea typeface="Arial"/>
                          <a:cs typeface="Arial"/>
                        </a:rPr>
                        <a:t>Gain, no-gain và quyết định vòng sau</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Có reference thu nhỏ</a:t>
                      </a:r>
                    </a:p>
                  </a:txBody>
                  <a:tcPr marL="95250" marR="95250" marT="76200" marB="66675" anchor="t">
                    <a:solidFill>
                      <a:srgbClr val="FFFFFF"/>
                    </a:solidFill>
                  </a:tcPr>
                </a:tc>
              </a:tr>
              <a:tr h="709613">
                <a:tc>
                  <a:txBody>
                    <a:bodyPr>
                      <a:noAutofit/>
                    </a:bodyPr>
                    <a:lstStyle/>
                    <a:p>
                      <a:r>
                        <a:rPr sz="1875" b="0">
                          <a:solidFill>
                            <a:srgbClr val="153251"/>
                          </a:solidFill>
                          <a:latin typeface="Arial"/>
                          <a:ea typeface="Arial"/>
                          <a:cs typeface="Arial"/>
                        </a:rPr>
                        <a:t>Quality–cost report</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Full-task, regression, cost ledger</a:t>
                      </a:r>
                    </a:p>
                    <a:p>
                      <a:r>
                        <a:rPr sz="1875" b="0">
                          <a:solidFill>
                            <a:srgbClr val="153251"/>
                          </a:solidFill>
                          <a:latin typeface="Arial"/>
                          <a:ea typeface="Arial"/>
                          <a:cs typeface="Arial"/>
                        </a:rPr>
                        <a:t>So với baseline và đo task 2</a:t>
                      </a:r>
                    </a:p>
                  </a:txBody>
                  <a:tcPr marL="95250" marR="95250" marT="76200" marB="66675" anchor="t">
                    <a:solidFill>
                      <a:srgbClr val="FFFFFF"/>
                    </a:solidFill>
                  </a:tcPr>
                </a:tc>
                <a:tc>
                  <a:txBody>
                    <a:bodyPr>
                      <a:noAutofit/>
                    </a:bodyPr>
                    <a:lstStyle/>
                    <a:p>
                      <a:r>
                        <a:rPr sz="1875" b="0">
                          <a:solidFill>
                            <a:srgbClr val="153251"/>
                          </a:solidFill>
                          <a:latin typeface="Arial"/>
                          <a:ea typeface="Arial"/>
                          <a:cs typeface="Arial"/>
                        </a:rPr>
                        <a:t>Native saving chưa đo</a:t>
                      </a:r>
                    </a:p>
                  </a:txBody>
                  <a:tcPr marL="95250" marR="95250" marT="76200" marB="66675" anchor="t">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A2C5DE45-6CF1-46E8-8384-8C61F3570EA0}"/>
              </a:ext>
            </a:extLst>
          </p:cNvPr>
          <p:cNvSpPr>
            <a:spLocks xmlns:a="http://schemas.openxmlformats.org/drawingml/2006/main" noGrp="1"/>
          </p:cNvSpPr>
          <p:nvPr/>
        </p:nvSpPr>
        <p:spPr>
          <a:xfrm xmlns:a="http://schemas.openxmlformats.org/drawingml/2006/main">
            <a:off x="533400" y="535305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325" b="1">
                <a:solidFill>
                  <a:srgbClr val="007F83"/>
                </a:solidFill>
                <a:latin typeface="Arial"/>
                <a:ea typeface="Arial"/>
                <a:cs typeface="Arial"/>
              </a:defRPr>
            </a:defPPr>
          </a:lstStyle>
          <a:p xmlns:a="http://schemas.openxmlformats.org/drawingml/2006/main">
            <a:pPr>
              <a:buNone/>
              <a:defRPr sz="2325" b="1">
                <a:solidFill>
                  <a:srgbClr val="007F83"/>
                </a:solidFill>
                <a:latin typeface="Arial"/>
                <a:ea typeface="Arial"/>
                <a:cs typeface="Arial"/>
              </a:defRPr>
            </a:pPr>
            <a:r>
              <a:rPr sz="2325" b="1">
                <a:solidFill>
                  <a:srgbClr val="007F83"/>
                </a:solidFill>
                <a:latin typeface="Arial"/>
                <a:ea typeface="Arial"/>
                <a:cs typeface="Arial"/>
              </a:rPr>
              <a:t>Giá trị cần kiểm: dữ liệu ít nhưng có ích, đạt yêu cầu với tổng công hợp lý</a:t>
            </a:r>
          </a:p>
        </p:txBody>
      </p:sp>
      <p:sp>
        <p:nvSpPr>
          <p:cNvPr id="8" name="">
            <a:extLst xmlns:a="http://schemas.openxmlformats.org/drawingml/2006/main">
              <a:ext uri="{FF2B5EF4-FFF2-40B4-BE49-F238E27FC236}">
                <a16:creationId xmlns:a16="http://schemas.microsoft.com/office/drawing/2014/main" id="{637F06A7-E422-4FFB-B97E-2BFCE3A9101C}"/>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17 / 21</a:t>
            </a:r>
          </a:p>
        </p:txBody>
      </p:sp>
    </p:spTree>
    <p:extLst>
      <p:ext uri="{BB962C8B-B14F-4D97-AF65-F5344CB8AC3E}">
        <p14:creationId xmlns:p14="http://schemas.microsoft.com/office/powerpoint/2010/main" val="2576064578"/>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5" name="Picture 4">
            <a:extLst xmlns:a="http://schemas.openxmlformats.org/drawingml/2006/main">
              <a:ext uri="{FF2B5EF4-FFF2-40B4-BE49-F238E27FC236}">
                <a16:creationId xmlns:a16="http://schemas.microsoft.com/office/drawing/2014/main" id="{46F30E40-3CDB-45E4-83EA-A014D2B752D3}"/>
              </a:ext>
            </a:extLst>
          </p:cNvPr>
          <p:cNvPicPr>
            <a:picLocks xmlns:a="http://schemas.openxmlformats.org/drawingml/2006/main" noChangeAspect="1"/>
          </p:cNvPicPr>
          <p:nvPr/>
        </p:nvPicPr>
        <p:blipFill>
          <a:blip xmlns:r="http://schemas.openxmlformats.org/officeDocument/2006/relationships" xmlns:a="http://schemas.openxmlformats.org/drawingml/2006/main" r:embed="Ra98b2d7091c14af0">
            <a:lum bright="70000" contrast="-70000"/>
          </a:blip>
          <a:stretch xmlns:a="http://schemas.openxmlformats.org/drawingml/2006/main">
            <a:fillRect l="0" t="0" r="0" b="0"/>
          </a:stretch>
        </p:blipFill>
        <p:spPr>
          <a:xfrm xmlns:a="http://schemas.openxmlformats.org/drawingml/2006/main">
            <a:off x="399393" y="325821"/>
            <a:ext cx="1905000" cy="762000"/>
          </a:xfrm>
          <a:prstGeom xmlns:a="http://schemas.openxmlformats.org/drawingml/2006/main" prst="rect">
            <a:avLst/>
          </a:prstGeom>
        </p:spPr>
      </p:pic>
      <p:sp>
        <p:nvSpPr>
          <p:cNvPr id="2" name="content">
            <a:extLst xmlns:a="http://schemas.openxmlformats.org/drawingml/2006/main">
              <a:ext uri="{FF2B5EF4-FFF2-40B4-BE49-F238E27FC236}">
                <a16:creationId xmlns:a16="http://schemas.microsoft.com/office/drawing/2014/main" id="{523E21C8-7FAA-4B9C-A29C-881D3F0BBCC9}"/>
              </a:ext>
            </a:extLst>
          </p:cNvPr>
          <p:cNvSpPr>
            <a:spLocks xmlns:a="http://schemas.openxmlformats.org/drawingml/2006/main" noGrp="1"/>
          </p:cNvSpPr>
          <p:nvPr/>
        </p:nvSpPr>
        <p:spPr>
          <a:xfrm xmlns:a="http://schemas.openxmlformats.org/drawingml/2006/main">
            <a:off x="533400" y="2571750"/>
            <a:ext cx="111252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600" b="1">
                <a:solidFill>
                  <a:srgbClr val="FFFFFF"/>
                </a:solidFill>
                <a:latin typeface="Arial"/>
                <a:ea typeface="Arial"/>
                <a:cs typeface="Arial"/>
              </a:defRPr>
            </a:pPr>
            <a:r>
              <a:rPr sz="3600" b="1">
                <a:solidFill>
                  <a:srgbClr val="FFFFFF"/>
                </a:solidFill>
                <a:latin typeface="Arial"/>
                <a:ea typeface="Arial"/>
                <a:cs typeface="Arial"/>
              </a:rPr>
              <a:t>HUMANOID SKILL LEARNING</a:t>
            </a:r>
          </a:p>
        </p:txBody>
      </p:sp>
      <p:sp>
        <p:nvSpPr>
          <p:cNvPr id="3" name="content">
            <a:extLst xmlns:a="http://schemas.openxmlformats.org/drawingml/2006/main">
              <a:ext uri="{FF2B5EF4-FFF2-40B4-BE49-F238E27FC236}">
                <a16:creationId xmlns:a16="http://schemas.microsoft.com/office/drawing/2014/main" id="{F0A535AF-98CC-440B-957D-C613F7928F67}"/>
              </a:ext>
            </a:extLst>
          </p:cNvPr>
          <p:cNvSpPr>
            <a:spLocks xmlns:a="http://schemas.openxmlformats.org/drawingml/2006/main" noGrp="1"/>
          </p:cNvSpPr>
          <p:nvPr/>
        </p:nvSpPr>
        <p:spPr>
          <a:xfrm xmlns:a="http://schemas.openxmlformats.org/drawingml/2006/main">
            <a:off x="533400" y="3762375"/>
            <a:ext cx="10668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FFFFFF"/>
                </a:solidFill>
                <a:latin typeface="Arial"/>
                <a:ea typeface="Arial"/>
                <a:cs typeface="Arial"/>
              </a:defRPr>
            </a:pPr>
            <a:r>
              <a:rPr sz="2400" b="0">
                <a:solidFill>
                  <a:srgbClr val="FFFFFF"/>
                </a:solidFill>
                <a:latin typeface="Arial"/>
                <a:ea typeface="Arial"/>
                <a:cs typeface="Arial"/>
              </a:rPr>
              <a:t>Data Core flywheel + Model Engine Core</a:t>
            </a:r>
          </a:p>
          <a:p xmlns:a="http://schemas.openxmlformats.org/drawingml/2006/main">
            <a:pPr algn="l">
              <a:buNone/>
              <a:defRPr sz="2400" b="0">
                <a:solidFill>
                  <a:srgbClr val="FFFFFF"/>
                </a:solidFill>
                <a:latin typeface="Arial"/>
                <a:ea typeface="Arial"/>
                <a:cs typeface="Arial"/>
              </a:defRPr>
            </a:pPr>
            <a:r>
              <a:rPr sz="2400" b="0">
                <a:solidFill>
                  <a:srgbClr val="FFFFFF"/>
                </a:solidFill>
                <a:latin typeface="Arial"/>
                <a:ea typeface="Arial"/>
                <a:cs typeface="Arial"/>
              </a:rPr>
              <a:t>MVP: GR00T N1.5 qua FluxVLA, task A1 trong mô phỏng</a:t>
            </a:r>
          </a:p>
        </p:txBody>
      </p:sp>
      <p:sp>
        <p:nvSpPr>
          <p:cNvPr id="4" name="content">
            <a:extLst xmlns:a="http://schemas.openxmlformats.org/drawingml/2006/main">
              <a:ext uri="{FF2B5EF4-FFF2-40B4-BE49-F238E27FC236}">
                <a16:creationId xmlns:a16="http://schemas.microsoft.com/office/drawing/2014/main" id="{5FAD1278-6CE1-406B-890B-125FDE442B49}"/>
              </a:ext>
            </a:extLst>
          </p:cNvPr>
          <p:cNvSpPr>
            <a:spLocks xmlns:a="http://schemas.openxmlformats.org/drawingml/2006/main" noGrp="1"/>
          </p:cNvSpPr>
          <p:nvPr/>
        </p:nvSpPr>
        <p:spPr>
          <a:xfrm xmlns:a="http://schemas.openxmlformats.org/drawingml/2006/main">
            <a:off x="533400" y="598170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FFFFFF"/>
                </a:solidFill>
                <a:latin typeface="Arial"/>
                <a:ea typeface="Arial"/>
                <a:cs typeface="Arial"/>
              </a:defRPr>
            </a:pPr>
            <a:r>
              <a:rPr sz="1800" b="0">
                <a:solidFill>
                  <a:srgbClr val="FFFFFF"/>
                </a:solidFill>
                <a:latin typeface="Arial"/>
                <a:ea typeface="Arial"/>
                <a:cs typeface="Arial"/>
              </a:rPr>
              <a:t>Hồ sơ chi tiết: hiwe0305.github.io/denso-challenge/</a:t>
            </a:r>
          </a:p>
        </p:txBody>
      </p:sp>
    </p:spTree>
    <p:extLst>
      <p:ext uri="{BB962C8B-B14F-4D97-AF65-F5344CB8AC3E}">
        <p14:creationId xmlns:p14="http://schemas.microsoft.com/office/powerpoint/2010/main" val="322705341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0" name="Picture 6">
            <a:extLst xmlns:a="http://schemas.openxmlformats.org/drawingml/2006/main">
              <a:ext uri="{FF2B5EF4-FFF2-40B4-BE49-F238E27FC236}">
                <a16:creationId xmlns:a16="http://schemas.microsoft.com/office/drawing/2014/main" id="{51E8BE03-198C-449B-B300-A2C31FEF5F16}"/>
              </a:ext>
            </a:extLst>
          </p:cNvPr>
          <p:cNvPicPr>
            <a:picLocks xmlns:a="http://schemas.openxmlformats.org/drawingml/2006/main" noChangeAspect="1"/>
          </p:cNvPicPr>
          <p:nvPr/>
        </p:nvPicPr>
        <p:blipFill>
          <a:blip xmlns:r="http://schemas.openxmlformats.org/officeDocument/2006/relationships" xmlns:a="http://schemas.openxmlformats.org/drawingml/2006/main" r:embed="R7092f27d117e4896"/>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300196D4-0684-4C66-81A1-07A8558DDB9A}"/>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defPPr>
              <a:defRPr sz="3450"/>
            </a:defPPr>
          </a:lstStyle>
          <a:p xmlns:a="http://schemas.openxmlformats.org/drawingml/2006/main">
            <a:pPr algn="ctr">
              <a:buNone/>
              <a:defRPr sz="3450" b="1">
                <a:solidFill>
                  <a:srgbClr val="FFFFFF"/>
                </a:solidFill>
                <a:latin typeface="Times New Roman"/>
                <a:ea typeface="Times New Roman"/>
                <a:cs typeface="Times New Roman"/>
              </a:defRPr>
            </a:pPr>
            <a:r>
              <a:rPr sz="3450" b="1">
                <a:solidFill>
                  <a:srgbClr val="FFFFFF"/>
                </a:solidFill>
                <a:latin typeface="Times New Roman"/>
                <a:ea typeface="Times New Roman"/>
                <a:cs typeface="Times New Roman"/>
              </a:rPr>
              <a:t>Phụ lục: các hướng model</a:t>
            </a:r>
          </a:p>
        </p:txBody>
      </p:sp>
      <p:sp>
        <p:nvSpPr>
          <p:cNvPr id="4" name="Shape 28">
            <a:extLst xmlns:a="http://schemas.openxmlformats.org/drawingml/2006/main">
              <a:ext uri="{FF2B5EF4-FFF2-40B4-BE49-F238E27FC236}">
                <a16:creationId xmlns:a16="http://schemas.microsoft.com/office/drawing/2014/main" id="{D8CCF9ED-FD98-B255-B5CA-9D20D19AD25E}"/>
              </a:ext>
            </a:extLst>
          </p:cNvPr>
          <p:cNvSpPr>
            <a:spLocks xmlns:a="http://schemas.openxmlformats.org/drawingml/2006/main" noGrp="1"/>
          </p:cNvSpPr>
          <p:nvPr/>
        </p:nvSpPr>
        <p:spPr>
          <a:xfrm xmlns:a="http://schemas.openxmlformats.org/drawingml/2006/main">
            <a:off x="165652" y="6082284"/>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34AD7C9C-83B3-7468-F478-761E84A3970E}"/>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MVP A1 trong mô phỏng</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0C14B9B7-7998-C0FF-39FD-2729A3461148}"/>
              </a:ext>
            </a:extLst>
          </p:cNvPr>
          <p:cNvSpPr>
            <a:spLocks xmlns:a="http://schemas.openxmlformats.org/drawingml/2006/main" noGrp="1"/>
          </p:cNvSpPr>
          <p:nvPr/>
        </p:nvSpPr>
        <p:spPr>
          <a:xfrm xmlns:a="http://schemas.openxmlformats.org/drawingml/2006/main">
            <a:off x="323850" y="6410325"/>
            <a:ext cx="10477500" cy="3524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defPPr>
              <a:defRPr sz="1275"/>
            </a:defPPr>
          </a:lstStyle>
          <a:p xmlns:a="http://schemas.openxmlformats.org/drawingml/2006/main">
            <a:pPr algn="l">
              <a:buNone/>
              <a:defRPr sz="1275" b="0">
                <a:solidFill>
                  <a:srgbClr val="FFFFFF"/>
                </a:solidFill>
                <a:latin typeface="Arial"/>
                <a:ea typeface="Arial"/>
                <a:cs typeface="Arial"/>
              </a:defRPr>
            </a:pPr>
            <a:r>
              <a:rPr sz="1275" b="0">
                <a:solidFill>
                  <a:srgbClr val="FFFFFF"/>
                </a:solidFill>
                <a:latin typeface="Arial"/>
                <a:ea typeface="Arial"/>
                <a:cs typeface="Arial"/>
              </a:rPr>
              <a:t>Các phương pháp giải bài toán khác nhau. Không ghép kết quả khác robot, task và budget thành một leaderboard.</a:t>
            </a:r>
          </a:p>
        </p:txBody>
      </p:sp>
      <p:graphicFrame>
        <p:nvGraphicFramePr>
          <p:cNvPr id="11" name="">
            <a:extLst xmlns:a="http://schemas.openxmlformats.org/drawingml/2006/main">
              <a:ext uri="{FF2B5EF4-FFF2-40B4-BE49-F238E27FC236}">
                <a16:creationId xmlns:a16="http://schemas.microsoft.com/office/drawing/2014/main" id="{65CF574F-810D-44C5-B030-EFABEC383026}"/>
              </a:ext>
            </a:extLst>
          </p:cNvPr>
          <p:cNvGraphicFramePr/>
          <p:nvPr/>
        </p:nvGraphicFramePr>
        <p:xfrm>
          <a:off xmlns:a="http://schemas.openxmlformats.org/drawingml/2006/main" x="533400" y="1619250"/>
          <a:ext xmlns:a="http://schemas.openxmlformats.org/drawingml/2006/main" cx="11125200" cy="3810000"/>
        </p:xfrm>
        <a:graphic xmlns:a="http://schemas.openxmlformats.org/drawingml/2006/main">
          <a:graphicData uri="http://schemas.openxmlformats.org/drawingml/2006/table">
            <a:tbl>
              <a:tblPr/>
              <a:tblGrid>
                <a:gridCol w="2476500"/>
                <a:gridCol w="4667250"/>
                <a:gridCol w="3981450"/>
              </a:tblGrid>
              <a:tr h="419100">
                <a:tc>
                  <a:txBody>
                    <a:bodyPr>
                      <a:noAutofit/>
                    </a:bodyPr>
                    <a:lstStyle/>
                    <a:p>
                      <a:r>
                        <a:rPr sz="1800" b="1">
                          <a:solidFill>
                            <a:srgbClr val="FFFFFF"/>
                          </a:solidFill>
                          <a:latin typeface="Arial"/>
                          <a:ea typeface="Arial"/>
                          <a:cs typeface="Arial"/>
                        </a:rPr>
                        <a:t>Hướng</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Supervision / cách học</a:t>
                      </a:r>
                    </a:p>
                  </a:txBody>
                  <a:tcPr marL="95250" marR="95250" marT="76200" marB="66675" anchor="t">
                    <a:solidFill>
                      <a:srgbClr val="153251"/>
                    </a:solidFill>
                  </a:tcPr>
                </a:tc>
                <a:tc>
                  <a:txBody>
                    <a:bodyPr>
                      <a:noAutofit/>
                    </a:bodyPr>
                    <a:lstStyle/>
                    <a:p>
                      <a:r>
                        <a:rPr sz="1800" b="1">
                          <a:solidFill>
                            <a:srgbClr val="FFFFFF"/>
                          </a:solidFill>
                          <a:latin typeface="Arial"/>
                          <a:ea typeface="Arial"/>
                          <a:cs typeface="Arial"/>
                        </a:rPr>
                        <a:t>Mapping vào idea</a:t>
                      </a:r>
                    </a:p>
                  </a:txBody>
                  <a:tcPr marL="95250" marR="95250" marT="76200" marB="66675" anchor="t">
                    <a:solidFill>
                      <a:srgbClr val="153251"/>
                    </a:solidFill>
                  </a:tcPr>
                </a:tc>
              </a:tr>
              <a:tr h="678180">
                <a:tc>
                  <a:txBody>
                    <a:bodyPr>
                      <a:noAutofit/>
                    </a:bodyPr>
                    <a:lstStyle/>
                    <a:p>
                      <a:r>
                        <a:rPr sz="1650" b="0">
                          <a:solidFill>
                            <a:srgbClr val="153251"/>
                          </a:solidFill>
                          <a:latin typeface="Arial"/>
                          <a:ea typeface="Arial"/>
                          <a:cs typeface="Arial"/>
                        </a:rPr>
                        <a:t>OpenVLA / π0</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Robot trajectories có actions</a:t>
                      </a:r>
                    </a:p>
                    <a:p>
                      <a:r>
                        <a:rPr sz="1650" b="0">
                          <a:solidFill>
                            <a:srgbClr val="153251"/>
                          </a:solidFill>
                          <a:latin typeface="Arial"/>
                          <a:ea typeface="Arial"/>
                          <a:cs typeface="Arial"/>
                        </a:rPr>
                        <a:t>Action tokens hoặc flow objective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Pretrained policy adaptation</a:t>
                      </a:r>
                    </a:p>
                    <a:p>
                      <a:r>
                        <a:rPr sz="1650" b="0">
                          <a:solidFill>
                            <a:srgbClr val="153251"/>
                          </a:solidFill>
                          <a:latin typeface="Arial"/>
                          <a:ea typeface="Arial"/>
                          <a:cs typeface="Arial"/>
                        </a:rPr>
                        <a:t>Freeze / tune phụ thuộc recipe</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GR00T N1.5</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Eagle + DiT, robot action learning</a:t>
                      </a:r>
                    </a:p>
                    <a:p>
                      <a:r>
                        <a:rPr sz="1650" b="0">
                          <a:solidFill>
                            <a:srgbClr val="153251"/>
                          </a:solidFill>
                          <a:latin typeface="Arial"/>
                          <a:ea typeface="Arial"/>
                          <a:cs typeface="Arial"/>
                        </a:rPr>
                        <a:t>Official frozen VLM + FLARE</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Policy nền MVP qua FluxVLA</a:t>
                      </a:r>
                    </a:p>
                    <a:p>
                      <a:r>
                        <a:rPr sz="1650" b="0">
                          <a:solidFill>
                            <a:srgbClr val="153251"/>
                          </a:solidFill>
                          <a:latin typeface="Arial"/>
                          <a:ea typeface="Arial"/>
                          <a:cs typeface="Arial"/>
                        </a:rPr>
                        <a:t>Selected visual-unfreeze khác official</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FOCA</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Video action-free học future alignment</a:t>
                      </a:r>
                    </a:p>
                    <a:p>
                      <a:r>
                        <a:rPr sz="1650" b="0">
                          <a:solidFill>
                            <a:srgbClr val="153251"/>
                          </a:solidFill>
                          <a:latin typeface="Arial"/>
                          <a:ea typeface="Arial"/>
                          <a:cs typeface="Arial"/>
                        </a:rPr>
                        <a:t>Robot phase học action + implicit</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Pilot few-shot có gate riêng</a:t>
                      </a:r>
                    </a:p>
                    <a:p>
                      <a:r>
                        <a:rPr sz="1650" b="0">
                          <a:solidFill>
                            <a:srgbClr val="153251"/>
                          </a:solidFill>
                          <a:latin typeface="Arial"/>
                          <a:ea typeface="Arial"/>
                          <a:cs typeface="Arial"/>
                        </a:rPr>
                        <a:t>Chưa port vào A1</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DreamGen</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Sinh video offline theo task</a:t>
                      </a:r>
                    </a:p>
                    <a:p>
                      <a:r>
                        <a:rPr sz="1650" b="0">
                          <a:solidFill>
                            <a:srgbClr val="153251"/>
                          </a:solidFill>
                          <a:latin typeface="Arial"/>
                          <a:ea typeface="Arial"/>
                          <a:cs typeface="Arial"/>
                        </a:rPr>
                        <a:t>Video sinh thường không có robot actions</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Nguồn kinh nghiệm bổ sung</a:t>
                      </a:r>
                    </a:p>
                    <a:p>
                      <a:r>
                        <a:rPr sz="1650" b="0">
                          <a:solidFill>
                            <a:srgbClr val="153251"/>
                          </a:solidFill>
                          <a:latin typeface="Arial"/>
                          <a:ea typeface="Arial"/>
                          <a:cs typeface="Arial"/>
                        </a:rPr>
                        <a:t>Cần objective / nhãn thích hợp</a:t>
                      </a:r>
                    </a:p>
                  </a:txBody>
                  <a:tcPr marL="95250" marR="95250" marT="76200" marB="66675" anchor="t">
                    <a:solidFill>
                      <a:srgbClr val="FFFFFF"/>
                    </a:solidFill>
                  </a:tcPr>
                </a:tc>
              </a:tr>
              <a:tr h="678180">
                <a:tc>
                  <a:txBody>
                    <a:bodyPr>
                      <a:noAutofit/>
                    </a:bodyPr>
                    <a:lstStyle/>
                    <a:p>
                      <a:r>
                        <a:rPr sz="1650" b="0">
                          <a:solidFill>
                            <a:srgbClr val="153251"/>
                          </a:solidFill>
                          <a:latin typeface="Arial"/>
                          <a:ea typeface="Arial"/>
                          <a:cs typeface="Arial"/>
                        </a:rPr>
                        <a:t>DreamZero / DreamerV3</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Joint world-action hoặc dynamics / RL</a:t>
                      </a:r>
                    </a:p>
                    <a:p>
                      <a:r>
                        <a:rPr sz="1650" b="0">
                          <a:solidFill>
                            <a:srgbClr val="153251"/>
                          </a:solidFill>
                          <a:latin typeface="Arial"/>
                          <a:ea typeface="Arial"/>
                          <a:cs typeface="Arial"/>
                        </a:rPr>
                        <a:t>Objective và runtime riêng</a:t>
                      </a:r>
                    </a:p>
                  </a:txBody>
                  <a:tcPr marL="95250" marR="95250" marT="76200" marB="66675" anchor="t">
                    <a:solidFill>
                      <a:srgbClr val="FFFFFF"/>
                    </a:solidFill>
                  </a:tcPr>
                </a:tc>
                <a:tc>
                  <a:txBody>
                    <a:bodyPr>
                      <a:noAutofit/>
                    </a:bodyPr>
                    <a:lstStyle/>
                    <a:p>
                      <a:r>
                        <a:rPr sz="1650" b="0">
                          <a:solidFill>
                            <a:srgbClr val="153251"/>
                          </a:solidFill>
                          <a:latin typeface="Arial"/>
                          <a:ea typeface="Arial"/>
                          <a:cs typeface="Arial"/>
                        </a:rPr>
                        <a:t>Alternative stack để nghiên cứu</a:t>
                      </a:r>
                    </a:p>
                    <a:p>
                      <a:r>
                        <a:rPr sz="1650" b="0">
                          <a:solidFill>
                            <a:srgbClr val="153251"/>
                          </a:solidFill>
                          <a:latin typeface="Arial"/>
                          <a:ea typeface="Arial"/>
                          <a:cs typeface="Arial"/>
                        </a:rPr>
                        <a:t>Chưa là component bắt buộc MVP</a:t>
                      </a:r>
                    </a:p>
                  </a:txBody>
                  <a:tcPr marL="95250" marR="95250" marT="76200" marB="66675" anchor="t">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EB0AFAED-035E-40AA-9AB3-B138E3B9DFDA}"/>
              </a:ext>
            </a:extLst>
          </p:cNvPr>
          <p:cNvSpPr>
            <a:spLocks xmlns:a="http://schemas.openxmlformats.org/drawingml/2006/main" noGrp="1"/>
          </p:cNvSpPr>
          <p:nvPr/>
        </p:nvSpPr>
        <p:spPr>
          <a:xfrm xmlns:a="http://schemas.openxmlformats.org/drawingml/2006/main">
            <a:off x="533400" y="5553075"/>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1">
                <a:solidFill>
                  <a:srgbClr val="007F83"/>
                </a:solidFill>
                <a:latin typeface="Arial"/>
                <a:ea typeface="Arial"/>
                <a:cs typeface="Arial"/>
              </a:defRPr>
            </a:defPPr>
          </a:lstStyle>
          <a:p xmlns:a="http://schemas.openxmlformats.org/drawingml/2006/main">
            <a:pPr>
              <a:buNone/>
              <a:defRPr sz="1800" b="1">
                <a:solidFill>
                  <a:srgbClr val="007F83"/>
                </a:solidFill>
                <a:latin typeface="Arial"/>
                <a:ea typeface="Arial"/>
                <a:cs typeface="Arial"/>
              </a:defRPr>
            </a:pPr>
            <a:r>
              <a:rPr sz="1800" b="1">
                <a:solidFill>
                  <a:srgbClr val="007F83"/>
                </a:solidFill>
                <a:latin typeface="Arial"/>
                <a:ea typeface="Arial"/>
                <a:cs typeface="Arial"/>
              </a:rPr>
              <a:t>Human wrist pilot: common motion 18D, giữ native robot head riêng, kiểm transfer bằng đối chứng.</a:t>
            </a:r>
          </a:p>
        </p:txBody>
      </p:sp>
      <p:sp>
        <p:nvSpPr>
          <p:cNvPr id="13" name="">
            <a:extLst xmlns:a="http://schemas.openxmlformats.org/drawingml/2006/main">
              <a:ext uri="{FF2B5EF4-FFF2-40B4-BE49-F238E27FC236}">
                <a16:creationId xmlns:a16="http://schemas.microsoft.com/office/drawing/2014/main" id="{03A7D42F-052B-4D0A-95C2-EDA0043658D9}"/>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19 / 21</a:t>
            </a:r>
          </a:p>
        </p:txBody>
      </p:sp>
    </p:spTree>
    <p:extLst>
      <p:ext uri="{BB962C8B-B14F-4D97-AF65-F5344CB8AC3E}">
        <p14:creationId xmlns:p14="http://schemas.microsoft.com/office/powerpoint/2010/main" val="4191444374"/>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1" name="Picture 6">
            <a:extLst xmlns:a="http://schemas.openxmlformats.org/drawingml/2006/main">
              <a:ext uri="{FF2B5EF4-FFF2-40B4-BE49-F238E27FC236}">
                <a16:creationId xmlns:a16="http://schemas.microsoft.com/office/drawing/2014/main" id="{5E6DB714-1849-4420-89B3-5EA1AADA3DF1}"/>
              </a:ext>
            </a:extLst>
          </p:cNvPr>
          <p:cNvPicPr>
            <a:picLocks xmlns:a="http://schemas.openxmlformats.org/drawingml/2006/main" noChangeAspect="1"/>
          </p:cNvPicPr>
          <p:nvPr/>
        </p:nvPicPr>
        <p:blipFill>
          <a:blip xmlns:r="http://schemas.openxmlformats.org/officeDocument/2006/relationships" xmlns:a="http://schemas.openxmlformats.org/drawingml/2006/main" r:embed="R2304340d3c5a4f72"/>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pic>
        <p:nvPicPr>
          <p:cNvPr id="42" name="Image 0">
            <a:extLst xmlns:a="http://schemas.openxmlformats.org/drawingml/2006/main">
              <a:ext uri="{FF2B5EF4-FFF2-40B4-BE49-F238E27FC236}">
                <a16:creationId xmlns:a16="http://schemas.microsoft.com/office/drawing/2014/main" id="{36DE5C95-0C71-432C-9B15-EE7CBFF4B612}"/>
              </a:ext>
            </a:extLst>
          </p:cNvPr>
          <p:cNvPicPr>
            <a:picLocks xmlns:a="http://schemas.openxmlformats.org/drawingml/2006/main" noChangeAspect="1"/>
          </p:cNvPicPr>
          <p:nvPr/>
        </p:nvPicPr>
        <p:blipFill>
          <a:blip xmlns:r="http://schemas.openxmlformats.org/officeDocument/2006/relationships" xmlns:a="http://schemas.openxmlformats.org/drawingml/2006/main" r:embed="R218adde666454c27"/>
          <a:stretch xmlns:a="http://schemas.openxmlformats.org/drawingml/2006/main">
            <a:fillRect l="0" t="0" r="0" b="0"/>
          </a:stretch>
        </p:blipFill>
        <p:spPr>
          <a:xfrm xmlns:a="http://schemas.openxmlformats.org/drawingml/2006/main">
            <a:off x="0" y="0"/>
            <a:ext cx="12191695" cy="868680"/>
          </a:xfrm>
          <a:prstGeom xmlns:a="http://schemas.openxmlformats.org/drawingml/2006/main" prst="rect">
            <a:avLst/>
          </a:prstGeom>
        </p:spPr>
      </p:pic>
      <p:pic>
        <p:nvPicPr>
          <p:cNvPr id="43" name="Image 1">
            <a:extLst xmlns:a="http://schemas.openxmlformats.org/drawingml/2006/main">
              <a:ext uri="{FF2B5EF4-FFF2-40B4-BE49-F238E27FC236}">
                <a16:creationId xmlns:a16="http://schemas.microsoft.com/office/drawing/2014/main" id="{E2620BC3-B736-4E8C-BB3C-C261BC7DDB68}"/>
              </a:ext>
            </a:extLst>
          </p:cNvPr>
          <p:cNvPicPr>
            <a:picLocks xmlns:a="http://schemas.openxmlformats.org/drawingml/2006/main" noChangeAspect="1"/>
          </p:cNvPicPr>
          <p:nvPr/>
        </p:nvPicPr>
        <p:blipFill>
          <a:blip xmlns:r="http://schemas.openxmlformats.org/officeDocument/2006/relationships" xmlns:a="http://schemas.openxmlformats.org/drawingml/2006/main" r:embed="R4ab6cd5e825f44ec"/>
          <a:stretch xmlns:a="http://schemas.openxmlformats.org/drawingml/2006/main">
            <a:fillRect l="0" t="0" r="0" b="0"/>
          </a:stretch>
        </p:blipFill>
        <p:spPr>
          <a:xfrm xmlns:a="http://schemas.openxmlformats.org/drawingml/2006/main">
            <a:off x="292608" y="210312"/>
            <a:ext cx="2423160" cy="60350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3C8B3D6C-B253-4FF7-9ACE-C9C1226C9F00}"/>
              </a:ext>
            </a:extLst>
          </p:cNvPr>
          <p:cNvSpPr>
            <a:spLocks xmlns:a="http://schemas.openxmlformats.org/drawingml/2006/main" noGrp="1"/>
          </p:cNvSpPr>
          <p:nvPr/>
        </p:nvSpPr>
        <p:spPr>
          <a:xfrm xmlns:a="http://schemas.openxmlformats.org/drawingml/2006/main">
            <a:off x="2971800" y="228600"/>
            <a:ext cx="6309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normAutofit/>
          </a:bodyPr>
          <a:lstStyle xmlns:a="http://schemas.openxmlformats.org/drawingml/2006/main"/>
          <a:p xmlns:a="http://schemas.openxmlformats.org/drawingml/2006/main">
            <a:pPr marL="0" indent="0" algn="ctr">
              <a:buNone/>
            </a:pPr>
            <a:r>
              <a:rPr sz="1800" b="1">
                <a:solidFill>
                  <a:srgbClr val="FFFFFF"/>
                </a:solidFill>
                <a:latin typeface="Arial"/>
                <a:ea typeface="Arial"/>
                <a:cs typeface="Arial"/>
              </a:rPr>
              <a:t>CHECKLIST TỰ ĐÁNH GIÁ TRƯỚC KHI NỘP</a:t>
            </a:r>
            <a:endParaRPr sz="1800"/>
          </a:p>
        </p:txBody>
      </p:sp>
      <p:sp>
        <p:nvSpPr>
          <p:cNvPr id="31" name="Shape 27">
            <a:extLst xmlns:a="http://schemas.openxmlformats.org/drawingml/2006/main">
              <a:ext uri="{FF2B5EF4-FFF2-40B4-BE49-F238E27FC236}">
                <a16:creationId xmlns:a16="http://schemas.microsoft.com/office/drawing/2014/main" id="{4B2FEE6C-E748-43BA-8541-D0C996F4452A}"/>
              </a:ext>
            </a:extLst>
          </p:cNvPr>
          <p:cNvSpPr>
            <a:spLocks xmlns:a="http://schemas.openxmlformats.org/drawingml/2006/main" noGrp="1"/>
          </p:cNvSpPr>
          <p:nvPr/>
        </p:nvSpPr>
        <p:spPr>
          <a:xfrm xmlns:a="http://schemas.openxmlformats.org/drawingml/2006/main">
            <a:off x="270630" y="5869214"/>
            <a:ext cx="10424160" cy="731520"/>
          </a:xfrm>
          <a:prstGeom xmlns:a="http://schemas.openxmlformats.org/drawingml/2006/main" prst="roundRect">
            <a:avLst>
              <a:gd name="adj" fmla="val 10000"/>
            </a:avLst>
          </a:prstGeom>
          <a:noFill xmlns:a="http://schemas.openxmlformats.org/drawingml/2006/main"/>
          <a:ln xmlns:a="http://schemas.openxmlformats.org/drawingml/2006/main" w="10160">
            <a:noFill/>
            <a:prstDash val="solid"/>
          </a:ln>
        </p:spPr>
        <p:txBody>
          <a:bodyPr xmlns:a="http://schemas.openxmlformats.org/drawingml/2006/main"/>
          <a:lstStyle xmlns:a="http://schemas.openxmlformats.org/drawingml/2006/main"/>
          <a:p xmlns:a="http://schemas.openxmlformats.org/drawingml/2006/main">
            <a:endParaRPr/>
          </a:p>
        </p:txBody>
      </p:sp>
      <p:sp>
        <p:nvSpPr>
          <p:cNvPr id="33" name="Text 29">
            <a:extLst xmlns:a="http://schemas.openxmlformats.org/drawingml/2006/main">
              <a:ext uri="{FF2B5EF4-FFF2-40B4-BE49-F238E27FC236}">
                <a16:creationId xmlns:a16="http://schemas.microsoft.com/office/drawing/2014/main" id="{703CF707-D563-4209-BD44-6D81670FECEA}"/>
              </a:ext>
            </a:extLst>
          </p:cNvPr>
          <p:cNvSpPr>
            <a:spLocks xmlns:a="http://schemas.openxmlformats.org/drawingml/2006/main" noGrp="1"/>
          </p:cNvSpPr>
          <p:nvPr/>
        </p:nvSpPr>
        <p:spPr>
          <a:xfrm xmlns:a="http://schemas.openxmlformats.org/drawingml/2006/main">
            <a:off x="495300" y="6038850"/>
            <a:ext cx="10668000" cy="228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Giá trị đề xuất</a:t>
            </a:r>
            <a:endParaRPr sz="1100">
              <a:solidFill>
                <a:schemeClr val="bg1"/>
              </a:solidFill>
              <a:latin typeface="Arial"/>
              <a:ea typeface="Arial"/>
              <a:cs typeface="Arial"/>
            </a:endParaRPr>
          </a:p>
        </p:txBody>
      </p:sp>
      <p:sp>
        <p:nvSpPr>
          <p:cNvPr id="34" name="Text 30">
            <a:extLst xmlns:a="http://schemas.openxmlformats.org/drawingml/2006/main">
              <a:ext uri="{FF2B5EF4-FFF2-40B4-BE49-F238E27FC236}">
                <a16:creationId xmlns:a16="http://schemas.microsoft.com/office/drawing/2014/main" id="{52C79F75-DA4E-43A4-B777-8E328C0FEC3F}"/>
              </a:ext>
            </a:extLst>
          </p:cNvPr>
          <p:cNvSpPr>
            <a:spLocks xmlns:a="http://schemas.openxmlformats.org/drawingml/2006/main" noGrp="1"/>
          </p:cNvSpPr>
          <p:nvPr/>
        </p:nvSpPr>
        <p:spPr>
          <a:xfrm xmlns:a="http://schemas.openxmlformats.org/drawingml/2006/main">
            <a:off x="495300" y="6334125"/>
            <a:ext cx="10668000" cy="2476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00" b="0">
                <a:solidFill>
                  <a:srgbClr val="FFFFFF"/>
                </a:solidFill>
                <a:latin typeface="Arial"/>
                <a:ea typeface="Arial"/>
                <a:cs typeface="Arial"/>
              </a:defRPr>
            </a:pPr>
            <a:r>
              <a:rPr sz="1200" b="0">
                <a:solidFill>
                  <a:srgbClr val="FFFFFF"/>
                </a:solidFill>
                <a:latin typeface="Arial"/>
                <a:ea typeface="Arial"/>
                <a:cs typeface="Arial"/>
              </a:rPr>
              <a:t>Chọn dữ liệu có ích, kiểm cả kỹ năng và tổng công, giữ bằng chứng cho mỗi quyết định.</a:t>
            </a:r>
            <a:endParaRPr sz="950">
              <a:solidFill>
                <a:schemeClr val="bg1"/>
              </a:solidFill>
              <a:latin typeface="Arial"/>
              <a:ea typeface="Arial"/>
              <a:cs typeface="Arial"/>
            </a:endParaRPr>
          </a:p>
        </p:txBody>
      </p:sp>
      <p:sp>
        <p:nvSpPr>
          <p:cNvPr id="35" name="Shape 31">
            <a:extLst xmlns:a="http://schemas.openxmlformats.org/drawingml/2006/main">
              <a:ext uri="{FF2B5EF4-FFF2-40B4-BE49-F238E27FC236}">
                <a16:creationId xmlns:a16="http://schemas.microsoft.com/office/drawing/2014/main" id="{3F8018F7-C36D-41EA-AA7F-4ECDA4D68B76}"/>
              </a:ext>
            </a:extLst>
          </p:cNvPr>
          <p:cNvSpPr>
            <a:spLocks xmlns:a="http://schemas.openxmlformats.org/drawingml/2006/main" noGrp="1"/>
          </p:cNvSpPr>
          <p:nvPr/>
        </p:nvSpPr>
        <p:spPr>
          <a:xfrm xmlns:a="http://schemas.openxmlformats.org/drawingml/2006/main">
            <a:off x="411480" y="5972175"/>
            <a:ext cx="11384280" cy="0"/>
          </a:xfrm>
          <a:prstGeom xmlns:a="http://schemas.openxmlformats.org/drawingml/2006/main" prst="line">
            <a:avLst/>
          </a:prstGeom>
          <a:noFill xmlns:a="http://schemas.openxmlformats.org/drawingml/2006/main"/>
          <a:ln xmlns:a="http://schemas.openxmlformats.org/drawingml/2006/main" w="8890">
            <a:solidFill>
              <a:srgbClr val="D9E2EC"/>
            </a:solidFill>
            <a:prstDash val="solid"/>
          </a:ln>
        </p:spPr>
        <p:txBody>
          <a:bodyPr xmlns:a="http://schemas.openxmlformats.org/drawingml/2006/main"/>
          <a:lstStyle xmlns:a="http://schemas.openxmlformats.org/drawingml/2006/main"/>
          <a:p xmlns:a="http://schemas.openxmlformats.org/drawingml/2006/main">
            <a:endParaRPr/>
          </a:p>
        </p:txBody>
      </p:sp>
      <p:sp>
        <p:nvSpPr>
          <p:cNvPr id="36" name="Text 32">
            <a:extLst xmlns:a="http://schemas.openxmlformats.org/drawingml/2006/main">
              <a:ext uri="{FF2B5EF4-FFF2-40B4-BE49-F238E27FC236}">
                <a16:creationId xmlns:a16="http://schemas.microsoft.com/office/drawing/2014/main" id="{386B97EA-038A-4346-A4F4-32768A4FDC59}"/>
              </a:ext>
            </a:extLst>
          </p:cNvPr>
          <p:cNvSpPr>
            <a:spLocks xmlns:a="http://schemas.openxmlformats.org/drawingml/2006/main" noGrp="1"/>
          </p:cNvSpPr>
          <p:nvPr/>
        </p:nvSpPr>
        <p:spPr>
          <a:xfrm xmlns:a="http://schemas.openxmlformats.org/drawingml/2006/main">
            <a:off x="457200" y="6556248"/>
            <a:ext cx="7772400" cy="16459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20">
                <a:solidFill>
                  <a:srgbClr val="7A869A"/>
                </a:solidFill>
                <a:latin typeface="Arial"/>
                <a:ea typeface="Arial"/>
                <a:cs typeface="Arial"/>
              </a:rPr>
              <a:t>DENSO Factory Hacks 2026  |  Submission Template</a:t>
            </a:r>
            <a:endParaRPr sz="720"/>
          </a:p>
        </p:txBody>
      </p:sp>
      <p:graphicFrame>
        <p:nvGraphicFramePr>
          <p:cNvPr id="50" name="Table 40">
            <a:extLst xmlns:a="http://schemas.openxmlformats.org/drawingml/2006/main">
              <a:ext uri="{FF2B5EF4-FFF2-40B4-BE49-F238E27FC236}">
                <a16:creationId xmlns:a16="http://schemas.microsoft.com/office/drawing/2014/main" id="{42072B24-CE2B-4FE3-93F3-9AAF70DFD012}"/>
              </a:ext>
            </a:extLst>
          </p:cNvPr>
          <p:cNvGraphicFramePr/>
          <p:nvPr/>
        </p:nvGraphicFramePr>
        <p:xfrm>
          <a:off xmlns:a="http://schemas.openxmlformats.org/drawingml/2006/main" x="533701" y="2444877"/>
          <a:ext xmlns:a="http://schemas.openxmlformats.org/drawingml/2006/main" cx="10992499" cy="2938909"/>
        </p:xfrm>
        <a:graphic xmlns:a="http://schemas.openxmlformats.org/drawingml/2006/main">
          <a:graphicData uri="http://schemas.openxmlformats.org/drawingml/2006/table">
            <a:tbl>
              <a:tblPr firstRow="1" bandRow="1">
                <a:tableStyleId>{5C22544A-7EE6-4342-B048-85BDC9FD1C3A}</a:tableStyleId>
              </a:tblPr>
              <a:tblGrid>
                <a:gridCol w="5238999"/>
                <a:gridCol w="5753500"/>
              </a:tblGrid>
              <a:tr h="275792">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CÂU HỎI</a:t>
                      </a:r>
                    </a:p>
                  </a:txBody>
                  <a:tcPr marL="91440" marR="91440" marT="45720" marB="45720" anchor="ctr">
                    <a:lnB w="12700">
                      <a:solidFill>
                        <a:schemeClr val="tx1"/>
                      </a:solidFill>
                    </a:lnB>
                    <a:solidFill>
                      <a:schemeClr val="accent5">
                        <a:lumMod val="50000"/>
                      </a:schemeClr>
                    </a:solidFill>
                  </a:tcPr>
                </a:tc>
                <a:tc>
                  <a:txBody>
                    <a:bodyPr/>
                    <a:lstStyle/>
                    <a:p>
                      <a:pPr marL="0" marR="0" lvl="0" indent="0" algn="ctr" defTabSz="914400">
                        <a:lnSpc>
                          <a:spcPct val="100000"/>
                        </a:lnSpc>
                        <a:spcBef>
                          <a:spcPts val="0"/>
                        </a:spcBef>
                        <a:spcAft>
                          <a:spcPts val="0"/>
                        </a:spcAft>
                        <a:buClrTx/>
                        <a:buSzTx/>
                        <a:buFontTx/>
                        <a:buNone/>
                      </a:pPr>
                      <a:r>
                        <a:rPr sz="1100" b="1">
                          <a:solidFill>
                            <a:schemeClr val="bg1"/>
                          </a:solidFill>
                          <a:latin typeface="Segoe UI"/>
                          <a:ea typeface="Segoe UI"/>
                          <a:cs typeface="Segoe UI"/>
                        </a:rPr>
                        <a:t>TRẢ LỜI</a:t>
                      </a:r>
                    </a:p>
                  </a:txBody>
                  <a:tcPr marL="91440" marR="91440" marT="45720" marB="45720" anchor="ctr">
                    <a:lnB w="12700">
                      <a:solidFill>
                        <a:schemeClr val="tx1"/>
                      </a:solidFill>
                    </a:lnB>
                    <a:solidFill>
                      <a:schemeClr val="accent5">
                        <a:lumMod val="50000"/>
                      </a:schemeClr>
                    </a:solidFill>
                  </a:tcPr>
                </a:tc>
              </a:tr>
              <a:tr h="430925">
                <a:tc>
                  <a:txBody>
                    <a:bodyPr wrap="square" lIns="76200" tIns="38100" rIns="76200" bIns="38100"/>
                    <a:lstStyle/>
                    <a:p>
                      <a:pPr>
                        <a:lnSpc>
                          <a:spcPts val="1500"/>
                        </a:lnSpc>
                        <a:buNone/>
                      </a:pPr>
                      <a:r>
                        <a:rPr sz="1200" b="0" i="0">
                          <a:solidFill>
                            <a:srgbClr val="153251"/>
                          </a:solidFill>
                          <a:latin typeface="Arial"/>
                          <a:ea typeface="Arial"/>
                          <a:cs typeface="Arial"/>
                        </a:rPr>
                        <a:t>1. </a:t>
                      </a:r>
                      <a:r>
                        <a:rPr sz="1200" b="0" i="0">
                          <a:solidFill>
                            <a:srgbClr val="153251"/>
                          </a:solidFill>
                          <a:latin typeface="Arial"/>
                          <a:ea typeface="Arial"/>
                          <a:cs typeface="Arial"/>
                        </a:rPr>
                        <a:t>Trình</a:t>
                      </a:r>
                      <a:r>
                        <a:rPr sz="1200" b="0" i="0">
                          <a:solidFill>
                            <a:srgbClr val="153251"/>
                          </a:solidFill>
                          <a:latin typeface="Arial"/>
                          <a:ea typeface="Arial"/>
                          <a:cs typeface="Arial"/>
                        </a:rPr>
                        <a:t> </a:t>
                      </a:r>
                      <a:r>
                        <a:rPr sz="1200" b="0" i="0">
                          <a:solidFill>
                            <a:srgbClr val="153251"/>
                          </a:solidFill>
                          <a:latin typeface="Arial"/>
                          <a:ea typeface="Arial"/>
                          <a:cs typeface="Arial"/>
                        </a:rPr>
                        <a:t>bày</a:t>
                      </a:r>
                      <a:r>
                        <a:rPr sz="1200" b="0" i="0">
                          <a:solidFill>
                            <a:srgbClr val="153251"/>
                          </a:solidFill>
                          <a:latin typeface="Arial"/>
                          <a:ea typeface="Arial"/>
                          <a:cs typeface="Arial"/>
                        </a:rPr>
                        <a:t> </a:t>
                      </a:r>
                      <a:r>
                        <a:rPr sz="1200" b="0" i="0">
                          <a:solidFill>
                            <a:srgbClr val="153251"/>
                          </a:solidFill>
                          <a:latin typeface="Arial"/>
                          <a:ea typeface="Arial"/>
                          <a:cs typeface="Arial"/>
                        </a:rPr>
                        <a:t>điểm</a:t>
                      </a:r>
                      <a:r>
                        <a:rPr sz="1200" b="0" i="0">
                          <a:solidFill>
                            <a:srgbClr val="153251"/>
                          </a:solidFill>
                          <a:latin typeface="Arial"/>
                          <a:ea typeface="Arial"/>
                          <a:cs typeface="Arial"/>
                        </a:rPr>
                        <a:t> </a:t>
                      </a:r>
                      <a:r>
                        <a:rPr sz="1200" b="0" i="0">
                          <a:solidFill>
                            <a:srgbClr val="153251"/>
                          </a:solidFill>
                          <a:latin typeface="Arial"/>
                          <a:ea typeface="Arial"/>
                          <a:cs typeface="Arial"/>
                        </a:rPr>
                        <a:t>mới</a:t>
                      </a:r>
                      <a:r>
                        <a:rPr sz="1200" b="0" i="0">
                          <a:solidFill>
                            <a:srgbClr val="153251"/>
                          </a:solidFill>
                          <a:latin typeface="Arial"/>
                          <a:ea typeface="Arial"/>
                          <a:cs typeface="Arial"/>
                        </a:rPr>
                        <a:t>, </a:t>
                      </a:r>
                      <a:r>
                        <a:rPr sz="1200" b="0" i="0">
                          <a:solidFill>
                            <a:srgbClr val="153251"/>
                          </a:solidFill>
                          <a:latin typeface="Arial"/>
                          <a:ea typeface="Arial"/>
                          <a:cs typeface="Arial"/>
                        </a:rPr>
                        <a:t>đột</a:t>
                      </a:r>
                      <a:r>
                        <a:rPr sz="1200" b="0" i="0">
                          <a:solidFill>
                            <a:srgbClr val="153251"/>
                          </a:solidFill>
                          <a:latin typeface="Arial"/>
                          <a:ea typeface="Arial"/>
                          <a:cs typeface="Arial"/>
                        </a:rPr>
                        <a:t> </a:t>
                      </a:r>
                      <a:r>
                        <a:rPr sz="1200" b="0" i="0">
                          <a:solidFill>
                            <a:srgbClr val="153251"/>
                          </a:solidFill>
                          <a:latin typeface="Arial"/>
                          <a:ea typeface="Arial"/>
                          <a:cs typeface="Arial"/>
                        </a:rPr>
                        <a:t>phá</a:t>
                      </a:r>
                      <a:r>
                        <a:rPr sz="1200" b="0" i="0">
                          <a:solidFill>
                            <a:srgbClr val="153251"/>
                          </a:solidFill>
                          <a:latin typeface="Arial"/>
                          <a:ea typeface="Arial"/>
                          <a:cs typeface="Arial"/>
                        </a:rPr>
                        <a:t> so </a:t>
                      </a:r>
                      <a:r>
                        <a:rPr sz="1200" b="0" i="0">
                          <a:solidFill>
                            <a:srgbClr val="153251"/>
                          </a:solidFill>
                          <a:latin typeface="Arial"/>
                          <a:ea typeface="Arial"/>
                          <a:cs typeface="Arial"/>
                        </a:rPr>
                        <a:t>với</a:t>
                      </a:r>
                      <a:r>
                        <a:rPr sz="1200" b="0" i="0">
                          <a:solidFill>
                            <a:srgbClr val="153251"/>
                          </a:solidFill>
                          <a:latin typeface="Arial"/>
                          <a:ea typeface="Arial"/>
                          <a:cs typeface="Arial"/>
                        </a:rPr>
                        <a:t> </a:t>
                      </a:r>
                      <a:r>
                        <a:rPr sz="1200" b="0" i="0">
                          <a:solidFill>
                            <a:srgbClr val="153251"/>
                          </a:solidFill>
                          <a:latin typeface="Arial"/>
                          <a:ea typeface="Arial"/>
                          <a:cs typeface="Arial"/>
                        </a:rPr>
                        <a:t>các</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r>
                        <a:rPr sz="1200" b="0" i="0">
                          <a:solidFill>
                            <a:srgbClr val="153251"/>
                          </a:solidFill>
                          <a:latin typeface="Arial"/>
                          <a:ea typeface="Arial"/>
                          <a:cs typeface="Arial"/>
                        </a:rPr>
                        <a:t>truyền</a:t>
                      </a:r>
                      <a:r>
                        <a:rPr sz="1200" b="0" i="0">
                          <a:solidFill>
                            <a:srgbClr val="153251"/>
                          </a:solidFill>
                          <a:latin typeface="Arial"/>
                          <a:ea typeface="Arial"/>
                          <a:cs typeface="Arial"/>
                        </a:rPr>
                        <a:t> </a:t>
                      </a:r>
                      <a:r>
                        <a:rPr sz="1200" b="0" i="0">
                          <a:solidFill>
                            <a:srgbClr val="153251"/>
                          </a:solidFill>
                          <a:latin typeface="Arial"/>
                          <a:ea typeface="Arial"/>
                          <a:cs typeface="Arial"/>
                        </a:rPr>
                        <a:t>thống</a:t>
                      </a:r>
                      <a:r>
                        <a:rPr sz="1200" b="0" i="0">
                          <a:solidFill>
                            <a:srgbClr val="153251"/>
                          </a:solidFill>
                          <a:latin typeface="Arial"/>
                          <a:ea typeface="Arial"/>
                          <a:cs typeface="Arial"/>
                        </a:rPr>
                        <a:t>?</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Data quyết định từ trace, QA/lineage và cost gate. Lợi ích riêng cần đối chứng.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30925">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2. </a:t>
                      </a:r>
                      <a:r>
                        <a:rPr sz="1200" b="0" i="0">
                          <a:solidFill>
                            <a:srgbClr val="153251"/>
                          </a:solidFill>
                          <a:latin typeface="Arial"/>
                          <a:ea typeface="Arial"/>
                          <a:cs typeface="Arial"/>
                        </a:rPr>
                        <a:t>Ý tưởng này đang giải quyết vấn đề gì</a:t>
                      </a:r>
                      <a:r>
                        <a:rPr sz="1200" b="0" i="0">
                          <a:solidFill>
                            <a:srgbClr val="153251"/>
                          </a:solidFill>
                          <a:latin typeface="Arial"/>
                          <a:ea typeface="Arial"/>
                          <a:cs typeface="Arial"/>
                        </a:rPr>
                        <a:t> </a:t>
                      </a:r>
                      <a:r>
                        <a:rPr sz="1200" b="0" i="0">
                          <a:solidFill>
                            <a:srgbClr val="153251"/>
                          </a:solidFill>
                          <a:latin typeface="Arial"/>
                          <a:ea typeface="Arial"/>
                          <a:cs typeface="Arial"/>
                        </a:rPr>
                        <a:t>tại</a:t>
                      </a:r>
                      <a:r>
                        <a:rPr sz="1200" b="0" i="0">
                          <a:solidFill>
                            <a:srgbClr val="153251"/>
                          </a:solidFill>
                          <a:latin typeface="Arial"/>
                          <a:ea typeface="Arial"/>
                          <a:cs typeface="Arial"/>
                        </a:rPr>
                        <a:t> Denso</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Giảm công phát triển skill. Hiện trạng DENSO cần task owner xác nhận.</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05069">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3. Phương </a:t>
                      </a:r>
                      <a:r>
                        <a:rPr sz="1200" b="0" i="0">
                          <a:solidFill>
                            <a:srgbClr val="153251"/>
                          </a:solidFill>
                          <a:latin typeface="Arial"/>
                          <a:ea typeface="Arial"/>
                          <a:cs typeface="Arial"/>
                        </a:rPr>
                        <a:t>pháp</a:t>
                      </a:r>
                      <a:r>
                        <a:rPr sz="1200" b="0" i="0">
                          <a:solidFill>
                            <a:srgbClr val="153251"/>
                          </a:solidFill>
                          <a:latin typeface="Arial"/>
                          <a:ea typeface="Arial"/>
                          <a:cs typeface="Arial"/>
                        </a:rPr>
                        <a:t>/</a:t>
                      </a:r>
                      <a:r>
                        <a:rPr sz="1200" b="0" i="0">
                          <a:solidFill>
                            <a:srgbClr val="153251"/>
                          </a:solidFill>
                          <a:latin typeface="Arial"/>
                          <a:ea typeface="Arial"/>
                          <a:cs typeface="Arial"/>
                        </a:rPr>
                        <a:t>công</a:t>
                      </a:r>
                      <a:r>
                        <a:rPr sz="1200" b="0" i="0">
                          <a:solidFill>
                            <a:srgbClr val="153251"/>
                          </a:solidFill>
                          <a:latin typeface="Arial"/>
                          <a:ea typeface="Arial"/>
                          <a:cs typeface="Arial"/>
                        </a:rPr>
                        <a:t> </a:t>
                      </a:r>
                      <a:r>
                        <a:rPr sz="1200" b="0" i="0">
                          <a:solidFill>
                            <a:srgbClr val="153251"/>
                          </a:solidFill>
                          <a:latin typeface="Arial"/>
                          <a:ea typeface="Arial"/>
                          <a:cs typeface="Arial"/>
                        </a:rPr>
                        <a:t>cụ</a:t>
                      </a:r>
                      <a:r>
                        <a:rPr sz="1200" b="0" i="0">
                          <a:solidFill>
                            <a:srgbClr val="153251"/>
                          </a:solidFill>
                          <a:latin typeface="Arial"/>
                          <a:ea typeface="Arial"/>
                          <a:cs typeface="Arial"/>
                        </a:rPr>
                        <a:t> </a:t>
                      </a:r>
                      <a:r>
                        <a:rPr sz="1200" b="0" i="0">
                          <a:solidFill>
                            <a:srgbClr val="153251"/>
                          </a:solidFill>
                          <a:latin typeface="Arial"/>
                          <a:ea typeface="Arial"/>
                          <a:cs typeface="Arial"/>
                        </a:rPr>
                        <a:t>áp</a:t>
                      </a:r>
                      <a:r>
                        <a:rPr sz="1200" b="0" i="0">
                          <a:solidFill>
                            <a:srgbClr val="153251"/>
                          </a:solidFill>
                          <a:latin typeface="Arial"/>
                          <a:ea typeface="Arial"/>
                          <a:cs typeface="Arial"/>
                        </a:rPr>
                        <a:t> </a:t>
                      </a:r>
                      <a:r>
                        <a:rPr sz="1200" b="0" i="0">
                          <a:solidFill>
                            <a:srgbClr val="153251"/>
                          </a:solidFill>
                          <a:latin typeface="Arial"/>
                          <a:ea typeface="Arial"/>
                          <a:cs typeface="Arial"/>
                        </a:rPr>
                        <a:t>dụng</a:t>
                      </a:r>
                      <a:r>
                        <a:rPr sz="1200" b="0" i="0">
                          <a:solidFill>
                            <a:srgbClr val="153251"/>
                          </a:solidFill>
                          <a:latin typeface="Arial"/>
                          <a:ea typeface="Arial"/>
                          <a:cs typeface="Arial"/>
                        </a:rPr>
                        <a:t> </a:t>
                      </a:r>
                      <a:r>
                        <a:rPr sz="1200" b="0" i="0">
                          <a:solidFill>
                            <a:srgbClr val="153251"/>
                          </a:solidFill>
                          <a:latin typeface="Arial"/>
                          <a:ea typeface="Arial"/>
                          <a:cs typeface="Arial"/>
                        </a:rPr>
                        <a:t>và</a:t>
                      </a:r>
                      <a:r>
                        <a:rPr sz="1200" b="0" i="0">
                          <a:solidFill>
                            <a:srgbClr val="153251"/>
                          </a:solidFill>
                          <a:latin typeface="Arial"/>
                          <a:ea typeface="Arial"/>
                          <a:cs typeface="Arial"/>
                        </a:rPr>
                        <a:t> </a:t>
                      </a:r>
                      <a:r>
                        <a:rPr sz="1200" b="0" i="0">
                          <a:solidFill>
                            <a:srgbClr val="153251"/>
                          </a:solidFill>
                          <a:latin typeface="Arial"/>
                          <a:ea typeface="Arial"/>
                          <a:cs typeface="Arial"/>
                        </a:rPr>
                        <a:t>thời</a:t>
                      </a:r>
                      <a:r>
                        <a:rPr sz="1200" b="0" i="0">
                          <a:solidFill>
                            <a:srgbClr val="153251"/>
                          </a:solidFill>
                          <a:latin typeface="Arial"/>
                          <a:ea typeface="Arial"/>
                          <a:cs typeface="Arial"/>
                        </a:rPr>
                        <a:t> </a:t>
                      </a:r>
                      <a:r>
                        <a:rPr sz="1200" b="0" i="0">
                          <a:solidFill>
                            <a:srgbClr val="153251"/>
                          </a:solidFill>
                          <a:latin typeface="Arial"/>
                          <a:ea typeface="Arial"/>
                          <a:cs typeface="Arial"/>
                        </a:rPr>
                        <a:t>gian</a:t>
                      </a:r>
                      <a:r>
                        <a:rPr sz="1200" b="0" i="0">
                          <a:solidFill>
                            <a:srgbClr val="153251"/>
                          </a:solidFill>
                          <a:latin typeface="Arial"/>
                          <a:ea typeface="Arial"/>
                          <a:cs typeface="Arial"/>
                        </a:rPr>
                        <a:t>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dự</a:t>
                      </a:r>
                      <a:r>
                        <a:rPr sz="1200" b="0" i="0">
                          <a:solidFill>
                            <a:srgbClr val="153251"/>
                          </a:solidFill>
                          <a:latin typeface="Arial"/>
                          <a:ea typeface="Arial"/>
                          <a:cs typeface="Arial"/>
                        </a:rPr>
                        <a:t> </a:t>
                      </a:r>
                      <a:r>
                        <a:rPr sz="1200" b="0" i="0">
                          <a:solidFill>
                            <a:srgbClr val="153251"/>
                          </a:solidFill>
                          <a:latin typeface="Arial"/>
                          <a:ea typeface="Arial"/>
                          <a:cs typeface="Arial"/>
                        </a:rPr>
                        <a:t>án</a:t>
                      </a:r>
                      <a:r>
                        <a:rPr sz="1200" b="0" i="0">
                          <a:solidFill>
                            <a:srgbClr val="153251"/>
                          </a:solidFill>
                          <a:latin typeface="Arial"/>
                          <a:ea typeface="Arial"/>
                          <a:cs typeface="Arial"/>
                        </a:rPr>
                        <a:t>?</a:t>
                      </a:r>
                      <a:endParaRPr sz="1100" b="0" i="0" kern="1200">
                        <a:solidFill>
                          <a:schemeClr val="dk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FluxVLA / GR00T N1.5, R rồi R+S_exec. Planning 8–12 tuần có gate.</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13688">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4. </a:t>
                      </a:r>
                      <a:r>
                        <a:rPr sz="1200" b="0" i="0">
                          <a:solidFill>
                            <a:srgbClr val="153251"/>
                          </a:solidFill>
                          <a:latin typeface="Arial"/>
                          <a:ea typeface="Arial"/>
                          <a:cs typeface="Arial"/>
                        </a:rPr>
                        <a:t>Ý tưởng này mang lại hiệu quả gì?</a:t>
                      </a:r>
                      <a:r>
                        <a:rPr sz="1200" b="0" i="0">
                          <a:solidFill>
                            <a:srgbClr val="153251"/>
                          </a:solidFill>
                          <a:latin typeface="Arial"/>
                          <a:ea typeface="Arial"/>
                          <a:cs typeface="Arial"/>
                        </a:rPr>
                        <a:t> Cho </a:t>
                      </a:r>
                      <a:r>
                        <a:rPr sz="1200" b="0" i="0">
                          <a:solidFill>
                            <a:srgbClr val="153251"/>
                          </a:solidFill>
                          <a:latin typeface="Arial"/>
                          <a:ea typeface="Arial"/>
                          <a:cs typeface="Arial"/>
                        </a:rPr>
                        <a:t>số</a:t>
                      </a:r>
                      <a:r>
                        <a:rPr sz="1200" b="0" i="0">
                          <a:solidFill>
                            <a:srgbClr val="153251"/>
                          </a:solidFill>
                          <a:latin typeface="Arial"/>
                          <a:ea typeface="Arial"/>
                          <a:cs typeface="Arial"/>
                        </a:rPr>
                        <a:t> </a:t>
                      </a:r>
                      <a:r>
                        <a:rPr sz="1200" b="0" i="0">
                          <a:solidFill>
                            <a:srgbClr val="153251"/>
                          </a:solidFill>
                          <a:latin typeface="Arial"/>
                          <a:ea typeface="Arial"/>
                          <a:cs typeface="Arial"/>
                        </a:rPr>
                        <a:t>liệu</a:t>
                      </a:r>
                      <a:r>
                        <a:rPr sz="1200" b="0" i="0">
                          <a:solidFill>
                            <a:srgbClr val="153251"/>
                          </a:solidFill>
                          <a:latin typeface="Arial"/>
                          <a:ea typeface="Arial"/>
                          <a:cs typeface="Arial"/>
                        </a:rPr>
                        <a:t>.</a:t>
                      </a:r>
                      <a:endParaRPr sz="1100" b="0" i="0" kern="1200">
                        <a:solidFill>
                          <a:schemeClr val="tx1"/>
                        </a:solidFill>
                        <a:latin typeface="Segoe UI"/>
                        <a:ea typeface="Segoe UI"/>
                        <a:cs typeface="Segoe UI"/>
                      </a:endParaRP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Ngân sách giả định 5.187,20 USD. Native quality, saving và ROI chưa đo.</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474018">
                <a:tc>
                  <a:txBody>
                    <a:bodyPr wrap="square" lIns="76200" tIns="38100" rIns="76200" bIns="38100"/>
                    <a:lstStyle/>
                    <a:p>
                      <a:pPr marL="0" algn="l">
                        <a:lnSpc>
                          <a:spcPts val="1500"/>
                        </a:lnSpc>
                        <a:buNone/>
                      </a:pPr>
                      <a:r>
                        <a:rPr sz="1200" b="0" i="0">
                          <a:solidFill>
                            <a:srgbClr val="153251"/>
                          </a:solidFill>
                          <a:latin typeface="Arial"/>
                          <a:ea typeface="Arial"/>
                          <a:cs typeface="Arial"/>
                        </a:rPr>
                        <a:t>5. </a:t>
                      </a:r>
                      <a:r>
                        <a:rPr sz="1200" b="0" i="0">
                          <a:solidFill>
                            <a:srgbClr val="153251"/>
                          </a:solidFill>
                          <a:latin typeface="Arial"/>
                          <a:ea typeface="Arial"/>
                          <a:cs typeface="Arial"/>
                        </a:rPr>
                        <a:t> Khả năng mở rộng, triển khai ngang của dự án là gì (trong nội bộ Denso hoặc các nhà máy khác)? </a:t>
                      </a:r>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c>
                  <a:txBody>
                    <a:bodyPr wrap="square" lIns="76200" tIns="38100" rIns="76200" bIns="38100"/>
                    <a:lstStyle/>
                    <a:p>
                      <a:r>
                        <a:rPr sz="1200">
                          <a:solidFill>
                            <a:srgbClr val="153251"/>
                          </a:solidFill>
                          <a:latin typeface="Arial"/>
                          <a:ea typeface="Arial"/>
                          <a:cs typeface="Arial"/>
                        </a:rPr>
                        <a:t>Task 2 cùng robot để đo reuse. Robot mới cần binding và nghiệm thu riêng.</a:t>
                      </a:r>
                      <a:endParaRPr sz="1000"/>
                    </a:p>
                  </a:txBody>
                  <a:tcPr marL="91440" marR="91440" marT="45720" marB="45720">
                    <a:lnL w="12700">
                      <a:solidFill>
                        <a:schemeClr val="tx1"/>
                      </a:solidFill>
                    </a:lnL>
                    <a:lnR w="12700">
                      <a:solidFill>
                        <a:schemeClr val="tx1"/>
                      </a:solidFill>
                    </a:lnR>
                    <a:lnT w="12700">
                      <a:solidFill>
                        <a:schemeClr val="tx1"/>
                      </a:solidFill>
                    </a:lnT>
                    <a:lnB w="12700">
                      <a:solidFill>
                        <a:schemeClr val="tx1"/>
                      </a:solidFill>
                    </a:lnB>
                    <a:solidFill>
                      <a:schemeClr val="bg1"/>
                    </a:solidFill>
                  </a:tcPr>
                </a:tc>
              </a:tr>
              <a:tr h="508492">
                <a:tc>
                  <a:txBody>
                    <a:bodyPr wrap="square" lIns="76200" tIns="38100" rIns="76200" bIns="38100"/>
                    <a:lstStyle/>
                    <a:p>
                      <a:pPr marL="0" algn="l" defTabSz="914400">
                        <a:lnSpc>
                          <a:spcPts val="1500"/>
                        </a:lnSpc>
                        <a:buNone/>
                      </a:pPr>
                      <a:r>
                        <a:rPr sz="1200" b="0" i="0">
                          <a:solidFill>
                            <a:srgbClr val="153251"/>
                          </a:solidFill>
                          <a:latin typeface="Arial"/>
                          <a:ea typeface="Arial"/>
                          <a:cs typeface="Arial"/>
                        </a:rPr>
                        <a:t>6. </a:t>
                      </a:r>
                      <a:r>
                        <a:rPr sz="1200" b="0" i="0">
                          <a:solidFill>
                            <a:srgbClr val="153251"/>
                          </a:solidFill>
                          <a:latin typeface="Arial"/>
                          <a:ea typeface="Arial"/>
                          <a:cs typeface="Arial"/>
                        </a:rPr>
                        <a:t>Nhóm đã có những kiến thức hoặc kinh nghiệm nào giúp </a:t>
                      </a:r>
                      <a:r>
                        <a:rPr sz="1200" b="0" i="0">
                          <a:solidFill>
                            <a:srgbClr val="153251"/>
                          </a:solidFill>
                          <a:latin typeface="Arial"/>
                          <a:ea typeface="Arial"/>
                          <a:cs typeface="Arial"/>
                        </a:rPr>
                        <a:t>thực</a:t>
                      </a:r>
                      <a:r>
                        <a:rPr sz="1200" b="0" i="0">
                          <a:solidFill>
                            <a:srgbClr val="153251"/>
                          </a:solidFill>
                          <a:latin typeface="Arial"/>
                          <a:ea typeface="Arial"/>
                          <a:cs typeface="Arial"/>
                        </a:rPr>
                        <a:t> </a:t>
                      </a:r>
                      <a:r>
                        <a:rPr sz="1200" b="0" i="0">
                          <a:solidFill>
                            <a:srgbClr val="153251"/>
                          </a:solidFill>
                          <a:latin typeface="Arial"/>
                          <a:ea typeface="Arial"/>
                          <a:cs typeface="Arial"/>
                        </a:rPr>
                        <a:t>hiện</a:t>
                      </a:r>
                      <a:r>
                        <a:rPr sz="1200" b="0" i="0">
                          <a:solidFill>
                            <a:srgbClr val="153251"/>
                          </a:solidFill>
                          <a:latin typeface="Arial"/>
                          <a:ea typeface="Arial"/>
                          <a:cs typeface="Arial"/>
                        </a:rPr>
                        <a:t> </a:t>
                      </a:r>
                      <a:r>
                        <a:rPr sz="1200" b="0" i="0">
                          <a:solidFill>
                            <a:srgbClr val="153251"/>
                          </a:solidFill>
                          <a:latin typeface="Arial"/>
                          <a:ea typeface="Arial"/>
                          <a:cs typeface="Arial"/>
                        </a:rPr>
                        <a:t>giải</a:t>
                      </a:r>
                      <a:r>
                        <a:rPr sz="1200" b="0" i="0">
                          <a:solidFill>
                            <a:srgbClr val="153251"/>
                          </a:solidFill>
                          <a:latin typeface="Arial"/>
                          <a:ea typeface="Arial"/>
                          <a:cs typeface="Arial"/>
                        </a:rPr>
                        <a:t> </a:t>
                      </a:r>
                      <a:r>
                        <a:rPr sz="1200" b="0" i="0">
                          <a:solidFill>
                            <a:srgbClr val="153251"/>
                          </a:solidFill>
                          <a:latin typeface="Arial"/>
                          <a:ea typeface="Arial"/>
                          <a:cs typeface="Arial"/>
                        </a:rPr>
                        <a:t>pháp</a:t>
                      </a:r>
                      <a:r>
                        <a:rPr sz="1200" b="0" i="0">
                          <a:solidFill>
                            <a:srgbClr val="153251"/>
                          </a:solidFill>
                          <a:latin typeface="Arial"/>
                          <a:ea typeface="Arial"/>
                          <a:cs typeface="Arial"/>
                        </a:rPr>
                        <a:t>? </a:t>
                      </a:r>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c>
                  <a:txBody>
                    <a:bodyPr wrap="square" lIns="76200" tIns="38100" rIns="76200" bIns="38100"/>
                    <a:lstStyle/>
                    <a:p>
                      <a:r>
                        <a:rPr sz="1200">
                          <a:solidFill>
                            <a:srgbClr val="153251"/>
                          </a:solidFill>
                          <a:latin typeface="Arial"/>
                          <a:ea typeface="Arial"/>
                          <a:cs typeface="Arial"/>
                        </a:rPr>
                        <a:t>Cần bổ sung tên đội, thành viên, năng lực và task owner trước nộp.</a:t>
                      </a:r>
                      <a:endParaRPr sz="1000"/>
                    </a:p>
                  </a:txBody>
                  <a:tcPr marL="91440" marR="91440" marT="45720" marB="45720">
                    <a:lnL w="12700">
                      <a:solidFill>
                        <a:schemeClr val="tx1"/>
                      </a:solidFill>
                    </a:lnL>
                    <a:lnR w="12700">
                      <a:solidFill>
                        <a:schemeClr val="tx1"/>
                      </a:solidFill>
                    </a:lnR>
                    <a:lnT w="12700">
                      <a:solidFill>
                        <a:schemeClr val="tx1"/>
                      </a:solidFill>
                    </a:lnT>
                    <a:lnB w="12700" cmpd="sng">
                      <a:solidFill>
                        <a:schemeClr val="tx1"/>
                      </a:solidFill>
                      <a:prstDash val="solid"/>
                    </a:lnB>
                    <a:solidFill>
                      <a:schemeClr val="bg1"/>
                    </a:solidFill>
                  </a:tcPr>
                </a:tc>
              </a:tr>
            </a:tbl>
          </a:graphicData>
        </a:graphic>
      </p:graphicFrame>
      <p:sp>
        <p:nvSpPr>
          <p:cNvPr id="11" name="TextBox 10">
            <a:extLst xmlns:a="http://schemas.openxmlformats.org/drawingml/2006/main">
              <a:ext uri="{FF2B5EF4-FFF2-40B4-BE49-F238E27FC236}">
                <a16:creationId xmlns:a16="http://schemas.microsoft.com/office/drawing/2014/main" id="{348D47AE-57F8-687A-CBC0-75FCFD9999EA}"/>
              </a:ext>
            </a:extLst>
          </p:cNvPr>
          <p:cNvSpPr>
            <a:spLocks xmlns:a="http://schemas.openxmlformats.org/drawingml/2006/main" noGrp="1"/>
          </p:cNvSpPr>
          <p:nvPr/>
        </p:nvSpPr>
        <p:spPr>
          <a:xfrm xmlns:a="http://schemas.openxmlformats.org/drawingml/2006/main">
            <a:off x="409575" y="1019175"/>
            <a:ext cx="10001250" cy="388620"/>
          </a:xfrm>
          <a:prstGeom xmlns:a="http://schemas.openxmlformats.org/drawingml/2006/main" prst="rect">
            <a:avLst/>
          </a:prstGeom>
          <a:noFill xmlns:a="http://schemas.openxmlformats.org/drawingml/2006/main"/>
        </p:spPr>
        <p:txBody>
          <a:bodyPr xmlns:a="http://schemas.openxmlformats.org/drawingml/2006/main" rot="0" spcFirstLastPara="0" vert="horz" wrap="square" lIns="0" tIns="0" rIns="0" bIns="0" anchor="t">
            <a:noAutofit/>
          </a:bodyPr>
          <a:lstStyle xmlns:a="http://schemas.openxmlformats.org/drawingml/2006/main"/>
          <a:p xmlns:a="http://schemas.openxmlformats.org/drawingml/2006/main">
            <a:pPr algn="l">
              <a:buNone/>
              <a:defRPr sz="1950" b="1">
                <a:solidFill>
                  <a:srgbClr val="153251"/>
                </a:solidFill>
                <a:latin typeface="Arial"/>
                <a:ea typeface="Arial"/>
                <a:cs typeface="Arial"/>
              </a:defRPr>
            </a:pPr>
            <a:r>
              <a:rPr sz="1950" b="1">
                <a:solidFill>
                  <a:srgbClr val="153251"/>
                </a:solidFill>
                <a:latin typeface="Arial"/>
                <a:ea typeface="Arial"/>
                <a:cs typeface="Arial"/>
              </a:rPr>
              <a:t>CHỦ ĐỀ: HUMANOID &amp; ROBOT</a:t>
            </a:r>
            <a:endParaRPr sz="1000">
              <a:solidFill>
                <a:schemeClr val="dk1"/>
              </a:solidFill>
              <a:latin typeface="Segoe UI"/>
              <a:ea typeface="Segoe UI"/>
              <a:cs typeface="Segoe UI"/>
            </a:endParaRPr>
          </a:p>
        </p:txBody>
      </p:sp>
      <p:sp>
        <p:nvSpPr>
          <p:cNvPr id="13" name="Text 29">
            <a:extLst xmlns:a="http://schemas.openxmlformats.org/drawingml/2006/main">
              <a:ext uri="{FF2B5EF4-FFF2-40B4-BE49-F238E27FC236}">
                <a16:creationId xmlns:a16="http://schemas.microsoft.com/office/drawing/2014/main" id="{25E15B6E-A7C7-308A-A4B0-A746D6D3C5B1}"/>
              </a:ext>
            </a:extLst>
          </p:cNvPr>
          <p:cNvSpPr>
            <a:spLocks xmlns:a="http://schemas.openxmlformats.org/drawingml/2006/main" noGrp="1"/>
          </p:cNvSpPr>
          <p:nvPr/>
        </p:nvSpPr>
        <p:spPr>
          <a:xfrm xmlns:a="http://schemas.openxmlformats.org/drawingml/2006/main">
            <a:off x="534365" y="1543093"/>
            <a:ext cx="1001268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r>
              <a:rPr sz="1100" b="1">
                <a:solidFill>
                  <a:schemeClr val="dk1"/>
                </a:solidFill>
                <a:latin typeface="Segoe UI"/>
                <a:ea typeface="Segoe UI"/>
                <a:cs typeface="Segoe UI"/>
              </a:rPr>
              <a:t>Ý tưởng của nhóm thuộc chủ đề nào trong các nhóm sau?</a:t>
            </a:r>
            <a:endParaRPr sz="1100" b="1">
              <a:solidFill>
                <a:schemeClr val="dk1"/>
              </a:solidFill>
              <a:latin typeface="Segoe UI"/>
              <a:ea typeface="Segoe UI"/>
              <a:cs typeface="Segoe UI"/>
            </a:endParaRPr>
          </a:p>
        </p:txBody>
      </p:sp>
      <p:sp>
        <p:nvSpPr>
          <p:cNvPr id="14" name="Text 30">
            <a:extLst xmlns:a="http://schemas.openxmlformats.org/drawingml/2006/main">
              <a:ext uri="{FF2B5EF4-FFF2-40B4-BE49-F238E27FC236}">
                <a16:creationId xmlns:a16="http://schemas.microsoft.com/office/drawing/2014/main" id="{9AEA12A2-25BB-E01E-514F-6A1F1EA3F660}"/>
              </a:ext>
            </a:extLst>
          </p:cNvPr>
          <p:cNvSpPr>
            <a:spLocks xmlns:a="http://schemas.openxmlformats.org/drawingml/2006/main" noGrp="1"/>
          </p:cNvSpPr>
          <p:nvPr/>
        </p:nvSpPr>
        <p:spPr>
          <a:xfrm xmlns:a="http://schemas.openxmlformats.org/drawingml/2006/main">
            <a:off x="847742" y="1873192"/>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AI - Dự báo &amp; Tri thức</a:t>
            </a:r>
            <a:endParaRPr sz="1000">
              <a:solidFill>
                <a:srgbClr val="1E293B"/>
              </a:solidFill>
              <a:latin typeface="Arial"/>
              <a:ea typeface="Arial"/>
              <a:cs typeface="Arial"/>
            </a:endParaRPr>
          </a:p>
        </p:txBody>
      </p:sp>
      <p:sp>
        <p:nvSpPr>
          <p:cNvPr id="15" name="Text 30">
            <a:extLst xmlns:a="http://schemas.openxmlformats.org/drawingml/2006/main">
              <a:ext uri="{FF2B5EF4-FFF2-40B4-BE49-F238E27FC236}">
                <a16:creationId xmlns:a16="http://schemas.microsoft.com/office/drawing/2014/main" id="{4D97672C-B0A2-BBA9-5911-1896C95FA7C9}"/>
              </a:ext>
            </a:extLst>
          </p:cNvPr>
          <p:cNvSpPr>
            <a:spLocks xmlns:a="http://schemas.openxmlformats.org/drawingml/2006/main" noGrp="1"/>
          </p:cNvSpPr>
          <p:nvPr/>
        </p:nvSpPr>
        <p:spPr>
          <a:xfrm xmlns:a="http://schemas.openxmlformats.org/drawingml/2006/main">
            <a:off x="2837684" y="1868740"/>
            <a:ext cx="1588812" cy="90523"/>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Humanoid &amp; Robot</a:t>
            </a:r>
            <a:endParaRPr sz="1000">
              <a:solidFill>
                <a:srgbClr val="1E293B"/>
              </a:solidFill>
              <a:latin typeface="Arial"/>
              <a:ea typeface="Arial"/>
              <a:cs typeface="Arial"/>
            </a:endParaRPr>
          </a:p>
        </p:txBody>
      </p:sp>
      <p:sp>
        <p:nvSpPr>
          <p:cNvPr id="16" name="Text 30">
            <a:extLst xmlns:a="http://schemas.openxmlformats.org/drawingml/2006/main">
              <a:ext uri="{FF2B5EF4-FFF2-40B4-BE49-F238E27FC236}">
                <a16:creationId xmlns:a16="http://schemas.microsoft.com/office/drawing/2014/main" id="{A4AED8C6-3272-F355-D7B8-869D77C106D4}"/>
              </a:ext>
            </a:extLst>
          </p:cNvPr>
          <p:cNvSpPr>
            <a:spLocks xmlns:a="http://schemas.openxmlformats.org/drawingml/2006/main" noGrp="1"/>
          </p:cNvSpPr>
          <p:nvPr/>
        </p:nvSpPr>
        <p:spPr>
          <a:xfrm xmlns:a="http://schemas.openxmlformats.org/drawingml/2006/main">
            <a:off x="4944071" y="1877816"/>
            <a:ext cx="1804758" cy="85900"/>
          </a:xfrm>
          <a:prstGeom xmlns:a="http://schemas.openxmlformats.org/drawingml/2006/main" prst="rect">
            <a:avLst/>
          </a:prstGeom>
          <a:noFill xmlns:a="http://schemas.openxmlformats.org/drawingml/2006/main"/>
        </p:spPr>
        <p:txBody>
          <a:bodyPr xmlns:a="http://schemas.openxmlformats.org/drawingml/2006/main" wrap="square" lIns="508" tIns="508" rIns="508" bIns="508" anchor="ctr">
            <a:noAutofit/>
          </a:bodyPr>
          <a:lstStyle xmlns:a="http://schemas.openxmlformats.org/drawingml/2006/main">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xmlns:a="http://schemas.openxmlformats.org/drawingml/2006/main">
            <a:pPr marL="0" indent="0">
              <a:buNone/>
            </a:pPr>
            <a:r>
              <a:rPr sz="1000">
                <a:solidFill>
                  <a:srgbClr val="1E293B"/>
                </a:solidFill>
                <a:latin typeface="Arial"/>
                <a:ea typeface="Arial"/>
                <a:cs typeface="Arial"/>
              </a:rPr>
              <a:t>Data - Chuẩn hóa &amp; Khai thác</a:t>
            </a:r>
            <a:endParaRPr sz="1000">
              <a:solidFill>
                <a:srgbClr val="1E293B"/>
              </a:solidFill>
              <a:latin typeface="Arial"/>
              <a:ea typeface="Arial"/>
              <a:cs typeface="Arial"/>
            </a:endParaRPr>
          </a:p>
        </p:txBody>
      </p:sp>
      <p:sp>
        <p:nvSpPr>
          <p:cNvPr id="17" name="Rectangle 16">
            <a:extLst xmlns:a="http://schemas.openxmlformats.org/drawingml/2006/main">
              <a:ext uri="{FF2B5EF4-FFF2-40B4-BE49-F238E27FC236}">
                <a16:creationId xmlns:a16="http://schemas.microsoft.com/office/drawing/2014/main" id="{6F20411B-B2D9-55D7-722A-6EB4D6330013}"/>
              </a:ext>
            </a:extLst>
          </p:cNvPr>
          <p:cNvSpPr>
            <a:spLocks xmlns:a="http://schemas.openxmlformats.org/drawingml/2006/main" noGrp="1"/>
          </p:cNvSpPr>
          <p:nvPr/>
        </p:nvSpPr>
        <p:spPr>
          <a:xfrm xmlns:a="http://schemas.openxmlformats.org/drawingml/2006/main">
            <a:off x="644238" y="1873192"/>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8" name="Rectangle 17">
            <a:extLst xmlns:a="http://schemas.openxmlformats.org/drawingml/2006/main">
              <a:ext uri="{FF2B5EF4-FFF2-40B4-BE49-F238E27FC236}">
                <a16:creationId xmlns:a16="http://schemas.microsoft.com/office/drawing/2014/main" id="{D796DE39-E33D-7996-C1FA-B4CD2F89DAEC}"/>
              </a:ext>
            </a:extLst>
          </p:cNvPr>
          <p:cNvSpPr>
            <a:spLocks xmlns:a="http://schemas.openxmlformats.org/drawingml/2006/main" noGrp="1"/>
          </p:cNvSpPr>
          <p:nvPr/>
        </p:nvSpPr>
        <p:spPr>
          <a:xfrm xmlns:a="http://schemas.openxmlformats.org/drawingml/2006/main">
            <a:off x="2616202" y="1868574"/>
            <a:ext cx="144882" cy="90523"/>
          </a:xfrm>
          <a:prstGeom xmlns:a="http://schemas.openxmlformats.org/drawingml/2006/main" prst="rect">
            <a:avLst/>
          </a:prstGeom>
          <a:solidFill xmlns:a="http://schemas.openxmlformats.org/drawingml/2006/main">
            <a:srgbClr val="30D158"/>
          </a:solidFill>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19" name="Rectangle 18">
            <a:extLst xmlns:a="http://schemas.openxmlformats.org/drawingml/2006/main">
              <a:ext uri="{FF2B5EF4-FFF2-40B4-BE49-F238E27FC236}">
                <a16:creationId xmlns:a16="http://schemas.microsoft.com/office/drawing/2014/main" id="{CE1310F5-42A6-B302-EE06-21793C461251}"/>
              </a:ext>
            </a:extLst>
          </p:cNvPr>
          <p:cNvSpPr>
            <a:spLocks xmlns:a="http://schemas.openxmlformats.org/drawingml/2006/main" noGrp="1"/>
          </p:cNvSpPr>
          <p:nvPr/>
        </p:nvSpPr>
        <p:spPr>
          <a:xfrm xmlns:a="http://schemas.openxmlformats.org/drawingml/2006/main">
            <a:off x="4749805" y="1868576"/>
            <a:ext cx="144882" cy="90523"/>
          </a:xfrm>
          <a:prstGeom xmlns:a="http://schemas.openxmlformats.org/drawingml/2006/main" prst="rect">
            <a:avLst/>
          </a:prstGeom>
        </p:spPr>
        <p:style>
          <a:lnRef xmlns:a="http://schemas.openxmlformats.org/drawingml/2006/main" idx="2">
            <a:schemeClr val="dk1"/>
          </a:lnRef>
          <a:fillRef xmlns:a="http://schemas.openxmlformats.org/drawingml/2006/main" idx="1">
            <a:schemeClr val="lt1"/>
          </a:fillRef>
          <a:effectRef xmlns:a="http://schemas.openxmlformats.org/drawingml/2006/main" idx="0">
            <a:schemeClr val="dk1"/>
          </a:effectRef>
          <a:fontRef xmlns:a="http://schemas.openxmlformats.org/drawingml/2006/main" idx="minor">
            <a:schemeClr val="dk1"/>
          </a:fontRef>
        </p:style>
        <p:txBody>
          <a:bodyPr xmlns:a="http://schemas.openxmlformats.org/drawingml/2006/main" anchor="ctr"/>
          <a:lstStyle xmlns:a="http://schemas.openxmlformats.org/drawingml/2006/main">
            <a:lvl1pPr marL="0" algn="l" defTabSz="914400">
              <a:buNone/>
              <a:defRPr sz="1800" kern="1200">
                <a:solidFill>
                  <a:schemeClr val="dk1"/>
                </a:solidFill>
                <a:latin typeface="+mn-lt"/>
                <a:ea typeface="+mn-lt"/>
                <a:cs typeface="+mn-lt"/>
              </a:defRPr>
            </a:lvl1pPr>
            <a:lvl2pPr marL="457200" algn="l" defTabSz="914400">
              <a:buNone/>
              <a:defRPr sz="1800" kern="1200">
                <a:solidFill>
                  <a:schemeClr val="dk1"/>
                </a:solidFill>
                <a:latin typeface="+mn-lt"/>
                <a:ea typeface="+mn-lt"/>
                <a:cs typeface="+mn-lt"/>
              </a:defRPr>
            </a:lvl2pPr>
            <a:lvl3pPr marL="914400" algn="l" defTabSz="914400">
              <a:buNone/>
              <a:defRPr sz="1800" kern="1200">
                <a:solidFill>
                  <a:schemeClr val="dk1"/>
                </a:solidFill>
                <a:latin typeface="+mn-lt"/>
                <a:ea typeface="+mn-lt"/>
                <a:cs typeface="+mn-lt"/>
              </a:defRPr>
            </a:lvl3pPr>
            <a:lvl4pPr marL="1371600" algn="l" defTabSz="914400">
              <a:buNone/>
              <a:defRPr sz="1800" kern="1200">
                <a:solidFill>
                  <a:schemeClr val="dk1"/>
                </a:solidFill>
                <a:latin typeface="+mn-lt"/>
                <a:ea typeface="+mn-lt"/>
                <a:cs typeface="+mn-lt"/>
              </a:defRPr>
            </a:lvl4pPr>
            <a:lvl5pPr marL="1828800" algn="l" defTabSz="914400">
              <a:buNone/>
              <a:defRPr sz="1800" kern="1200">
                <a:solidFill>
                  <a:schemeClr val="dk1"/>
                </a:solidFill>
                <a:latin typeface="+mn-lt"/>
                <a:ea typeface="+mn-lt"/>
                <a:cs typeface="+mn-lt"/>
              </a:defRPr>
            </a:lvl5pPr>
            <a:lvl6pPr marL="2286000" algn="l" defTabSz="914400">
              <a:buNone/>
              <a:defRPr sz="1800" kern="1200">
                <a:solidFill>
                  <a:schemeClr val="dk1"/>
                </a:solidFill>
                <a:latin typeface="+mn-lt"/>
                <a:ea typeface="+mn-lt"/>
                <a:cs typeface="+mn-lt"/>
              </a:defRPr>
            </a:lvl6pPr>
            <a:lvl7pPr marL="2743200" algn="l" defTabSz="914400">
              <a:buNone/>
              <a:defRPr sz="1800" kern="1200">
                <a:solidFill>
                  <a:schemeClr val="dk1"/>
                </a:solidFill>
                <a:latin typeface="+mn-lt"/>
                <a:ea typeface="+mn-lt"/>
                <a:cs typeface="+mn-lt"/>
              </a:defRPr>
            </a:lvl7pPr>
            <a:lvl8pPr marL="3200400" algn="l" defTabSz="914400">
              <a:buNone/>
              <a:defRPr sz="1800" kern="1200">
                <a:solidFill>
                  <a:schemeClr val="dk1"/>
                </a:solidFill>
                <a:latin typeface="+mn-lt"/>
                <a:ea typeface="+mn-lt"/>
                <a:cs typeface="+mn-lt"/>
              </a:defRPr>
            </a:lvl8pPr>
            <a:lvl9pPr marL="3657600" algn="l" defTabSz="914400">
              <a:buNone/>
              <a:defRPr sz="1800" kern="1200">
                <a:solidFill>
                  <a:schemeClr val="dk1"/>
                </a:solidFill>
                <a:latin typeface="+mn-lt"/>
                <a:ea typeface="+mn-lt"/>
                <a:cs typeface="+mn-lt"/>
              </a:defRPr>
            </a:lvl9pPr>
          </a:lstStyle>
          <a:p xmlns:a="http://schemas.openxmlformats.org/drawingml/2006/main">
            <a:pPr algn="ctr">
              <a:buNone/>
            </a:pPr>
            <a:endParaRPr/>
          </a:p>
        </p:txBody>
      </p:sp>
      <p:sp>
        <p:nvSpPr>
          <p:cNvPr id="9" name="Shape 28">
            <a:extLst xmlns:a="http://schemas.openxmlformats.org/drawingml/2006/main">
              <a:ext uri="{FF2B5EF4-FFF2-40B4-BE49-F238E27FC236}">
                <a16:creationId xmlns:a16="http://schemas.microsoft.com/office/drawing/2014/main" id="{1FDDD6C1-3C1C-4899-6C67-E2AC5AD563DD}"/>
              </a:ext>
            </a:extLst>
          </p:cNvPr>
          <p:cNvSpPr>
            <a:spLocks xmlns:a="http://schemas.openxmlformats.org/drawingml/2006/main" noGrp="1"/>
          </p:cNvSpPr>
          <p:nvPr/>
        </p:nvSpPr>
        <p:spPr>
          <a:xfrm xmlns:a="http://schemas.openxmlformats.org/drawingml/2006/main">
            <a:off x="292652" y="6027855"/>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1" name="">
            <a:extLst xmlns:a="http://schemas.openxmlformats.org/drawingml/2006/main">
              <a:ext uri="{FF2B5EF4-FFF2-40B4-BE49-F238E27FC236}">
                <a16:creationId xmlns:a16="http://schemas.microsoft.com/office/drawing/2014/main" id="{57CBAD9D-E48B-4F5D-8500-54CFE1822240}"/>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20 / 21</a:t>
            </a:r>
          </a:p>
        </p:txBody>
      </p:sp>
    </p:spTree>
    <p:extLst>
      <p:ext uri="{BB962C8B-B14F-4D97-AF65-F5344CB8AC3E}">
        <p14:creationId xmlns:p14="http://schemas.microsoft.com/office/powerpoint/2010/main" val="274232171"/>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11" name="Picture 6">
            <a:extLst xmlns:a="http://schemas.openxmlformats.org/drawingml/2006/main">
              <a:ext uri="{FF2B5EF4-FFF2-40B4-BE49-F238E27FC236}">
                <a16:creationId xmlns:a16="http://schemas.microsoft.com/office/drawing/2014/main" id="{8B621DB3-B77B-4F19-A7D1-750DD1951412}"/>
              </a:ext>
            </a:extLst>
          </p:cNvPr>
          <p:cNvPicPr>
            <a:picLocks xmlns:a="http://schemas.openxmlformats.org/drawingml/2006/main" noChangeAspect="1"/>
          </p:cNvPicPr>
          <p:nvPr/>
        </p:nvPicPr>
        <p:blipFill>
          <a:blip xmlns:r="http://schemas.openxmlformats.org/officeDocument/2006/relationships" xmlns:a="http://schemas.openxmlformats.org/drawingml/2006/main" r:embed="Re2dbbcee47074c80"/>
          <a:srcRect xmlns:a="http://schemas.openxmlformats.org/drawingml/2006/main" l="0" t="32804" r="0" b="51587"/>
          <a:stretch xmlns:a="http://schemas.openxmlformats.org/drawingml/2006/main">
            <a:fillRect l="0" t="0" r="0" b="0"/>
          </a:stretch>
        </p:blipFill>
        <p:spPr>
          <a:xfrm xmlns:a="http://schemas.openxmlformats.org/drawingml/2006/main">
            <a:off x="0" y="5987142"/>
            <a:ext cx="12191999" cy="870861"/>
          </a:xfrm>
          <a:prstGeom xmlns:a="http://schemas.openxmlformats.org/drawingml/2006/main" prst="rect">
            <a:avLst/>
          </a:prstGeom>
        </p:spPr>
      </p:pic>
      <p:sp>
        <p:nvSpPr>
          <p:cNvPr id="2" name="Title 1">
            <a:extLst xmlns:a="http://schemas.openxmlformats.org/drawingml/2006/main">
              <a:ext uri="{FF2B5EF4-FFF2-40B4-BE49-F238E27FC236}">
                <a16:creationId xmlns:a16="http://schemas.microsoft.com/office/drawing/2014/main" id="{D33BC64F-5E82-48DD-B32A-BE17827A4F3E}"/>
              </a:ext>
            </a:extLst>
          </p:cNvPr>
          <p:cNvSpPr>
            <a:spLocks xmlns:a="http://schemas.openxmlformats.org/drawingml/2006/main" noGrp="1"/>
          </p:cNvSpPr>
          <p:nvPr>
            <p:ph type="title" idx="0"/>
          </p:nvPr>
        </p:nvSpPr>
        <p:spPr>
          <a:xfrm xmlns:a="http://schemas.openxmlformats.org/drawingml/2006/main">
            <a:off x="4095750" y="238125"/>
            <a:ext cx="7620000" cy="809625"/>
          </a:xfrm>
          <a:prstGeom xmlns:a="http://schemas.openxmlformats.org/drawingml/2006/main" prst="rect">
            <a:avLst/>
          </a:prstGeom>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FFFFFF"/>
                </a:solidFill>
                <a:latin typeface="Times New Roman"/>
                <a:ea typeface="Times New Roman"/>
                <a:cs typeface="Times New Roman"/>
              </a:defRPr>
            </a:pPr>
            <a:r>
              <a:rPr sz="3600" b="1">
                <a:solidFill>
                  <a:srgbClr val="FFFFFF"/>
                </a:solidFill>
                <a:latin typeface="Times New Roman"/>
                <a:ea typeface="Times New Roman"/>
                <a:cs typeface="Times New Roman"/>
              </a:rPr>
              <a:t>Phụ lục: đội triển khai</a:t>
            </a:r>
          </a:p>
        </p:txBody>
      </p:sp>
      <p:sp>
        <p:nvSpPr>
          <p:cNvPr id="4" name="Shape 28">
            <a:extLst xmlns:a="http://schemas.openxmlformats.org/drawingml/2006/main">
              <a:ext uri="{FF2B5EF4-FFF2-40B4-BE49-F238E27FC236}">
                <a16:creationId xmlns:a16="http://schemas.microsoft.com/office/drawing/2014/main" id="{64A27266-1499-7603-74F4-281AD3DA2227}"/>
              </a:ext>
            </a:extLst>
          </p:cNvPr>
          <p:cNvSpPr>
            <a:spLocks xmlns:a="http://schemas.openxmlformats.org/drawingml/2006/main" noGrp="1"/>
          </p:cNvSpPr>
          <p:nvPr/>
        </p:nvSpPr>
        <p:spPr>
          <a:xfrm xmlns:a="http://schemas.openxmlformats.org/drawingml/2006/main">
            <a:off x="229152" y="6191141"/>
            <a:ext cx="45720" cy="585216"/>
          </a:xfrm>
          <a:prstGeom xmlns:a="http://schemas.openxmlformats.org/drawingml/2006/main" prst="rect">
            <a:avLst/>
          </a:prstGeom>
          <a:solidFill xmlns:a="http://schemas.openxmlformats.org/drawingml/2006/main">
            <a:srgbClr val="30D158"/>
          </a:solidFill>
          <a:ln xmlns:a="http://schemas.openxmlformats.org/drawingml/2006/main" w="12700">
            <a:solidFill>
              <a:srgbClr val="30D158"/>
            </a:solidFill>
            <a:prstDash val="solid"/>
          </a:ln>
        </p:spPr>
        <p:txBody>
          <a:bodyPr xmlns:a="http://schemas.openxmlformats.org/drawingml/2006/main"/>
          <a:lstStyle xmlns:a="http://schemas.openxmlformats.org/drawingml/2006/main"/>
          <a:p xmlns:a="http://schemas.openxmlformats.org/drawingml/2006/main">
            <a:endParaRPr/>
          </a:p>
        </p:txBody>
      </p:sp>
      <p:sp>
        <p:nvSpPr>
          <p:cNvPr id="5" name="Text 29">
            <a:extLst xmlns:a="http://schemas.openxmlformats.org/drawingml/2006/main">
              <a:ext uri="{FF2B5EF4-FFF2-40B4-BE49-F238E27FC236}">
                <a16:creationId xmlns:a16="http://schemas.microsoft.com/office/drawing/2014/main" id="{92A4CF22-A9C8-0580-4EBB-62E891BDEEA4}"/>
              </a:ext>
            </a:extLst>
          </p:cNvPr>
          <p:cNvSpPr>
            <a:spLocks xmlns:a="http://schemas.openxmlformats.org/drawingml/2006/main" noGrp="1"/>
          </p:cNvSpPr>
          <p:nvPr/>
        </p:nvSpPr>
        <p:spPr>
          <a:xfrm xmlns:a="http://schemas.openxmlformats.org/drawingml/2006/main">
            <a:off x="323850" y="6162675"/>
            <a:ext cx="10953750" cy="20955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350" b="1">
                <a:solidFill>
                  <a:srgbClr val="FFFFFF"/>
                </a:solidFill>
                <a:latin typeface="Arial"/>
                <a:ea typeface="Arial"/>
                <a:cs typeface="Arial"/>
              </a:defRPr>
            </a:pPr>
            <a:r>
              <a:rPr sz="1350" b="1">
                <a:solidFill>
                  <a:srgbClr val="FFFFFF"/>
                </a:solidFill>
                <a:latin typeface="Arial"/>
                <a:ea typeface="Arial"/>
                <a:cs typeface="Arial"/>
              </a:rPr>
              <a:t>Phạm vi</a:t>
            </a:r>
            <a:endParaRPr sz="1100">
              <a:solidFill>
                <a:schemeClr val="bg1"/>
              </a:solidFill>
              <a:latin typeface="Arial"/>
              <a:ea typeface="Arial"/>
              <a:cs typeface="Arial"/>
            </a:endParaRPr>
          </a:p>
        </p:txBody>
      </p:sp>
      <p:sp>
        <p:nvSpPr>
          <p:cNvPr id="6" name="Text 30">
            <a:extLst xmlns:a="http://schemas.openxmlformats.org/drawingml/2006/main">
              <a:ext uri="{FF2B5EF4-FFF2-40B4-BE49-F238E27FC236}">
                <a16:creationId xmlns:a16="http://schemas.microsoft.com/office/drawing/2014/main" id="{434FE321-E1C3-D3A5-8585-506D365F2710}"/>
              </a:ext>
            </a:extLst>
          </p:cNvPr>
          <p:cNvSpPr>
            <a:spLocks xmlns:a="http://schemas.openxmlformats.org/drawingml/2006/main" noGrp="1"/>
          </p:cNvSpPr>
          <p:nvPr/>
        </p:nvSpPr>
        <p:spPr>
          <a:xfrm xmlns:a="http://schemas.openxmlformats.org/drawingml/2006/main">
            <a:off x="323850" y="6448425"/>
            <a:ext cx="10953750" cy="238125"/>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lgn="l">
              <a:buNone/>
              <a:defRPr sz="1275" b="0">
                <a:solidFill>
                  <a:srgbClr val="FFFFFF"/>
                </a:solidFill>
                <a:latin typeface="Arial"/>
                <a:ea typeface="Arial"/>
                <a:cs typeface="Arial"/>
              </a:defRPr>
            </a:pPr>
            <a:r>
              <a:rPr sz="1275" b="0">
                <a:solidFill>
                  <a:srgbClr val="FFFFFF"/>
                </a:solidFill>
                <a:latin typeface="Arial"/>
                <a:ea typeface="Arial"/>
                <a:cs typeface="Arial"/>
              </a:rPr>
              <a:t>Vai trò là nhu cầu triển khai. Chưa xác nhận nhân sự hoặc kinh nghiệm của đội.</a:t>
            </a:r>
          </a:p>
        </p:txBody>
      </p:sp>
      <p:sp>
        <p:nvSpPr>
          <p:cNvPr id="8" name="content">
            <a:extLst xmlns:a="http://schemas.openxmlformats.org/drawingml/2006/main">
              <a:ext uri="{FF2B5EF4-FFF2-40B4-BE49-F238E27FC236}">
                <a16:creationId xmlns:a16="http://schemas.microsoft.com/office/drawing/2014/main" id="{692C5EAA-3B23-49E5-BDE2-60FECEA9CBF5}"/>
              </a:ext>
            </a:extLst>
          </p:cNvPr>
          <p:cNvSpPr>
            <a:spLocks xmlns:a="http://schemas.openxmlformats.org/drawingml/2006/main" noGrp="1"/>
          </p:cNvSpPr>
          <p:nvPr/>
        </p:nvSpPr>
        <p:spPr>
          <a:xfrm xmlns:a="http://schemas.openxmlformats.org/drawingml/2006/main">
            <a:off x="533400" y="1590675"/>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153251"/>
                </a:solidFill>
                <a:latin typeface="Arial"/>
                <a:ea typeface="Arial"/>
                <a:cs typeface="Arial"/>
              </a:defRPr>
            </a:pPr>
            <a:r>
              <a:rPr sz="2550" b="1">
                <a:solidFill>
                  <a:srgbClr val="153251"/>
                </a:solidFill>
                <a:latin typeface="Arial"/>
                <a:ea typeface="Arial"/>
                <a:cs typeface="Arial"/>
              </a:rPr>
              <a:t>Thông tin đội cần bổ sung</a:t>
            </a:r>
          </a:p>
        </p:txBody>
      </p:sp>
      <p:sp>
        <p:nvSpPr>
          <p:cNvPr id="9" name="content">
            <a:extLst xmlns:a="http://schemas.openxmlformats.org/drawingml/2006/main">
              <a:ext uri="{FF2B5EF4-FFF2-40B4-BE49-F238E27FC236}">
                <a16:creationId xmlns:a16="http://schemas.microsoft.com/office/drawing/2014/main" id="{E3B6640D-437B-4118-8034-7B81F220DB07}"/>
              </a:ext>
            </a:extLst>
          </p:cNvPr>
          <p:cNvSpPr>
            <a:spLocks xmlns:a="http://schemas.openxmlformats.org/drawingml/2006/main" noGrp="1"/>
          </p:cNvSpPr>
          <p:nvPr/>
        </p:nvSpPr>
        <p:spPr>
          <a:xfrm xmlns:a="http://schemas.openxmlformats.org/drawingml/2006/main">
            <a:off x="533400" y="2143125"/>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950" b="0">
                <a:solidFill>
                  <a:srgbClr val="4B637B"/>
                </a:solidFill>
                <a:latin typeface="Arial"/>
                <a:ea typeface="Arial"/>
                <a:cs typeface="Arial"/>
              </a:defRPr>
            </a:pPr>
            <a:r>
              <a:rPr sz="1950" b="0">
                <a:solidFill>
                  <a:srgbClr val="4B637B"/>
                </a:solidFill>
                <a:latin typeface="Arial"/>
                <a:ea typeface="Arial"/>
                <a:cs typeface="Arial"/>
              </a:rPr>
              <a:t>Chưa có tên đội, thành viên hoặc hồ sơ năng lực thực tế.</a:t>
            </a:r>
          </a:p>
        </p:txBody>
      </p:sp>
      <p:graphicFrame>
        <p:nvGraphicFramePr>
          <p:cNvPr id="18" name="">
            <a:extLst xmlns:a="http://schemas.openxmlformats.org/drawingml/2006/main">
              <a:ext uri="{FF2B5EF4-FFF2-40B4-BE49-F238E27FC236}">
                <a16:creationId xmlns:a16="http://schemas.microsoft.com/office/drawing/2014/main" id="{CD118E7B-5B6A-4C83-B74C-2767E4B86138}"/>
              </a:ext>
            </a:extLst>
          </p:cNvPr>
          <p:cNvGraphicFramePr/>
          <p:nvPr/>
        </p:nvGraphicFramePr>
        <p:xfrm>
          <a:off xmlns:a="http://schemas.openxmlformats.org/drawingml/2006/main" x="533400" y="3009900"/>
          <a:ext xmlns:a="http://schemas.openxmlformats.org/drawingml/2006/main" cx="11125200" cy="2514600"/>
        </p:xfrm>
        <a:graphic xmlns:a="http://schemas.openxmlformats.org/drawingml/2006/main">
          <a:graphicData uri="http://schemas.openxmlformats.org/drawingml/2006/table">
            <a:tbl>
              <a:tblPr firstRow="1" bandRow="0"/>
              <a:tblGrid>
                <a:gridCol w="4000500"/>
                <a:gridCol w="7124700"/>
              </a:tblGrid>
              <a:tr h="381000">
                <a:tc>
                  <a:txBody>
                    <a:bodyPr wrap="square" lIns="85725" tIns="57150" rIns="85725" bIns="57150">
                      <a:noAutofit/>
                    </a:bodyPr>
                    <a:lstStyle/>
                    <a:p>
                      <a:r>
                        <a:rPr sz="1650" b="1">
                          <a:solidFill>
                            <a:srgbClr val="FFFFFF"/>
                          </a:solidFill>
                          <a:latin typeface="Arial"/>
                          <a:ea typeface="Arial"/>
                          <a:cs typeface="Arial"/>
                        </a:rPr>
                        <a:t>Vai trò cần có</a:t>
                      </a:r>
                    </a:p>
                  </a:txBody>
                  <a:tcPr marL="91440" marR="91440" marT="45720" marB="45720">
                    <a:solidFill>
                      <a:srgbClr val="203F68"/>
                    </a:solidFill>
                  </a:tcPr>
                </a:tc>
                <a:tc>
                  <a:txBody>
                    <a:bodyPr wrap="square" lIns="85725" tIns="57150" rIns="85725" bIns="57150">
                      <a:noAutofit/>
                    </a:bodyPr>
                    <a:lstStyle/>
                    <a:p>
                      <a:r>
                        <a:rPr sz="1650" b="1">
                          <a:solidFill>
                            <a:srgbClr val="FFFFFF"/>
                          </a:solidFill>
                          <a:latin typeface="Arial"/>
                          <a:ea typeface="Arial"/>
                          <a:cs typeface="Arial"/>
                        </a:rPr>
                        <a:t>Phần việc</a:t>
                      </a:r>
                    </a:p>
                  </a:txBody>
                  <a:tcPr marL="91440" marR="91440" marT="45720" marB="45720">
                    <a:solidFill>
                      <a:srgbClr val="203F68"/>
                    </a:solidFill>
                  </a:tcPr>
                </a:tc>
              </a:tr>
              <a:tr h="533400">
                <a:tc>
                  <a:txBody>
                    <a:bodyPr wrap="square" lIns="85725" tIns="57150" rIns="85725" bIns="57150">
                      <a:noAutofit/>
                    </a:bodyPr>
                    <a:lstStyle/>
                    <a:p>
                      <a:r>
                        <a:rPr sz="1650" b="0">
                          <a:solidFill>
                            <a:srgbClr val="153251"/>
                          </a:solidFill>
                          <a:latin typeface="Arial"/>
                          <a:ea typeface="Arial"/>
                          <a:cs typeface="Arial"/>
                        </a:rPr>
                        <a:t>Robot learning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Native trainer, bridge và kiểm loss/gradient</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Robotics / simulation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Binding, controller, TaskSpec và scorer</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Operator / data engineer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Thu seed, correction, QA và lineage</a:t>
                      </a:r>
                    </a:p>
                  </a:txBody>
                  <a:tcPr marL="91440" marR="91440" marT="45720" marB="45720">
                    <a:solidFill>
                      <a:srgbClr val="FFFFFF"/>
                    </a:solidFill>
                  </a:tcPr>
                </a:tc>
              </a:tr>
              <a:tr h="533400">
                <a:tc>
                  <a:txBody>
                    <a:bodyPr wrap="square" lIns="85725" tIns="57150" rIns="85725" bIns="57150">
                      <a:noAutofit/>
                    </a:bodyPr>
                    <a:lstStyle/>
                    <a:p>
                      <a:r>
                        <a:rPr sz="1650" b="0">
                          <a:solidFill>
                            <a:srgbClr val="153251"/>
                          </a:solidFill>
                          <a:latin typeface="Arial"/>
                          <a:ea typeface="Arial"/>
                          <a:cs typeface="Arial"/>
                        </a:rPr>
                        <a:t>Task owner</a:t>
                      </a:r>
                    </a:p>
                  </a:txBody>
                  <a:tcPr marL="91440" marR="91440" marT="45720" marB="45720">
                    <a:solidFill>
                      <a:srgbClr val="FFFFFF"/>
                    </a:solidFill>
                  </a:tcPr>
                </a:tc>
                <a:tc>
                  <a:txBody>
                    <a:bodyPr wrap="square" lIns="85725" tIns="57150" rIns="85725" bIns="57150">
                      <a:noAutofit/>
                    </a:bodyPr>
                    <a:lstStyle/>
                    <a:p>
                      <a:r>
                        <a:rPr sz="1650" b="0">
                          <a:solidFill>
                            <a:srgbClr val="153251"/>
                          </a:solidFill>
                          <a:latin typeface="Arial"/>
                          <a:ea typeface="Arial"/>
                          <a:cs typeface="Arial"/>
                        </a:rPr>
                        <a:t>Chốt domain, yêu cầu và nghiệm thu</a:t>
                      </a:r>
                    </a:p>
                  </a:txBody>
                  <a:tcPr marL="91440" marR="91440" marT="45720" marB="45720">
                    <a:solidFill>
                      <a:srgbClr val="FFFFFF"/>
                    </a:solidFill>
                  </a:tcPr>
                </a:tc>
              </a:tr>
            </a:tbl>
          </a:graphicData>
        </a:graphic>
      </p:graphicFrame>
      <p:sp>
        <p:nvSpPr>
          <p:cNvPr id="19" name="">
            <a:extLst xmlns:a="http://schemas.openxmlformats.org/drawingml/2006/main">
              <a:ext uri="{FF2B5EF4-FFF2-40B4-BE49-F238E27FC236}">
                <a16:creationId xmlns:a16="http://schemas.microsoft.com/office/drawing/2014/main" id="{FB91FA22-3308-4135-BB0F-3B7A383FC092}"/>
              </a:ext>
            </a:extLst>
          </p:cNvPr>
          <p:cNvSpPr>
            <a:spLocks xmlns:a="http://schemas.openxmlformats.org/drawingml/2006/main" noGrp="1"/>
          </p:cNvSpPr>
          <p:nvPr/>
        </p:nvSpPr>
        <p:spPr>
          <a:xfrm xmlns:a="http://schemas.openxmlformats.org/drawingml/2006/main">
            <a:off x="11049000" y="6648450"/>
            <a:ext cx="8953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0">
                <a:solidFill>
                  <a:srgbClr val="FFFFFF"/>
                </a:solidFill>
                <a:latin typeface="Arial"/>
                <a:ea typeface="Arial"/>
                <a:cs typeface="Arial"/>
              </a:defRPr>
            </a:defPPr>
          </a:lstStyle>
          <a:p xmlns:a="http://schemas.openxmlformats.org/drawingml/2006/main">
            <a:pPr>
              <a:buNone/>
              <a:defRPr sz="900" b="0">
                <a:solidFill>
                  <a:srgbClr val="FFFFFF"/>
                </a:solidFill>
                <a:latin typeface="Arial"/>
                <a:ea typeface="Arial"/>
                <a:cs typeface="Arial"/>
              </a:defRPr>
            </a:pPr>
            <a:r>
              <a:rPr sz="900" b="0">
                <a:solidFill>
                  <a:srgbClr val="FFFFFF"/>
                </a:solidFill>
                <a:latin typeface="Arial"/>
                <a:ea typeface="Arial"/>
                <a:cs typeface="Arial"/>
              </a:rPr>
              <a:t>21 / 21</a:t>
            </a:r>
          </a:p>
        </p:txBody>
      </p:sp>
    </p:spTree>
    <p:extLst>
      <p:ext uri="{BB962C8B-B14F-4D97-AF65-F5344CB8AC3E}">
        <p14:creationId xmlns:p14="http://schemas.microsoft.com/office/powerpoint/2010/main" val="2663236439"/>
      </p:ext>
    </p:extLst>
  </p:cSld>
</p:sld>
</file>

<file path=ppt/theme/theme1.xml><?xml version="1.0" encoding="utf-8"?>
<a:theme xmlns:a="http://schemas.openxmlformats.org/drawingml/2006/main" name="DENSO_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2026-10-07T08:40:44.9860000Z</dcterms:created>
  <dcterms:modified xsi:type="dcterms:W3CDTF">2026-10-07T08:40:44.9860000Z</dcterms:modified>
</coreProperties>
</file>