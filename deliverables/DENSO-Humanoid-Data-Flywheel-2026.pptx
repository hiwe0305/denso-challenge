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bf40f1cd19b4594" /><Relationship Type="http://schemas.openxmlformats.org/officeDocument/2006/relationships/extended-properties" Target="/docProps/app.xml" Id="R3907e332ce6a4692" /><Relationship Type="http://schemas.openxmlformats.org/officeDocument/2006/relationships/officeDocument" Target="/ppt/presentation.xml" Id="R45f8a659e00a49dc" /></Relationships>
</file>

<file path=ppt/presentation.xml><?xml version="1.0" encoding="utf-8"?>
<p:presentation xmlns:p="http://schemas.openxmlformats.org/presentationml/2006/main">
  <p:sldMasterIdLst>
    <p:sldMasterId xmlns:r="http://schemas.openxmlformats.org/officeDocument/2006/relationships" id="2147483648" r:id="Rf3d57714aa894131"/>
  </p:sldMasterIdLst>
  <p:notesMasterIdLst>
    <p:notesMasterId xmlns:r="http://schemas.openxmlformats.org/officeDocument/2006/relationships" r:id="R116824c3646442b7"/>
  </p:notesMasterIdLst>
  <p:sldIdLst>
    <p:sldId xmlns:r="http://schemas.openxmlformats.org/officeDocument/2006/relationships" id="256" r:id="R030f7d62ba594463"/>
    <p:sldId xmlns:r="http://schemas.openxmlformats.org/officeDocument/2006/relationships" id="257" r:id="R0e2b3811cbbf4dbd"/>
    <p:sldId xmlns:r="http://schemas.openxmlformats.org/officeDocument/2006/relationships" id="258" r:id="R7fa681eb13754b78"/>
    <p:sldId xmlns:r="http://schemas.openxmlformats.org/officeDocument/2006/relationships" id="259" r:id="Rcf3d2d5a9e3c4f55"/>
    <p:sldId xmlns:r="http://schemas.openxmlformats.org/officeDocument/2006/relationships" id="260" r:id="R5c619c1b913b457e"/>
    <p:sldId xmlns:r="http://schemas.openxmlformats.org/officeDocument/2006/relationships" id="261" r:id="R4bf7eec567934454"/>
    <p:sldId xmlns:r="http://schemas.openxmlformats.org/officeDocument/2006/relationships" id="262" r:id="Re294c77bf0f441a0"/>
    <p:sldId xmlns:r="http://schemas.openxmlformats.org/officeDocument/2006/relationships" id="263" r:id="R868c51cd284b4d55"/>
    <p:sldId xmlns:r="http://schemas.openxmlformats.org/officeDocument/2006/relationships" id="264" r:id="R0035829c58304789"/>
    <p:sldId xmlns:r="http://schemas.openxmlformats.org/officeDocument/2006/relationships" id="265" r:id="R6aca4143101c4a51"/>
    <p:sldId xmlns:r="http://schemas.openxmlformats.org/officeDocument/2006/relationships" id="266" r:id="R81e5633353e14cc2"/>
    <p:sldId xmlns:r="http://schemas.openxmlformats.org/officeDocument/2006/relationships" id="267" r:id="Rbc76b088666a4761"/>
    <p:sldId xmlns:r="http://schemas.openxmlformats.org/officeDocument/2006/relationships" id="268" r:id="R34112a48151546e8"/>
    <p:sldId xmlns:r="http://schemas.openxmlformats.org/officeDocument/2006/relationships" id="269" r:id="Rc8bcac2f0a2840dd"/>
    <p:sldId xmlns:r="http://schemas.openxmlformats.org/officeDocument/2006/relationships" id="270" r:id="R185a8f64ecb74369"/>
    <p:sldId xmlns:r="http://schemas.openxmlformats.org/officeDocument/2006/relationships" id="271" r:id="R127d2c8bef48499d"/>
    <p:sldId xmlns:r="http://schemas.openxmlformats.org/officeDocument/2006/relationships" id="272" r:id="Rf5594de94b864ffc"/>
    <p:sldId xmlns:r="http://schemas.openxmlformats.org/officeDocument/2006/relationships" id="273" r:id="Rd7c094ac6dde41e9"/>
    <p:sldId xmlns:r="http://schemas.openxmlformats.org/officeDocument/2006/relationships" id="274" r:id="R7d14bba127354a9b"/>
    <p:sldId xmlns:r="http://schemas.openxmlformats.org/officeDocument/2006/relationships" id="275" r:id="Re678a09eb4814b32"/>
    <p:sldId xmlns:r="http://schemas.openxmlformats.org/officeDocument/2006/relationships" id="276" r:id="R4a0db5117f414f24"/>
    <p:sldId xmlns:r="http://schemas.openxmlformats.org/officeDocument/2006/relationships" id="277" r:id="Rabc1827674244d0a"/>
    <p:sldId xmlns:r="http://schemas.openxmlformats.org/officeDocument/2006/relationships" id="278" r:id="Rff8c56fb3bb94e53"/>
    <p:sldId xmlns:r="http://schemas.openxmlformats.org/officeDocument/2006/relationships" id="279" r:id="R18e19a7308fc4e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0b2d1d4a04042c9" /><Relationship Type="http://schemas.openxmlformats.org/officeDocument/2006/relationships/slideMaster" Target="/ppt/slideMasters/slideMaster1.xml" Id="Rf3d57714aa894131" /><Relationship Type="http://schemas.openxmlformats.org/officeDocument/2006/relationships/notesMaster" Target="/ppt/notesMasters/notesMaster1.xml" Id="R116824c3646442b7" /><Relationship Type="http://schemas.openxmlformats.org/officeDocument/2006/relationships/presProps" Target="/ppt/presProps.xml" Id="Ra55175e7b6824607" /><Relationship Type="http://schemas.openxmlformats.org/officeDocument/2006/relationships/viewProps" Target="/ppt/viewProps.xml" Id="Rc39fa97e363b45c3" /><Relationship Type="http://schemas.openxmlformats.org/officeDocument/2006/relationships/tableStyles" Target="/ppt/tableStyles.xml" Id="Ref18d7fadc064e40" /><Relationship Type="http://schemas.openxmlformats.org/officeDocument/2006/relationships/slide" Target="/ppt/slides/slide1.xml" Id="R030f7d62ba594463" /><Relationship Type="http://schemas.openxmlformats.org/officeDocument/2006/relationships/slide" Target="/ppt/slides/slide2.xml" Id="R0e2b3811cbbf4dbd" /><Relationship Type="http://schemas.openxmlformats.org/officeDocument/2006/relationships/slide" Target="/ppt/slides/slide3.xml" Id="R7fa681eb13754b78" /><Relationship Type="http://schemas.openxmlformats.org/officeDocument/2006/relationships/slide" Target="/ppt/slides/slide4.xml" Id="Rcf3d2d5a9e3c4f55" /><Relationship Type="http://schemas.openxmlformats.org/officeDocument/2006/relationships/slide" Target="/ppt/slides/slide5.xml" Id="R5c619c1b913b457e" /><Relationship Type="http://schemas.openxmlformats.org/officeDocument/2006/relationships/slide" Target="/ppt/slides/slide6.xml" Id="R4bf7eec567934454" /><Relationship Type="http://schemas.openxmlformats.org/officeDocument/2006/relationships/slide" Target="/ppt/slides/slide7.xml" Id="Re294c77bf0f441a0" /><Relationship Type="http://schemas.openxmlformats.org/officeDocument/2006/relationships/slide" Target="/ppt/slides/slide8.xml" Id="R868c51cd284b4d55" /><Relationship Type="http://schemas.openxmlformats.org/officeDocument/2006/relationships/slide" Target="/ppt/slides/slide9.xml" Id="R0035829c58304789" /><Relationship Type="http://schemas.openxmlformats.org/officeDocument/2006/relationships/slide" Target="/ppt/slides/slide10.xml" Id="R6aca4143101c4a51" /><Relationship Type="http://schemas.openxmlformats.org/officeDocument/2006/relationships/slide" Target="/ppt/slides/slide11.xml" Id="R81e5633353e14cc2" /><Relationship Type="http://schemas.openxmlformats.org/officeDocument/2006/relationships/slide" Target="/ppt/slides/slide12.xml" Id="Rbc76b088666a4761" /><Relationship Type="http://schemas.openxmlformats.org/officeDocument/2006/relationships/slide" Target="/ppt/slides/slide13.xml" Id="R34112a48151546e8" /><Relationship Type="http://schemas.openxmlformats.org/officeDocument/2006/relationships/slide" Target="/ppt/slides/slide14.xml" Id="Rc8bcac2f0a2840dd" /><Relationship Type="http://schemas.openxmlformats.org/officeDocument/2006/relationships/slide" Target="/ppt/slides/slide15.xml" Id="R185a8f64ecb74369" /><Relationship Type="http://schemas.openxmlformats.org/officeDocument/2006/relationships/slide" Target="/ppt/slides/slide16.xml" Id="R127d2c8bef48499d" /><Relationship Type="http://schemas.openxmlformats.org/officeDocument/2006/relationships/slide" Target="/ppt/slides/slide17.xml" Id="Rf5594de94b864ffc" /><Relationship Type="http://schemas.openxmlformats.org/officeDocument/2006/relationships/slide" Target="/ppt/slides/slide18.xml" Id="Rd7c094ac6dde41e9" /><Relationship Type="http://schemas.openxmlformats.org/officeDocument/2006/relationships/slide" Target="/ppt/slides/slide19.xml" Id="R7d14bba127354a9b" /><Relationship Type="http://schemas.openxmlformats.org/officeDocument/2006/relationships/slide" Target="/ppt/slides/slide20.xml" Id="Re678a09eb4814b32" /><Relationship Type="http://schemas.openxmlformats.org/officeDocument/2006/relationships/slide" Target="/ppt/slides/slide21.xml" Id="R4a0db5117f414f24" /><Relationship Type="http://schemas.openxmlformats.org/officeDocument/2006/relationships/slide" Target="/ppt/slides/slide22.xml" Id="Rabc1827674244d0a" /><Relationship Type="http://schemas.openxmlformats.org/officeDocument/2006/relationships/slide" Target="/ppt/slides/slide23.xml" Id="Rff8c56fb3bb94e53" /><Relationship Type="http://schemas.openxmlformats.org/officeDocument/2006/relationships/slide" Target="/ppt/slides/slide24.xml" Id="R18e19a7308fc4e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91e21a57d249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0f4ed1ba324d4b" /><Relationship Type="http://schemas.openxmlformats.org/officeDocument/2006/relationships/notesMaster" Target="/ppt/notesMasters/notesMaster1.xml" Id="R569e93feb0fa492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4695dd15e4244e5" /><Relationship Type="http://schemas.openxmlformats.org/officeDocument/2006/relationships/notesMaster" Target="/ppt/notesMasters/notesMaster1.xml" Id="Rfae66a445f4f41d4" /></Relationships>
</file>

<file path=ppt/notesSlides/_rels/notesSlide3.xml.rels>&#65279;<?xml version="1.0" encoding="utf-8"?><Relationships xmlns="http://schemas.openxmlformats.org/package/2006/relationships"><Relationship Type="http://schemas.openxmlformats.org/officeDocument/2006/relationships/slide" Target="/ppt/slides/slide3.xml" Id="Ref6fb418f6464101" /><Relationship Type="http://schemas.openxmlformats.org/officeDocument/2006/relationships/notesMaster" Target="/ppt/notesMasters/notesMaster1.xml" Id="R8684d19145a14a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af0175f53a54bce" /><Relationship Type="http://schemas.openxmlformats.org/officeDocument/2006/relationships/notesMaster" Target="/ppt/notesMasters/notesMaster1.xml" Id="R1cd2184440364473"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07b3b07f6144d8" /><Relationship Type="http://schemas.openxmlformats.org/officeDocument/2006/relationships/notesMaster" Target="/ppt/notesMasters/notesMaster1.xml" Id="R5bfb407576bd425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53da957a6a49d9" /><Relationship Type="http://schemas.openxmlformats.org/officeDocument/2006/relationships/notesMaster" Target="/ppt/notesMasters/notesMaster1.xml" Id="R64e0f7f2878f43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8404be98fa3438b" /><Relationship Type="http://schemas.openxmlformats.org/officeDocument/2006/relationships/notesMaster" Target="/ppt/notesMasters/notesMaster1.xml" Id="Radf6d72f086f4b2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0bac33f9d34f35" /><Relationship Type="http://schemas.openxmlformats.org/officeDocument/2006/relationships/notesMaster" Target="/ppt/notesMasters/notesMaster1.xml" Id="Rc7cb4be46d2943d2"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ed5256c6df4348" /><Relationship Type="http://schemas.openxmlformats.org/officeDocument/2006/relationships/notesMaster" Target="/ppt/notesMasters/notesMaster1.xml" Id="R368257a458fd43b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5d23446a674c56" /><Relationship Type="http://schemas.openxmlformats.org/officeDocument/2006/relationships/notesMaster" Target="/ppt/notesMasters/notesMaster1.xml" Id="Rf072399e7ce44f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86f6214f4084ea6" /><Relationship Type="http://schemas.openxmlformats.org/officeDocument/2006/relationships/notesMaster" Target="/ppt/notesMasters/notesMaster1.xml" Id="R18804b0b79364c2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af7086eb4ba4b3d" /><Relationship Type="http://schemas.openxmlformats.org/officeDocument/2006/relationships/notesMaster" Target="/ppt/notesMasters/notesMaster1.xml" Id="Rb47ed7a79e264d0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7029d0e49e475e" /><Relationship Type="http://schemas.openxmlformats.org/officeDocument/2006/relationships/notesMaster" Target="/ppt/notesMasters/notesMaster1.xml" Id="R6f335dada2514a4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8eb493578b84ae4" /><Relationship Type="http://schemas.openxmlformats.org/officeDocument/2006/relationships/notesMaster" Target="/ppt/notesMasters/notesMaster1.xml" Id="R018247d512f84c5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a393397aae54f94" /><Relationship Type="http://schemas.openxmlformats.org/officeDocument/2006/relationships/notesMaster" Target="/ppt/notesMasters/notesMaster1.xml" Id="R13cb36791293477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39699e7a0de4086" /><Relationship Type="http://schemas.openxmlformats.org/officeDocument/2006/relationships/notesMaster" Target="/ppt/notesMasters/notesMaster1.xml" Id="Rc693579d15c3474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55a2dff2d447e8" /><Relationship Type="http://schemas.openxmlformats.org/officeDocument/2006/relationships/notesMaster" Target="/ppt/notesMasters/notesMaster1.xml" Id="R29fa577dd3974d5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ad6ad7e394b4345" /><Relationship Type="http://schemas.openxmlformats.org/officeDocument/2006/relationships/notesMaster" Target="/ppt/notesMasters/notesMaster1.xml" Id="Ra4eb559f867a4a8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eb00d1b3d20407f" /><Relationship Type="http://schemas.openxmlformats.org/officeDocument/2006/relationships/notesMaster" Target="/ppt/notesMasters/notesMaster1.xml" Id="R1bf35f09f3f14cd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a087088d92047dd" /><Relationship Type="http://schemas.openxmlformats.org/officeDocument/2006/relationships/notesMaster" Target="/ppt/notesMasters/notesMaster1.xml" Id="R274a3d130ebf422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49a3942be93413c" /><Relationship Type="http://schemas.openxmlformats.org/officeDocument/2006/relationships/notesMaster" Target="/ppt/notesMasters/notesMaster1.xml" Id="R045a5d21c9b84a1f"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5770ed0b6024650" /><Relationship Type="http://schemas.openxmlformats.org/officeDocument/2006/relationships/notesMaster" Target="/ppt/notesMasters/notesMaster1.xml" Id="R7f820b858e7c4e9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f2d9dc6a7974ceb" /><Relationship Type="http://schemas.openxmlformats.org/officeDocument/2006/relationships/notesMaster" Target="/ppt/notesMasters/notesMaster1.xml" Id="Rb8d88a1b5f2a49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6adc3e8c2a146a6" /><Relationship Type="http://schemas.openxmlformats.org/officeDocument/2006/relationships/notesMaster" Target="/ppt/notesMasters/notesMaster1.xml" Id="R2856f1fa23ae45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Core value hypothesis: achieve agreed task quality and coverage with fewer independent robot roots or lower total work than a competent comparator. Data quality and data selection are the central proposed contribution, while model architecture, controller and latency can still be bottlenecks.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Figure Index, August 25, 2026: https://www.figure.ai/news/introducing-index . 16 million uploaded videos and USD 15 million creator payouts. Payout is not total dataset cost. The previously supplied video https://www.youtube.com/watch?v=zKaeODg7xeE was checked against transcript/source descriptions, not audited frame by frame.</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Do not infer causality for the proposed flywheel from these results. The two columns are independent studies, not comparable benchmarks.</a:t>
            </a:r>
          </a:p>
          <a:p xmlns:a="http://schemas.openxmlformats.org/drawingml/2006/main">
            <a:r>
              <a:t>Problem hypothesis for the engineer developing a new or changed robot skill. Do not claim measured DENSO time loss or cost savings. External evidence and exact limitations appear in appendix slide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1, page 2, full original figure. Right-hand benchmarks are author results with different integration budgets.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The reason to select FluxVLA is the common lifecycle from data/training to simulation evaluation and real-world inference runners/operators. Upstream support is not evidence that our A1 robot integration exists.</a:t>
            </a:r>
          </a:p>
          <a:p xmlns:a="http://schemas.openxmlformats.org/drawingml/2006/main">
            <a:r>
              <a:t>QA, lineage, active selection, simulation generation and train/eval loops individually are established practices. The proposal claims a task-specific integrated decision workflow, not a new foundation model or global novelty. Intervention choices also include reuse, repair, defer and stop.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Budget assumptions from deliverables/DENSO-Noi-dung-form-y-tuong.md and docs/implementation-plan/skill-a1/04-evaluation-and-cost.md. Capture/reset 40 attempts x 6 minutes = 4 operator hours. QA 40 x 3 minutes = 2 engineer hours. Labor rates, yield and integration hours are editable planning assumptions, not DENSO/Vietnam wages. Public Runpod pricing checked October 6, 2026: https://www.runpod.io/pricing . 180 GPU hours is a capacity cap, not a measured runtime forecast. Total: 40 + 40 + 4800 + 286.20 + 21 = 5187.20 USD. H, FOCA and real hardware have separate gates/caps.</a:t>
            </a:r>
          </a:p>
          <a:p xmlns:a="http://schemas.openxmlformats.org/drawingml/2006/main">
            <a:r>
              <a:t>Cập nhật 07/10/2026: thay ngân sách sim A100 $5.187,20 bằng evidence/resources PoC. Ngân sách cũ là capacity example, không áp cho GPU sẵn có. User xác nhận RTX3060 12GB và 5090, robot do BTC. ≥16/20 là draft PoC, không là lower bound true success. Chi tiết docs/form hiện hành.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AI-generated explanatory robot scene retained from original deck, not a real rollout. No native episode E0 or measured diagnosis exists. A dropped object establishes full-task failure, not its cause. Replay sent commands and measured response before considering a data/model intervention. A matched expert-grasp transport test can support, but not conclusively prove, a grasp-context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Concept illustration generated with the built-in imagegen tool and saved to docs/assets/data-flywheel-concept.png. Prompt: clean editorial cutaway of a physical flywheel with six connected components, central humanoid, camera frame, trajectory, dataset folder and AI processor, clockwise blue/green ribbon on white, no text or logo. Image is a conceptual metaphor, not a model or implemented system diagram. The numbered native text defines the proposed workflow. Evidence acquisition may lead to repair or deferral, skipping release/training. Final held-out data never drives this adaptive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1, page 2, full original figure. Right-hand benchmarks are author results with different integration budgets.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The reason to select FluxVLA is the common lifecycle from data/training to simulation evaluation and real-world inference runners/operators. Upstream support is not evidence that our A1 robot integration exists.</a:t>
            </a:r>
          </a:p>
          <a:p xmlns:a="http://schemas.openxmlformats.org/drawingml/2006/main">
            <a:r>
              <a:t>The full unmodified original Figure 1 is retained. Benchmark panels belong to the paper authors, not this project. Our A1 adaptation and real robot integration are pending. Data Core determines the release and intervention scope, rather than claiming ownership of this 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2, original full region.</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MP4 frames are decoded and sampled with synchronized state/action. Prompt tokenization and image transforms produce model inputs. Normalization, action chunk horizons and masks must match the checkpoint. Future target actions are for training, never inference inputs.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Training flow target is executed future actions minus sampled noise, under the selected interpolation convention and action masks. N1.5 selected input example: state padded 64, active action 29 / padded 32, horizon 16. Verify actual tensor semantics rather than inventing shapes. Official N1.5 frozen-VLM learning is distinct from the selected Flux visual-unfreeze recipe. Human comparator R_common versus R_common+H keeps architecture, robot wrist objective and VLM freeze identical. Human loss updates the common head/shared trunk, not the native robot decoder directly. FOCA/H are unintegrated research branches with separate gates and budgets.</a:t>
            </a:r>
          </a:p>
          <a:p xmlns:a="http://schemas.openxmlformats.org/drawingml/2006/main">
            <a:r>
              <a:t>R_A1 and S_exec are proposed, not existing collected data. S_exec derives from train roots by controlled transformation and re-execution, producing fresh images, measured states and executed actions. Loader constructs conditioning from current observations and targets from future actions. At training, DiT also receives noisy action chunks and interpolation time. Flow-velocity target is action minus noise under the pinned convention. No action labels or future targets enter runtime inference. This slide summarizes the MVP robot-action recipe; human and video branches are separate in the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Illustrative conditional example only. Assumptions: binding checks pass, controlled tests support a grasp-pose coverage hypothesis, an expert provides a successful correction in the matched context, and sim variants have not yet passed contact/action QA. The example therefore chooses the eligible correction first and defers S_exec. It does not assert that correction always outperforms simulation. Reconsider S_exec after it passes QA if expected benefit and cost fit the acquisition cap. No native result, actual contact diagnosis, collected sample count, measured gain or saved cost is asserted. Correction episodes contain current RGB, measured state and executed future actions for the complete grasp-lift-transport context. Split roots before variants and keep rights and QA records. Failed policy trajectories remain evidence, not positive behavior cloning targets. A fixed-recipe R vs R+S comparison is a source test, while adaptive decision-loop benefit needs a separate competent workflow comparator.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A latent is an actual encoder vector with a known hook, source and version. Do not invent grounding text or claim a latent probe establishes causality. Log prediction, command and response separately. Reload parity and upstream GR1 smoke tests precede A1 trials. Real-robot inference is an upstream capability requiring a separate local integration and acceptance protocol.</a:t>
            </a:r>
          </a:p>
          <a:p xmlns:a="http://schemas.openxmlformats.org/drawingml/2006/main">
            <a:r>
              <a:t>Current RGB and text become Eagle features. DiT conditions on features, measured state and its sampling noise/time. No future ground-truth action is an inference input. Controller executes the pinned action prefix and the policy observes again. Independent scorer may use privileged object/contact state but those scorer-only fields must not leak into policy input. Failure evidence is a hypothesis input, not automatic attribution or retraining 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Independent final is outside the adaptive flywheel. Fix task strata, seeds, scorer, binding and recipe before opening final. Both arms passing a quality gate is not statistical equivalence. Under true success 95%, probability of passing the draft gate is about 43.6%; under 97%, about 81.8%, so task owner must accept the power tradeoff. Reference: examples/engineering-loop/README.md, linear 35x4 predictor with ideal sim state, scripted sequence and proximity-weld grasp, 32 tests; S 12/12, R 0/12, C 0/12 final in that restricted scope. These are not GR00T/GR1 performance or data efficiency evidence.</a:t>
            </a:r>
          </a:p>
          <a:p xmlns:a="http://schemas.openxmlformats.org/drawingml/2006/main">
            <a:r>
              <a:t>Competent ordinary engineering workflow is an empirical comparator, not an assumed practice of blindly collecting more data. Use matched parent/case pairs, equal budgets and intervention access, and counterbalance case order. Log negative/no-gain decisions. Report quality and cost separately until a comparable acceptance level is reached. Data-budget curves are needed to claim fewer robot roots, rather than a single fixed-budget result. Initial setup cost is separate from marginal effort for task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Four stages, each estimated 2–3 weeks, total 8–12 conditional weeks. No committed date or production deployment promise. Team and task ownership are not yet named. Separate optional human/action-free/workflow studies and hardware acceptance may require additional resources and schedule.</a:t>
            </a:r>
          </a:p>
          <a:p xmlns:a="http://schemas.openxmlformats.org/drawingml/2006/main">
            <a:r>
              <a:t>Kế hoạch 13/10–11/11 gồm 30 ngày tính cả hai đầu. Làm song song khi chờ đánh giá online. Robot BTC pending. Mốc26/10: quyền truy cập, profile/task, I/O camera/controller, recipe update/reload. GR1 public là tuyến kiểm pipeline, demo cuối một embodiment/task BTC. Không cam kết chuyển checkpoint GR1 sang mọi robot.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chính thức https://densohackathon.vn/ timeline và https://densohackathon.vn/challenges, đọc trực tiếp ngày07/10/2026. Vòng1 tuyển chọn, vòng2thuyếttrình23/10–16/11, vòng3hiểnthị20/10–02/12. Development/mentoring chồng vòng2. Vòng2video demo max15phút+pitch, input/output/environment/devices/data/resources/process. Vòng3nộp trước23:59:59 30/11, PPTX hoặcCanva public, demo trực tiếp02/12. Không suy BTC bảo đảm robot hoặc yêu cầu mọi video vòng2robot thật.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proposal: IDEA.md sections 6, 9 and 10; docs/implementation-plan/skill-a1/05-data-decision-and-run-contracts.md; idea-v3-2026-10-05/16-model-ai-va-data-flywheel.md. Proposed workflow and illustrative decisions, not measured native A1 results. Engineers approve hypotheses and interventions. Root splits precede augmentation, failed trajectories are not positive BC labels, independent final evaluation remains outside the adaptive development loop.</a:t>
            </a:r>
          </a:p>
          <a:p xmlns:a="http://schemas.openxmlformats.org/drawingml/2006/main">
            <a:r>
              <a:t>Core pitch closes on measured data utility and total work, not simply the availability of a VLA engine. Current evidence is a small reference and specifications. Native A1, human/video transfer, savings, real-world robot performance and production readiness remain unproven. Detailed dataset, training, evaluation, sources, model alternatives and submission checklist follow in the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Existing AI illustration, not a recorded GR1 rollout. Draft geometry: object 40 x 25 x 15 mm, A1 interior 80 x 60 mm, timeout 30 s and stable 2 s. Task owner must calibrate before final protocol. Fixed torso, no walking or precision assembly in the MVP.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Index, August 25, 2026: https://www.figure.ai/news/introducing-index . 16 million uploaded videos and USD 15 million creator payouts. Payout is not total dataset cost. The previously supplied video https://www.youtube.com/watch?v=zKaeODg7xeE was checked against transcript/source descriptions, not audited frame by frame.</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Do not infer causality for the proposed flywheel from these results. The two columns are independent studies, not comparable benchmarks.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FluxVLAData public GR1 setting has 256x256 RGB at 20 fps, 29-D active robot state/action. These are compatibility examples and do not determine the pending A1 binding. R_A1 is proposed data, not an already collected 20-root dataset. Appearance augmentation preserves labels only when semantics are invariant. Generated video usually lacks native action labels. Human wrist motion is not robot joint action or contact/finger supervision.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2, original full region.</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MP4 frames are decoded and sampled with synchronized state/action. Prompt tokenization and image transforms produce model inputs. Normalization, action chunk horizons and masks must match the checkpoint. Future target actions are for training, never inference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Training flow target is executed future actions minus sampled noise, under the selected interpolation convention and action masks. N1.5 selected input example: state padded 64, active action 29 / padded 32, horizon 16. Verify actual tensor semantics rather than inventing shapes. Official N1.5 frozen-VLM learning is distinct from the selected Flux visual-unfreeze recipe. Human comparator R_common versus R_common+H keeps architecture, robot wrist objective and VLM freeze identical. Human loss updates the common head/shared trunk, not the native robot decoder directly. FOCA/H are unintegrated research branches with separate gates and budgets.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A latent is an actual encoder vector with a known hook, source and version. Do not invent grounding text or claim a latent probe establishes causality. Log prediction, command and response separately. Reload parity and upstream GR1 smoke tests precede A1 trials. Real-robot inference is an upstream capability requiring a separate local integration and acceptance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Independent final is outside the adaptive flywheel. Fix task strata, seeds, scorer, binding and recipe before opening final. Both arms passing a quality gate is not statistical equivalence. Under true success 95%, probability of passing the draft gate is about 43.6%; under 97%, about 81.8%, so task owner must accept the power tradeoff. Reference: examples/engineering-loop/README.md, linear 35x4 predictor with ideal sim state, scripted sequence and proximity-weld grasp, 32 tests; S 12/12, R 0/12, C 0/12 final in that restricted scope. These are not GR00T/GR1 performance or data efficiency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OpenVLA: https://arxiv.org/abs/2406.09246 . pi0: https://arxiv.org/abs/2410.24164 . DreamGen: https://research.nvidia.com/labs/gear/dreamgen/ . DreamZero: source catalog in idea-v3-2026-10-05/15-dataset-training-blueprint.md . DreamerV3: https://arxiv.org/abs/2301.04104 . Project synthesis: idea-v3-2026-10-05/15-dataset-training-blueprint.md and the website research catalog. Do not present any optional branch as integrated functionality.</a:t>
            </a:r>
          </a:p>
          <a:p xmlns:a="http://schemas.openxmlformats.org/drawingml/2006/main">
            <a:r>
              <a:t>FOCA single-task A1 needs train-only task-mismatched negatives or an explicit objective adaptation. Code/interface and extra generation/learning compute remain gates. Human wrist transfer does not establish native finger/contact skill.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Official DENSO submission checklist preserved. This is a review draft. Team identities and capability evidence are still missing. Interests can include data while the challenge topic remains Humanoid &amp; Robot.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Team names, member capabilities and ownership have not been supplied. Listed roles describe required work, not verified team credentials.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e8bcbb889d40ea" /><Relationship Type="http://schemas.openxmlformats.org/officeDocument/2006/relationships/image" Target="/ppt/media/image2.png" Id="R975341d13dd24491" /><Relationship Type="http://schemas.openxmlformats.org/officeDocument/2006/relationships/image" Target="/ppt/media/image3.png" Id="Rb03bcec533c14ad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48e66c00e8d4b0c" /><Relationship Type="http://schemas.openxmlformats.org/officeDocument/2006/relationships/image" Target="/ppt/media/image.png" Id="Rcbc7489b582046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db35e6ffcfb4630" /><Relationship Type="http://schemas.openxmlformats.org/officeDocument/2006/relationships/image" Target="/ppt/media/image4.png" Id="Reb317f4da7b240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d9dc73282434a88" /><Relationship Type="http://schemas.openxmlformats.org/officeDocument/2006/relationships/image" Target="/ppt/media/image5.png" Id="Rcc2475954c8b44b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26fb4d75992455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14c5362af14c5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5cac6f1326447e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d44203e8189e440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2b3e7c5957c45c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74edf163014489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1d9f8f22bef44c5f" /><Relationship Type="http://schemas.openxmlformats.org/officeDocument/2006/relationships/image" Target="/ppt/media/image4.png" Id="R487f898534ed460d"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b2e5a21073344e92" /><Relationship Type="http://schemas.openxmlformats.org/officeDocument/2006/relationships/image" Target="/ppt/media/image5.png" Id="R139acc9040ba48a8"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d465168e910740ff"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2bf8ecfc0d2f48dd" /><Relationship Type="http://schemas.openxmlformats.org/officeDocument/2006/relationships/image" Target="/ppt/media/image.jpeg" Id="R04490bd6991d42c4"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4a93b89d8fa14442" /><Relationship Type="http://schemas.openxmlformats.org/officeDocument/2006/relationships/image" Target="/ppt/media/image6.png" Id="R5fd1f9b8190347ed"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2da4f5fca0e048ab"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e0d36a95b9cc4451" /><Relationship Type="http://schemas.openxmlformats.org/officeDocument/2006/relationships/image" Target="/ppt/media/image.png" Id="Ref596d46e42345b8"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2a7039e6202d4e26" /><Relationship Type="http://schemas.openxmlformats.org/officeDocument/2006/relationships/image" Target="/ppt/media/image2.jpeg" Id="Rd1ed8414f9984a7c"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3dc80503ecd542b0"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f94d0b4e26284fcf"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ad0935e7fd5c4a19"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a5e115fbeddf4d04" /><Relationship Type="http://schemas.openxmlformats.org/officeDocument/2006/relationships/image" Target="/ppt/media/image7.png" Id="R35e8b5251d074147"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3802a7fe3ae9470d" /></Relationships>
</file>

<file path=ppt/slideLayouts/slideLayout1.xml><?xml version="1.0" encoding="utf-8"?>
<p:sldLayout xmlns:p="http://schemas.openxmlformats.org/presentationml/2006/main" preserve="1">
  <p:cSld name="Title Slide">
    <p:bg>
      <p:bgPr>
        <a:blipFill xmlns:a="http://schemas.openxmlformats.org/drawingml/2006/main" rotWithShape="1">
          <a:blip xmlns:r="http://schemas.openxmlformats.org/officeDocument/2006/relationships" r:embed="R975341d13dd24491">
            <a:lum/>
          </a:blip>
          <a:srcRect l="0" t="0" r="0" b="0"/>
          <a:stretch>
            <a:fillRect l="0" t="0" r="0" b="0"/>
          </a:stretch>
        </a:blipFill>
      </p:bgPr>
    </p:bg>
    <p:spTree>
      <p:nvGrpSpPr>
        <p:cNvPr id="1" name=""/>
        <p:cNvGrpSpPr/>
        <p:nvPr/>
      </p:nvGrpSpPr>
      <p:grpSpPr>
        <a:xfrm xmlns:a="http://schemas.openxmlformats.org/drawingml/2006/main"/>
      </p:grpSpPr>
      <p:sp>
        <p:nvSpPr>
          <p:cNvPr id="3" name="Subtitle 2">
            <a:extLst xmlns:a="http://schemas.openxmlformats.org/drawingml/2006/main">
              <a:ext uri="{FF2B5EF4-FFF2-40B4-BE49-F238E27FC236}">
                <a16:creationId xmlns:a16="http://schemas.microsoft.com/office/drawing/2014/main" id="{DD476EAB-5135-4168-A526-1281A15F2E54}"/>
              </a:ext>
            </a:extLst>
          </p:cNvPr>
          <p:cNvSpPr>
            <a:spLocks xmlns:a="http://schemas.openxmlformats.org/drawingml/2006/main" noGrp="1"/>
          </p:cNvSpPr>
          <p:nvPr>
            <p:ph type="subTitle" idx="1"/>
          </p:nvPr>
        </p:nvSpPr>
        <p:spPr>
          <a:xfrm xmlns:a="http://schemas.openxmlformats.org/drawingml/2006/main">
            <a:off x="1685925" y="4306888"/>
            <a:ext cx="9144000" cy="788987"/>
          </a:xfrm>
          <a:prstGeom xmlns:a="http://schemas.openxmlformats.org/drawingml/2006/main" prst="rect">
            <a:avLst/>
          </a:prstGeom>
        </p:spPr>
        <p:txBody>
          <a:bodyPr xmlns:a="http://schemas.openxmlformats.org/drawingml/2006/main"/>
          <a:lstStyle xmlns:a="http://schemas.openxmlformats.org/drawingml/2006/main">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3CD26953-F69F-42C2-A54B-F5973306724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6B744D73-302D-4A28-90DE-C5E45A7C1A5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057E0E6-AABA-4ACA-8BEA-B428EC9A8A3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pic>
        <p:nvPicPr>
          <p:cNvPr id="12" name="Picture 1">
            <a:extLst xmlns:a="http://schemas.openxmlformats.org/drawingml/2006/main">
              <a:ext uri="{FF2B5EF4-FFF2-40B4-BE49-F238E27FC236}">
                <a16:creationId xmlns:a16="http://schemas.microsoft.com/office/drawing/2014/main" id="{198CB747-A8A1-497F-B460-2EA7B7A4FBA0}"/>
              </a:ext>
            </a:extLst>
          </p:cNvPr>
          <p:cNvPicPr>
            <a:picLocks xmlns:a="http://schemas.openxmlformats.org/drawingml/2006/main" noChangeAspect="1"/>
          </p:cNvPicPr>
          <p:nvPr/>
        </p:nvPicPr>
        <p:blipFill>
          <a:blip xmlns:r="http://schemas.openxmlformats.org/officeDocument/2006/relationships" xmlns:a="http://schemas.openxmlformats.org/drawingml/2006/main" r:embed="Rb03bcec533c14ad6">
            <a:duotone>
              <a:schemeClr val="bg2">
                <a:shade val="45000"/>
                <a:satMod val="135000"/>
              </a:schemeClr>
              <a:prstClr val="white"/>
            </a:duotone>
          </a:blip>
          <a:stretch xmlns:a="http://schemas.openxmlformats.org/drawingml/2006/main">
            <a:fillRect l="0" t="0" r="0" b="0"/>
          </a:stretch>
        </p:blipFill>
        <p:spPr>
          <a:xfrm xmlns:a="http://schemas.openxmlformats.org/drawingml/2006/main">
            <a:off x="5815113" y="1164887"/>
            <a:ext cx="5770529" cy="2308212"/>
          </a:xfrm>
          <a:prstGeom xmlns:a="http://schemas.openxmlformats.org/drawingml/2006/main" prst="rect">
            <a:avLst/>
          </a:prstGeom>
        </p:spPr>
      </p:pic>
    </p:spTree>
  </p:cSld>
</p:sldLayout>
</file>

<file path=ppt/slideLayouts/slideLayout2.xml><?xml version="1.0" encoding="utf-8"?>
<p:sldLayout xmlns:p="http://schemas.openxmlformats.org/presentationml/2006/main" preserve="1" userDrawn="1">
  <p:cSld name="Title and Content">
    <p:bg>
      <p:bgPr>
        <a:blipFill xmlns:a="http://schemas.openxmlformats.org/drawingml/2006/main" rotWithShape="1">
          <a:blip xmlns:r="http://schemas.openxmlformats.org/officeDocument/2006/relationships" r:embed="Rcbc7489b582046d6">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0885E91C-B279-4771-A6D6-01AFC370A44D}"/>
              </a:ext>
            </a:extLst>
          </p:cNvPr>
          <p:cNvSpPr>
            <a:spLocks xmlns:a="http://schemas.openxmlformats.org/drawingml/2006/main" noGrp="1"/>
          </p:cNvSpPr>
          <p:nvPr>
            <p:ph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B1BF17-92F7-4792-899A-1F2D73C4454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97F976D0-EE37-4B31-87EA-7820D621EFC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9F7B01B-9930-4C02-B383-AC141BAF99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7" name="Straight Connector 6">
            <a:extLst xmlns:a="http://schemas.openxmlformats.org/drawingml/2006/main">
              <a:ext uri="{FF2B5EF4-FFF2-40B4-BE49-F238E27FC236}">
                <a16:creationId xmlns:a16="http://schemas.microsoft.com/office/drawing/2014/main" id="{6F02C4A0-0C71-49A5-8AAA-D9E10FC4DBEE}"/>
              </a:ext>
            </a:extLst>
          </p:cNvPr>
          <p:cNvSpPr>
            <a:spLocks xmlns:a="http://schemas.openxmlformats.org/drawingml/2006/main" noGrp="1"/>
          </p:cNvSpPr>
          <p:nvPr/>
        </p:nvSpPr>
        <p:spPr>
          <a:xfrm xmlns:a="http://schemas.openxmlformats.org/drawingml/2006/main">
            <a:off x="4168877" y="1110586"/>
            <a:ext cx="3903407" cy="0"/>
          </a:xfrm>
          <a:prstGeom xmlns:a="http://schemas.openxmlformats.org/drawingml/2006/main" prst="line">
            <a:avLst/>
          </a:prstGeom>
          <a:ln xmlns:a="http://schemas.openxmlformats.org/drawingml/2006/main" w="19050">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3.xml><?xml version="1.0" encoding="utf-8"?>
<p:sldLayout xmlns:p="http://schemas.openxmlformats.org/presentationml/2006/main" type="secHead" preserve="1">
  <p:cSld name="Section Header">
    <p:bg>
      <p:bgPr>
        <a:blipFill xmlns:a="http://schemas.openxmlformats.org/drawingml/2006/main" rotWithShape="1">
          <a:blip xmlns:r="http://schemas.openxmlformats.org/officeDocument/2006/relationships" r:embed="Reb317f4da7b240c6">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B0906D-35BC-4927-92F8-905C043059E6}"/>
              </a:ext>
            </a:extLst>
          </p:cNvPr>
          <p:cNvSpPr>
            <a:spLocks xmlns:a="http://schemas.openxmlformats.org/drawingml/2006/main" noGrp="1"/>
          </p:cNvSpPr>
          <p:nvPr>
            <p:ph type="title" idx="0"/>
          </p:nvPr>
        </p:nvSpPr>
        <p:spPr>
          <a:xfrm xmlns:a="http://schemas.openxmlformats.org/drawingml/2006/main">
            <a:off x="831850" y="1709738"/>
            <a:ext cx="10515600" cy="2852737"/>
          </a:xfrm>
          <a:prstGeom xmlns:a="http://schemas.openxmlformats.org/drawingml/2006/main" prst="rect">
            <a:avLst/>
          </a:prstGeo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C8699B3-7648-4820-9323-C443BD59035B}"/>
              </a:ext>
            </a:extLst>
          </p:cNvPr>
          <p:cNvSpPr>
            <a:spLocks xmlns:a="http://schemas.openxmlformats.org/drawingml/2006/main" noGrp="1"/>
          </p:cNvSpPr>
          <p:nvPr>
            <p:ph type="body" idx="1"/>
          </p:nvPr>
        </p:nvSpPr>
        <p:spPr>
          <a:xfrm xmlns:a="http://schemas.openxmlformats.org/drawingml/2006/main">
            <a:off x="831850" y="4589463"/>
            <a:ext cx="10515600" cy="1500187"/>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Edit Master text styles</a:t>
            </a:r>
          </a:p>
        </p:txBody>
      </p:sp>
      <p:sp>
        <p:nvSpPr>
          <p:cNvPr id="4" name="Date Placeholder 3">
            <a:extLst xmlns:a="http://schemas.openxmlformats.org/drawingml/2006/main">
              <a:ext uri="{FF2B5EF4-FFF2-40B4-BE49-F238E27FC236}">
                <a16:creationId xmlns:a16="http://schemas.microsoft.com/office/drawing/2014/main" id="{82630805-DDF8-4EF7-A3AB-8C678FE2761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30D1CF93-1484-4C82-8055-C750BCE2DB2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96BD413-0DD9-48B2-9BF9-7F0162A354EB}"/>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4.xml><?xml version="1.0" encoding="utf-8"?>
<p:sldLayout xmlns:p="http://schemas.openxmlformats.org/presentationml/2006/main" type="twoObj" preserve="1">
  <p:cSld name="Two Content">
    <p:bg>
      <p:bgPr>
        <a:blipFill xmlns:a="http://schemas.openxmlformats.org/drawingml/2006/main" rotWithShape="1">
          <a:blip xmlns:r="http://schemas.openxmlformats.org/officeDocument/2006/relationships" r:embed="Rcc2475954c8b44bf">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FF9477B-8FA0-4E2E-A411-CEC74214AA9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E565F1BA-8F75-4BED-97D1-C251B77DEC27}"/>
              </a:ext>
            </a:extLst>
          </p:cNvPr>
          <p:cNvSpPr>
            <a:spLocks xmlns:a="http://schemas.openxmlformats.org/drawingml/2006/main" noGrp="1"/>
          </p:cNvSpPr>
          <p:nvPr>
            <p:ph idx="1"/>
          </p:nvPr>
        </p:nvSpPr>
        <p:spPr>
          <a:xfrm xmlns:a="http://schemas.openxmlformats.org/drawingml/2006/main">
            <a:off x="838200" y="1825625"/>
            <a:ext cx="5181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0B5CA33D-41D7-40DC-A274-8FC51B8212FC}"/>
              </a:ext>
            </a:extLst>
          </p:cNvPr>
          <p:cNvSpPr>
            <a:spLocks xmlns:a="http://schemas.openxmlformats.org/drawingml/2006/main" noGrp="1"/>
          </p:cNvSpPr>
          <p:nvPr>
            <p:ph idx="2"/>
          </p:nvPr>
        </p:nvSpPr>
        <p:spPr>
          <a:xfrm xmlns:a="http://schemas.openxmlformats.org/drawingml/2006/main">
            <a:off x="6172200" y="1825625"/>
            <a:ext cx="5181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3AD8451D-EDDF-4006-9B3A-830C2DE1A60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D79FCCC-B709-4F98-9C0A-BFADD1048C2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E9937E2-6B2D-496B-AD46-366C8AB48D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5.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223868D-1D5E-4FB3-B9FE-4C5AEA810C2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9BA2360F-8409-4B7C-A1BA-23F94EC04AE9}"/>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4" name="Footer Placeholder 3">
            <a:extLst xmlns:a="http://schemas.openxmlformats.org/drawingml/2006/main">
              <a:ext uri="{FF2B5EF4-FFF2-40B4-BE49-F238E27FC236}">
                <a16:creationId xmlns:a16="http://schemas.microsoft.com/office/drawing/2014/main" id="{8F2CC6F3-6DFE-4EE5-9764-0A5BDB6A113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BF3DB0-DA2D-4F21-9AEA-32AB9CEEAB9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6.xml><?xml version="1.0" encoding="utf-8"?>
<p:sldLayout xmlns:p="http://schemas.openxmlformats.org/presentationml/2006/main"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7735B704-75BC-42AD-B346-4C42C2A14A9B}"/>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3" name="Footer Placeholder 2">
            <a:extLst xmlns:a="http://schemas.openxmlformats.org/drawingml/2006/main">
              <a:ext uri="{FF2B5EF4-FFF2-40B4-BE49-F238E27FC236}">
                <a16:creationId xmlns:a16="http://schemas.microsoft.com/office/drawing/2014/main" id="{CC3AE045-0DF1-4911-98B6-B7D2A3779593}"/>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913BC8A-5FD7-4283-A9EC-B9084264E18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7.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A87D74A-B972-4C78-B025-F598CD59A409}"/>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0064ED1-440E-41DD-80C2-5A260F32D936}"/>
              </a:ext>
            </a:extLst>
          </p:cNvPr>
          <p:cNvSpPr>
            <a:spLocks xmlns:a="http://schemas.openxmlformats.org/drawingml/2006/main" noGrp="1"/>
          </p:cNvSpPr>
          <p:nvPr>
            <p:ph idx="1"/>
          </p:nvPr>
        </p:nvSpPr>
        <p:spPr>
          <a:xfrm xmlns:a="http://schemas.openxmlformats.org/drawingml/2006/main">
            <a:off x="5183188" y="987425"/>
            <a:ext cx="617220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2DFCF4AA-6B43-4D37-869F-726FE35BC881}"/>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Edit Master text styles</a:t>
            </a:r>
          </a:p>
        </p:txBody>
      </p:sp>
      <p:sp>
        <p:nvSpPr>
          <p:cNvPr id="5" name="Date Placeholder 4">
            <a:extLst xmlns:a="http://schemas.openxmlformats.org/drawingml/2006/main">
              <a:ext uri="{FF2B5EF4-FFF2-40B4-BE49-F238E27FC236}">
                <a16:creationId xmlns:a16="http://schemas.microsoft.com/office/drawing/2014/main" id="{73BB77D6-496C-4B12-8E6A-7F9AD8C4A680}"/>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0F75702-FB53-48E4-A4F7-4FE3F5EFB045}"/>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235C7EA-54A0-485D-9B98-80FBABA0055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8.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E029DB-84DD-4499-8643-849CF0ABD2B3}"/>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07BECDC3-4C71-4F83-B92A-EE0E8443A808}"/>
              </a:ext>
            </a:extLst>
          </p:cNvPr>
          <p:cNvSpPr>
            <a:spLocks xmlns:a="http://schemas.openxmlformats.org/drawingml/2006/main" noGrp="1"/>
          </p:cNvSpPr>
          <p:nvPr>
            <p:ph type="pic" idx="1"/>
          </p:nvPr>
        </p:nvSpPr>
        <p:spPr>
          <a:xfrm xmlns:a="http://schemas.openxmlformats.org/drawingml/2006/main">
            <a:off x="5183188" y="987425"/>
            <a:ext cx="6172200" cy="4873625"/>
          </a:xfrm>
          <a:prstGeom xmlns:a="http://schemas.openxmlformats.org/drawingml/2006/main" prst="rect">
            <a:avLst/>
          </a:prstGeo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Click icon to add picture</a:t>
            </a:r>
          </a:p>
        </p:txBody>
      </p:sp>
      <p:sp>
        <p:nvSpPr>
          <p:cNvPr id="4" name="Text Placeholder 3">
            <a:extLst xmlns:a="http://schemas.openxmlformats.org/drawingml/2006/main">
              <a:ext uri="{FF2B5EF4-FFF2-40B4-BE49-F238E27FC236}">
                <a16:creationId xmlns:a16="http://schemas.microsoft.com/office/drawing/2014/main" id="{EE44B493-DE98-432C-A8D0-B319DCF088D6}"/>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Edit Master text styles</a:t>
            </a:r>
          </a:p>
        </p:txBody>
      </p:sp>
      <p:sp>
        <p:nvSpPr>
          <p:cNvPr id="5" name="Date Placeholder 4">
            <a:extLst xmlns:a="http://schemas.openxmlformats.org/drawingml/2006/main">
              <a:ext uri="{FF2B5EF4-FFF2-40B4-BE49-F238E27FC236}">
                <a16:creationId xmlns:a16="http://schemas.microsoft.com/office/drawing/2014/main" id="{04A26AD4-6475-4AAF-A74D-BDE08160083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865FF541-011C-415E-988A-7E0FCAD5D78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AE6748-3AE2-4F8D-9126-E7640F1FEDD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9.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DD1A92D-AC44-49A7-9BF6-6AD60256CE32}"/>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DFD0966E-7D30-406A-8EAB-1F2F2A0966B6}"/>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F52D9B5-3042-405B-87AA-60D30995EACC}"/>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834EED6B-86B8-4FB0-8663-DB3BC67054F2}"/>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0CC2184-4DBC-454D-9C7B-828A9D44E2A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10.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3FD053A5-0BBB-43F5-B10F-91FEA6C7ACEF}"/>
              </a:ext>
            </a:extLst>
          </p:cNvPr>
          <p:cNvSpPr>
            <a:spLocks xmlns:a="http://schemas.openxmlformats.org/drawingml/2006/main" noGrp="1"/>
          </p:cNvSpPr>
          <p:nvPr>
            <p:ph type="title" idx="0"/>
          </p:nvPr>
        </p:nvSpPr>
        <p:spPr>
          <a:xfrm xmlns:a="http://schemas.openxmlformats.org/drawingml/2006/main">
            <a:off x="8724900" y="365125"/>
            <a:ext cx="2628900" cy="58118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ED0E8C3B-B826-4987-8FD1-E44A4150069D}"/>
              </a:ext>
            </a:extLst>
          </p:cNvPr>
          <p:cNvSpPr>
            <a:spLocks xmlns:a="http://schemas.openxmlformats.org/drawingml/2006/main" noGrp="1"/>
          </p:cNvSpPr>
          <p:nvPr>
            <p:ph type="body" idx="1"/>
          </p:nvPr>
        </p:nvSpPr>
        <p:spPr>
          <a:xfrm xmlns:a="http://schemas.openxmlformats.org/drawingml/2006/main">
            <a:off x="838200" y="365125"/>
            <a:ext cx="7734300" cy="58118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E6DA0FD5-0058-4319-864D-46A863D791E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04B44F6C-6464-41A7-AF8E-F94E0E93AB9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66304FC-4637-47E2-86A8-2B63B60D13D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11.xml><?xml version="1.0" encoding="utf-8"?>
<p:sldLayout xmlns:p="http://schemas.openxmlformats.org/presentationml/2006/main" preserve="1">
  <p:cSld name="2_Content with Caption">
    <p:bg>
      <p:bgPr>
        <a:blipFill xmlns:a="http://schemas.openxmlformats.org/drawingml/2006/main" rotWithShape="1">
          <a:blip xmlns:r="http://schemas.openxmlformats.org/officeDocument/2006/relationships" r:embed="R487f898534ed460d">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F46F9509-30BC-4B1E-AB26-4D6575FF7C13}"/>
              </a:ext>
            </a:extLst>
          </p:cNvPr>
          <p:cNvSpPr>
            <a:spLocks xmlns:a="http://schemas.openxmlformats.org/drawingml/2006/main" noGrp="1"/>
          </p:cNvSpPr>
          <p:nvPr>
            <p:ph idx="1"/>
          </p:nvPr>
        </p:nvSpPr>
        <p:spPr>
          <a:xfrm xmlns:a="http://schemas.openxmlformats.org/drawingml/2006/main">
            <a:off x="4779390" y="987424"/>
            <a:ext cx="689651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3321C82D-046B-4F75-A935-16BA527BB455}"/>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C4331828-D716-48E2-B6F2-6910EEF7EB63}"/>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5B2B34-A3F0-4BD7-99E1-421064E7BB19}"/>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16" name="Picture Placeholder 15">
            <a:extLst xmlns:a="http://schemas.openxmlformats.org/drawingml/2006/main">
              <a:ext uri="{FF2B5EF4-FFF2-40B4-BE49-F238E27FC236}">
                <a16:creationId xmlns:a16="http://schemas.microsoft.com/office/drawing/2014/main" id="{A82D4EB4-8C3F-4B6D-8BF9-EA7BA03E7E04}"/>
              </a:ext>
            </a:extLst>
          </p:cNvPr>
          <p:cNvSpPr>
            <a:spLocks xmlns:a="http://schemas.openxmlformats.org/drawingml/2006/main" noGrp="1"/>
          </p:cNvSpPr>
          <p:nvPr>
            <p:ph type="pic" idx="13"/>
          </p:nvPr>
        </p:nvSpPr>
        <p:spPr>
          <a:xfrm xmlns:a="http://schemas.openxmlformats.org/drawingml/2006/main">
            <a:off x="0" y="987424"/>
            <a:ext cx="5183188" cy="4873625"/>
          </a:xfrm>
          <a:custGeom xmlns:a="http://schemas.openxmlformats.org/drawingml/2006/main">
            <a:gdLst>
              <a:gd name="connsiteX0" fmla="*/ 976445 w 5183188"/>
              <a:gd name="connsiteY0" fmla="*/ 0 h 4873625"/>
              <a:gd name="connsiteX1" fmla="*/ 2746376 w 5183188"/>
              <a:gd name="connsiteY1" fmla="*/ 0 h 4873625"/>
              <a:gd name="connsiteX2" fmla="*/ 5170608 w 5183188"/>
              <a:gd name="connsiteY2" fmla="*/ 2187663 h 4873625"/>
              <a:gd name="connsiteX3" fmla="*/ 5183188 w 5183188"/>
              <a:gd name="connsiteY3" fmla="*/ 2436794 h 4873625"/>
              <a:gd name="connsiteX4" fmla="*/ 5183188 w 5183188"/>
              <a:gd name="connsiteY4" fmla="*/ 2436813 h 4873625"/>
              <a:gd name="connsiteX5" fmla="*/ 2995525 w 5183188"/>
              <a:gd name="connsiteY5" fmla="*/ 4861045 h 4873625"/>
              <a:gd name="connsiteX6" fmla="*/ 2746395 w 5183188"/>
              <a:gd name="connsiteY6" fmla="*/ 4873625 h 4873625"/>
              <a:gd name="connsiteX7" fmla="*/ 976445 w 5183188"/>
              <a:gd name="connsiteY7" fmla="*/ 4873625 h 4873625"/>
              <a:gd name="connsiteX8" fmla="*/ 27927 w 5183188"/>
              <a:gd name="connsiteY8" fmla="*/ 4682128 h 4873625"/>
              <a:gd name="connsiteX9" fmla="*/ 0 w 5183188"/>
              <a:gd name="connsiteY9" fmla="*/ 4668675 h 4873625"/>
              <a:gd name="connsiteX10" fmla="*/ 0 w 5183188"/>
              <a:gd name="connsiteY10" fmla="*/ 204950 h 4873625"/>
              <a:gd name="connsiteX11" fmla="*/ 27927 w 5183188"/>
              <a:gd name="connsiteY11" fmla="*/ 191497 h 4873625"/>
              <a:gd name="connsiteX12" fmla="*/ 976445 w 5183188"/>
              <a:gd name="connsiteY12" fmla="*/ 0 h 4873625"/>
            </a:gdLst>
            <a:rect l="l" t="t" r="r" b="b"/>
            <a:pathLst>
              <a:path w="5183188" h="4873625">
                <a:moveTo>
                  <a:pt x="976445" y="0"/>
                </a:moveTo>
                <a:lnTo>
                  <a:pt x="2746376" y="0"/>
                </a:lnTo>
                <a:cubicBezTo>
                  <a:pt x="4008078" y="0"/>
                  <a:pt x="5045819" y="958885"/>
                  <a:pt x="5170608" y="2187663"/>
                </a:cubicBezTo>
                <a:lnTo>
                  <a:pt x="5183188" y="2436794"/>
                </a:lnTo>
                <a:lnTo>
                  <a:pt x="5183188" y="2436813"/>
                </a:lnTo>
                <a:cubicBezTo>
                  <a:pt x="5183188" y="3698515"/>
                  <a:pt x="4224303" y="4736256"/>
                  <a:pt x="2995525" y="4861045"/>
                </a:cubicBezTo>
                <a:lnTo>
                  <a:pt x="2746395" y="4873625"/>
                </a:lnTo>
                <a:lnTo>
                  <a:pt x="976445" y="4873625"/>
                </a:lnTo>
                <a:cubicBezTo>
                  <a:pt x="639991" y="4873625"/>
                  <a:pt x="319464" y="4805438"/>
                  <a:pt x="27927" y="4682128"/>
                </a:cubicBezTo>
                <a:lnTo>
                  <a:pt x="0" y="4668675"/>
                </a:lnTo>
                <a:lnTo>
                  <a:pt x="0" y="204950"/>
                </a:lnTo>
                <a:lnTo>
                  <a:pt x="27927" y="191497"/>
                </a:lnTo>
                <a:cubicBezTo>
                  <a:pt x="319464" y="68188"/>
                  <a:pt x="639991" y="0"/>
                  <a:pt x="976445" y="0"/>
                </a:cubicBezTo>
                <a:close/>
              </a:path>
            </a:pathLst>
          </a:custGeom>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9" name="Title 1">
            <a:extLst xmlns:a="http://schemas.openxmlformats.org/drawingml/2006/main">
              <a:ext uri="{FF2B5EF4-FFF2-40B4-BE49-F238E27FC236}">
                <a16:creationId xmlns:a16="http://schemas.microsoft.com/office/drawing/2014/main" id="{34F31488-1555-49F3-82E1-EA4271F890A4}"/>
              </a:ext>
            </a:extLst>
          </p:cNvPr>
          <p:cNvSpPr>
            <a:spLocks xmlns:a="http://schemas.openxmlformats.org/drawingml/2006/main" noGrp="1"/>
          </p:cNvSpPr>
          <p:nvPr>
            <p:ph type="title" idx="0"/>
          </p:nvPr>
        </p:nvSpPr>
        <p:spPr>
          <a:xfrm xmlns:a="http://schemas.openxmlformats.org/drawingml/2006/main">
            <a:off x="838200" y="22009"/>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Layouts/slideLayout12.xml><?xml version="1.0" encoding="utf-8"?>
<p:sldLayout xmlns:p="http://schemas.openxmlformats.org/presentationml/2006/main" preserve="1">
  <p:cSld name="3_Content with Caption">
    <p:bg>
      <p:bgPr>
        <a:blipFill xmlns:a="http://schemas.openxmlformats.org/drawingml/2006/main" rotWithShape="1">
          <a:blip xmlns:r="http://schemas.openxmlformats.org/officeDocument/2006/relationships" r:embed="R139acc9040ba48a8">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FA34909E-DA60-4937-9B3C-7EA971D96B0B}"/>
              </a:ext>
            </a:extLst>
          </p:cNvPr>
          <p:cNvSpPr>
            <a:spLocks xmlns:a="http://schemas.openxmlformats.org/drawingml/2006/main" noGrp="1"/>
          </p:cNvSpPr>
          <p:nvPr>
            <p:ph idx="1"/>
          </p:nvPr>
        </p:nvSpPr>
        <p:spPr>
          <a:xfrm xmlns:a="http://schemas.openxmlformats.org/drawingml/2006/main">
            <a:off x="4779390" y="987424"/>
            <a:ext cx="689651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E7A90903-4F05-4E4E-B136-237F7630618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7AE810D-9F46-4331-96BF-4958EC4E103E}"/>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B5B6C0DB-065F-4CDD-943C-D9FF8788BC18}"/>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16" name="Picture Placeholder 15">
            <a:extLst xmlns:a="http://schemas.openxmlformats.org/drawingml/2006/main">
              <a:ext uri="{FF2B5EF4-FFF2-40B4-BE49-F238E27FC236}">
                <a16:creationId xmlns:a16="http://schemas.microsoft.com/office/drawing/2014/main" id="{009DE2FE-42C5-4634-9725-3F525B22B8B5}"/>
              </a:ext>
            </a:extLst>
          </p:cNvPr>
          <p:cNvSpPr>
            <a:spLocks xmlns:a="http://schemas.openxmlformats.org/drawingml/2006/main" noGrp="1"/>
          </p:cNvSpPr>
          <p:nvPr>
            <p:ph type="pic" idx="13"/>
          </p:nvPr>
        </p:nvSpPr>
        <p:spPr>
          <a:xfrm xmlns:a="http://schemas.openxmlformats.org/drawingml/2006/main">
            <a:off x="0" y="987424"/>
            <a:ext cx="5183188" cy="4873625"/>
          </a:xfrm>
          <a:custGeom xmlns:a="http://schemas.openxmlformats.org/drawingml/2006/main">
            <a:gdLst>
              <a:gd name="connsiteX0" fmla="*/ 976445 w 5183188"/>
              <a:gd name="connsiteY0" fmla="*/ 0 h 4873625"/>
              <a:gd name="connsiteX1" fmla="*/ 2746376 w 5183188"/>
              <a:gd name="connsiteY1" fmla="*/ 0 h 4873625"/>
              <a:gd name="connsiteX2" fmla="*/ 5170608 w 5183188"/>
              <a:gd name="connsiteY2" fmla="*/ 2187663 h 4873625"/>
              <a:gd name="connsiteX3" fmla="*/ 5183188 w 5183188"/>
              <a:gd name="connsiteY3" fmla="*/ 2436794 h 4873625"/>
              <a:gd name="connsiteX4" fmla="*/ 5183188 w 5183188"/>
              <a:gd name="connsiteY4" fmla="*/ 2436813 h 4873625"/>
              <a:gd name="connsiteX5" fmla="*/ 2995525 w 5183188"/>
              <a:gd name="connsiteY5" fmla="*/ 4861045 h 4873625"/>
              <a:gd name="connsiteX6" fmla="*/ 2746395 w 5183188"/>
              <a:gd name="connsiteY6" fmla="*/ 4873625 h 4873625"/>
              <a:gd name="connsiteX7" fmla="*/ 976445 w 5183188"/>
              <a:gd name="connsiteY7" fmla="*/ 4873625 h 4873625"/>
              <a:gd name="connsiteX8" fmla="*/ 27927 w 5183188"/>
              <a:gd name="connsiteY8" fmla="*/ 4682128 h 4873625"/>
              <a:gd name="connsiteX9" fmla="*/ 0 w 5183188"/>
              <a:gd name="connsiteY9" fmla="*/ 4668675 h 4873625"/>
              <a:gd name="connsiteX10" fmla="*/ 0 w 5183188"/>
              <a:gd name="connsiteY10" fmla="*/ 204950 h 4873625"/>
              <a:gd name="connsiteX11" fmla="*/ 27927 w 5183188"/>
              <a:gd name="connsiteY11" fmla="*/ 191497 h 4873625"/>
              <a:gd name="connsiteX12" fmla="*/ 976445 w 5183188"/>
              <a:gd name="connsiteY12" fmla="*/ 0 h 4873625"/>
            </a:gdLst>
            <a:rect l="l" t="t" r="r" b="b"/>
            <a:pathLst>
              <a:path w="5183188" h="4873625">
                <a:moveTo>
                  <a:pt x="976445" y="0"/>
                </a:moveTo>
                <a:lnTo>
                  <a:pt x="2746376" y="0"/>
                </a:lnTo>
                <a:cubicBezTo>
                  <a:pt x="4008078" y="0"/>
                  <a:pt x="5045819" y="958885"/>
                  <a:pt x="5170608" y="2187663"/>
                </a:cubicBezTo>
                <a:lnTo>
                  <a:pt x="5183188" y="2436794"/>
                </a:lnTo>
                <a:lnTo>
                  <a:pt x="5183188" y="2436813"/>
                </a:lnTo>
                <a:cubicBezTo>
                  <a:pt x="5183188" y="3698515"/>
                  <a:pt x="4224303" y="4736256"/>
                  <a:pt x="2995525" y="4861045"/>
                </a:cubicBezTo>
                <a:lnTo>
                  <a:pt x="2746395" y="4873625"/>
                </a:lnTo>
                <a:lnTo>
                  <a:pt x="976445" y="4873625"/>
                </a:lnTo>
                <a:cubicBezTo>
                  <a:pt x="639991" y="4873625"/>
                  <a:pt x="319464" y="4805438"/>
                  <a:pt x="27927" y="4682128"/>
                </a:cubicBezTo>
                <a:lnTo>
                  <a:pt x="0" y="4668675"/>
                </a:lnTo>
                <a:lnTo>
                  <a:pt x="0" y="204950"/>
                </a:lnTo>
                <a:lnTo>
                  <a:pt x="27927" y="191497"/>
                </a:lnTo>
                <a:cubicBezTo>
                  <a:pt x="319464" y="68188"/>
                  <a:pt x="639991" y="0"/>
                  <a:pt x="976445" y="0"/>
                </a:cubicBezTo>
                <a:close/>
              </a:path>
            </a:pathLst>
          </a:custGeom>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9" name="Title 1">
            <a:extLst xmlns:a="http://schemas.openxmlformats.org/drawingml/2006/main">
              <a:ext uri="{FF2B5EF4-FFF2-40B4-BE49-F238E27FC236}">
                <a16:creationId xmlns:a16="http://schemas.microsoft.com/office/drawing/2014/main" id="{10C268A3-DF84-4F52-8726-DE9F389CEA06}"/>
              </a:ext>
            </a:extLst>
          </p:cNvPr>
          <p:cNvSpPr>
            <a:spLocks xmlns:a="http://schemas.openxmlformats.org/drawingml/2006/main" noGrp="1"/>
          </p:cNvSpPr>
          <p:nvPr>
            <p:ph type="title" idx="0"/>
          </p:nvPr>
        </p:nvSpPr>
        <p:spPr>
          <a:xfrm xmlns:a="http://schemas.openxmlformats.org/drawingml/2006/main">
            <a:off x="838200" y="22009"/>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Layouts/slideLayout13.xml><?xml version="1.0" encoding="utf-8"?>
<p:sldLayout xmlns:p="http://schemas.openxmlformats.org/presentationml/2006/main" matchingName="Title.Content Slide">
  <p:cSld name="Title.Content Slide">
    <p:spTree>
      <p:nvGrpSpPr>
        <p:cNvPr id="1" name=""/>
        <p:cNvGrpSpPr/>
        <p:nvPr/>
      </p:nvGrpSpPr>
      <p:grpSpPr>
        <a:xfrm xmlns:a="http://schemas.openxmlformats.org/drawingml/2006/main"/>
      </p:grpSpPr>
      <p:sp>
        <p:nvSpPr>
          <p:cNvPr id="85" name="Google Shape;85;g2893b70371c_0_647">
            <a:extLst xmlns:a="http://schemas.openxmlformats.org/drawingml/2006/main">
              <a:ext uri="{FF2B5EF4-FFF2-40B4-BE49-F238E27FC236}">
                <a16:creationId xmlns:a16="http://schemas.microsoft.com/office/drawing/2014/main" id="{6402517A-AE40-46CB-83E3-257A504B9F9A}"/>
              </a:ext>
            </a:extLst>
          </p:cNvPr>
          <p:cNvSpPr>
            <a:spLocks xmlns:a="http://schemas.openxmlformats.org/drawingml/2006/main" noGrp="1"/>
          </p:cNvSpPr>
          <p:nvPr>
            <p:ph type="title" idx="0"/>
          </p:nvPr>
        </p:nvSpPr>
        <p:spPr>
          <a:xfrm xmlns:a="http://schemas.openxmlformats.org/drawingml/2006/main">
            <a:off x="60359" y="198323"/>
            <a:ext cx="12071100" cy="359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1440000" bIns="0" anchor="t">
            <a:noAutofit/>
          </a:bodyPr>
          <a:lstStyle xmlns:a="http://schemas.openxmlformats.org/drawingml/2006/main">
            <a:lvl1pPr algn="l">
              <a:spcBef>
                <a:spcPts val="0"/>
              </a:spcBef>
              <a:spcAft>
                <a:spcPts val="0"/>
              </a:spcAft>
              <a:buSzPts val="44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a:r>
              <a:t>Click to edit Master title style</a:t>
            </a:r>
            <a:endParaRPr/>
          </a:p>
        </p:txBody>
      </p:sp>
      <p:sp>
        <p:nvSpPr>
          <p:cNvPr id="86" name="Google Shape;86;g2893b70371c_0_647">
            <a:extLst xmlns:a="http://schemas.openxmlformats.org/drawingml/2006/main">
              <a:ext uri="{FF2B5EF4-FFF2-40B4-BE49-F238E27FC236}">
                <a16:creationId xmlns:a16="http://schemas.microsoft.com/office/drawing/2014/main" id="{1EC34D21-2348-4A83-9CBD-617A7D6F5AE3}"/>
              </a:ext>
            </a:extLst>
          </p:cNvPr>
          <p:cNvSpPr>
            <a:spLocks xmlns:a="http://schemas.openxmlformats.org/drawingml/2006/main" noGrp="1"/>
          </p:cNvSpPr>
          <p:nvPr>
            <p:ph type="body" idx="1"/>
          </p:nvPr>
        </p:nvSpPr>
        <p:spPr>
          <a:xfrm xmlns:a="http://schemas.openxmlformats.org/drawingml/2006/main">
            <a:off x="1" y="789405"/>
            <a:ext cx="12192000" cy="528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720000" tIns="45700" rIns="648000" bIns="45700" anchor="t">
            <a:normAutofit/>
          </a:bodyPr>
          <a:lstStyle xmlns:a="http://schemas.openxmlformats.org/drawingml/2006/main">
            <a:lvl1pPr marL="457200" indent="-323786" algn="l">
              <a:lnSpc>
                <a:spcPct val="100000"/>
              </a:lnSpc>
              <a:spcBef>
                <a:spcPts val="300"/>
              </a:spcBef>
              <a:spcAft>
                <a:spcPts val="0"/>
              </a:spcAft>
              <a:buSzPts val="1499"/>
              <a:buChar char="•"/>
              <a:defRPr sz="1499">
                <a:latin typeface="Verdana"/>
                <a:ea typeface="Verdana"/>
                <a:cs typeface="Verdana"/>
              </a:defRPr>
            </a:lvl1pPr>
            <a:lvl2pPr marL="914400" indent="-323786" algn="l">
              <a:lnSpc>
                <a:spcPct val="100000"/>
              </a:lnSpc>
              <a:spcBef>
                <a:spcPts val="449"/>
              </a:spcBef>
              <a:spcAft>
                <a:spcPts val="0"/>
              </a:spcAft>
              <a:buSzPts val="1499"/>
              <a:buChar char="•"/>
              <a:defRPr sz="1499">
                <a:latin typeface="Verdana"/>
                <a:ea typeface="Verdana"/>
                <a:cs typeface="Verdana"/>
              </a:defRPr>
            </a:lvl2pPr>
            <a:lvl3pPr marL="1371600" indent="-314261" algn="l">
              <a:lnSpc>
                <a:spcPct val="100000"/>
              </a:lnSpc>
              <a:spcBef>
                <a:spcPts val="449"/>
              </a:spcBef>
              <a:spcAft>
                <a:spcPts val="0"/>
              </a:spcAft>
              <a:buSzPts val="1349"/>
              <a:buChar char="•"/>
              <a:defRPr sz="1349">
                <a:latin typeface="Verdana"/>
                <a:ea typeface="Verdana"/>
                <a:cs typeface="Verdana"/>
              </a:defRPr>
            </a:lvl3pPr>
            <a:lvl4pPr marL="1828800" indent="-304736" algn="l">
              <a:lnSpc>
                <a:spcPct val="100000"/>
              </a:lnSpc>
              <a:spcBef>
                <a:spcPts val="449"/>
              </a:spcBef>
              <a:spcAft>
                <a:spcPts val="0"/>
              </a:spcAft>
              <a:buSzPts val="1199"/>
              <a:buChar char="•"/>
              <a:defRPr sz="1199">
                <a:latin typeface="Verdana"/>
                <a:ea typeface="Verdana"/>
                <a:cs typeface="Verdana"/>
              </a:defRPr>
            </a:lvl4pPr>
            <a:lvl5pPr marL="2286000" indent="-266636" algn="l">
              <a:lnSpc>
                <a:spcPct val="100000"/>
              </a:lnSpc>
              <a:spcBef>
                <a:spcPts val="449"/>
              </a:spcBef>
              <a:spcAft>
                <a:spcPts val="0"/>
              </a:spcAft>
              <a:buSzPts val="599"/>
              <a:buChar char="•"/>
              <a:defRPr sz="599">
                <a:latin typeface="Verdana"/>
                <a:ea typeface="Verdana"/>
                <a:cs typeface="Verdana"/>
              </a:defRPr>
            </a:lvl5pPr>
            <a:lvl6pPr marL="2743200" indent="-228600" algn="l">
              <a:spcBef>
                <a:spcPts val="500"/>
              </a:spcBef>
              <a:spcAft>
                <a:spcPts val="0"/>
              </a:spcAft>
              <a:buSzPts val="1800"/>
              <a:buNone/>
              <a:defRPr/>
            </a:lvl6pPr>
            <a:lvl7pPr marL="3200400" indent="-228600" algn="l">
              <a:spcBef>
                <a:spcPts val="500"/>
              </a:spcBef>
              <a:spcAft>
                <a:spcPts val="0"/>
              </a:spcAft>
              <a:buSzPts val="1800"/>
              <a:buNone/>
              <a:defRPr/>
            </a:lvl7pPr>
            <a:lvl8pPr marL="3657600" indent="-228600" algn="l">
              <a:spcBef>
                <a:spcPts val="500"/>
              </a:spcBef>
              <a:spcAft>
                <a:spcPts val="0"/>
              </a:spcAft>
              <a:buSzPts val="1800"/>
              <a:buNone/>
              <a:defRPr/>
            </a:lvl8pPr>
            <a:lvl9pPr marL="4114800" indent="-228600" algn="l">
              <a:spcBef>
                <a:spcPts val="500"/>
              </a:spcBef>
              <a:spcAft>
                <a:spcPts val="0"/>
              </a:spcAft>
              <a:buSzPts val="1800"/>
              <a:buNone/>
              <a:defRPr/>
            </a:lvl9pPr>
          </a:lstStyle>
          <a:p xmlns:a="http://schemas.openxmlformats.org/drawingml/2006/main">
            <a:pPr lvl="0">
              <a:buNone/>
            </a:pPr>
            <a:r>
              <a:t>Edit Master text styles</a:t>
            </a:r>
          </a:p>
        </p:txBody>
      </p:sp>
      <p:sp>
        <p:nvSpPr>
          <p:cNvPr id="87" name="Google Shape;87;g2893b70371c_0_647">
            <a:extLst xmlns:a="http://schemas.openxmlformats.org/drawingml/2006/main">
              <a:ext uri="{FF2B5EF4-FFF2-40B4-BE49-F238E27FC236}">
                <a16:creationId xmlns:a16="http://schemas.microsoft.com/office/drawing/2014/main" id="{6ED3A0E9-C29A-4837-B2B7-1A538248CE8C}"/>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fld id="{A74DB8E4-0DF9-4658-8AF8-1D74F81145F2}" type="slidenum">
              <a:t>‹#›</a:t>
            </a:fld>
            <a:endParaRPr/>
          </a:p>
        </p:txBody>
      </p:sp>
    </p:spTree>
  </p:cSld>
</p:sldLayout>
</file>

<file path=ppt/slideLayouts/slideLayout14.xml><?xml version="1.0" encoding="utf-8"?>
<p:sldLayout xmlns:p="http://schemas.openxmlformats.org/presentationml/2006/main" preserve="1">
  <p:cSld name="Custom Layout">
    <p:spTree>
      <p:nvGrpSpPr>
        <p:cNvPr id="1" name=""/>
        <p:cNvGrpSpPr/>
        <p:nvPr/>
      </p:nvGrpSpPr>
      <p:grpSpPr>
        <a:xfrm xmlns:a="http://schemas.openxmlformats.org/drawingml/2006/main"/>
      </p:grpSpPr>
      <p:pic>
        <p:nvPicPr>
          <p:cNvPr id="5" name="Picture 3">
            <a:extLst xmlns:a="http://schemas.openxmlformats.org/drawingml/2006/main">
              <a:ext uri="{FF2B5EF4-FFF2-40B4-BE49-F238E27FC236}">
                <a16:creationId xmlns:a16="http://schemas.microsoft.com/office/drawing/2014/main" id="{BF16F685-C76F-4E0E-96BA-50B3E0495116}"/>
              </a:ext>
            </a:extLst>
          </p:cNvPr>
          <p:cNvPicPr>
            <a:picLocks xmlns:a="http://schemas.openxmlformats.org/drawingml/2006/main" noChangeAspect="1"/>
          </p:cNvPicPr>
          <p:nvPr/>
        </p:nvPicPr>
        <p:blipFill>
          <a:blip xmlns:r="http://schemas.openxmlformats.org/officeDocument/2006/relationships" xmlns:a="http://schemas.openxmlformats.org/drawingml/2006/main" r:embed="R04490bd6991d42c4"/>
          <a:stretch xmlns:a="http://schemas.openxmlformats.org/drawingml/2006/main">
            <a:fillRect l="0" t="0" r="0" b="0"/>
          </a:stretch>
        </p:blipFill>
        <p:spPr>
          <a:xfrm xmlns:a="http://schemas.openxmlformats.org/drawingml/2006/main">
            <a:off x="68090" y="1411497"/>
            <a:ext cx="12036357" cy="5342089"/>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4E62F9C0-FC99-427B-BB04-CD2171584D6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正方形/長方形 5">
            <a:extLst xmlns:a="http://schemas.openxmlformats.org/drawingml/2006/main">
              <a:ext uri="{FF2B5EF4-FFF2-40B4-BE49-F238E27FC236}">
                <a16:creationId xmlns:a16="http://schemas.microsoft.com/office/drawing/2014/main" id="{2E7483FB-6091-4DAF-9AEE-C7FA49D6313B}"/>
              </a:ext>
            </a:extLst>
          </p:cNvPr>
          <p:cNvSpPr>
            <a:spLocks xmlns:a="http://schemas.openxmlformats.org/drawingml/2006/main" noGrp="1"/>
          </p:cNvSpPr>
          <p:nvPr/>
        </p:nvSpPr>
        <p:spPr>
          <a:xfrm xmlns:a="http://schemas.openxmlformats.org/drawingml/2006/main">
            <a:off x="-18943" y="1303507"/>
            <a:ext cx="12304976" cy="5564221"/>
          </a:xfrm>
          <a:prstGeom xmlns:a="http://schemas.openxmlformats.org/drawingml/2006/main" prst="rect">
            <a:avLst/>
          </a:prstGeom>
          <a:solidFill xmlns:a="http://schemas.openxmlformats.org/drawingml/2006/main">
            <a:schemeClr val="bg1">
              <a:alpha val="3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defTabSz="684543">
              <a:buNone/>
            </a:pPr>
            <a:endParaRPr sz="1348">
              <a:solidFill>
                <a:prstClr val="white"/>
              </a:solidFill>
              <a:latin typeface="Calibri"/>
              <a:ea typeface="Calibri"/>
              <a:cs typeface="Calibri"/>
            </a:endParaRPr>
          </a:p>
        </p:txBody>
      </p:sp>
    </p:spTree>
  </p:cSld>
</p:sldLayout>
</file>

<file path=ppt/slideLayouts/slideLayout15.xml><?xml version="1.0" encoding="utf-8"?>
<p:sldLayout xmlns:p="http://schemas.openxmlformats.org/presentationml/2006/main" matchingName="フッターなし">
  <p:cSld name="フッターなし">
    <p:spTree>
      <p:nvGrpSpPr>
        <p:cNvPr id="1" name=""/>
        <p:cNvGrpSpPr/>
        <p:nvPr/>
      </p:nvGrpSpPr>
      <p:grpSpPr>
        <a:xfrm xmlns:a="http://schemas.openxmlformats.org/drawingml/2006/main"/>
      </p:grpSpPr>
      <p:sp>
        <p:nvSpPr>
          <p:cNvPr id="89" name="Google Shape;89;g2893b70371c_0_712">
            <a:extLst xmlns:a="http://schemas.openxmlformats.org/drawingml/2006/main">
              <a:ext uri="{FF2B5EF4-FFF2-40B4-BE49-F238E27FC236}">
                <a16:creationId xmlns:a16="http://schemas.microsoft.com/office/drawing/2014/main" id="{923DDDB2-505E-4FF7-B1B7-0743890AB5FB}"/>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050" b="0" i="0" u="none" cap="none">
                <a:solidFill>
                  <a:srgbClr val="828282"/>
                </a:solidFill>
                <a:latin typeface="Verdana"/>
                <a:ea typeface="Verdana"/>
                <a:cs typeface="Verdana"/>
              </a:defRPr>
            </a:lvl1pPr>
            <a:lvl2pPr marL="0" indent="0" algn="r">
              <a:spcBef>
                <a:spcPts val="0"/>
              </a:spcBef>
              <a:buNone/>
              <a:defRPr sz="1050" b="0" i="0" u="none" cap="none">
                <a:solidFill>
                  <a:srgbClr val="828282"/>
                </a:solidFill>
                <a:latin typeface="Verdana"/>
                <a:ea typeface="Verdana"/>
                <a:cs typeface="Verdana"/>
              </a:defRPr>
            </a:lvl2pPr>
            <a:lvl3pPr marL="0" indent="0" algn="r">
              <a:spcBef>
                <a:spcPts val="0"/>
              </a:spcBef>
              <a:buNone/>
              <a:defRPr sz="1050" b="0" i="0" u="none" cap="none">
                <a:solidFill>
                  <a:srgbClr val="828282"/>
                </a:solidFill>
                <a:latin typeface="Verdana"/>
                <a:ea typeface="Verdana"/>
                <a:cs typeface="Verdana"/>
              </a:defRPr>
            </a:lvl3pPr>
            <a:lvl4pPr marL="0" indent="0" algn="r">
              <a:spcBef>
                <a:spcPts val="0"/>
              </a:spcBef>
              <a:buNone/>
              <a:defRPr sz="1050" b="0" i="0" u="none" cap="none">
                <a:solidFill>
                  <a:srgbClr val="828282"/>
                </a:solidFill>
                <a:latin typeface="Verdana"/>
                <a:ea typeface="Verdana"/>
                <a:cs typeface="Verdana"/>
              </a:defRPr>
            </a:lvl4pPr>
            <a:lvl5pPr marL="0" indent="0" algn="r">
              <a:spcBef>
                <a:spcPts val="0"/>
              </a:spcBef>
              <a:buNone/>
              <a:defRPr sz="1050" b="0" i="0" u="none" cap="none">
                <a:solidFill>
                  <a:srgbClr val="828282"/>
                </a:solidFill>
                <a:latin typeface="Verdana"/>
                <a:ea typeface="Verdana"/>
                <a:cs typeface="Verdana"/>
              </a:defRPr>
            </a:lvl5pPr>
            <a:lvl6pPr marL="0" indent="0" algn="r">
              <a:spcBef>
                <a:spcPts val="0"/>
              </a:spcBef>
              <a:buNone/>
              <a:defRPr sz="1050" b="0" i="0" u="none" cap="none">
                <a:solidFill>
                  <a:srgbClr val="828282"/>
                </a:solidFill>
                <a:latin typeface="Verdana"/>
                <a:ea typeface="Verdana"/>
                <a:cs typeface="Verdana"/>
              </a:defRPr>
            </a:lvl6pPr>
            <a:lvl7pPr marL="0" indent="0" algn="r">
              <a:spcBef>
                <a:spcPts val="0"/>
              </a:spcBef>
              <a:buNone/>
              <a:defRPr sz="1050" b="0" i="0" u="none" cap="none">
                <a:solidFill>
                  <a:srgbClr val="828282"/>
                </a:solidFill>
                <a:latin typeface="Verdana"/>
                <a:ea typeface="Verdana"/>
                <a:cs typeface="Verdana"/>
              </a:defRPr>
            </a:lvl7pPr>
            <a:lvl8pPr marL="0" indent="0" algn="r">
              <a:spcBef>
                <a:spcPts val="0"/>
              </a:spcBef>
              <a:buNone/>
              <a:defRPr sz="1050" b="0" i="0" u="none" cap="none">
                <a:solidFill>
                  <a:srgbClr val="828282"/>
                </a:solidFill>
                <a:latin typeface="Verdana"/>
                <a:ea typeface="Verdana"/>
                <a:cs typeface="Verdana"/>
              </a:defRPr>
            </a:lvl8pPr>
            <a:lvl9pPr marL="0" indent="0" algn="r">
              <a:spcBef>
                <a:spcPts val="0"/>
              </a:spcBef>
              <a:buNone/>
              <a:defRPr sz="1050" b="0" i="0" u="none" cap="none">
                <a:solidFill>
                  <a:srgbClr val="828282"/>
                </a:solidFill>
                <a:latin typeface="Verdana"/>
                <a:ea typeface="Verdana"/>
                <a:cs typeface="Verdana"/>
              </a:defRPr>
            </a:lvl9pPr>
          </a:lstStyle>
          <a:p xmlns:a="http://schemas.openxmlformats.org/drawingml/2006/main">
            <a:fld id="{A74DB8E4-0DF9-4658-8AF8-1D74F81145F2}" type="slidenum">
              <a:t>‹#›</a:t>
            </a:fld>
            <a:endParaRPr/>
          </a:p>
        </p:txBody>
      </p:sp>
      <p:pic>
        <p:nvPicPr>
          <p:cNvPr id="92" name="Google Shape;405;g2893b70371c_0_1188">
            <a:extLst xmlns:a="http://schemas.openxmlformats.org/drawingml/2006/main">
              <a:ext uri="{FF2B5EF4-FFF2-40B4-BE49-F238E27FC236}">
                <a16:creationId xmlns:a16="http://schemas.microsoft.com/office/drawing/2014/main" id="{DCE8AA9D-9370-46B8-AA23-26229B490A89}"/>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5fd1f9b8190347ed">
            <a:alphaModFix/>
          </a:blip>
          <a:srcRect xmlns:a="http://schemas.openxmlformats.org/drawingml/2006/main" l="0" t="0" r="0" b="0"/>
          <a:stretch xmlns:a="http://schemas.openxmlformats.org/drawingml/2006/main"/>
        </p:blipFill>
        <p:spPr>
          <a:xfrm xmlns:a="http://schemas.openxmlformats.org/drawingml/2006/main">
            <a:off x="0" y="1361872"/>
            <a:ext cx="12192000" cy="5555878"/>
          </a:xfrm>
          <a:prstGeom xmlns:a="http://schemas.openxmlformats.org/drawingml/2006/main" prst="rect">
            <a:avLst/>
          </a:prstGeom>
          <a:ln xmlns:a="http://schemas.openxmlformats.org/drawingml/2006/main">
            <a:noFill/>
          </a:ln>
        </p:spPr>
      </p:pic>
    </p:spTree>
  </p:cSld>
</p:sldLayout>
</file>

<file path=ppt/slideLayouts/slideLayout16.xml><?xml version="1.0" encoding="utf-8"?>
<p:sldLayout xmlns:p="http://schemas.openxmlformats.org/presentationml/2006/main" matchingName="フッターなし" preserve="1">
  <p:cSld name="1_フッターなし">
    <p:spTree>
      <p:nvGrpSpPr>
        <p:cNvPr id="1" name=""/>
        <p:cNvGrpSpPr/>
        <p:nvPr/>
      </p:nvGrpSpPr>
      <p:grpSpPr>
        <a:xfrm xmlns:a="http://schemas.openxmlformats.org/drawingml/2006/main"/>
      </p:grpSpPr>
      <p:sp>
        <p:nvSpPr>
          <p:cNvPr id="89" name="Google Shape;89;g2893b70371c_0_712">
            <a:extLst xmlns:a="http://schemas.openxmlformats.org/drawingml/2006/main">
              <a:ext uri="{FF2B5EF4-FFF2-40B4-BE49-F238E27FC236}">
                <a16:creationId xmlns:a16="http://schemas.microsoft.com/office/drawing/2014/main" id="{28993DE7-7A48-434E-8EF1-1446046D94E8}"/>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050" b="0" i="0" u="none" cap="none">
                <a:solidFill>
                  <a:srgbClr val="828282"/>
                </a:solidFill>
                <a:latin typeface="Verdana"/>
                <a:ea typeface="Verdana"/>
                <a:cs typeface="Verdana"/>
              </a:defRPr>
            </a:lvl1pPr>
            <a:lvl2pPr marL="0" indent="0" algn="r">
              <a:spcBef>
                <a:spcPts val="0"/>
              </a:spcBef>
              <a:buNone/>
              <a:defRPr sz="1050" b="0" i="0" u="none" cap="none">
                <a:solidFill>
                  <a:srgbClr val="828282"/>
                </a:solidFill>
                <a:latin typeface="Verdana"/>
                <a:ea typeface="Verdana"/>
                <a:cs typeface="Verdana"/>
              </a:defRPr>
            </a:lvl2pPr>
            <a:lvl3pPr marL="0" indent="0" algn="r">
              <a:spcBef>
                <a:spcPts val="0"/>
              </a:spcBef>
              <a:buNone/>
              <a:defRPr sz="1050" b="0" i="0" u="none" cap="none">
                <a:solidFill>
                  <a:srgbClr val="828282"/>
                </a:solidFill>
                <a:latin typeface="Verdana"/>
                <a:ea typeface="Verdana"/>
                <a:cs typeface="Verdana"/>
              </a:defRPr>
            </a:lvl3pPr>
            <a:lvl4pPr marL="0" indent="0" algn="r">
              <a:spcBef>
                <a:spcPts val="0"/>
              </a:spcBef>
              <a:buNone/>
              <a:defRPr sz="1050" b="0" i="0" u="none" cap="none">
                <a:solidFill>
                  <a:srgbClr val="828282"/>
                </a:solidFill>
                <a:latin typeface="Verdana"/>
                <a:ea typeface="Verdana"/>
                <a:cs typeface="Verdana"/>
              </a:defRPr>
            </a:lvl4pPr>
            <a:lvl5pPr marL="0" indent="0" algn="r">
              <a:spcBef>
                <a:spcPts val="0"/>
              </a:spcBef>
              <a:buNone/>
              <a:defRPr sz="1050" b="0" i="0" u="none" cap="none">
                <a:solidFill>
                  <a:srgbClr val="828282"/>
                </a:solidFill>
                <a:latin typeface="Verdana"/>
                <a:ea typeface="Verdana"/>
                <a:cs typeface="Verdana"/>
              </a:defRPr>
            </a:lvl5pPr>
            <a:lvl6pPr marL="0" indent="0" algn="r">
              <a:spcBef>
                <a:spcPts val="0"/>
              </a:spcBef>
              <a:buNone/>
              <a:defRPr sz="1050" b="0" i="0" u="none" cap="none">
                <a:solidFill>
                  <a:srgbClr val="828282"/>
                </a:solidFill>
                <a:latin typeface="Verdana"/>
                <a:ea typeface="Verdana"/>
                <a:cs typeface="Verdana"/>
              </a:defRPr>
            </a:lvl6pPr>
            <a:lvl7pPr marL="0" indent="0" algn="r">
              <a:spcBef>
                <a:spcPts val="0"/>
              </a:spcBef>
              <a:buNone/>
              <a:defRPr sz="1050" b="0" i="0" u="none" cap="none">
                <a:solidFill>
                  <a:srgbClr val="828282"/>
                </a:solidFill>
                <a:latin typeface="Verdana"/>
                <a:ea typeface="Verdana"/>
                <a:cs typeface="Verdana"/>
              </a:defRPr>
            </a:lvl7pPr>
            <a:lvl8pPr marL="0" indent="0" algn="r">
              <a:spcBef>
                <a:spcPts val="0"/>
              </a:spcBef>
              <a:buNone/>
              <a:defRPr sz="1050" b="0" i="0" u="none" cap="none">
                <a:solidFill>
                  <a:srgbClr val="828282"/>
                </a:solidFill>
                <a:latin typeface="Verdana"/>
                <a:ea typeface="Verdana"/>
                <a:cs typeface="Verdana"/>
              </a:defRPr>
            </a:lvl8pPr>
            <a:lvl9pPr marL="0" indent="0" algn="r">
              <a:spcBef>
                <a:spcPts val="0"/>
              </a:spcBef>
              <a:buNone/>
              <a:defRPr sz="1050" b="0" i="0" u="none" cap="none">
                <a:solidFill>
                  <a:srgbClr val="828282"/>
                </a:solidFill>
                <a:latin typeface="Verdana"/>
                <a:ea typeface="Verdana"/>
                <a:cs typeface="Verdana"/>
              </a:defRPr>
            </a:lvl9pPr>
          </a:lstStyle>
          <a:p xmlns:a="http://schemas.openxmlformats.org/drawingml/2006/main">
            <a:pPr marL="0" lvl="0" indent="0" algn="r">
              <a:spcBef>
                <a:spcPts val="0"/>
              </a:spcBef>
              <a:spcAft>
                <a:spcPts val="0"/>
              </a:spcAft>
              <a:buNone/>
            </a:pPr>
            <a:r>
              <a:t> </a:t>
            </a:r>
          </a:p>
        </p:txBody>
      </p:sp>
      <p:sp>
        <p:nvSpPr>
          <p:cNvPr id="7" name="Google Shape;271;g2893b70371c_0_651">
            <a:extLst xmlns:a="http://schemas.openxmlformats.org/drawingml/2006/main">
              <a:ext uri="{FF2B5EF4-FFF2-40B4-BE49-F238E27FC236}">
                <a16:creationId xmlns:a16="http://schemas.microsoft.com/office/drawing/2014/main" id="{F513FFFE-0615-4FA0-8487-355DBC22CF28}"/>
              </a:ext>
            </a:extLst>
          </p:cNvPr>
          <p:cNvSpPr>
            <a:spLocks xmlns:a="http://schemas.openxmlformats.org/drawingml/2006/main" noGrp="1"/>
          </p:cNvSpPr>
          <p:nvPr/>
        </p:nvSpPr>
        <p:spPr>
          <a:xfrm xmlns:a="http://schemas.openxmlformats.org/drawingml/2006/main">
            <a:off x="0" y="1066800"/>
            <a:ext cx="12188925" cy="5791200"/>
          </a:xfrm>
          <a:prstGeom xmlns:a="http://schemas.openxmlformats.org/drawingml/2006/main" prst="rect">
            <a:avLst/>
          </a:prstGeom>
          <a:solidFill xmlns:a="http://schemas.openxmlformats.org/drawingml/2006/main">
            <a:schemeClr val="bg1">
              <a:alpha val="59000"/>
            </a:schemeClr>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Tree>
  </p:cSld>
</p:sldLayout>
</file>

<file path=ppt/slideLayouts/slideLayout17.xml><?xml version="1.0" encoding="utf-8"?>
<p:sldLayout xmlns:p="http://schemas.openxmlformats.org/presentationml/2006/main" matchingName="フッターなし" preserve="1" userDrawn="1">
  <p:cSld name="1_フッターなし">
    <p:bg>
      <p:bgPr>
        <a:blipFill xmlns:a="http://schemas.openxmlformats.org/drawingml/2006/main" rotWithShape="1">
          <a:blip xmlns:r="http://schemas.openxmlformats.org/officeDocument/2006/relationships" r:embed="Ref596d46e42345b8">
            <a:lum/>
          </a:blip>
          <a:srcRect l="0" t="0" r="0" b="0"/>
          <a:stretch>
            <a:fillRect l="0" t="0" r="0" b="0"/>
          </a:stretch>
        </a:blipFill>
      </p:bgPr>
    </p:bg>
    <p:spTree>
      <p:nvGrpSpPr>
        <p:cNvPr id="1" name=""/>
        <p:cNvGrpSpPr/>
        <p:nvPr/>
      </p:nvGrpSpPr>
      <p:grpSpPr>
        <a:xfrm xmlns:a="http://schemas.openxmlformats.org/drawingml/2006/main"/>
      </p:grpSpPr>
      <p:sp>
        <p:nvSpPr>
          <p:cNvPr id="7" name="Google Shape;271;g2893b70371c_0_651">
            <a:extLst xmlns:a="http://schemas.openxmlformats.org/drawingml/2006/main">
              <a:ext uri="{FF2B5EF4-FFF2-40B4-BE49-F238E27FC236}">
                <a16:creationId xmlns:a16="http://schemas.microsoft.com/office/drawing/2014/main" id="{B4077064-1AE9-437D-96EA-CF89EA62BF72}"/>
              </a:ext>
            </a:extLst>
          </p:cNvPr>
          <p:cNvSpPr>
            <a:spLocks xmlns:a="http://schemas.openxmlformats.org/drawingml/2006/main" noGrp="1"/>
          </p:cNvSpPr>
          <p:nvPr/>
        </p:nvSpPr>
        <p:spPr>
          <a:xfrm xmlns:a="http://schemas.openxmlformats.org/drawingml/2006/main">
            <a:off x="0" y="1241729"/>
            <a:ext cx="12188925" cy="5791200"/>
          </a:xfrm>
          <a:prstGeom xmlns:a="http://schemas.openxmlformats.org/drawingml/2006/main" prst="rect">
            <a:avLst/>
          </a:prstGeom>
          <a:solidFill xmlns:a="http://schemas.openxmlformats.org/drawingml/2006/main">
            <a:schemeClr val="bg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
        <p:nvSpPr>
          <p:cNvPr id="2" name="Title 1">
            <a:extLst xmlns:a="http://schemas.openxmlformats.org/drawingml/2006/main">
              <a:ext uri="{FF2B5EF4-FFF2-40B4-BE49-F238E27FC236}">
                <a16:creationId xmlns:a16="http://schemas.microsoft.com/office/drawing/2014/main" id="{86BF1113-9B20-4A36-B1E2-DFC2899C37F7}"/>
              </a:ext>
            </a:extLst>
          </p:cNvPr>
          <p:cNvSpPr>
            <a:spLocks xmlns:a="http://schemas.openxmlformats.org/drawingml/2006/main" noGrp="1"/>
          </p:cNvSpPr>
          <p:nvPr>
            <p:ph type="title" idx="0"/>
          </p:nvPr>
        </p:nvSpPr>
        <p:spPr>
          <a:xfrm xmlns:a="http://schemas.openxmlformats.org/drawingml/2006/main">
            <a:off x="5911133" y="237903"/>
            <a:ext cx="10515600" cy="1325563"/>
          </a:xfrm>
          <a:prstGeom xmlns:a="http://schemas.openxmlformats.org/drawingml/2006/main" prst="rect">
            <a:avLst/>
          </a:prstGeom>
        </p:spPr>
        <p:txBody>
          <a:bodyPr xmlns:a="http://schemas.openxmlformats.org/drawingml/2006/main"/>
          <a:lstStyle xmlns:a="http://schemas.openxmlformats.org/drawingml/2006/main">
            <a:lvl1pPr>
              <a:buNone/>
              <a:defRPr sz="3600">
                <a:latin typeface="Times New Roman"/>
                <a:ea typeface="Times New Roman"/>
                <a:cs typeface="Times New Roman"/>
              </a:defRPr>
            </a:lvl1pPr>
          </a:lstStyle>
          <a:p xmlns:a="http://schemas.openxmlformats.org/drawingml/2006/main">
            <a:r>
              <a:t>Click to edit Master title style</a:t>
            </a:r>
          </a:p>
        </p:txBody>
      </p:sp>
    </p:spTree>
  </p:cSld>
</p:sldLayout>
</file>

<file path=ppt/slideLayouts/slideLayout18.xml><?xml version="1.0" encoding="utf-8"?>
<p:sldLayout xmlns:p="http://schemas.openxmlformats.org/presentationml/2006/main" matchingName="3_タイトルとコンテンツ">
  <p:cSld name="3_タイトルとコンテンツ">
    <p:spTree>
      <p:nvGrpSpPr>
        <p:cNvPr id="1" name=""/>
        <p:cNvGrpSpPr/>
        <p:nvPr/>
      </p:nvGrpSpPr>
      <p:grpSpPr>
        <a:xfrm xmlns:a="http://schemas.openxmlformats.org/drawingml/2006/main"/>
      </p:grpSpPr>
      <p:sp>
        <p:nvSpPr>
          <p:cNvPr id="94" name="Google Shape;94;g2893b70371c_0_1057">
            <a:extLst xmlns:a="http://schemas.openxmlformats.org/drawingml/2006/main">
              <a:ext uri="{FF2B5EF4-FFF2-40B4-BE49-F238E27FC236}">
                <a16:creationId xmlns:a16="http://schemas.microsoft.com/office/drawing/2014/main" id="{05961A3D-EB02-4034-9D32-0A3A2012E959}"/>
              </a:ext>
            </a:extLst>
          </p:cNvPr>
          <p:cNvSpPr>
            <a:spLocks xmlns:a="http://schemas.openxmlformats.org/drawingml/2006/main" noGrp="1"/>
          </p:cNvSpPr>
          <p:nvPr>
            <p:ph type="dt" idx="10"/>
          </p:nvPr>
        </p:nvSpPr>
        <p:spPr>
          <a:xfrm xmlns:a="http://schemas.openxmlformats.org/drawingml/2006/main">
            <a:off x="609601" y="6356355"/>
            <a:ext cx="28449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R="0" algn="l">
              <a:spcBef>
                <a:spcPts val="0"/>
              </a:spcBef>
              <a:spcAft>
                <a:spcPts val="0"/>
              </a:spcAft>
              <a:buSzPts val="1400"/>
              <a:buNone/>
              <a:defRPr sz="1800">
                <a:solidFill>
                  <a:schemeClr val="dk1"/>
                </a:solidFill>
                <a:latin typeface="Verdana"/>
                <a:ea typeface="Verdana"/>
                <a:cs typeface="Verdana"/>
              </a:defRPr>
            </a:lvl1pPr>
            <a:lvl2pPr marR="0" algn="l">
              <a:spcBef>
                <a:spcPts val="0"/>
              </a:spcBef>
              <a:spcAft>
                <a:spcPts val="0"/>
              </a:spcAft>
              <a:buSzPts val="1400"/>
              <a:buNone/>
              <a:defRPr sz="1800" b="0" i="0" u="none" cap="none">
                <a:solidFill>
                  <a:schemeClr val="dk1"/>
                </a:solidFill>
                <a:latin typeface="Verdana"/>
                <a:ea typeface="Verdana"/>
                <a:cs typeface="Verdana"/>
              </a:defRPr>
            </a:lvl2pPr>
            <a:lvl3pPr marR="0" algn="l">
              <a:spcBef>
                <a:spcPts val="0"/>
              </a:spcBef>
              <a:spcAft>
                <a:spcPts val="0"/>
              </a:spcAft>
              <a:buSzPts val="1400"/>
              <a:buNone/>
              <a:defRPr sz="1800" b="0" i="0" u="none" cap="none">
                <a:solidFill>
                  <a:schemeClr val="dk1"/>
                </a:solidFill>
                <a:latin typeface="Verdana"/>
                <a:ea typeface="Verdana"/>
                <a:cs typeface="Verdana"/>
              </a:defRPr>
            </a:lvl3pPr>
            <a:lvl4pPr marR="0" algn="l">
              <a:spcBef>
                <a:spcPts val="0"/>
              </a:spcBef>
              <a:spcAft>
                <a:spcPts val="0"/>
              </a:spcAft>
              <a:buSzPts val="1400"/>
              <a:buNone/>
              <a:defRPr sz="1800" b="0" i="0" u="none" cap="none">
                <a:solidFill>
                  <a:schemeClr val="dk1"/>
                </a:solidFill>
                <a:latin typeface="Verdana"/>
                <a:ea typeface="Verdana"/>
                <a:cs typeface="Verdana"/>
              </a:defRPr>
            </a:lvl4pPr>
            <a:lvl5pPr marR="0" algn="l">
              <a:spcBef>
                <a:spcPts val="0"/>
              </a:spcBef>
              <a:spcAft>
                <a:spcPts val="0"/>
              </a:spcAft>
              <a:buSzPts val="1400"/>
              <a:buNone/>
              <a:defRPr sz="1800" b="0" i="0" u="none" cap="none">
                <a:solidFill>
                  <a:schemeClr val="dk1"/>
                </a:solidFill>
                <a:latin typeface="Verdana"/>
                <a:ea typeface="Verdana"/>
                <a:cs typeface="Verdana"/>
              </a:defRPr>
            </a:lvl5pPr>
            <a:lvl6pPr marR="0" algn="l">
              <a:spcBef>
                <a:spcPts val="0"/>
              </a:spcBef>
              <a:spcAft>
                <a:spcPts val="0"/>
              </a:spcAft>
              <a:buSzPts val="1400"/>
              <a:buNone/>
              <a:defRPr sz="1800" b="0" i="0" u="none" cap="none">
                <a:solidFill>
                  <a:schemeClr val="dk1"/>
                </a:solidFill>
                <a:latin typeface="Verdana"/>
                <a:ea typeface="Verdana"/>
                <a:cs typeface="Verdana"/>
              </a:defRPr>
            </a:lvl6pPr>
            <a:lvl7pPr marR="0" algn="l">
              <a:spcBef>
                <a:spcPts val="0"/>
              </a:spcBef>
              <a:spcAft>
                <a:spcPts val="0"/>
              </a:spcAft>
              <a:buSzPts val="1400"/>
              <a:buNone/>
              <a:defRPr sz="1800" b="0" i="0" u="none" cap="none">
                <a:solidFill>
                  <a:schemeClr val="dk1"/>
                </a:solidFill>
                <a:latin typeface="Verdana"/>
                <a:ea typeface="Verdana"/>
                <a:cs typeface="Verdana"/>
              </a:defRPr>
            </a:lvl7pPr>
            <a:lvl8pPr marR="0" algn="l">
              <a:spcBef>
                <a:spcPts val="0"/>
              </a:spcBef>
              <a:spcAft>
                <a:spcPts val="0"/>
              </a:spcAft>
              <a:buSzPts val="1400"/>
              <a:buNone/>
              <a:defRPr sz="1800" b="0" i="0" u="none" cap="none">
                <a:solidFill>
                  <a:schemeClr val="dk1"/>
                </a:solidFill>
                <a:latin typeface="Verdana"/>
                <a:ea typeface="Verdana"/>
                <a:cs typeface="Verdana"/>
              </a:defRPr>
            </a:lvl8pPr>
            <a:lvl9pPr marR="0" algn="l">
              <a:spcBef>
                <a:spcPts val="0"/>
              </a:spcBef>
              <a:spcAft>
                <a:spcPts val="0"/>
              </a:spcAft>
              <a:buSzPts val="1400"/>
              <a:buNone/>
              <a:defRPr sz="1800" b="0" i="0" u="none" cap="none">
                <a:solidFill>
                  <a:schemeClr val="dk1"/>
                </a:solidFill>
                <a:latin typeface="Verdana"/>
                <a:ea typeface="Verdana"/>
                <a:cs typeface="Verdana"/>
              </a:defRPr>
            </a:lvl9pPr>
          </a:lstStyle>
          <a:p xmlns:a="http://schemas.openxmlformats.org/drawingml/2006/main">
            <a:fld id="{57020DAE-7ED0-4B17-B656-7E9590772B44}" type="datetimeFigureOut">
              <a:t>7/31/2026</a:t>
            </a:fld>
            <a:endParaRPr/>
          </a:p>
        </p:txBody>
      </p:sp>
      <p:sp>
        <p:nvSpPr>
          <p:cNvPr id="95" name="Google Shape;95;g2893b70371c_0_1057">
            <a:extLst xmlns:a="http://schemas.openxmlformats.org/drawingml/2006/main">
              <a:ext uri="{FF2B5EF4-FFF2-40B4-BE49-F238E27FC236}">
                <a16:creationId xmlns:a16="http://schemas.microsoft.com/office/drawing/2014/main" id="{DC7BE9C6-3B6A-4C36-B01A-FBC0D943DD01}"/>
              </a:ext>
            </a:extLst>
          </p:cNvPr>
          <p:cNvSpPr>
            <a:spLocks xmlns:a="http://schemas.openxmlformats.org/drawingml/2006/main" noGrp="1"/>
          </p:cNvSpPr>
          <p:nvPr>
            <p:ph type="ftr" idx="11"/>
          </p:nvPr>
        </p:nvSpPr>
        <p:spPr>
          <a:xfrm xmlns:a="http://schemas.openxmlformats.org/drawingml/2006/main">
            <a:off x="4165600" y="6356355"/>
            <a:ext cx="38607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R="0" algn="l">
              <a:spcBef>
                <a:spcPts val="0"/>
              </a:spcBef>
              <a:spcAft>
                <a:spcPts val="0"/>
              </a:spcAft>
              <a:buSzPts val="1400"/>
              <a:buNone/>
              <a:defRPr sz="1800">
                <a:solidFill>
                  <a:schemeClr val="dk1"/>
                </a:solidFill>
                <a:latin typeface="Verdana"/>
                <a:ea typeface="Verdana"/>
                <a:cs typeface="Verdana"/>
              </a:defRPr>
            </a:lvl1pPr>
            <a:lvl2pPr marR="0" algn="l">
              <a:spcBef>
                <a:spcPts val="0"/>
              </a:spcBef>
              <a:spcAft>
                <a:spcPts val="0"/>
              </a:spcAft>
              <a:buSzPts val="1400"/>
              <a:buNone/>
              <a:defRPr sz="1800" b="0" i="0" u="none" cap="none">
                <a:solidFill>
                  <a:schemeClr val="dk1"/>
                </a:solidFill>
                <a:latin typeface="Verdana"/>
                <a:ea typeface="Verdana"/>
                <a:cs typeface="Verdana"/>
              </a:defRPr>
            </a:lvl2pPr>
            <a:lvl3pPr marR="0" algn="l">
              <a:spcBef>
                <a:spcPts val="0"/>
              </a:spcBef>
              <a:spcAft>
                <a:spcPts val="0"/>
              </a:spcAft>
              <a:buSzPts val="1400"/>
              <a:buNone/>
              <a:defRPr sz="1800" b="0" i="0" u="none" cap="none">
                <a:solidFill>
                  <a:schemeClr val="dk1"/>
                </a:solidFill>
                <a:latin typeface="Verdana"/>
                <a:ea typeface="Verdana"/>
                <a:cs typeface="Verdana"/>
              </a:defRPr>
            </a:lvl3pPr>
            <a:lvl4pPr marR="0" algn="l">
              <a:spcBef>
                <a:spcPts val="0"/>
              </a:spcBef>
              <a:spcAft>
                <a:spcPts val="0"/>
              </a:spcAft>
              <a:buSzPts val="1400"/>
              <a:buNone/>
              <a:defRPr sz="1800" b="0" i="0" u="none" cap="none">
                <a:solidFill>
                  <a:schemeClr val="dk1"/>
                </a:solidFill>
                <a:latin typeface="Verdana"/>
                <a:ea typeface="Verdana"/>
                <a:cs typeface="Verdana"/>
              </a:defRPr>
            </a:lvl4pPr>
            <a:lvl5pPr marR="0" algn="l">
              <a:spcBef>
                <a:spcPts val="0"/>
              </a:spcBef>
              <a:spcAft>
                <a:spcPts val="0"/>
              </a:spcAft>
              <a:buSzPts val="1400"/>
              <a:buNone/>
              <a:defRPr sz="1800" b="0" i="0" u="none" cap="none">
                <a:solidFill>
                  <a:schemeClr val="dk1"/>
                </a:solidFill>
                <a:latin typeface="Verdana"/>
                <a:ea typeface="Verdana"/>
                <a:cs typeface="Verdana"/>
              </a:defRPr>
            </a:lvl5pPr>
            <a:lvl6pPr marR="0" algn="l">
              <a:spcBef>
                <a:spcPts val="0"/>
              </a:spcBef>
              <a:spcAft>
                <a:spcPts val="0"/>
              </a:spcAft>
              <a:buSzPts val="1400"/>
              <a:buNone/>
              <a:defRPr sz="1800" b="0" i="0" u="none" cap="none">
                <a:solidFill>
                  <a:schemeClr val="dk1"/>
                </a:solidFill>
                <a:latin typeface="Verdana"/>
                <a:ea typeface="Verdana"/>
                <a:cs typeface="Verdana"/>
              </a:defRPr>
            </a:lvl6pPr>
            <a:lvl7pPr marR="0" algn="l">
              <a:spcBef>
                <a:spcPts val="0"/>
              </a:spcBef>
              <a:spcAft>
                <a:spcPts val="0"/>
              </a:spcAft>
              <a:buSzPts val="1400"/>
              <a:buNone/>
              <a:defRPr sz="1800" b="0" i="0" u="none" cap="none">
                <a:solidFill>
                  <a:schemeClr val="dk1"/>
                </a:solidFill>
                <a:latin typeface="Verdana"/>
                <a:ea typeface="Verdana"/>
                <a:cs typeface="Verdana"/>
              </a:defRPr>
            </a:lvl7pPr>
            <a:lvl8pPr marR="0" algn="l">
              <a:spcBef>
                <a:spcPts val="0"/>
              </a:spcBef>
              <a:spcAft>
                <a:spcPts val="0"/>
              </a:spcAft>
              <a:buSzPts val="1400"/>
              <a:buNone/>
              <a:defRPr sz="1800" b="0" i="0" u="none" cap="none">
                <a:solidFill>
                  <a:schemeClr val="dk1"/>
                </a:solidFill>
                <a:latin typeface="Verdana"/>
                <a:ea typeface="Verdana"/>
                <a:cs typeface="Verdana"/>
              </a:defRPr>
            </a:lvl8pPr>
            <a:lvl9pPr marR="0" algn="l">
              <a:spcBef>
                <a:spcPts val="0"/>
              </a:spcBef>
              <a:spcAft>
                <a:spcPts val="0"/>
              </a:spcAft>
              <a:buSzPts val="1400"/>
              <a:buNone/>
              <a:defRPr sz="1800" b="0" i="0" u="none" cap="none">
                <a:solidFill>
                  <a:schemeClr val="dk1"/>
                </a:solidFill>
                <a:latin typeface="Verdana"/>
                <a:ea typeface="Verdana"/>
                <a:cs typeface="Verdana"/>
              </a:defRPr>
            </a:lvl9pPr>
          </a:lstStyle>
          <a:p xmlns:a="http://schemas.openxmlformats.org/drawingml/2006/main">
            <a:endParaRPr/>
          </a:p>
        </p:txBody>
      </p:sp>
      <p:sp>
        <p:nvSpPr>
          <p:cNvPr id="96" name="Google Shape;96;g2893b70371c_0_1057">
            <a:extLst xmlns:a="http://schemas.openxmlformats.org/drawingml/2006/main">
              <a:ext uri="{FF2B5EF4-FFF2-40B4-BE49-F238E27FC236}">
                <a16:creationId xmlns:a16="http://schemas.microsoft.com/office/drawing/2014/main" id="{27B3D72C-BDC5-4960-914B-9FD0208ECCDD}"/>
              </a:ext>
            </a:extLst>
          </p:cNvPr>
          <p:cNvSpPr>
            <a:spLocks xmlns:a="http://schemas.openxmlformats.org/drawingml/2006/main" noGrp="1"/>
          </p:cNvSpPr>
          <p:nvPr>
            <p:ph type="sldNum" idx="12"/>
          </p:nvPr>
        </p:nvSpPr>
        <p:spPr>
          <a:xfrm xmlns:a="http://schemas.openxmlformats.org/drawingml/2006/main">
            <a:off x="8737600" y="6356355"/>
            <a:ext cx="28449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spcBef>
                <a:spcPts val="0"/>
              </a:spcBef>
              <a:buNone/>
              <a:defRPr sz="787">
                <a:solidFill>
                  <a:srgbClr val="828282"/>
                </a:solidFill>
                <a:latin typeface="Verdana"/>
                <a:ea typeface="Verdana"/>
                <a:cs typeface="Verdana"/>
              </a:defRPr>
            </a:lvl1pPr>
            <a:lvl2pPr marL="0" marR="0" indent="0" algn="r">
              <a:spcBef>
                <a:spcPts val="0"/>
              </a:spcBef>
              <a:buNone/>
              <a:defRPr sz="787">
                <a:solidFill>
                  <a:srgbClr val="828282"/>
                </a:solidFill>
                <a:latin typeface="Verdana"/>
                <a:ea typeface="Verdana"/>
                <a:cs typeface="Verdana"/>
              </a:defRPr>
            </a:lvl2pPr>
            <a:lvl3pPr marL="0" marR="0" indent="0" algn="r">
              <a:spcBef>
                <a:spcPts val="0"/>
              </a:spcBef>
              <a:buNone/>
              <a:defRPr sz="787">
                <a:solidFill>
                  <a:srgbClr val="828282"/>
                </a:solidFill>
                <a:latin typeface="Verdana"/>
                <a:ea typeface="Verdana"/>
                <a:cs typeface="Verdana"/>
              </a:defRPr>
            </a:lvl3pPr>
            <a:lvl4pPr marL="0" marR="0" indent="0" algn="r">
              <a:spcBef>
                <a:spcPts val="0"/>
              </a:spcBef>
              <a:buNone/>
              <a:defRPr sz="787">
                <a:solidFill>
                  <a:srgbClr val="828282"/>
                </a:solidFill>
                <a:latin typeface="Verdana"/>
                <a:ea typeface="Verdana"/>
                <a:cs typeface="Verdana"/>
              </a:defRPr>
            </a:lvl4pPr>
            <a:lvl5pPr marL="0" marR="0" indent="0" algn="r">
              <a:spcBef>
                <a:spcPts val="0"/>
              </a:spcBef>
              <a:buNone/>
              <a:defRPr sz="787">
                <a:solidFill>
                  <a:srgbClr val="828282"/>
                </a:solidFill>
                <a:latin typeface="Verdana"/>
                <a:ea typeface="Verdana"/>
                <a:cs typeface="Verdana"/>
              </a:defRPr>
            </a:lvl5pPr>
            <a:lvl6pPr marL="0" marR="0" indent="0" algn="r">
              <a:spcBef>
                <a:spcPts val="0"/>
              </a:spcBef>
              <a:buNone/>
              <a:defRPr sz="787">
                <a:solidFill>
                  <a:srgbClr val="828282"/>
                </a:solidFill>
                <a:latin typeface="Verdana"/>
                <a:ea typeface="Verdana"/>
                <a:cs typeface="Verdana"/>
              </a:defRPr>
            </a:lvl6pPr>
            <a:lvl7pPr marL="0" marR="0" indent="0" algn="r">
              <a:spcBef>
                <a:spcPts val="0"/>
              </a:spcBef>
              <a:buNone/>
              <a:defRPr sz="787">
                <a:solidFill>
                  <a:srgbClr val="828282"/>
                </a:solidFill>
                <a:latin typeface="Verdana"/>
                <a:ea typeface="Verdana"/>
                <a:cs typeface="Verdana"/>
              </a:defRPr>
            </a:lvl7pPr>
            <a:lvl8pPr marL="0" marR="0" indent="0" algn="r">
              <a:spcBef>
                <a:spcPts val="0"/>
              </a:spcBef>
              <a:buNone/>
              <a:defRPr sz="787">
                <a:solidFill>
                  <a:srgbClr val="828282"/>
                </a:solidFill>
                <a:latin typeface="Verdana"/>
                <a:ea typeface="Verdana"/>
                <a:cs typeface="Verdana"/>
              </a:defRPr>
            </a:lvl8pPr>
            <a:lvl9pPr marL="0" marR="0" indent="0" algn="r">
              <a:spcBef>
                <a:spcPts val="0"/>
              </a:spcBef>
              <a:buNone/>
              <a:defRPr sz="787">
                <a:solidFill>
                  <a:srgbClr val="828282"/>
                </a:solidFill>
                <a:latin typeface="Verdana"/>
                <a:ea typeface="Verdana"/>
                <a:cs typeface="Verdana"/>
              </a:defRPr>
            </a:lvl9pPr>
          </a:lstStyle>
          <a:p xmlns:a="http://schemas.openxmlformats.org/drawingml/2006/main">
            <a:fld id="{A74DB8E4-0DF9-4658-8AF8-1D74F81145F2}" type="slidenum">
              <a:t>‹#›</a:t>
            </a:fld>
            <a:endParaRPr/>
          </a:p>
        </p:txBody>
      </p:sp>
      <p:pic>
        <p:nvPicPr>
          <p:cNvPr id="101" name="Google Shape;270;g2893b70371c_0_651">
            <a:extLst xmlns:a="http://schemas.openxmlformats.org/drawingml/2006/main">
              <a:ext uri="{FF2B5EF4-FFF2-40B4-BE49-F238E27FC236}">
                <a16:creationId xmlns:a16="http://schemas.microsoft.com/office/drawing/2014/main" id="{E5E19F75-1A30-42C6-9778-DB07ECBF974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1ed8414f9984a7c">
            <a:alphaModFix/>
          </a:blip>
          <a:srcRect xmlns:a="http://schemas.openxmlformats.org/drawingml/2006/main" l="0" t="0" r="0" b="24477"/>
          <a:stretch xmlns:a="http://schemas.openxmlformats.org/drawingml/2006/main"/>
        </p:blipFill>
        <p:spPr>
          <a:xfrm xmlns:a="http://schemas.openxmlformats.org/drawingml/2006/main" rot="0" flipH="0" flipV="0">
            <a:off x="0" y="1322962"/>
            <a:ext cx="12188925" cy="5535038"/>
          </a:xfrm>
          <a:prstGeom xmlns:a="http://schemas.openxmlformats.org/drawingml/2006/main" prst="rect">
            <a:avLst/>
          </a:prstGeom>
          <a:ln xmlns:a="http://schemas.openxmlformats.org/drawingml/2006/main">
            <a:noFill/>
          </a:ln>
        </p:spPr>
      </p:pic>
      <p:sp>
        <p:nvSpPr>
          <p:cNvPr id="8" name="Google Shape;271;g2893b70371c_0_651">
            <a:extLst xmlns:a="http://schemas.openxmlformats.org/drawingml/2006/main">
              <a:ext uri="{FF2B5EF4-FFF2-40B4-BE49-F238E27FC236}">
                <a16:creationId xmlns:a16="http://schemas.microsoft.com/office/drawing/2014/main" id="{09FF9530-9044-4A29-A8A0-FDEC06515A38}"/>
              </a:ext>
            </a:extLst>
          </p:cNvPr>
          <p:cNvSpPr>
            <a:spLocks xmlns:a="http://schemas.openxmlformats.org/drawingml/2006/main" noGrp="1"/>
          </p:cNvSpPr>
          <p:nvPr/>
        </p:nvSpPr>
        <p:spPr>
          <a:xfrm xmlns:a="http://schemas.openxmlformats.org/drawingml/2006/main" rot="0" flipH="0" flipV="0">
            <a:off x="214009" y="1554254"/>
            <a:ext cx="11799651" cy="5054572"/>
          </a:xfrm>
          <a:prstGeom xmlns:a="http://schemas.openxmlformats.org/drawingml/2006/main" prst="rect">
            <a:avLst/>
          </a:prstGeom>
          <a:solidFill xmlns:a="http://schemas.openxmlformats.org/drawingml/2006/main">
            <a:schemeClr val="lt1">
              <a:alpha val="29800"/>
            </a:schemeClr>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Tree>
  </p:cSld>
</p:sldLayout>
</file>

<file path=ppt/slideLayouts/slideLayout19.xml><?xml version="1.0" encoding="utf-8"?>
<p:sldLayout xmlns:p="http://schemas.openxmlformats.org/presentationml/2006/main" matchingName="Agenda Slide">
  <p:cSld name="Agenda Slide">
    <p:spTree>
      <p:nvGrpSpPr>
        <p:cNvPr id="1" name=""/>
        <p:cNvGrpSpPr/>
        <p:nvPr/>
      </p:nvGrpSpPr>
      <p:grpSpPr>
        <a:xfrm xmlns:a="http://schemas.openxmlformats.org/drawingml/2006/main"/>
      </p:grpSpPr>
      <p:sp>
        <p:nvSpPr>
          <p:cNvPr id="102" name="Google Shape;102;g2893b70371c_0_1754">
            <a:extLst xmlns:a="http://schemas.openxmlformats.org/drawingml/2006/main">
              <a:ext uri="{FF2B5EF4-FFF2-40B4-BE49-F238E27FC236}">
                <a16:creationId xmlns:a16="http://schemas.microsoft.com/office/drawing/2014/main" id="{4E447481-1FA0-42B4-9F3B-6C27C599EABC}"/>
              </a:ext>
            </a:extLst>
          </p:cNvPr>
          <p:cNvSpPr>
            <a:spLocks xmlns:a="http://schemas.openxmlformats.org/drawingml/2006/main" noGrp="1"/>
          </p:cNvSpPr>
          <p:nvPr>
            <p:ph type="title" idx="0"/>
          </p:nvPr>
        </p:nvSpPr>
        <p:spPr>
          <a:xfrm xmlns:a="http://schemas.openxmlformats.org/drawingml/2006/main">
            <a:off x="60359" y="198323"/>
            <a:ext cx="12071100" cy="359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1440000" bIns="0" anchor="t">
            <a:noAutofit/>
          </a:bodyPr>
          <a:lstStyle xmlns:a="http://schemas.openxmlformats.org/drawingml/2006/main">
            <a:lvl1pPr algn="l">
              <a:spcBef>
                <a:spcPts val="0"/>
              </a:spcBef>
              <a:spcAft>
                <a:spcPts val="0"/>
              </a:spcAft>
              <a:buSzPts val="44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a:r>
              <a:t>Click to edit Master title style</a:t>
            </a:r>
            <a:endParaRPr/>
          </a:p>
        </p:txBody>
      </p:sp>
      <p:sp>
        <p:nvSpPr>
          <p:cNvPr id="103" name="Google Shape;103;g2893b70371c_0_1754">
            <a:extLst xmlns:a="http://schemas.openxmlformats.org/drawingml/2006/main">
              <a:ext uri="{FF2B5EF4-FFF2-40B4-BE49-F238E27FC236}">
                <a16:creationId xmlns:a16="http://schemas.microsoft.com/office/drawing/2014/main" id="{3D128BF5-C85B-415A-9C09-758F81429373}"/>
              </a:ext>
            </a:extLst>
          </p:cNvPr>
          <p:cNvSpPr>
            <a:spLocks xmlns:a="http://schemas.openxmlformats.org/drawingml/2006/main" noGrp="1"/>
          </p:cNvSpPr>
          <p:nvPr>
            <p:ph type="body" idx="1"/>
          </p:nvPr>
        </p:nvSpPr>
        <p:spPr>
          <a:xfrm xmlns:a="http://schemas.openxmlformats.org/drawingml/2006/main">
            <a:off x="7" y="839011"/>
            <a:ext cx="12192000" cy="503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44000" tIns="396000" rIns="648000" bIns="45700" anchor="t">
            <a:normAutofit/>
          </a:bodyPr>
          <a:lstStyle xmlns:a="http://schemas.openxmlformats.org/drawingml/2006/main">
            <a:lvl1pPr marL="457200" marR="0" indent="-228600" algn="l">
              <a:lnSpc>
                <a:spcPct val="120000"/>
              </a:lnSpc>
              <a:spcBef>
                <a:spcPts val="0"/>
              </a:spcBef>
              <a:spcAft>
                <a:spcPts val="0"/>
              </a:spcAft>
              <a:buSzPts val="3400"/>
              <a:buFont typeface="verdana"/>
              <a:buNone/>
              <a:defRPr sz="3400">
                <a:latin typeface="Verdana"/>
                <a:ea typeface="Verdana"/>
                <a:cs typeface="Verdana"/>
              </a:defRPr>
            </a:lvl1pPr>
            <a:lvl2pPr marL="914400" indent="-323786" algn="l">
              <a:lnSpc>
                <a:spcPct val="100000"/>
              </a:lnSpc>
              <a:spcBef>
                <a:spcPts val="600"/>
              </a:spcBef>
              <a:spcAft>
                <a:spcPts val="0"/>
              </a:spcAft>
              <a:buSzPts val="1499"/>
              <a:buFont typeface="verdana"/>
              <a:buAutoNum type="arabicPeriod"/>
              <a:defRPr/>
            </a:lvl2pPr>
            <a:lvl3pPr marL="1371600" indent="-314261" algn="l">
              <a:lnSpc>
                <a:spcPct val="100000"/>
              </a:lnSpc>
              <a:spcBef>
                <a:spcPts val="449"/>
              </a:spcBef>
              <a:spcAft>
                <a:spcPts val="0"/>
              </a:spcAft>
              <a:buSzPts val="1349"/>
              <a:buFont typeface="verdana"/>
              <a:buAutoNum type="arabicPeriod"/>
              <a:defRPr/>
            </a:lvl3pPr>
            <a:lvl4pPr marL="1828800" indent="-304736" algn="l">
              <a:lnSpc>
                <a:spcPct val="100000"/>
              </a:lnSpc>
              <a:spcBef>
                <a:spcPts val="449"/>
              </a:spcBef>
              <a:spcAft>
                <a:spcPts val="0"/>
              </a:spcAft>
              <a:buSzPts val="1199"/>
              <a:buFont typeface="verdana"/>
              <a:buAutoNum type="arabicPeriod"/>
              <a:defRPr/>
            </a:lvl4pPr>
            <a:lvl5pPr marL="2286000" indent="-266636" algn="l">
              <a:lnSpc>
                <a:spcPct val="100000"/>
              </a:lnSpc>
              <a:spcBef>
                <a:spcPts val="449"/>
              </a:spcBef>
              <a:spcAft>
                <a:spcPts val="0"/>
              </a:spcAft>
              <a:buSzPts val="599"/>
              <a:buFont typeface="verdana"/>
              <a:buAutoNum type="arabicPeriod"/>
              <a:defRPr/>
            </a:lvl5pPr>
            <a:lvl6pPr marL="2743200" indent="-228600" algn="l">
              <a:spcBef>
                <a:spcPts val="500"/>
              </a:spcBef>
              <a:spcAft>
                <a:spcPts val="0"/>
              </a:spcAft>
              <a:buSzPts val="1800"/>
              <a:buNone/>
              <a:defRPr/>
            </a:lvl6pPr>
            <a:lvl7pPr marL="3200400" indent="-228600" algn="l">
              <a:spcBef>
                <a:spcPts val="500"/>
              </a:spcBef>
              <a:spcAft>
                <a:spcPts val="0"/>
              </a:spcAft>
              <a:buSzPts val="1800"/>
              <a:buNone/>
              <a:defRPr/>
            </a:lvl7pPr>
            <a:lvl8pPr marL="3657600" indent="-228600" algn="l">
              <a:spcBef>
                <a:spcPts val="500"/>
              </a:spcBef>
              <a:spcAft>
                <a:spcPts val="0"/>
              </a:spcAft>
              <a:buSzPts val="1800"/>
              <a:buNone/>
              <a:defRPr/>
            </a:lvl8pPr>
            <a:lvl9pPr marL="4114800" indent="-228600" algn="l">
              <a:spcBef>
                <a:spcPts val="500"/>
              </a:spcBef>
              <a:spcAft>
                <a:spcPts val="0"/>
              </a:spcAft>
              <a:buSzPts val="1800"/>
              <a:buNone/>
              <a:defRPr/>
            </a:lvl9pPr>
          </a:lstStyle>
          <a:p xmlns:a="http://schemas.openxmlformats.org/drawingml/2006/main">
            <a:pPr lvl="0">
              <a:buNone/>
            </a:pPr>
            <a:r>
              <a:t>Edit Master text styles</a:t>
            </a:r>
          </a:p>
        </p:txBody>
      </p:sp>
      <p:sp>
        <p:nvSpPr>
          <p:cNvPr id="104" name="Google Shape;104;g2893b70371c_0_1754">
            <a:extLst xmlns:a="http://schemas.openxmlformats.org/drawingml/2006/main">
              <a:ext uri="{FF2B5EF4-FFF2-40B4-BE49-F238E27FC236}">
                <a16:creationId xmlns:a16="http://schemas.microsoft.com/office/drawing/2014/main" id="{757E8AE4-54E0-4D4D-AAAA-2A1D5CD4FD40}"/>
              </a:ext>
            </a:extLst>
          </p:cNvPr>
          <p:cNvSpPr>
            <a:spLocks xmlns:a="http://schemas.openxmlformats.org/drawingml/2006/main" noGrp="1"/>
          </p:cNvSpPr>
          <p:nvPr>
            <p:ph type="sldNum" idx="12"/>
          </p:nvPr>
        </p:nvSpPr>
        <p:spPr>
          <a:xfrm xmlns:a="http://schemas.openxmlformats.org/drawingml/2006/main">
            <a:off x="8797384" y="6302718"/>
            <a:ext cx="2743200" cy="485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1pPr>
            <a:lvl2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2pPr>
            <a:lvl3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3pPr>
            <a:lvl4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4pPr>
            <a:lvl5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5pPr>
            <a:lvl6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6pPr>
            <a:lvl7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7pPr>
            <a:lvl8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8pPr>
            <a:lvl9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9pPr>
          </a:lstStyle>
          <a:p xmlns:a="http://schemas.openxmlformats.org/drawingml/2006/main">
            <a:fld id="{A74DB8E4-0DF9-4658-8AF8-1D74F81145F2}" type="slidenum">
              <a:t>‹#›</a:t>
            </a:fld>
            <a:endParaRPr/>
          </a:p>
        </p:txBody>
      </p:sp>
    </p:spTree>
  </p:cSld>
</p:sldLayout>
</file>

<file path=ppt/slideLayouts/slideLayout20.xml><?xml version="1.0" encoding="utf-8"?>
<p:sldLayout xmlns:p="http://schemas.openxmlformats.org/presentationml/2006/main" matchingName="Section header" type="secHead">
  <p:cSld name="1_Section header">
    <p:spTree>
      <p:nvGrpSpPr>
        <p:cNvPr id="1" name=""/>
        <p:cNvGrpSpPr/>
        <p:nvPr/>
      </p:nvGrpSpPr>
      <p:grpSpPr>
        <a:xfrm xmlns:a="http://schemas.openxmlformats.org/drawingml/2006/main"/>
      </p:grpSpPr>
      <p:sp>
        <p:nvSpPr>
          <p:cNvPr id="114" name="Google Shape;114;p17">
            <a:extLst xmlns:a="http://schemas.openxmlformats.org/drawingml/2006/main">
              <a:ext uri="{FF2B5EF4-FFF2-40B4-BE49-F238E27FC236}">
                <a16:creationId xmlns:a16="http://schemas.microsoft.com/office/drawing/2014/main" id="{56925189-82B4-48B7-A58B-57CE6AAA98BD}"/>
              </a:ext>
            </a:extLst>
          </p:cNvPr>
          <p:cNvSpPr>
            <a:spLocks xmlns:a="http://schemas.openxmlformats.org/drawingml/2006/main" noGrp="1"/>
          </p:cNvSpPr>
          <p:nvPr>
            <p:ph type="title" idx="0"/>
          </p:nvPr>
        </p:nvSpPr>
        <p:spPr>
          <a:xfrm xmlns:a="http://schemas.openxmlformats.org/drawingml/2006/main">
            <a:off x="415600" y="2867800"/>
            <a:ext cx="11360800" cy="112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ctr">
              <a:lnSpc>
                <a:spcPct val="100000"/>
              </a:lnSpc>
              <a:spcBef>
                <a:spcPts val="0"/>
              </a:spcBef>
              <a:spcAft>
                <a:spcPts val="0"/>
              </a:spcAft>
              <a:buSzPts val="3600"/>
              <a:buNone/>
              <a:defRPr sz="4800"/>
            </a:lvl1pPr>
            <a:lvl2pPr algn="ctr">
              <a:lnSpc>
                <a:spcPct val="100000"/>
              </a:lnSpc>
              <a:spcBef>
                <a:spcPts val="0"/>
              </a:spcBef>
              <a:spcAft>
                <a:spcPts val="0"/>
              </a:spcAft>
              <a:buSzPts val="3600"/>
              <a:buNone/>
              <a:defRPr sz="4800"/>
            </a:lvl2pPr>
            <a:lvl3pPr algn="ctr">
              <a:lnSpc>
                <a:spcPct val="100000"/>
              </a:lnSpc>
              <a:spcBef>
                <a:spcPts val="0"/>
              </a:spcBef>
              <a:spcAft>
                <a:spcPts val="0"/>
              </a:spcAft>
              <a:buSzPts val="3600"/>
              <a:buNone/>
              <a:defRPr sz="4800"/>
            </a:lvl3pPr>
            <a:lvl4pPr algn="ctr">
              <a:lnSpc>
                <a:spcPct val="100000"/>
              </a:lnSpc>
              <a:spcBef>
                <a:spcPts val="0"/>
              </a:spcBef>
              <a:spcAft>
                <a:spcPts val="0"/>
              </a:spcAft>
              <a:buSzPts val="3600"/>
              <a:buNone/>
              <a:defRPr sz="4800"/>
            </a:lvl4pPr>
            <a:lvl5pPr algn="ctr">
              <a:lnSpc>
                <a:spcPct val="100000"/>
              </a:lnSpc>
              <a:spcBef>
                <a:spcPts val="0"/>
              </a:spcBef>
              <a:spcAft>
                <a:spcPts val="0"/>
              </a:spcAft>
              <a:buSzPts val="3600"/>
              <a:buNone/>
              <a:defRPr sz="4800"/>
            </a:lvl5pPr>
            <a:lvl6pPr algn="ctr">
              <a:lnSpc>
                <a:spcPct val="100000"/>
              </a:lnSpc>
              <a:spcBef>
                <a:spcPts val="0"/>
              </a:spcBef>
              <a:spcAft>
                <a:spcPts val="0"/>
              </a:spcAft>
              <a:buSzPts val="3600"/>
              <a:buNone/>
              <a:defRPr sz="4800"/>
            </a:lvl6pPr>
            <a:lvl7pPr algn="ctr">
              <a:lnSpc>
                <a:spcPct val="100000"/>
              </a:lnSpc>
              <a:spcBef>
                <a:spcPts val="0"/>
              </a:spcBef>
              <a:spcAft>
                <a:spcPts val="0"/>
              </a:spcAft>
              <a:buSzPts val="3600"/>
              <a:buNone/>
              <a:defRPr sz="4800"/>
            </a:lvl7pPr>
            <a:lvl8pPr algn="ctr">
              <a:lnSpc>
                <a:spcPct val="100000"/>
              </a:lnSpc>
              <a:spcBef>
                <a:spcPts val="0"/>
              </a:spcBef>
              <a:spcAft>
                <a:spcPts val="0"/>
              </a:spcAft>
              <a:buSzPts val="3600"/>
              <a:buNone/>
              <a:defRPr sz="4800"/>
            </a:lvl8pPr>
            <a:lvl9pPr algn="ctr">
              <a:lnSpc>
                <a:spcPct val="100000"/>
              </a:lnSpc>
              <a:spcBef>
                <a:spcPts val="0"/>
              </a:spcBef>
              <a:spcAft>
                <a:spcPts val="0"/>
              </a:spcAft>
              <a:buSzPts val="3600"/>
              <a:buNone/>
              <a:defRPr sz="4800"/>
            </a:lvl9pPr>
          </a:lstStyle>
          <a:p xmlns:a="http://schemas.openxmlformats.org/drawingml/2006/main">
            <a:r>
              <a:t>Click to edit Master title style</a:t>
            </a:r>
            <a:endParaRPr/>
          </a:p>
        </p:txBody>
      </p:sp>
      <p:sp>
        <p:nvSpPr>
          <p:cNvPr id="115" name="Google Shape;115;p17">
            <a:extLst xmlns:a="http://schemas.openxmlformats.org/drawingml/2006/main">
              <a:ext uri="{FF2B5EF4-FFF2-40B4-BE49-F238E27FC236}">
                <a16:creationId xmlns:a16="http://schemas.microsoft.com/office/drawing/2014/main" id="{A129D591-916E-42CE-9BAB-4754C3C5C5B5}"/>
              </a:ext>
            </a:extLst>
          </p:cNvPr>
          <p:cNvSpPr>
            <a:spLocks xmlns:a="http://schemas.openxmlformats.org/drawingml/2006/main" noGrp="1"/>
          </p:cNvSpPr>
          <p:nvPr>
            <p:ph type="sldNum" idx="12"/>
          </p:nvPr>
        </p:nvSpPr>
        <p:spPr>
          <a:xfrm xmlns:a="http://schemas.openxmlformats.org/drawingml/2006/main">
            <a:off x="11296611" y="6217623"/>
            <a:ext cx="731600" cy="52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marL="0" marR="0" indent="0" algn="r">
              <a:buClr>
                <a:srgbClr val="000000"/>
              </a:buClr>
              <a:buSzPts val="1333"/>
              <a:buFont typeface="Arial"/>
              <a:buNone/>
              <a:defRPr sz="1333" b="0" i="0" u="none" cap="none">
                <a:solidFill>
                  <a:srgbClr val="595959"/>
                </a:solidFill>
                <a:latin typeface="Arial"/>
                <a:ea typeface="Arial"/>
                <a:cs typeface="Arial"/>
              </a:defRPr>
            </a:lvl1pPr>
            <a:lvl2pPr marL="0" marR="0" indent="0" algn="r">
              <a:buClr>
                <a:srgbClr val="000000"/>
              </a:buClr>
              <a:buSzPts val="1333"/>
              <a:buFont typeface="Arial"/>
              <a:buNone/>
              <a:defRPr sz="1333" b="0" i="0" u="none" cap="none">
                <a:solidFill>
                  <a:srgbClr val="595959"/>
                </a:solidFill>
                <a:latin typeface="Arial"/>
                <a:ea typeface="Arial"/>
                <a:cs typeface="Arial"/>
              </a:defRPr>
            </a:lvl2pPr>
            <a:lvl3pPr marL="0" marR="0" indent="0" algn="r">
              <a:buClr>
                <a:srgbClr val="000000"/>
              </a:buClr>
              <a:buSzPts val="1333"/>
              <a:buFont typeface="Arial"/>
              <a:buNone/>
              <a:defRPr sz="1333" b="0" i="0" u="none" cap="none">
                <a:solidFill>
                  <a:srgbClr val="595959"/>
                </a:solidFill>
                <a:latin typeface="Arial"/>
                <a:ea typeface="Arial"/>
                <a:cs typeface="Arial"/>
              </a:defRPr>
            </a:lvl3pPr>
            <a:lvl4pPr marL="0" marR="0" indent="0" algn="r">
              <a:buClr>
                <a:srgbClr val="000000"/>
              </a:buClr>
              <a:buSzPts val="1333"/>
              <a:buFont typeface="Arial"/>
              <a:buNone/>
              <a:defRPr sz="1333" b="0" i="0" u="none" cap="none">
                <a:solidFill>
                  <a:srgbClr val="595959"/>
                </a:solidFill>
                <a:latin typeface="Arial"/>
                <a:ea typeface="Arial"/>
                <a:cs typeface="Arial"/>
              </a:defRPr>
            </a:lvl4pPr>
            <a:lvl5pPr marL="0" marR="0" indent="0" algn="r">
              <a:buClr>
                <a:srgbClr val="000000"/>
              </a:buClr>
              <a:buSzPts val="1333"/>
              <a:buFont typeface="Arial"/>
              <a:buNone/>
              <a:defRPr sz="1333" b="0" i="0" u="none" cap="none">
                <a:solidFill>
                  <a:srgbClr val="595959"/>
                </a:solidFill>
                <a:latin typeface="Arial"/>
                <a:ea typeface="Arial"/>
                <a:cs typeface="Arial"/>
              </a:defRPr>
            </a:lvl5pPr>
            <a:lvl6pPr marL="0" marR="0" indent="0" algn="r">
              <a:buClr>
                <a:srgbClr val="000000"/>
              </a:buClr>
              <a:buSzPts val="1333"/>
              <a:buFont typeface="Arial"/>
              <a:buNone/>
              <a:defRPr sz="1333" b="0" i="0" u="none" cap="none">
                <a:solidFill>
                  <a:srgbClr val="595959"/>
                </a:solidFill>
                <a:latin typeface="Arial"/>
                <a:ea typeface="Arial"/>
                <a:cs typeface="Arial"/>
              </a:defRPr>
            </a:lvl6pPr>
            <a:lvl7pPr marL="0" marR="0" indent="0" algn="r">
              <a:buClr>
                <a:srgbClr val="000000"/>
              </a:buClr>
              <a:buSzPts val="1333"/>
              <a:buFont typeface="Arial"/>
              <a:buNone/>
              <a:defRPr sz="1333" b="0" i="0" u="none" cap="none">
                <a:solidFill>
                  <a:srgbClr val="595959"/>
                </a:solidFill>
                <a:latin typeface="Arial"/>
                <a:ea typeface="Arial"/>
                <a:cs typeface="Arial"/>
              </a:defRPr>
            </a:lvl7pPr>
            <a:lvl8pPr marL="0" marR="0" indent="0" algn="r">
              <a:buClr>
                <a:srgbClr val="000000"/>
              </a:buClr>
              <a:buSzPts val="1333"/>
              <a:buFont typeface="Arial"/>
              <a:buNone/>
              <a:defRPr sz="1333" b="0" i="0" u="none" cap="none">
                <a:solidFill>
                  <a:srgbClr val="595959"/>
                </a:solidFill>
                <a:latin typeface="Arial"/>
                <a:ea typeface="Arial"/>
                <a:cs typeface="Arial"/>
              </a:defRPr>
            </a:lvl8pPr>
            <a:lvl9pPr marL="0" marR="0" indent="0" algn="r">
              <a:buClr>
                <a:srgbClr val="000000"/>
              </a:buClr>
              <a:buSzPts val="1333"/>
              <a:buFont typeface="Arial"/>
              <a:buNone/>
              <a:defRPr sz="1333" b="0" i="0" u="none" cap="none">
                <a:solidFill>
                  <a:srgbClr val="595959"/>
                </a:solidFill>
                <a:latin typeface="Arial"/>
                <a:ea typeface="Arial"/>
                <a:cs typeface="Arial"/>
              </a:defRPr>
            </a:lvl9pPr>
          </a:lstStyle>
          <a:p xmlns:a="http://schemas.openxmlformats.org/drawingml/2006/main">
            <a:fld id="{A74DB8E4-0DF9-4658-8AF8-1D74F81145F2}" type="slidenum">
              <a:t>‹#›</a:t>
            </a:fld>
            <a:endParaRPr/>
          </a:p>
        </p:txBody>
      </p:sp>
    </p:spTree>
  </p:cSld>
</p:sldLayout>
</file>

<file path=ppt/slideLayouts/slideLayout21.xml><?xml version="1.0" encoding="utf-8"?>
<p:sldLayout xmlns:p="http://schemas.openxmlformats.org/presentationml/2006/main" preserve="1">
  <p:cSld name="1_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CCEB5612-64C5-4907-A736-6A3E1FF8270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3" name="Footer Placeholder 2">
            <a:extLst xmlns:a="http://schemas.openxmlformats.org/drawingml/2006/main">
              <a:ext uri="{FF2B5EF4-FFF2-40B4-BE49-F238E27FC236}">
                <a16:creationId xmlns:a16="http://schemas.microsoft.com/office/drawing/2014/main" id="{18B5C147-FB1E-41ED-81E0-899FC292CA8B}"/>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A18370E5-D010-40F8-B639-08BD8325DAB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22.xml><?xml version="1.0" encoding="utf-8"?>
<p:sldLayout xmlns:p="http://schemas.openxmlformats.org/presentationml/2006/main" type="twoTxTwoObj">
  <p:cSld name="Comparison">
    <p:bg>
      <p:bgPr>
        <a:blipFill xmlns:a="http://schemas.openxmlformats.org/drawingml/2006/main" rotWithShape="1">
          <a:blip xmlns:r="http://schemas.openxmlformats.org/officeDocument/2006/relationships" r:embed="R35e8b5251d074147">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664936E-CF30-45D0-9285-9620AED5D308}"/>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lvl1pPr>
              <a:buNone/>
              <a:defRPr>
                <a:solidFill>
                  <a:schemeClr val="bg1"/>
                </a:solidFill>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E9DA252-1D22-4C05-975C-A699B87B0D9B}"/>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Edit Master text styles</a:t>
            </a:r>
          </a:p>
        </p:txBody>
      </p:sp>
      <p:sp>
        <p:nvSpPr>
          <p:cNvPr id="4" name="Content Placeholder 3">
            <a:extLst xmlns:a="http://schemas.openxmlformats.org/drawingml/2006/main">
              <a:ext uri="{FF2B5EF4-FFF2-40B4-BE49-F238E27FC236}">
                <a16:creationId xmlns:a16="http://schemas.microsoft.com/office/drawing/2014/main" id="{263CA32C-393B-4F33-898F-D503954CB19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lvl1pPr>
              <a:buNone/>
              <a:defRPr>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602334E5-BF0C-43BE-941E-57E96CC40D0B}"/>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Edit Master text styles</a:t>
            </a:r>
          </a:p>
        </p:txBody>
      </p:sp>
      <p:sp>
        <p:nvSpPr>
          <p:cNvPr id="6" name="Content Placeholder 5">
            <a:extLst xmlns:a="http://schemas.openxmlformats.org/drawingml/2006/main">
              <a:ext uri="{FF2B5EF4-FFF2-40B4-BE49-F238E27FC236}">
                <a16:creationId xmlns:a16="http://schemas.microsoft.com/office/drawing/2014/main" id="{DD2478C4-6D32-4C9E-97E9-F99A5866CFAA}"/>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lvl1pPr>
              <a:buNone/>
              <a:defRPr>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A429B990-DC85-4EC0-B3DE-7EE61F6EC1B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fld id="{57020DAE-7ED0-4B17-B656-7E9590772B44}" type="datetimeFigureOut">
              <a:t>7/31/2026</a:t>
            </a:fld>
            <a:endParaRPr/>
          </a:p>
        </p:txBody>
      </p:sp>
      <p:sp>
        <p:nvSpPr>
          <p:cNvPr id="8" name="Footer Placeholder 7">
            <a:extLst xmlns:a="http://schemas.openxmlformats.org/drawingml/2006/main">
              <a:ext uri="{FF2B5EF4-FFF2-40B4-BE49-F238E27FC236}">
                <a16:creationId xmlns:a16="http://schemas.microsoft.com/office/drawing/2014/main" id="{A496D77F-D50E-4A0F-ACD6-57D0CBD16D3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FD883289-3713-4137-9AA6-70519C5A9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fld id="{A74DB8E4-0DF9-4658-8AF8-1D74F81145F2}" type="slidenum">
              <a:t>‹#›</a:t>
            </a:fld>
            <a:endParaRPr/>
          </a:p>
        </p:txBody>
      </p:sp>
    </p:spTree>
  </p:cSld>
</p:sldLayout>
</file>

<file path=ppt/slideLayouts/slideLayout23.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2777da5415394063" /><Relationship Type="http://schemas.openxmlformats.org/officeDocument/2006/relationships/theme" Target="/ppt/slideMasters/theme/theme2.xml" Id="R8223b8390e9f4351" /><Relationship Type="http://schemas.openxmlformats.org/officeDocument/2006/relationships/slideLayout" Target="/ppt/slideLayouts/slideLayout1.xml" Id="R39dd339a8ccf43fa" /><Relationship Type="http://schemas.openxmlformats.org/officeDocument/2006/relationships/slideLayout" Target="/ppt/slideLayouts/slideLayout2.xml" Id="Re27679bc2b8c46f1" /><Relationship Type="http://schemas.openxmlformats.org/officeDocument/2006/relationships/slideLayout" Target="/ppt/slideLayouts/slideLayout3.xml" Id="R844a64942c32409d" /><Relationship Type="http://schemas.openxmlformats.org/officeDocument/2006/relationships/slideLayout" Target="/ppt/slideLayouts/slideLayout4.xml" Id="R1bd7419875b64ff0" /><Relationship Type="http://schemas.openxmlformats.org/officeDocument/2006/relationships/slideLayout" Target="/ppt/slideLayouts/slideLayout5.xml" Id="Rfbe4443494a045da" /><Relationship Type="http://schemas.openxmlformats.org/officeDocument/2006/relationships/slideLayout" Target="/ppt/slideLayouts/slideLayout6.xml" Id="R7b99d852ed3a4e18" /><Relationship Type="http://schemas.openxmlformats.org/officeDocument/2006/relationships/slideLayout" Target="/ppt/slideLayouts/slideLayout7.xml" Id="Rd5eda807746f47ea" /><Relationship Type="http://schemas.openxmlformats.org/officeDocument/2006/relationships/slideLayout" Target="/ppt/slideLayouts/slideLayout8.xml" Id="Ra6eb37a200d74329" /><Relationship Type="http://schemas.openxmlformats.org/officeDocument/2006/relationships/slideLayout" Target="/ppt/slideLayouts/slideLayout9.xml" Id="Rc19253122dda488e" /><Relationship Type="http://schemas.openxmlformats.org/officeDocument/2006/relationships/slideLayout" Target="/ppt/slideLayouts/slideLayout10.xml" Id="Rd7c992f527ea475a" /><Relationship Type="http://schemas.openxmlformats.org/officeDocument/2006/relationships/slideLayout" Target="/ppt/slideLayouts/slideLayout11.xml" Id="R581ef4a7b1fc45af" /><Relationship Type="http://schemas.openxmlformats.org/officeDocument/2006/relationships/slideLayout" Target="/ppt/slideLayouts/slideLayout12.xml" Id="R82b818c44e8a47f4" /><Relationship Type="http://schemas.openxmlformats.org/officeDocument/2006/relationships/slideLayout" Target="/ppt/slideLayouts/slideLayout13.xml" Id="R86df79c40c9848c4" /><Relationship Type="http://schemas.openxmlformats.org/officeDocument/2006/relationships/slideLayout" Target="/ppt/slideLayouts/slideLayout14.xml" Id="R65fd4de144304616" /><Relationship Type="http://schemas.openxmlformats.org/officeDocument/2006/relationships/slideLayout" Target="/ppt/slideLayouts/slideLayout15.xml" Id="R73b818d33b934fc8" /><Relationship Type="http://schemas.openxmlformats.org/officeDocument/2006/relationships/slideLayout" Target="/ppt/slideLayouts/slideLayout16.xml" Id="Rdb4e6f6bfa184815" /><Relationship Type="http://schemas.openxmlformats.org/officeDocument/2006/relationships/slideLayout" Target="/ppt/slideLayouts/slideLayout17.xml" Id="R9b393c14d4ed49d8" /><Relationship Type="http://schemas.openxmlformats.org/officeDocument/2006/relationships/slideLayout" Target="/ppt/slideLayouts/slideLayout18.xml" Id="Rebf0d6614dbb471e" /><Relationship Type="http://schemas.openxmlformats.org/officeDocument/2006/relationships/slideLayout" Target="/ppt/slideLayouts/slideLayout19.xml" Id="R53c531f88cdf4f8d" /><Relationship Type="http://schemas.openxmlformats.org/officeDocument/2006/relationships/slideLayout" Target="/ppt/slideLayouts/slideLayout20.xml" Id="R94fd229b3d074972" /><Relationship Type="http://schemas.openxmlformats.org/officeDocument/2006/relationships/slideLayout" Target="/ppt/slideLayouts/slideLayout21.xml" Id="Rad04606c4a73421b" /><Relationship Type="http://schemas.openxmlformats.org/officeDocument/2006/relationships/slideLayout" Target="/ppt/slideLayouts/slideLayout22.xml" Id="R8586551ee80e4bfc" /><Relationship Type="http://schemas.openxmlformats.org/officeDocument/2006/relationships/slideLayout" Target="/ppt/slideLayouts/slideLayout23.xml" Id="R16e7b62b47774e41" /></Relationships>
</file>

<file path=ppt/slideMasters/slideMaster1.xml><?xml version="1.0" encoding="utf-8"?>
<p:sldMaster xmlns:p="http://schemas.openxmlformats.org/presentationml/2006/main">
  <p:cSld>
    <p:bg>
      <p:bgPr>
        <a:blipFill xmlns:a="http://schemas.openxmlformats.org/drawingml/2006/main" rotWithShape="1">
          <a:blip xmlns:r="http://schemas.openxmlformats.org/officeDocument/2006/relationships" r:embed="R2777da5415394063">
            <a:lum/>
          </a:blip>
          <a:srcRect l="0" t="0" r="0" b="0"/>
          <a:stretch>
            <a:fillRect l="0" t="0" r="0" b="0"/>
          </a:stretch>
        </a:blip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F547C7B6-1650-658B-2731-3089BD1BDEEB}"/>
              </a:ext>
            </a:extLst>
          </p:cNvPr>
          <p:cNvSpPr>
            <a:spLocks xmlns:a="http://schemas.openxmlformats.org/drawingml/2006/main" noGrp="1"/>
          </p:cNvSpPr>
          <p:nvPr/>
        </p:nvSpPr>
        <p:spPr>
          <a:xfrm xmlns:a="http://schemas.openxmlformats.org/drawingml/2006/main">
            <a:off x="5672138" y="63818"/>
            <a:ext cx="1285875" cy="1619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0">
                <a:solidFill>
                  <a:srgbClr val="7B233B"/>
                </a:solidFill>
                <a:latin typeface="Arial"/>
                <a:ea typeface="Arial"/>
                <a:cs typeface="Arial"/>
              </a:defRPr>
            </a:pPr>
            <a:r>
              <a:rPr sz="900" b="0">
                <a:solidFill>
                  <a:srgbClr val="7B233B"/>
                </a:solidFill>
                <a:latin typeface="Arial"/>
                <a:ea typeface="Arial"/>
                <a:cs typeface="Arial"/>
              </a:rPr>
              <a:t>CONFIDENTIAL</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dd339a8ccf43fa"/>
    <p:sldLayoutId xmlns:r="http://schemas.openxmlformats.org/officeDocument/2006/relationships" id="2147483650" r:id="Re27679bc2b8c46f1"/>
    <p:sldLayoutId xmlns:r="http://schemas.openxmlformats.org/officeDocument/2006/relationships" id="2147483651" r:id="R844a64942c32409d"/>
    <p:sldLayoutId xmlns:r="http://schemas.openxmlformats.org/officeDocument/2006/relationships" id="2147483652" r:id="R1bd7419875b64ff0"/>
    <p:sldLayoutId xmlns:r="http://schemas.openxmlformats.org/officeDocument/2006/relationships" id="2147483653" r:id="Rfbe4443494a045da"/>
    <p:sldLayoutId xmlns:r="http://schemas.openxmlformats.org/officeDocument/2006/relationships" id="2147483654" r:id="R7b99d852ed3a4e18"/>
    <p:sldLayoutId xmlns:r="http://schemas.openxmlformats.org/officeDocument/2006/relationships" id="2147483655" r:id="Rd5eda807746f47ea"/>
    <p:sldLayoutId xmlns:r="http://schemas.openxmlformats.org/officeDocument/2006/relationships" id="2147483656" r:id="Ra6eb37a200d74329"/>
    <p:sldLayoutId xmlns:r="http://schemas.openxmlformats.org/officeDocument/2006/relationships" id="2147483657" r:id="Rc19253122dda488e"/>
    <p:sldLayoutId xmlns:r="http://schemas.openxmlformats.org/officeDocument/2006/relationships" id="2147483658" r:id="Rd7c992f527ea475a"/>
    <p:sldLayoutId xmlns:r="http://schemas.openxmlformats.org/officeDocument/2006/relationships" id="2147483659" r:id="R581ef4a7b1fc45af"/>
    <p:sldLayoutId xmlns:r="http://schemas.openxmlformats.org/officeDocument/2006/relationships" id="2147483660" r:id="R82b818c44e8a47f4"/>
    <p:sldLayoutId xmlns:r="http://schemas.openxmlformats.org/officeDocument/2006/relationships" id="2147483661" r:id="R86df79c40c9848c4"/>
    <p:sldLayoutId xmlns:r="http://schemas.openxmlformats.org/officeDocument/2006/relationships" id="2147483662" r:id="R65fd4de144304616"/>
    <p:sldLayoutId xmlns:r="http://schemas.openxmlformats.org/officeDocument/2006/relationships" id="2147483663" r:id="R73b818d33b934fc8"/>
    <p:sldLayoutId xmlns:r="http://schemas.openxmlformats.org/officeDocument/2006/relationships" id="2147483664" r:id="Rdb4e6f6bfa184815"/>
    <p:sldLayoutId xmlns:r="http://schemas.openxmlformats.org/officeDocument/2006/relationships" id="2147483665" r:id="R9b393c14d4ed49d8"/>
    <p:sldLayoutId xmlns:r="http://schemas.openxmlformats.org/officeDocument/2006/relationships" id="2147483666" r:id="Rebf0d6614dbb471e"/>
    <p:sldLayoutId xmlns:r="http://schemas.openxmlformats.org/officeDocument/2006/relationships" id="2147483667" r:id="R53c531f88cdf4f8d"/>
    <p:sldLayoutId xmlns:r="http://schemas.openxmlformats.org/officeDocument/2006/relationships" id="2147483668" r:id="R94fd229b3d074972"/>
    <p:sldLayoutId xmlns:r="http://schemas.openxmlformats.org/officeDocument/2006/relationships" id="2147483669" r:id="Rad04606c4a73421b"/>
    <p:sldLayoutId xmlns:r="http://schemas.openxmlformats.org/officeDocument/2006/relationships" id="2147483670" r:id="R8586551ee80e4bfc"/>
    <p:sldLayoutId xmlns:r="http://schemas.openxmlformats.org/officeDocument/2006/relationships" id="2147483671" r:id="R16e7b62b47774e41"/>
  </p:sldLayoutIdLst>
  <p:txStyles>
    <p:titleStyle>
      <a:lvl1pPr xmlns:a="http://schemas.openxmlformats.org/drawingml/2006/main" algn="l" defTabSz="914400">
        <a:lnSpc>
          <a:spcPct val="90000"/>
        </a:lnSpc>
        <a:spcBef>
          <a:spcPct val="0"/>
        </a:spcBef>
        <a:buNone/>
        <a:defRPr sz="4400" b="1" kern="1200">
          <a:solidFill>
            <a:schemeClr val="bg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bg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bg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bg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bg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bg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f4e919b79c94c87" /><Relationship Type="http://schemas.openxmlformats.org/officeDocument/2006/relationships/notesSlide" Target="/ppt/notesSlides/notesSlide1.xml" Id="R9b8d600ef3f74e1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7.xml" Id="R9c61ed9d1b3b4b84" /><Relationship Type="http://schemas.openxmlformats.org/officeDocument/2006/relationships/image" Target="/ppt/media/image8.png" Id="Re9bf5d0d857b4102" /><Relationship Type="http://schemas.openxmlformats.org/officeDocument/2006/relationships/notesSlide" Target="/ppt/notesSlides/notesSlide2.xml" Id="R1318593723db44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7.xml" Id="R7d28b562450a4c6f" /><Relationship Type="http://schemas.openxmlformats.org/officeDocument/2006/relationships/image" Target="/ppt/media/image8.png" Id="Rbcd35b6cf9bc43f8" /><Relationship Type="http://schemas.openxmlformats.org/officeDocument/2006/relationships/notesSlide" Target="/ppt/notesSlides/notesSlide3.xml" Id="Rb588dcbc840745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7.xml" Id="Rde4de128e3134569" /><Relationship Type="http://schemas.openxmlformats.org/officeDocument/2006/relationships/image" Target="/ppt/media/image8.png" Id="Rb660c26687444017" /><Relationship Type="http://schemas.openxmlformats.org/officeDocument/2006/relationships/notesSlide" Target="/ppt/notesSlides/notesSlide4.xml" Id="R54242d672d6e42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7.xml" Id="Re1c9e4e968d04acf" /><Relationship Type="http://schemas.openxmlformats.org/officeDocument/2006/relationships/image" Target="/ppt/media/image8.png" Id="R0396844bf2714157" /><Relationship Type="http://schemas.openxmlformats.org/officeDocument/2006/relationships/image" Target="/ppt/media/image9.png" Id="R8c0f637d0fd04167" /><Relationship Type="http://schemas.openxmlformats.org/officeDocument/2006/relationships/notesSlide" Target="/ppt/notesSlides/notesSlide5.xml" Id="R2edd1fd9228d4e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7.xml" Id="R748a326e424b45d1" /><Relationship Type="http://schemas.openxmlformats.org/officeDocument/2006/relationships/image" Target="/ppt/media/image8.png" Id="R262aa90cd59349bf" /><Relationship Type="http://schemas.openxmlformats.org/officeDocument/2006/relationships/image" Target="/ppt/media/image10.png" Id="R91ec0b4b095f4b76" /><Relationship Type="http://schemas.openxmlformats.org/officeDocument/2006/relationships/notesSlide" Target="/ppt/notesSlides/notesSlide6.xml" Id="Rdac6184f814d42c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7.xml" Id="Re859de47bde048b7" /><Relationship Type="http://schemas.openxmlformats.org/officeDocument/2006/relationships/image" Target="/ppt/media/image8.png" Id="R13e65caf449b4036" /><Relationship Type="http://schemas.openxmlformats.org/officeDocument/2006/relationships/image" Target="/ppt/media/image11.png" Id="R9caf182bd0a3463a" /><Relationship Type="http://schemas.openxmlformats.org/officeDocument/2006/relationships/notesSlide" Target="/ppt/notesSlides/notesSlide7.xml" Id="R532d70f3ceee4f8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7.xml" Id="R91d350cf723e4b21" /><Relationship Type="http://schemas.openxmlformats.org/officeDocument/2006/relationships/image" Target="/ppt/media/image8.png" Id="Re563c3f8bfba4230" /><Relationship Type="http://schemas.openxmlformats.org/officeDocument/2006/relationships/notesSlide" Target="/ppt/notesSlides/notesSlide8.xml" Id="R432d18c41886421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7.xml" Id="Rb4e868a9acd84dca" /><Relationship Type="http://schemas.openxmlformats.org/officeDocument/2006/relationships/image" Target="/ppt/media/image8.png" Id="Rfaacff6623384f7b" /><Relationship Type="http://schemas.openxmlformats.org/officeDocument/2006/relationships/notesSlide" Target="/ppt/notesSlides/notesSlide9.xml" Id="R9edb9abfa34c44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7.xml" Id="R9cf097db17744479" /><Relationship Type="http://schemas.openxmlformats.org/officeDocument/2006/relationships/image" Target="/ppt/media/image8.png" Id="R4bc6a45e49a342d4" /><Relationship Type="http://schemas.openxmlformats.org/officeDocument/2006/relationships/notesSlide" Target="/ppt/notesSlides/notesSlide10.xml" Id="Rc3a14eccfe0142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7.xml" Id="Rec9dbb68a06e42f7" /><Relationship Type="http://schemas.openxmlformats.org/officeDocument/2006/relationships/image" Target="/ppt/media/image8.png" Id="Rd3cee4cbe7944871" /><Relationship Type="http://schemas.openxmlformats.org/officeDocument/2006/relationships/notesSlide" Target="/ppt/notesSlides/notesSlide11.xml" Id="R1d14819af20349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7.xml" Id="R3f61936ee83f42a8" /><Relationship Type="http://schemas.openxmlformats.org/officeDocument/2006/relationships/image" Target="/ppt/media/image12.png" Id="Rbbca924860e0403c" /><Relationship Type="http://schemas.openxmlformats.org/officeDocument/2006/relationships/notesSlide" Target="/ppt/notesSlides/notesSlide12.xml" Id="R2ce788d8778144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7.xml" Id="Reb512d0c2cd04173" /><Relationship Type="http://schemas.openxmlformats.org/officeDocument/2006/relationships/image" Target="/ppt/media/image12.png" Id="R3862cd61794846fd" /><Relationship Type="http://schemas.openxmlformats.org/officeDocument/2006/relationships/notesSlide" Target="/ppt/notesSlides/notesSlide13.xml" Id="Refd6bca1513441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2.xml" Id="R7c979e92fe784167" /><Relationship Type="http://schemas.openxmlformats.org/officeDocument/2006/relationships/image" Target="/ppt/media/image13.png" Id="R2d05fbd0e7384282" /><Relationship Type="http://schemas.openxmlformats.org/officeDocument/2006/relationships/notesSlide" Target="/ppt/notesSlides/notesSlide14.xml" Id="R140df57d9fd640f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7.xml" Id="R1ec39a08a2434df9" /><Relationship Type="http://schemas.openxmlformats.org/officeDocument/2006/relationships/image" Target="/ppt/media/image8.png" Id="R01698692ee1f4720" /><Relationship Type="http://schemas.openxmlformats.org/officeDocument/2006/relationships/image" Target="/ppt/media/image14.png" Id="Rd04b50689aa0407b" /><Relationship Type="http://schemas.openxmlformats.org/officeDocument/2006/relationships/notesSlide" Target="/ppt/notesSlides/notesSlide15.xml" Id="R2ee725764477499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7.xml" Id="Rddad4450ead2481a" /><Relationship Type="http://schemas.openxmlformats.org/officeDocument/2006/relationships/image" Target="/ppt/media/image8.png" Id="Rc325dcf05e2f4326" /><Relationship Type="http://schemas.openxmlformats.org/officeDocument/2006/relationships/notesSlide" Target="/ppt/notesSlides/notesSlide16.xml" Id="R128a8422e10647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7.xml" Id="Rb847bc416ee14880" /><Relationship Type="http://schemas.openxmlformats.org/officeDocument/2006/relationships/image" Target="/ppt/media/image8.png" Id="Rd00501e08a9b468c" /><Relationship Type="http://schemas.openxmlformats.org/officeDocument/2006/relationships/notesSlide" Target="/ppt/notesSlides/notesSlide17.xml" Id="Rafbef5ff90db46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7.xml" Id="Rdfd027b3609f4d3e" /><Relationship Type="http://schemas.openxmlformats.org/officeDocument/2006/relationships/image" Target="/ppt/media/image8.png" Id="R879d7f2352f447ee" /><Relationship Type="http://schemas.openxmlformats.org/officeDocument/2006/relationships/image" Target="/ppt/media/image15.png" Id="R180de31f1cb240ba" /><Relationship Type="http://schemas.openxmlformats.org/officeDocument/2006/relationships/notesSlide" Target="/ppt/notesSlides/notesSlide18.xml" Id="R3f5f00bc84cc45c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7.xml" Id="R3a43a52740d34eeb" /><Relationship Type="http://schemas.openxmlformats.org/officeDocument/2006/relationships/image" Target="/ppt/media/image8.png" Id="Rb1083e1dbb6e4e0b" /><Relationship Type="http://schemas.openxmlformats.org/officeDocument/2006/relationships/notesSlide" Target="/ppt/notesSlides/notesSlide19.xml" Id="R30a1fa674734455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7.xml" Id="R7e914c3bec1b4d33" /><Relationship Type="http://schemas.openxmlformats.org/officeDocument/2006/relationships/image" Target="/ppt/media/image8.png" Id="R97eb1f545df74def" /><Relationship Type="http://schemas.openxmlformats.org/officeDocument/2006/relationships/notesSlide" Target="/ppt/notesSlides/notesSlide20.xml" Id="R99d76828d8a248e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7.xml" Id="R57f4e601d2034f68" /><Relationship Type="http://schemas.openxmlformats.org/officeDocument/2006/relationships/image" Target="/ppt/media/image16.png" Id="Rcb200cef361842db" /><Relationship Type="http://schemas.openxmlformats.org/officeDocument/2006/relationships/notesSlide" Target="/ppt/notesSlides/notesSlide21.xml" Id="R8e3a1015276a45e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7.xml" Id="Rbcd0e1cff7fe44f0" /><Relationship Type="http://schemas.openxmlformats.org/officeDocument/2006/relationships/image" Target="/ppt/media/image8.png" Id="Rbaedd98747b449f7" /><Relationship Type="http://schemas.openxmlformats.org/officeDocument/2006/relationships/notesSlide" Target="/ppt/notesSlides/notesSlide22.xml" Id="Rc08d3a3593d4446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3.xml" Id="R0f4fdf4d58c74e88" /><Relationship Type="http://schemas.openxmlformats.org/officeDocument/2006/relationships/image" Target="/ppt/media/image8.png" Id="R2aa15bed33ad4c2f" /><Relationship Type="http://schemas.openxmlformats.org/officeDocument/2006/relationships/image" Target="/ppt/media/image17.png" Id="R457070972dd54753" /><Relationship Type="http://schemas.openxmlformats.org/officeDocument/2006/relationships/image" Target="/ppt/media/image18.png" Id="R1cd65cee5adc408d" /><Relationship Type="http://schemas.openxmlformats.org/officeDocument/2006/relationships/notesSlide" Target="/ppt/notesSlides/notesSlide23.xml" Id="R42e0487631924f0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7.xml" Id="R0a5a81ec2cee4000" /><Relationship Type="http://schemas.openxmlformats.org/officeDocument/2006/relationships/image" Target="/ppt/media/image8.png" Id="Rd91a07060ac24e7e" /><Relationship Type="http://schemas.openxmlformats.org/officeDocument/2006/relationships/notesSlide" Target="/ppt/notesSlides/notesSlide24.xml" Id="R29f71d0d3b284fe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Subtitle 3">
            <a:extLst xmlns:a="http://schemas.openxmlformats.org/drawingml/2006/main">
              <a:ext uri="{FF2B5EF4-FFF2-40B4-BE49-F238E27FC236}">
                <a16:creationId xmlns:a16="http://schemas.microsoft.com/office/drawing/2014/main" id="{3BFDC539-FE20-43A3-91DA-DC6AC6A72CAE}"/>
              </a:ext>
            </a:extLst>
          </p:cNvPr>
          <p:cNvSpPr>
            <a:spLocks xmlns:a="http://schemas.openxmlformats.org/drawingml/2006/main" noGrp="1"/>
          </p:cNvSpPr>
          <p:nvPr>
            <p:ph type="subTitle" idx="1"/>
          </p:nvPr>
        </p:nvSpPr>
        <p:spPr>
          <a:xfrm xmlns:a="http://schemas.openxmlformats.org/drawingml/2006/main">
            <a:off x="5810250" y="4143375"/>
            <a:ext cx="5905500" cy="1238250"/>
          </a:xfr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HUMANOID</a:t>
            </a:r>
            <a:endParaRPr/>
          </a:p>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DATA FLYWHEEL</a:t>
            </a:r>
            <a:endParaRPr/>
          </a:p>
        </p:txBody>
      </p:sp>
      <p:sp>
        <p:nvSpPr>
          <p:cNvPr id="5" name="content">
            <a:extLst xmlns:a="http://schemas.openxmlformats.org/drawingml/2006/main">
              <a:ext uri="{FF2B5EF4-FFF2-40B4-BE49-F238E27FC236}">
                <a16:creationId xmlns:a16="http://schemas.microsoft.com/office/drawing/2014/main" id="{59783F51-B372-43C7-9A2A-011FB2420147}"/>
              </a:ext>
            </a:extLst>
          </p:cNvPr>
          <p:cNvSpPr>
            <a:spLocks xmlns:a="http://schemas.openxmlformats.org/drawingml/2006/main" noGrp="1"/>
          </p:cNvSpPr>
          <p:nvPr/>
        </p:nvSpPr>
        <p:spPr>
          <a:xfrm xmlns:a="http://schemas.openxmlformats.org/drawingml/2006/main">
            <a:off x="5810250" y="5543550"/>
            <a:ext cx="581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a:defPPr>
          </a:lstStyle>
          <a:p xmlns:a="http://schemas.openxmlformats.org/drawingml/2006/main">
            <a:pPr algn="l">
              <a:buNone/>
              <a:defRPr sz="2250" b="0">
                <a:solidFill>
                  <a:srgbClr val="FFFFFF"/>
                </a:solidFill>
                <a:latin typeface="Arial"/>
                <a:ea typeface="Arial"/>
                <a:cs typeface="Arial"/>
              </a:defRPr>
            </a:pPr>
            <a:r>
              <a:rPr sz="2250" b="0">
                <a:solidFill>
                  <a:srgbClr val="FFFFFF"/>
                </a:solidFill>
                <a:latin typeface="Arial"/>
                <a:ea typeface="Arial"/>
                <a:cs typeface="Arial"/>
              </a:rPr>
              <a:t>30 ngày: model học một task</a:t>
            </a:r>
          </a:p>
          <a:p xmlns:a="http://schemas.openxmlformats.org/drawingml/2006/main">
            <a:pPr algn="l">
              <a:buNone/>
              <a:defRPr sz="2250" b="0">
                <a:solidFill>
                  <a:srgbClr val="FFFFFF"/>
                </a:solidFill>
                <a:latin typeface="Arial"/>
                <a:ea typeface="Arial"/>
                <a:cs typeface="Arial"/>
              </a:defRPr>
            </a:pPr>
            <a:r>
              <a:rPr sz="2250" b="0">
                <a:solidFill>
                  <a:srgbClr val="FFFFFF"/>
                </a:solidFill>
                <a:latin typeface="Arial"/>
                <a:ea typeface="Arial"/>
                <a:cs typeface="Arial"/>
              </a:rPr>
              <a:t>Hướng tới inference trên robot thật</a:t>
            </a:r>
          </a:p>
        </p:txBody>
      </p:sp>
      <p:sp>
        <p:nvSpPr>
          <p:cNvPr id="6" name="content">
            <a:extLst xmlns:a="http://schemas.openxmlformats.org/drawingml/2006/main">
              <a:ext uri="{FF2B5EF4-FFF2-40B4-BE49-F238E27FC236}">
                <a16:creationId xmlns:a16="http://schemas.microsoft.com/office/drawing/2014/main" id="{7DB7453C-BEF1-46D6-B7D3-DC09EF978A76}"/>
              </a:ext>
            </a:extLst>
          </p:cNvPr>
          <p:cNvSpPr>
            <a:spLocks xmlns:a="http://schemas.openxmlformats.org/drawingml/2006/main" noGrp="1"/>
          </p:cNvSpPr>
          <p:nvPr/>
        </p:nvSpPr>
        <p:spPr>
          <a:xfrm xmlns:a="http://schemas.openxmlformats.org/drawingml/2006/main">
            <a:off x="5810250" y="6448425"/>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Public data trước, robot BTC có gate. FluxVLA + pretrained VLA</a:t>
            </a:r>
          </a:p>
        </p:txBody>
      </p:sp>
    </p:spTree>
    <p:extLst>
      <p:ext uri="{BB962C8B-B14F-4D97-AF65-F5344CB8AC3E}">
        <p14:creationId xmlns:p14="http://schemas.microsoft.com/office/powerpoint/2010/main" val="347258958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1FF308FD-55FA-4640-ABF1-9CFB8017982A}"/>
              </a:ext>
            </a:extLst>
          </p:cNvPr>
          <p:cNvPicPr>
            <a:picLocks xmlns:a="http://schemas.openxmlformats.org/drawingml/2006/main" noChangeAspect="1"/>
          </p:cNvPicPr>
          <p:nvPr/>
        </p:nvPicPr>
        <p:blipFill>
          <a:blip xmlns:r="http://schemas.openxmlformats.org/officeDocument/2006/relationships" xmlns:a="http://schemas.openxmlformats.org/drawingml/2006/main" r:embed="Re9bf5d0d857b4102"/>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Chi phí của mỗi vòng cải thiện</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Chưa có baseline chi phí DENSO. Pilot cần đo quy trình thực tế cùng task owner.</a:t>
            </a:r>
          </a:p>
        </p:txBody>
      </p:sp>
      <p:sp>
        <p:nvSpPr>
          <p:cNvPr id="11" name="content">
            <a:extLst xmlns:a="http://schemas.openxmlformats.org/drawingml/2006/main">
              <a:ext uri="{FF2B5EF4-FFF2-40B4-BE49-F238E27FC236}">
                <a16:creationId xmlns:a16="http://schemas.microsoft.com/office/drawing/2014/main" id="{AD1BA7D0-5084-4A3C-A780-5B317C99EE4F}"/>
              </a:ext>
            </a:extLst>
          </p:cNvPr>
          <p:cNvSpPr>
            <a:spLocks xmlns:a="http://schemas.openxmlformats.org/drawingml/2006/main" noGrp="1"/>
          </p:cNvSpPr>
          <p:nvPr/>
        </p:nvSpPr>
        <p:spPr>
          <a:xfrm xmlns:a="http://schemas.openxmlformats.org/drawingml/2006/main">
            <a:off x="533400" y="1600200"/>
            <a:ext cx="11125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3451"/>
                </a:solidFill>
                <a:latin typeface="Arial"/>
                <a:ea typeface="Arial"/>
                <a:cs typeface="Arial"/>
              </a:defRPr>
            </a:defPPr>
          </a:lstStyle>
          <a:p xmlns:a="http://schemas.openxmlformats.org/drawingml/2006/main">
            <a:pPr>
              <a:buNone/>
              <a:defRPr sz="2550" b="1">
                <a:solidFill>
                  <a:srgbClr val="173451"/>
                </a:solidFill>
                <a:latin typeface="Arial"/>
                <a:ea typeface="Arial"/>
                <a:cs typeface="Arial"/>
              </a:defRPr>
            </a:pPr>
            <a:r>
              <a:rPr sz="2550" b="1">
                <a:solidFill>
                  <a:srgbClr val="173451"/>
                </a:solidFill>
                <a:latin typeface="Arial"/>
                <a:ea typeface="Arial"/>
                <a:cs typeface="Arial"/>
              </a:rPr>
              <a:t>Kỹ sư phải quyết định nên sửa gì và cần thêm dữ liệu nào</a:t>
            </a:r>
          </a:p>
        </p:txBody>
      </p:sp>
      <p:sp>
        <p:nvSpPr>
          <p:cNvPr id="12" name="content">
            <a:extLst xmlns:a="http://schemas.openxmlformats.org/drawingml/2006/main">
              <a:ext uri="{FF2B5EF4-FFF2-40B4-BE49-F238E27FC236}">
                <a16:creationId xmlns:a16="http://schemas.microsoft.com/office/drawing/2014/main" id="{838AD1E3-3A6F-4228-B640-D3F653EE4DC9}"/>
              </a:ext>
            </a:extLst>
          </p:cNvPr>
          <p:cNvSpPr>
            <a:spLocks xmlns:a="http://schemas.openxmlformats.org/drawingml/2006/main" noGrp="1"/>
          </p:cNvSpPr>
          <p:nvPr/>
        </p:nvSpPr>
        <p:spPr>
          <a:xfrm xmlns:a="http://schemas.openxmlformats.org/drawingml/2006/main">
            <a:off x="533400" y="220027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46627D"/>
                </a:solidFill>
                <a:latin typeface="Arial"/>
                <a:ea typeface="Arial"/>
                <a:cs typeface="Arial"/>
              </a:defRPr>
            </a:defPPr>
          </a:lstStyle>
          <a:p xmlns:a="http://schemas.openxmlformats.org/drawingml/2006/main">
            <a:pPr>
              <a:buNone/>
              <a:defRPr sz="1500" b="0">
                <a:solidFill>
                  <a:srgbClr val="46627D"/>
                </a:solidFill>
                <a:latin typeface="Arial"/>
                <a:ea typeface="Arial"/>
                <a:cs typeface="Arial"/>
              </a:defRPr>
            </a:pPr>
            <a:r>
              <a:rPr sz="1500" b="0">
                <a:solidFill>
                  <a:srgbClr val="46627D"/>
                </a:solidFill>
                <a:latin typeface="Arial"/>
                <a:ea typeface="Arial"/>
                <a:cs typeface="Arial"/>
              </a:rPr>
              <a:t>Figure Index: 16 triệu video, 15 triệu USD trả creators. Payout chỉ là một phần chi phí dataset.</a:t>
            </a:r>
          </a:p>
        </p:txBody>
      </p:sp>
      <p:graphicFrame>
        <p:nvGraphicFramePr>
          <p:cNvPr id="13" name="">
            <a:extLst xmlns:a="http://schemas.openxmlformats.org/drawingml/2006/main">
              <a:ext uri="{FF2B5EF4-FFF2-40B4-BE49-F238E27FC236}">
                <a16:creationId xmlns:a16="http://schemas.microsoft.com/office/drawing/2014/main" id="{A82E2CB8-D0F0-4CC4-B4DE-C3D0A1C95627}"/>
              </a:ext>
            </a:extLst>
          </p:cNvPr>
          <p:cNvGraphicFramePr/>
          <p:nvPr/>
        </p:nvGraphicFramePr>
        <p:xfrm>
          <a:off xmlns:a="http://schemas.openxmlformats.org/drawingml/2006/main" x="533400" y="2609850"/>
          <a:ext xmlns:a="http://schemas.openxmlformats.org/drawingml/2006/main" cx="11125200" cy="2133600"/>
        </p:xfrm>
        <a:graphic xmlns:a="http://schemas.openxmlformats.org/drawingml/2006/main">
          <a:graphicData uri="http://schemas.openxmlformats.org/drawingml/2006/table">
            <a:tbl>
              <a:tblPr/>
              <a:tblGrid>
                <a:gridCol w="3143250"/>
                <a:gridCol w="3429000"/>
                <a:gridCol w="4552950"/>
              </a:tblGrid>
              <a:tr h="711200">
                <a:tc>
                  <a:txBody>
                    <a:bodyPr/>
                    <a:lstStyle/>
                    <a:p>
                      <a:r>
                        <a:rPr sz="1875" b="1">
                          <a:solidFill>
                            <a:srgbClr val="FFFFFF"/>
                          </a:solidFill>
                          <a:latin typeface="Arial"/>
                          <a:ea typeface="Arial"/>
                          <a:cs typeface="Arial"/>
                        </a:rPr>
                        <a:t>Công việc</a:t>
                      </a:r>
                    </a:p>
                  </a:txBody>
                  <a:tcPr marL="91440" marR="91440" marT="45720" marB="45720">
                    <a:solidFill>
                      <a:srgbClr val="173451"/>
                    </a:solidFill>
                  </a:tcPr>
                </a:tc>
                <a:tc>
                  <a:txBody>
                    <a:bodyPr/>
                    <a:lstStyle/>
                    <a:p>
                      <a:r>
                        <a:rPr sz="1875" b="1">
                          <a:solidFill>
                            <a:srgbClr val="FFFFFF"/>
                          </a:solidFill>
                          <a:latin typeface="Arial"/>
                          <a:ea typeface="Arial"/>
                          <a:cs typeface="Arial"/>
                        </a:rPr>
                        <a:t>Chi phí phải ghi</a:t>
                      </a:r>
                    </a:p>
                  </a:txBody>
                  <a:tcPr marL="91440" marR="91440" marT="45720" marB="45720">
                    <a:solidFill>
                      <a:srgbClr val="173451"/>
                    </a:solidFill>
                  </a:tcPr>
                </a:tc>
                <a:tc>
                  <a:txBody>
                    <a:bodyPr/>
                    <a:lstStyle/>
                    <a:p>
                      <a:r>
                        <a:rPr sz="1875" b="1">
                          <a:solidFill>
                            <a:srgbClr val="FFFFFF"/>
                          </a:solidFill>
                          <a:latin typeface="Arial"/>
                          <a:ea typeface="Arial"/>
                          <a:cs typeface="Arial"/>
                        </a:rPr>
                        <a:t>Quyết định còn thiếu</a:t>
                      </a:r>
                    </a:p>
                  </a:txBody>
                  <a:tcPr marL="91440" marR="91440" marT="45720" marB="45720">
                    <a:solidFill>
                      <a:srgbClr val="173451"/>
                    </a:solidFill>
                  </a:tcPr>
                </a:tc>
              </a:tr>
              <a:tr h="711200">
                <a:tc>
                  <a:txBody>
                    <a:bodyPr/>
                    <a:lstStyle/>
                    <a:p>
                      <a:r>
                        <a:rPr sz="1875" b="0">
                          <a:solidFill>
                            <a:srgbClr val="173451"/>
                          </a:solidFill>
                          <a:latin typeface="Arial"/>
                          <a:ea typeface="Arial"/>
                          <a:cs typeface="Arial"/>
                        </a:rPr>
                        <a:t>Thu mẫu và reset</a:t>
                      </a:r>
                    </a:p>
                  </a:txBody>
                  <a:tcPr marL="91440" marR="91440" marT="45720" marB="45720">
                    <a:solidFill>
                      <a:srgbClr val="FFFFFF"/>
                    </a:solidFill>
                  </a:tcPr>
                </a:tc>
                <a:tc>
                  <a:txBody>
                    <a:bodyPr/>
                    <a:lstStyle/>
                    <a:p>
                      <a:r>
                        <a:rPr sz="1875" b="0">
                          <a:solidFill>
                            <a:srgbClr val="173451"/>
                          </a:solidFill>
                          <a:latin typeface="Arial"/>
                          <a:ea typeface="Arial"/>
                          <a:cs typeface="Arial"/>
                        </a:rPr>
                        <a:t>Giờ operator, thiết bị</a:t>
                      </a:r>
                    </a:p>
                  </a:txBody>
                  <a:tcPr marL="91440" marR="91440" marT="45720" marB="45720">
                    <a:solidFill>
                      <a:srgbClr val="FFFFFF"/>
                    </a:solidFill>
                  </a:tcPr>
                </a:tc>
                <a:tc>
                  <a:txBody>
                    <a:bodyPr/>
                    <a:lstStyle/>
                    <a:p>
                      <a:r>
                        <a:rPr sz="1875" b="0">
                          <a:solidFill>
                            <a:srgbClr val="173451"/>
                          </a:solidFill>
                          <a:latin typeface="Arial"/>
                          <a:ea typeface="Arial"/>
                          <a:cs typeface="Arial"/>
                        </a:rPr>
                        <a:t>Mẫu nào bổ sung tình huống cần học?</a:t>
                      </a:r>
                    </a:p>
                  </a:txBody>
                  <a:tcPr marL="91440" marR="91440" marT="45720" marB="45720">
                    <a:solidFill>
                      <a:srgbClr val="FFFFFF"/>
                    </a:solidFill>
                  </a:tcPr>
                </a:tc>
              </a:tr>
              <a:tr h="711200">
                <a:tc>
                  <a:txBody>
                    <a:bodyPr/>
                    <a:lstStyle/>
                    <a:p>
                      <a:r>
                        <a:rPr sz="1875" b="0">
                          <a:solidFill>
                            <a:srgbClr val="173451"/>
                          </a:solidFill>
                          <a:latin typeface="Arial"/>
                          <a:ea typeface="Arial"/>
                          <a:cs typeface="Arial"/>
                        </a:rPr>
                        <a:t>QA, debug và training</a:t>
                      </a:r>
                    </a:p>
                  </a:txBody>
                  <a:tcPr marL="91440" marR="91440" marT="45720" marB="45720">
                    <a:solidFill>
                      <a:srgbClr val="FFFFFF"/>
                    </a:solidFill>
                  </a:tcPr>
                </a:tc>
                <a:tc>
                  <a:txBody>
                    <a:bodyPr/>
                    <a:lstStyle/>
                    <a:p>
                      <a:r>
                        <a:rPr sz="1875" b="0">
                          <a:solidFill>
                            <a:srgbClr val="173451"/>
                          </a:solidFill>
                          <a:latin typeface="Arial"/>
                          <a:ea typeface="Arial"/>
                          <a:cs typeface="Arial"/>
                        </a:rPr>
                        <a:t>Giờ kỹ sư, GPU, lượt thử</a:t>
                      </a:r>
                    </a:p>
                  </a:txBody>
                  <a:tcPr marL="91440" marR="91440" marT="45720" marB="45720">
                    <a:solidFill>
                      <a:srgbClr val="FFFFFF"/>
                    </a:solidFill>
                  </a:tcPr>
                </a:tc>
                <a:tc>
                  <a:txBody>
                    <a:bodyPr/>
                    <a:lstStyle/>
                    <a:p>
                      <a:r>
                        <a:rPr sz="1875" b="0">
                          <a:solidFill>
                            <a:srgbClr val="173451"/>
                          </a:solidFill>
                          <a:latin typeface="Arial"/>
                          <a:ea typeface="Arial"/>
                          <a:cs typeface="Arial"/>
                        </a:rPr>
                        <a:t>Sửa dữ liệu, model hay controller?</a:t>
                      </a:r>
                    </a:p>
                  </a:txBody>
                  <a:tcPr marL="91440" marR="91440" marT="45720" marB="45720">
                    <a:solidFill>
                      <a:srgbClr val="FFFFFF"/>
                    </a:solidFill>
                  </a:tcPr>
                </a:tc>
              </a:tr>
            </a:tbl>
          </a:graphicData>
        </a:graphic>
      </p:graphicFrame>
      <p:sp>
        <p:nvSpPr>
          <p:cNvPr id="14" name="content">
            <a:extLst xmlns:a="http://schemas.openxmlformats.org/drawingml/2006/main">
              <a:ext uri="{FF2B5EF4-FFF2-40B4-BE49-F238E27FC236}">
                <a16:creationId xmlns:a16="http://schemas.microsoft.com/office/drawing/2014/main" id="{17545F41-4A07-42B2-A391-A3A7718CACCA}"/>
              </a:ext>
            </a:extLst>
          </p:cNvPr>
          <p:cNvSpPr>
            <a:spLocks xmlns:a="http://schemas.openxmlformats.org/drawingml/2006/main" noGrp="1"/>
          </p:cNvSpPr>
          <p:nvPr/>
        </p:nvSpPr>
        <p:spPr>
          <a:xfrm xmlns:a="http://schemas.openxmlformats.org/drawingml/2006/main">
            <a:off x="533400" y="5238750"/>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Giả thuyết: giảm các vòng thu mẫu và training sai hướng</a:t>
            </a:r>
          </a:p>
        </p:txBody>
      </p:sp>
      <p:sp>
        <p:nvSpPr>
          <p:cNvPr id="15" name="content">
            <a:extLst xmlns:a="http://schemas.openxmlformats.org/drawingml/2006/main">
              <a:ext uri="{FF2B5EF4-FFF2-40B4-BE49-F238E27FC236}">
                <a16:creationId xmlns:a16="http://schemas.microsoft.com/office/drawing/2014/main" id="{358A9E6C-166F-47B6-B590-A014698914A6}"/>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02 / 24</a:t>
            </a:r>
          </a:p>
        </p:txBody>
      </p:sp>
    </p:spTree>
    <p:extLst>
      <p:ext uri="{BB962C8B-B14F-4D97-AF65-F5344CB8AC3E}">
        <p14:creationId xmlns:p14="http://schemas.microsoft.com/office/powerpoint/2010/main" val="419144437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7E31A1A1-445A-4046-92F6-147DA98861D8}"/>
              </a:ext>
            </a:extLst>
          </p:cNvPr>
          <p:cNvPicPr>
            <a:picLocks xmlns:a="http://schemas.openxmlformats.org/drawingml/2006/main" noChangeAspect="1"/>
          </p:cNvPicPr>
          <p:nvPr/>
        </p:nvPicPr>
        <p:blipFill>
          <a:blip xmlns:r="http://schemas.openxmlformats.org/officeDocument/2006/relationships" xmlns:a="http://schemas.openxmlformats.org/drawingml/2006/main" r:embed="Rbcd35b6cf9bc43f8"/>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Đóng góp của idea</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Đây là đóng góp hệ thống dự kiến. Ưu thế cần đo với quy trình kỹ sư có năng lực tương đương.</a:t>
            </a:r>
          </a:p>
        </p:txBody>
      </p:sp>
      <p:sp>
        <p:nvSpPr>
          <p:cNvPr id="11" name="content">
            <a:extLst xmlns:a="http://schemas.openxmlformats.org/drawingml/2006/main">
              <a:ext uri="{FF2B5EF4-FFF2-40B4-BE49-F238E27FC236}">
                <a16:creationId xmlns:a16="http://schemas.microsoft.com/office/drawing/2014/main" id="{AC0AAB3E-0ECC-480A-A3FB-9F8D01A2ACEE}"/>
              </a:ext>
            </a:extLst>
          </p:cNvPr>
          <p:cNvSpPr>
            <a:spLocks xmlns:a="http://schemas.openxmlformats.org/drawingml/2006/main" noGrp="1"/>
          </p:cNvSpPr>
          <p:nvPr/>
        </p:nvSpPr>
        <p:spPr>
          <a:xfrm xmlns:a="http://schemas.openxmlformats.org/drawingml/2006/main">
            <a:off x="533400" y="1619250"/>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73451"/>
                </a:solidFill>
                <a:latin typeface="Arial"/>
                <a:ea typeface="Arial"/>
                <a:cs typeface="Arial"/>
              </a:defRPr>
            </a:defPPr>
          </a:lstStyle>
          <a:p xmlns:a="http://schemas.openxmlformats.org/drawingml/2006/main">
            <a:pPr>
              <a:buNone/>
              <a:defRPr sz="2400" b="1">
                <a:solidFill>
                  <a:srgbClr val="173451"/>
                </a:solidFill>
                <a:latin typeface="Arial"/>
                <a:ea typeface="Arial"/>
                <a:cs typeface="Arial"/>
              </a:defRPr>
            </a:pPr>
            <a:r>
              <a:rPr sz="2400" b="1">
                <a:solidFill>
                  <a:srgbClr val="173451"/>
                </a:solidFill>
                <a:latin typeface="Arial"/>
                <a:ea typeface="Arial"/>
                <a:cs typeface="Arial"/>
              </a:rPr>
              <a:t>Kế thừa từ nền tảng</a:t>
            </a:r>
          </a:p>
        </p:txBody>
      </p:sp>
      <p:sp>
        <p:nvSpPr>
          <p:cNvPr id="12" name="content">
            <a:extLst xmlns:a="http://schemas.openxmlformats.org/drawingml/2006/main">
              <a:ext uri="{FF2B5EF4-FFF2-40B4-BE49-F238E27FC236}">
                <a16:creationId xmlns:a16="http://schemas.microsoft.com/office/drawing/2014/main" id="{7B3BB598-7D79-46BA-B700-220166FA2188}"/>
              </a:ext>
            </a:extLst>
          </p:cNvPr>
          <p:cNvSpPr>
            <a:spLocks xmlns:a="http://schemas.openxmlformats.org/drawingml/2006/main" noGrp="1"/>
          </p:cNvSpPr>
          <p:nvPr/>
        </p:nvSpPr>
        <p:spPr>
          <a:xfrm xmlns:a="http://schemas.openxmlformats.org/drawingml/2006/main">
            <a:off x="6334125" y="1619250"/>
            <a:ext cx="5324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878B"/>
                </a:solidFill>
                <a:latin typeface="Arial"/>
                <a:ea typeface="Arial"/>
                <a:cs typeface="Arial"/>
              </a:defRPr>
            </a:defPPr>
          </a:lstStyle>
          <a:p xmlns:a="http://schemas.openxmlformats.org/drawingml/2006/main">
            <a:pPr>
              <a:buNone/>
              <a:defRPr sz="2400" b="1">
                <a:solidFill>
                  <a:srgbClr val="00878B"/>
                </a:solidFill>
                <a:latin typeface="Arial"/>
                <a:ea typeface="Arial"/>
                <a:cs typeface="Arial"/>
              </a:defRPr>
            </a:pPr>
            <a:r>
              <a:rPr sz="2400" b="1">
                <a:solidFill>
                  <a:srgbClr val="00878B"/>
                </a:solidFill>
                <a:latin typeface="Arial"/>
                <a:ea typeface="Arial"/>
                <a:cs typeface="Arial"/>
              </a:rPr>
              <a:t>Đội đề xuất xây</a:t>
            </a:r>
          </a:p>
        </p:txBody>
      </p:sp>
      <p:sp>
        <p:nvSpPr>
          <p:cNvPr id="13" name="content">
            <a:extLst xmlns:a="http://schemas.openxmlformats.org/drawingml/2006/main">
              <a:ext uri="{FF2B5EF4-FFF2-40B4-BE49-F238E27FC236}">
                <a16:creationId xmlns:a16="http://schemas.microsoft.com/office/drawing/2014/main" id="{ACEC1706-E922-4A62-9001-14DCDDA32F1A}"/>
              </a:ext>
            </a:extLst>
          </p:cNvPr>
          <p:cNvSpPr>
            <a:spLocks xmlns:a="http://schemas.openxmlformats.org/drawingml/2006/main" noGrp="1"/>
          </p:cNvSpPr>
          <p:nvPr/>
        </p:nvSpPr>
        <p:spPr>
          <a:xfrm xmlns:a="http://schemas.openxmlformats.org/drawingml/2006/main">
            <a:off x="533400" y="2305050"/>
            <a:ext cx="49530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3451"/>
                </a:solidFill>
                <a:latin typeface="Arial"/>
                <a:ea typeface="Arial"/>
                <a:cs typeface="Arial"/>
              </a:defRPr>
            </a:defPPr>
          </a:lstStyle>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FluxVLA</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Training, evaluation, inference</a:t>
            </a:r>
          </a:p>
          <a:p xmlns:a="http://schemas.openxmlformats.org/drawingml/2006/main">
            <a:r>
              <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GR00T N1.5</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Eagle VLM và DiT Action Expert</a:t>
            </a:r>
          </a:p>
        </p:txBody>
      </p:sp>
      <p:sp>
        <p:nvSpPr>
          <p:cNvPr id="14" name="content">
            <a:extLst xmlns:a="http://schemas.openxmlformats.org/drawingml/2006/main">
              <a:ext uri="{FF2B5EF4-FFF2-40B4-BE49-F238E27FC236}">
                <a16:creationId xmlns:a16="http://schemas.microsoft.com/office/drawing/2014/main" id="{335FFEE3-4D99-4164-A46B-EA966EA9952A}"/>
              </a:ext>
            </a:extLst>
          </p:cNvPr>
          <p:cNvSpPr>
            <a:spLocks xmlns:a="http://schemas.openxmlformats.org/drawingml/2006/main" noGrp="1"/>
          </p:cNvSpPr>
          <p:nvPr/>
        </p:nvSpPr>
        <p:spPr>
          <a:xfrm xmlns:a="http://schemas.openxmlformats.org/drawingml/2006/main">
            <a:off x="6334125" y="2305050"/>
            <a:ext cx="532447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3451"/>
                </a:solidFill>
                <a:latin typeface="Arial"/>
                <a:ea typeface="Arial"/>
                <a:cs typeface="Arial"/>
              </a:defRPr>
            </a:defPPr>
          </a:lstStyle>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Quyết định dữ liệu theo bằng chứng lỗi</a:t>
            </a:r>
          </a:p>
          <a:p xmlns:a="http://schemas.openxmlformats.org/drawingml/2006/main">
            <a:r>
              <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Nối release với phạm vi cập nhật model</a:t>
            </a:r>
          </a:p>
          <a:p xmlns:a="http://schemas.openxmlformats.org/drawingml/2006/main">
            <a:r>
              <a:t/>
            </a:r>
          </a:p>
          <a:p xmlns:a="http://schemas.openxmlformats.org/drawingml/2006/main">
            <a:pPr>
              <a:buNone/>
              <a:defRPr sz="2175" b="0">
                <a:solidFill>
                  <a:srgbClr val="173451"/>
                </a:solidFill>
                <a:latin typeface="Arial"/>
                <a:ea typeface="Arial"/>
                <a:cs typeface="Arial"/>
              </a:defRPr>
            </a:pPr>
            <a:r>
              <a:rPr sz="2175" b="0">
                <a:solidFill>
                  <a:srgbClr val="173451"/>
                </a:solidFill>
                <a:latin typeface="Arial"/>
                <a:ea typeface="Arial"/>
                <a:cs typeface="Arial"/>
              </a:rPr>
              <a:t>Đo lợi ích và tổng công của can thiệp</a:t>
            </a:r>
          </a:p>
        </p:txBody>
      </p:sp>
      <p:sp>
        <p:nvSpPr>
          <p:cNvPr id="15" name="content">
            <a:extLst xmlns:a="http://schemas.openxmlformats.org/drawingml/2006/main">
              <a:ext uri="{FF2B5EF4-FFF2-40B4-BE49-F238E27FC236}">
                <a16:creationId xmlns:a16="http://schemas.microsoft.com/office/drawing/2014/main" id="{9A069EA7-E203-4C57-BCCF-D0E6E7AD1969}"/>
              </a:ext>
            </a:extLst>
          </p:cNvPr>
          <p:cNvSpPr>
            <a:spLocks xmlns:a="http://schemas.openxmlformats.org/drawingml/2006/main" noGrp="1"/>
          </p:cNvSpPr>
          <p:nvPr/>
        </p:nvSpPr>
        <p:spPr>
          <a:xfrm xmlns:a="http://schemas.openxmlformats.org/drawingml/2006/main">
            <a:off x="533400" y="5219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Mỗi can thiệp có lý do, dữ liệu truy nguyên và phép kiểm lợi ích</a:t>
            </a:r>
          </a:p>
        </p:txBody>
      </p:sp>
      <p:sp>
        <p:nvSpPr>
          <p:cNvPr id="16" name="content">
            <a:extLst xmlns:a="http://schemas.openxmlformats.org/drawingml/2006/main">
              <a:ext uri="{FF2B5EF4-FFF2-40B4-BE49-F238E27FC236}">
                <a16:creationId xmlns:a16="http://schemas.microsoft.com/office/drawing/2014/main" id="{2FCB9CDD-F884-49AA-8456-9E4E3BE3CB11}"/>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03 / 24</a:t>
            </a:r>
          </a:p>
        </p:txBody>
      </p:sp>
    </p:spTree>
    <p:extLst>
      <p:ext uri="{BB962C8B-B14F-4D97-AF65-F5344CB8AC3E}">
        <p14:creationId xmlns:p14="http://schemas.microsoft.com/office/powerpoint/2010/main" val="419144437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15C33969-AA5B-437A-A567-7E6AAA5F679B}"/>
              </a:ext>
            </a:extLst>
          </p:cNvPr>
          <p:cNvPicPr>
            <a:picLocks xmlns:a="http://schemas.openxmlformats.org/drawingml/2006/main" noChangeAspect="1"/>
          </p:cNvPicPr>
          <p:nvPr/>
        </p:nvPicPr>
        <p:blipFill>
          <a:blip xmlns:r="http://schemas.openxmlformats.org/officeDocument/2006/relationships" xmlns:a="http://schemas.openxmlformats.org/drawingml/2006/main" r:embed="Rb660c26687444017"/>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PoC 30 ngày bàn giao gì?</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Nguồn lực và chi phí còn phải đo</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Đo VRAM và runtime trước chốt recipe. Ledger tính công, robot, GPU/điện, QA và retries. Chưa tổng ngân sách/ROI.</a:t>
            </a:r>
          </a:p>
        </p:txBody>
      </p:sp>
      <p:sp>
        <p:nvSpPr>
          <p:cNvPr id="11" name="">
            <a:extLst xmlns:a="http://schemas.openxmlformats.org/drawingml/2006/main">
              <a:ext uri="{FF2B5EF4-FFF2-40B4-BE49-F238E27FC236}">
                <a16:creationId xmlns:a16="http://schemas.microsoft.com/office/drawing/2014/main" id="{F41F463F-DC99-4E5E-9E6D-59BE10169333}"/>
              </a:ext>
            </a:extLst>
          </p:cNvPr>
          <p:cNvSpPr>
            <a:spLocks xmlns:a="http://schemas.openxmlformats.org/drawingml/2006/main" noGrp="1"/>
          </p:cNvSpPr>
          <p:nvPr/>
        </p:nvSpPr>
        <p:spPr>
          <a:xfrm xmlns:a="http://schemas.openxmlformats.org/drawingml/2006/main">
            <a:off x="533400" y="1571625"/>
            <a:ext cx="504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1 task học được</a:t>
            </a:r>
          </a:p>
        </p:txBody>
      </p:sp>
      <p:sp>
        <p:nvSpPr>
          <p:cNvPr id="12" name="">
            <a:extLst xmlns:a="http://schemas.openxmlformats.org/drawingml/2006/main">
              <a:ext uri="{FF2B5EF4-FFF2-40B4-BE49-F238E27FC236}">
                <a16:creationId xmlns:a16="http://schemas.microsoft.com/office/drawing/2014/main" id="{F1F1DB44-B96D-4037-999D-891793060EC8}"/>
              </a:ext>
            </a:extLst>
          </p:cNvPr>
          <p:cNvSpPr>
            <a:spLocks xmlns:a="http://schemas.openxmlformats.org/drawingml/2006/main" noGrp="1"/>
          </p:cNvSpPr>
          <p:nvPr/>
        </p:nvSpPr>
        <p:spPr>
          <a:xfrm xmlns:a="http://schemas.openxmlformats.org/drawingml/2006/main">
            <a:off x="6191250" y="1647825"/>
            <a:ext cx="5467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153251"/>
                </a:solidFill>
                <a:latin typeface="Arial"/>
                <a:ea typeface="Arial"/>
                <a:cs typeface="Arial"/>
              </a:defRPr>
            </a:defPPr>
          </a:lstStyle>
          <a:p xmlns:a="http://schemas.openxmlformats.org/drawingml/2006/main">
            <a:pPr>
              <a:buNone/>
              <a:defRPr sz="1800" b="0">
                <a:solidFill>
                  <a:srgbClr val="153251"/>
                </a:solidFill>
                <a:latin typeface="Arial"/>
                <a:ea typeface="Arial"/>
                <a:cs typeface="Arial"/>
              </a:defRPr>
            </a:pPr>
            <a:r>
              <a:rPr sz="1800" b="0">
                <a:solidFill>
                  <a:srgbClr val="153251"/>
                </a:solidFill>
                <a:latin typeface="Arial"/>
                <a:ea typeface="Arial"/>
                <a:cs typeface="Arial"/>
              </a:rPr>
              <a:t>Dữ liệu public trước khi nhận robot</a:t>
            </a:r>
          </a:p>
          <a:p xmlns:a="http://schemas.openxmlformats.org/drawingml/2006/main">
            <a:pPr>
              <a:buNone/>
              <a:defRPr sz="1800" b="0">
                <a:solidFill>
                  <a:srgbClr val="153251"/>
                </a:solidFill>
                <a:latin typeface="Arial"/>
                <a:ea typeface="Arial"/>
                <a:cs typeface="Arial"/>
              </a:defRPr>
            </a:pPr>
            <a:r>
              <a:rPr sz="1800" b="0">
                <a:solidFill>
                  <a:srgbClr val="153251"/>
                </a:solidFill>
                <a:latin typeface="Arial"/>
                <a:ea typeface="Arial"/>
                <a:cs typeface="Arial"/>
              </a:rPr>
              <a:t>Đích: policy chạy closed-loop ngoài đời</a:t>
            </a:r>
          </a:p>
        </p:txBody>
      </p:sp>
      <p:sp>
        <p:nvSpPr>
          <p:cNvPr id="14" name="">
            <a:extLst xmlns:a="http://schemas.openxmlformats.org/drawingml/2006/main">
              <a:ext uri="{FF2B5EF4-FFF2-40B4-BE49-F238E27FC236}">
                <a16:creationId xmlns:a16="http://schemas.microsoft.com/office/drawing/2014/main" id="{CECA0485-04B5-4525-BD5B-C0E9824C6D0B}"/>
              </a:ext>
            </a:extLst>
          </p:cNvPr>
          <p:cNvSpPr>
            <a:spLocks xmlns:a="http://schemas.openxmlformats.org/drawingml/2006/main" noGrp="1"/>
          </p:cNvSpPr>
          <p:nvPr/>
        </p:nvSpPr>
        <p:spPr>
          <a:xfrm xmlns:a="http://schemas.openxmlformats.org/drawingml/2006/main">
            <a:off x="533400" y="5467350"/>
            <a:ext cx="11125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53251"/>
                </a:solidFill>
                <a:latin typeface="Arial"/>
                <a:ea typeface="Arial"/>
                <a:cs typeface="Arial"/>
              </a:defRPr>
            </a:defPPr>
          </a:lstStyle>
          <a:p xmlns:a="http://schemas.openxmlformats.org/drawingml/2006/main">
            <a:pPr>
              <a:buNone/>
              <a:defRPr sz="1800" b="1">
                <a:solidFill>
                  <a:srgbClr val="153251"/>
                </a:solidFill>
                <a:latin typeface="Arial"/>
                <a:ea typeface="Arial"/>
                <a:cs typeface="Arial"/>
              </a:defRPr>
            </a:pPr>
            <a:r>
              <a:rPr sz="1800" b="1">
                <a:solidFill>
                  <a:srgbClr val="153251"/>
                </a:solidFill>
                <a:latin typeface="Arial"/>
                <a:ea typeface="Arial"/>
                <a:cs typeface="Arial"/>
              </a:rPr>
              <a:t>RTX 3060 12GB + RTX 5090 đã có. Robot/camera và lịch truy cập phụ thuộc BTC.</a:t>
            </a:r>
          </a:p>
        </p:txBody>
      </p:sp>
      <p:sp>
        <p:nvSpPr>
          <p:cNvPr id="15" name="content">
            <a:extLst xmlns:a="http://schemas.openxmlformats.org/drawingml/2006/main">
              <a:ext uri="{FF2B5EF4-FFF2-40B4-BE49-F238E27FC236}">
                <a16:creationId xmlns:a16="http://schemas.microsoft.com/office/drawing/2014/main" id="{C1F567EB-309F-4A16-8403-57287D05F07F}"/>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04 / 24</a:t>
            </a:r>
          </a:p>
        </p:txBody>
      </p:sp>
      <p:graphicFrame>
        <p:nvGraphicFramePr>
          <p:cNvPr id="16" name="">
            <a:extLst xmlns:a="http://schemas.openxmlformats.org/drawingml/2006/main">
              <a:ext uri="{FF2B5EF4-FFF2-40B4-BE49-F238E27FC236}">
                <a16:creationId xmlns:a16="http://schemas.microsoft.com/office/drawing/2014/main" id="{B59AF044-AC3E-4472-80C1-87FEDC68EB64}"/>
              </a:ext>
            </a:extLst>
          </p:cNvPr>
          <p:cNvGraphicFramePr/>
          <p:nvPr/>
        </p:nvGraphicFramePr>
        <p:xfrm>
          <a:off xmlns:a="http://schemas.openxmlformats.org/drawingml/2006/main" x="533400" y="2476500"/>
          <a:ext xmlns:a="http://schemas.openxmlformats.org/drawingml/2006/main" cx="11125200" cy="2724150"/>
        </p:xfrm>
        <a:graphic xmlns:a="http://schemas.openxmlformats.org/drawingml/2006/main">
          <a:graphicData uri="http://schemas.openxmlformats.org/drawingml/2006/table">
            <a:tbl>
              <a:tblPr/>
              <a:tblGrid>
                <a:gridCol w="2476500"/>
                <a:gridCol w="4476750"/>
                <a:gridCol w="4171950"/>
              </a:tblGrid>
              <a:tr h="419100">
                <a:tc>
                  <a:txBody>
                    <a:bodyPr/>
                    <a:lstStyle/>
                    <a:p>
                      <a:r>
                        <a:rPr sz="1725" b="1">
                          <a:solidFill>
                            <a:srgbClr val="FFFFFF"/>
                          </a:solidFill>
                          <a:latin typeface="Arial"/>
                          <a:ea typeface="Arial"/>
                          <a:cs typeface="Arial"/>
                        </a:rPr>
                        <a:t>Bằng chứng</a:t>
                      </a:r>
                    </a:p>
                  </a:txBody>
                  <a:tcPr marL="91440" marR="91440" marT="45720" marB="45720">
                    <a:solidFill>
                      <a:srgbClr val="19344F"/>
                    </a:solidFill>
                  </a:tcPr>
                </a:tc>
                <a:tc>
                  <a:txBody>
                    <a:bodyPr/>
                    <a:lstStyle/>
                    <a:p>
                      <a:r>
                        <a:rPr sz="1725" b="1">
                          <a:solidFill>
                            <a:srgbClr val="FFFFFF"/>
                          </a:solidFill>
                          <a:latin typeface="Arial"/>
                          <a:ea typeface="Arial"/>
                          <a:cs typeface="Arial"/>
                        </a:rPr>
                        <a:t>Đầu ra sau tháng đầu</a:t>
                      </a:r>
                    </a:p>
                  </a:txBody>
                  <a:tcPr marL="91440" marR="91440" marT="45720" marB="45720">
                    <a:solidFill>
                      <a:srgbClr val="19344F"/>
                    </a:solidFill>
                  </a:tcPr>
                </a:tc>
                <a:tc>
                  <a:txBody>
                    <a:bodyPr/>
                    <a:lstStyle/>
                    <a:p>
                      <a:r>
                        <a:rPr sz="1725" b="1">
                          <a:solidFill>
                            <a:srgbClr val="FFFFFF"/>
                          </a:solidFill>
                          <a:latin typeface="Arial"/>
                          <a:ea typeface="Arial"/>
                          <a:cs typeface="Arial"/>
                        </a:rPr>
                        <a:t>Điều kiện / giới hạn</a:t>
                      </a:r>
                    </a:p>
                  </a:txBody>
                  <a:tcPr marL="91440" marR="91440" marT="45720" marB="45720">
                    <a:solidFill>
                      <a:srgbClr val="19344F"/>
                    </a:solidFill>
                  </a:tcPr>
                </a:tc>
              </a:tr>
              <a:tr h="768350">
                <a:tc>
                  <a:txBody>
                    <a:bodyPr/>
                    <a:lstStyle/>
                    <a:p>
                      <a:r>
                        <a:rPr sz="1650" b="0">
                          <a:solidFill>
                            <a:srgbClr val="19344F"/>
                          </a:solidFill>
                          <a:latin typeface="Arial"/>
                          <a:ea typeface="Arial"/>
                          <a:cs typeface="Arial"/>
                        </a:rPr>
                        <a:t>Model học task</a:t>
                      </a:r>
                    </a:p>
                  </a:txBody>
                  <a:tcPr marL="91440" marR="91440" marT="45720" marB="45720">
                    <a:solidFill>
                      <a:srgbClr val="FFFFFF"/>
                    </a:solidFill>
                  </a:tcPr>
                </a:tc>
                <a:tc>
                  <a:txBody>
                    <a:bodyPr/>
                    <a:lstStyle/>
                    <a:p>
                      <a:r>
                        <a:rPr sz="1650" b="0">
                          <a:solidFill>
                            <a:srgbClr val="19344F"/>
                          </a:solidFill>
                          <a:latin typeface="Arial"/>
                          <a:ea typeface="Arial"/>
                          <a:cs typeface="Arial"/>
                        </a:rPr>
                        <a:t>Checkpoint mới, update / reload</a:t>
                      </a:r>
                    </a:p>
                    <a:p>
                      <a:r>
                        <a:rPr sz="1650" b="0">
                          <a:solidFill>
                            <a:srgbClr val="19344F"/>
                          </a:solidFill>
                          <a:latin typeface="Arial"/>
                          <a:ea typeface="Arial"/>
                          <a:cs typeface="Arial"/>
                        </a:rPr>
                        <a:t>So pretrained và fine-tuned baseline</a:t>
                      </a:r>
                    </a:p>
                  </a:txBody>
                  <a:tcPr marL="91440" marR="91440" marT="45720" marB="45720">
                    <a:solidFill>
                      <a:srgbClr val="FFFFFF"/>
                    </a:solidFill>
                  </a:tcPr>
                </a:tc>
                <a:tc>
                  <a:txBody>
                    <a:bodyPr/>
                    <a:lstStyle/>
                    <a:p>
                      <a:r>
                        <a:rPr sz="1650" b="0">
                          <a:solidFill>
                            <a:srgbClr val="19344F"/>
                          </a:solidFill>
                          <a:latin typeface="Arial"/>
                          <a:ea typeface="Arial"/>
                          <a:cs typeface="Arial"/>
                        </a:rPr>
                        <a:t>Closed-loop ở starts giữ riêng</a:t>
                      </a:r>
                    </a:p>
                    <a:p>
                      <a:r>
                        <a:rPr sz="1650" b="0">
                          <a:solidFill>
                            <a:srgbClr val="19344F"/>
                          </a:solidFill>
                          <a:latin typeface="Arial"/>
                          <a:ea typeface="Arial"/>
                          <a:cs typeface="Arial"/>
                        </a:rPr>
                        <a:t>Loss giảm chưa đủ</a:t>
                      </a:r>
                    </a:p>
                  </a:txBody>
                  <a:tcPr marL="91440" marR="91440" marT="45720" marB="45720">
                    <a:solidFill>
                      <a:srgbClr val="FFFFFF"/>
                    </a:solidFill>
                  </a:tcPr>
                </a:tc>
              </a:tr>
              <a:tr h="768350">
                <a:tc>
                  <a:txBody>
                    <a:bodyPr/>
                    <a:lstStyle/>
                    <a:p>
                      <a:r>
                        <a:rPr sz="1650" b="0">
                          <a:solidFill>
                            <a:srgbClr val="19344F"/>
                          </a:solidFill>
                          <a:latin typeface="Arial"/>
                          <a:ea typeface="Arial"/>
                          <a:cs typeface="Arial"/>
                        </a:rPr>
                        <a:t>Robot inference</a:t>
                      </a:r>
                    </a:p>
                  </a:txBody>
                  <a:tcPr marL="91440" marR="91440" marT="45720" marB="45720">
                    <a:solidFill>
                      <a:srgbClr val="FFFFFF"/>
                    </a:solidFill>
                  </a:tcPr>
                </a:tc>
                <a:tc>
                  <a:txBody>
                    <a:bodyPr/>
                    <a:lstStyle/>
                    <a:p>
                      <a:r>
                        <a:rPr sz="1650" b="0">
                          <a:solidFill>
                            <a:srgbClr val="19344F"/>
                          </a:solidFill>
                          <a:latin typeface="Arial"/>
                          <a:ea typeface="Arial"/>
                          <a:cs typeface="Arial"/>
                        </a:rPr>
                        <a:t>Video task thật + log mọi lượt thử</a:t>
                      </a:r>
                    </a:p>
                    <a:p>
                      <a:r>
                        <a:rPr sz="1650" b="0">
                          <a:solidFill>
                            <a:srgbClr val="19344F"/>
                          </a:solidFill>
                          <a:latin typeface="Arial"/>
                          <a:ea typeface="Arial"/>
                          <a:cs typeface="Arial"/>
                        </a:rPr>
                        <a:t>Draft 20 lượt / policy, ≥16/20 candidate</a:t>
                      </a:r>
                    </a:p>
                  </a:txBody>
                  <a:tcPr marL="91440" marR="91440" marT="45720" marB="45720">
                    <a:solidFill>
                      <a:srgbClr val="FFFFFF"/>
                    </a:solidFill>
                  </a:tcPr>
                </a:tc>
                <a:tc>
                  <a:txBody>
                    <a:bodyPr/>
                    <a:lstStyle/>
                    <a:p>
                      <a:r>
                        <a:rPr sz="1650" b="0">
                          <a:solidFill>
                            <a:srgbClr val="19344F"/>
                          </a:solidFill>
                          <a:latin typeface="Arial"/>
                          <a:ea typeface="Arial"/>
                          <a:cs typeface="Arial"/>
                        </a:rPr>
                        <a:t>Robot BTC + camera / controller</a:t>
                      </a:r>
                    </a:p>
                    <a:p>
                      <a:r>
                        <a:rPr sz="1650" b="0">
                          <a:solidFill>
                            <a:srgbClr val="19344F"/>
                          </a:solidFill>
                          <a:latin typeface="Arial"/>
                          <a:ea typeface="Arial"/>
                          <a:cs typeface="Arial"/>
                        </a:rPr>
                        <a:t>PoC, chưa chuẩn sản xuất</a:t>
                      </a:r>
                    </a:p>
                  </a:txBody>
                  <a:tcPr marL="91440" marR="91440" marT="45720" marB="45720">
                    <a:solidFill>
                      <a:srgbClr val="FFFFFF"/>
                    </a:solidFill>
                  </a:tcPr>
                </a:tc>
              </a:tr>
              <a:tr h="768350">
                <a:tc>
                  <a:txBody>
                    <a:bodyPr/>
                    <a:lstStyle/>
                    <a:p>
                      <a:r>
                        <a:rPr sz="1650" b="0">
                          <a:solidFill>
                            <a:srgbClr val="19344F"/>
                          </a:solidFill>
                          <a:latin typeface="Arial"/>
                          <a:ea typeface="Arial"/>
                          <a:cs typeface="Arial"/>
                        </a:rPr>
                        <a:t>Data flywheel</a:t>
                      </a:r>
                    </a:p>
                  </a:txBody>
                  <a:tcPr marL="91440" marR="91440" marT="45720" marB="45720">
                    <a:solidFill>
                      <a:srgbClr val="FFFFFF"/>
                    </a:solidFill>
                  </a:tcPr>
                </a:tc>
                <a:tc>
                  <a:txBody>
                    <a:bodyPr/>
                    <a:lstStyle/>
                    <a:p>
                      <a:r>
                        <a:rPr sz="1650" b="0">
                          <a:solidFill>
                            <a:srgbClr val="19344F"/>
                          </a:solidFill>
                          <a:latin typeface="Arial"/>
                          <a:ea typeface="Arial"/>
                          <a:cs typeface="Arial"/>
                        </a:rPr>
                        <a:t>Lỗi development, release v2</a:t>
                      </a:r>
                    </a:p>
                    <a:p>
                      <a:r>
                        <a:rPr sz="1650" b="0">
                          <a:solidFill>
                            <a:srgbClr val="19344F"/>
                          </a:solidFill>
                          <a:latin typeface="Arial"/>
                          <a:ea typeface="Arial"/>
                          <a:cs typeface="Arial"/>
                        </a:rPr>
                        <a:t>Candidate + replay, before / after</a:t>
                      </a:r>
                    </a:p>
                  </a:txBody>
                  <a:tcPr marL="91440" marR="91440" marT="45720" marB="45720">
                    <a:solidFill>
                      <a:srgbClr val="FFFFFF"/>
                    </a:solidFill>
                  </a:tcPr>
                </a:tc>
                <a:tc>
                  <a:txBody>
                    <a:bodyPr/>
                    <a:lstStyle/>
                    <a:p>
                      <a:r>
                        <a:rPr sz="1650" b="0">
                          <a:solidFill>
                            <a:srgbClr val="19344F"/>
                          </a:solidFill>
                          <a:latin typeface="Arial"/>
                          <a:ea typeface="Arial"/>
                          <a:cs typeface="Arial"/>
                        </a:rPr>
                        <a:t>Đo regression và tổng công</a:t>
                      </a:r>
                    </a:p>
                    <a:p>
                      <a:r>
                        <a:rPr sz="1650" b="0">
                          <a:solidFill>
                            <a:srgbClr val="19344F"/>
                          </a:solidFill>
                          <a:latin typeface="Arial"/>
                          <a:ea typeface="Arial"/>
                          <a:cs typeface="Arial"/>
                        </a:rPr>
                        <a:t>Không gain thì báo no-gain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5FAF7978-B27F-461D-8609-1B390FB103A3}"/>
              </a:ext>
            </a:extLst>
          </p:cNvPr>
          <p:cNvPicPr>
            <a:picLocks xmlns:a="http://schemas.openxmlformats.org/drawingml/2006/main" noChangeAspect="1"/>
          </p:cNvPicPr>
          <p:nvPr/>
        </p:nvPicPr>
        <p:blipFill>
          <a:blip xmlns:r="http://schemas.openxmlformats.org/officeDocument/2006/relationships" xmlns:a="http://schemas.openxmlformats.org/drawingml/2006/main" r:embed="R0396844bf2714157"/>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Một lỗi, nhiều hướng xử lý</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Phạm vi</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Ảnh minh họa AI. Bằng chứng chưa đủ thì kiểm tiếp, chưa chọn training.</a:t>
            </a:r>
          </a:p>
        </p:txBody>
      </p:sp>
      <p:pic>
        <p:nvPicPr>
          <p:cNvPr id="18" name="">
            <a:extLst xmlns:a="http://schemas.openxmlformats.org/drawingml/2006/main">
              <a:ext uri="{FF2B5EF4-FFF2-40B4-BE49-F238E27FC236}">
                <a16:creationId xmlns:a16="http://schemas.microsoft.com/office/drawing/2014/main" id="{DA017468-18EA-42D5-8A97-356AE923C4D6}"/>
              </a:ext>
            </a:extLst>
          </p:cNvPr>
          <p:cNvPicPr>
            <a:picLocks xmlns:a="http://schemas.openxmlformats.org/drawingml/2006/main" noChangeAspect="1"/>
          </p:cNvPicPr>
          <p:nvPr/>
        </p:nvPicPr>
        <p:blipFill>
          <a:blip xmlns:r="http://schemas.openxmlformats.org/officeDocument/2006/relationships" xmlns:a="http://schemas.openxmlformats.org/drawingml/2006/main" r:embed="R8c0f637d0fd04167"/>
          <a:stretch xmlns:a="http://schemas.openxmlformats.org/drawingml/2006/main"/>
        </p:blipFill>
        <p:spPr>
          <a:xfrm xmlns:a="http://schemas.openxmlformats.org/drawingml/2006/main">
            <a:off x="533400" y="1714500"/>
            <a:ext cx="4857750" cy="2733675"/>
          </a:xfrm>
          <a:prstGeom xmlns:a="http://schemas.openxmlformats.org/drawingml/2006/main" prst="rect">
            <a:avLst/>
          </a:prstGeom>
        </p:spPr>
      </p:pic>
      <p:sp>
        <p:nvSpPr>
          <p:cNvPr id="19" name="content">
            <a:extLst xmlns:a="http://schemas.openxmlformats.org/drawingml/2006/main">
              <a:ext uri="{FF2B5EF4-FFF2-40B4-BE49-F238E27FC236}">
                <a16:creationId xmlns:a16="http://schemas.microsoft.com/office/drawing/2014/main" id="{D00F8465-D6BB-4F7B-822D-3A8236C4996E}"/>
              </a:ext>
            </a:extLst>
          </p:cNvPr>
          <p:cNvSpPr>
            <a:spLocks xmlns:a="http://schemas.openxmlformats.org/drawingml/2006/main" noGrp="1"/>
          </p:cNvSpPr>
          <p:nvPr/>
        </p:nvSpPr>
        <p:spPr>
          <a:xfrm xmlns:a="http://schemas.openxmlformats.org/drawingml/2006/main">
            <a:off x="533400" y="4686300"/>
            <a:ext cx="4857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173451"/>
                </a:solidFill>
                <a:latin typeface="Arial"/>
                <a:ea typeface="Arial"/>
                <a:cs typeface="Arial"/>
              </a:defRPr>
            </a:defPPr>
          </a:lstStyle>
          <a:p xmlns:a="http://schemas.openxmlformats.org/drawingml/2006/main">
            <a:pPr>
              <a:buNone/>
              <a:defRPr sz="2175" b="1">
                <a:solidFill>
                  <a:srgbClr val="173451"/>
                </a:solidFill>
                <a:latin typeface="Arial"/>
                <a:ea typeface="Arial"/>
                <a:cs typeface="Arial"/>
              </a:defRPr>
            </a:pPr>
            <a:r>
              <a:rPr sz="2175" b="1">
                <a:solidFill>
                  <a:srgbClr val="173451"/>
                </a:solidFill>
                <a:latin typeface="Arial"/>
                <a:ea typeface="Arial"/>
                <a:cs typeface="Arial"/>
              </a:rPr>
              <a:t>Robot làm rơi vật trước ô A1</a:t>
            </a:r>
          </a:p>
        </p:txBody>
      </p:sp>
      <p:sp>
        <p:nvSpPr>
          <p:cNvPr id="20" name="content">
            <a:extLst xmlns:a="http://schemas.openxmlformats.org/drawingml/2006/main">
              <a:ext uri="{FF2B5EF4-FFF2-40B4-BE49-F238E27FC236}">
                <a16:creationId xmlns:a16="http://schemas.microsoft.com/office/drawing/2014/main" id="{DE20AA59-313A-45DF-A41D-4EACB8D64B38}"/>
              </a:ext>
            </a:extLst>
          </p:cNvPr>
          <p:cNvSpPr>
            <a:spLocks xmlns:a="http://schemas.openxmlformats.org/drawingml/2006/main" noGrp="1"/>
          </p:cNvSpPr>
          <p:nvPr/>
        </p:nvSpPr>
        <p:spPr>
          <a:xfrm xmlns:a="http://schemas.openxmlformats.org/drawingml/2006/main">
            <a:off x="5905500" y="1600200"/>
            <a:ext cx="5753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73451"/>
                </a:solidFill>
                <a:latin typeface="Arial"/>
                <a:ea typeface="Arial"/>
                <a:cs typeface="Arial"/>
              </a:defRPr>
            </a:defPPr>
          </a:lstStyle>
          <a:p xmlns:a="http://schemas.openxmlformats.org/drawingml/2006/main">
            <a:pPr>
              <a:buNone/>
              <a:defRPr sz="2250" b="1">
                <a:solidFill>
                  <a:srgbClr val="173451"/>
                </a:solidFill>
                <a:latin typeface="Arial"/>
                <a:ea typeface="Arial"/>
                <a:cs typeface="Arial"/>
              </a:defRPr>
            </a:pPr>
            <a:r>
              <a:rPr sz="2250" b="1">
                <a:solidFill>
                  <a:srgbClr val="173451"/>
                </a:solidFill>
                <a:latin typeface="Arial"/>
                <a:ea typeface="Arial"/>
                <a:cs typeface="Arial"/>
              </a:rPr>
              <a:t>Kiểm command và response trước</a:t>
            </a:r>
          </a:p>
        </p:txBody>
      </p:sp>
      <p:sp>
        <p:nvSpPr>
          <p:cNvPr id="21" name="content">
            <a:extLst xmlns:a="http://schemas.openxmlformats.org/drawingml/2006/main">
              <a:ext uri="{FF2B5EF4-FFF2-40B4-BE49-F238E27FC236}">
                <a16:creationId xmlns:a16="http://schemas.microsoft.com/office/drawing/2014/main" id="{1121F7F5-B555-41DC-BDF7-58508F8B85B0}"/>
              </a:ext>
            </a:extLst>
          </p:cNvPr>
          <p:cNvSpPr>
            <a:spLocks xmlns:a="http://schemas.openxmlformats.org/drawingml/2006/main" noGrp="1"/>
          </p:cNvSpPr>
          <p:nvPr/>
        </p:nvSpPr>
        <p:spPr>
          <a:xfrm xmlns:a="http://schemas.openxmlformats.org/drawingml/2006/main">
            <a:off x="5905500" y="2295525"/>
            <a:ext cx="5753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451"/>
                </a:solidFill>
                <a:latin typeface="Arial"/>
                <a:ea typeface="Arial"/>
                <a:cs typeface="Arial"/>
              </a:defRPr>
            </a:defPPr>
          </a:lstStyle>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Binding / controller sai</a:t>
            </a:r>
          </a:p>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Sửa hệ thống, chạy lại baseline</a:t>
            </a:r>
          </a:p>
        </p:txBody>
      </p:sp>
      <p:sp>
        <p:nvSpPr>
          <p:cNvPr id="22" name="content">
            <a:extLst xmlns:a="http://schemas.openxmlformats.org/drawingml/2006/main">
              <a:ext uri="{FF2B5EF4-FFF2-40B4-BE49-F238E27FC236}">
                <a16:creationId xmlns:a16="http://schemas.microsoft.com/office/drawing/2014/main" id="{17F6759B-44B5-46D3-911C-F2825816D48D}"/>
              </a:ext>
            </a:extLst>
          </p:cNvPr>
          <p:cNvSpPr>
            <a:spLocks xmlns:a="http://schemas.openxmlformats.org/drawingml/2006/main" noGrp="1"/>
          </p:cNvSpPr>
          <p:nvPr/>
        </p:nvSpPr>
        <p:spPr>
          <a:xfrm xmlns:a="http://schemas.openxmlformats.org/drawingml/2006/main">
            <a:off x="5905500" y="3371850"/>
            <a:ext cx="57531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3451"/>
                </a:solidFill>
                <a:latin typeface="Arial"/>
                <a:ea typeface="Arial"/>
                <a:cs typeface="Arial"/>
              </a:defRPr>
            </a:defPPr>
          </a:lstStyle>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Thiếu coverage có bằng chứng</a:t>
            </a:r>
          </a:p>
          <a:p xmlns:a="http://schemas.openxmlformats.org/drawingml/2006/main">
            <a:pPr>
              <a:buNone/>
              <a:defRPr sz="2100" b="0">
                <a:solidFill>
                  <a:srgbClr val="173451"/>
                </a:solidFill>
                <a:latin typeface="Arial"/>
                <a:ea typeface="Arial"/>
                <a:cs typeface="Arial"/>
              </a:defRPr>
            </a:pPr>
            <a:r>
              <a:rPr sz="2100" b="0">
                <a:solidFill>
                  <a:srgbClr val="173451"/>
                </a:solidFill>
                <a:latin typeface="Arial"/>
                <a:ea typeface="Arial"/>
                <a:cs typeface="Arial"/>
              </a:rPr>
              <a:t>Chọn correction hoặc sim execution</a:t>
            </a:r>
          </a:p>
        </p:txBody>
      </p:sp>
      <p:sp>
        <p:nvSpPr>
          <p:cNvPr id="23" name="content">
            <a:extLst xmlns:a="http://schemas.openxmlformats.org/drawingml/2006/main">
              <a:ext uri="{FF2B5EF4-FFF2-40B4-BE49-F238E27FC236}">
                <a16:creationId xmlns:a16="http://schemas.microsoft.com/office/drawing/2014/main" id="{80E493BA-8633-4900-AA58-FD914665929E}"/>
              </a:ext>
            </a:extLst>
          </p:cNvPr>
          <p:cNvSpPr>
            <a:spLocks xmlns:a="http://schemas.openxmlformats.org/drawingml/2006/main" noGrp="1"/>
          </p:cNvSpPr>
          <p:nvPr/>
        </p:nvSpPr>
        <p:spPr>
          <a:xfrm xmlns:a="http://schemas.openxmlformats.org/drawingml/2006/main">
            <a:off x="5905500" y="4752975"/>
            <a:ext cx="5753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0878B"/>
                </a:solidFill>
                <a:latin typeface="Arial"/>
                <a:ea typeface="Arial"/>
                <a:cs typeface="Arial"/>
              </a:defRPr>
            </a:defPPr>
          </a:lstStyle>
          <a:p xmlns:a="http://schemas.openxmlformats.org/drawingml/2006/main">
            <a:pPr>
              <a:buNone/>
              <a:defRPr sz="2100" b="1">
                <a:solidFill>
                  <a:srgbClr val="00878B"/>
                </a:solidFill>
                <a:latin typeface="Arial"/>
                <a:ea typeface="Arial"/>
                <a:cs typeface="Arial"/>
              </a:defRPr>
            </a:pPr>
            <a:r>
              <a:rPr sz="2100" b="1">
                <a:solidFill>
                  <a:srgbClr val="00878B"/>
                </a:solidFill>
                <a:latin typeface="Arial"/>
                <a:ea typeface="Arial"/>
                <a:cs typeface="Arial"/>
              </a:rPr>
              <a:t>Mỗi nhánh dẫn tới một can thiệp khác nhau</a:t>
            </a:r>
          </a:p>
        </p:txBody>
      </p:sp>
      <p:sp>
        <p:nvSpPr>
          <p:cNvPr id="24" name="content">
            <a:extLst xmlns:a="http://schemas.openxmlformats.org/drawingml/2006/main">
              <a:ext uri="{FF2B5EF4-FFF2-40B4-BE49-F238E27FC236}">
                <a16:creationId xmlns:a16="http://schemas.microsoft.com/office/drawing/2014/main" id="{059CC358-D178-4D4D-9400-25BA95246E66}"/>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05 / 24</a:t>
            </a:r>
          </a:p>
        </p:txBody>
      </p:sp>
    </p:spTree>
    <p:extLst>
      <p:ext uri="{BB962C8B-B14F-4D97-AF65-F5344CB8AC3E}">
        <p14:creationId xmlns:p14="http://schemas.microsoft.com/office/powerpoint/2010/main" val="41914443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6C900165-1D55-4FBD-921A-689431DA9819}"/>
              </a:ext>
            </a:extLst>
          </p:cNvPr>
          <p:cNvPicPr>
            <a:picLocks xmlns:a="http://schemas.openxmlformats.org/drawingml/2006/main" noChangeAspect="1"/>
          </p:cNvPicPr>
          <p:nvPr/>
        </p:nvPicPr>
        <p:blipFill>
          <a:blip xmlns:r="http://schemas.openxmlformats.org/officeDocument/2006/relationships" xmlns:a="http://schemas.openxmlformats.org/drawingml/2006/main" r:embed="R262aa90cd59349bf"/>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Data flywheel hoạt động</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Kỹ sư chốt quyết định. Final độc lập nằm ngoài vòng phát triển. Hình minh họa AI.</a:t>
            </a:r>
          </a:p>
        </p:txBody>
      </p:sp>
      <p:pic>
        <p:nvPicPr>
          <p:cNvPr id="11" name="">
            <a:extLst xmlns:a="http://schemas.openxmlformats.org/drawingml/2006/main">
              <a:ext uri="{FF2B5EF4-FFF2-40B4-BE49-F238E27FC236}">
                <a16:creationId xmlns:a16="http://schemas.microsoft.com/office/drawing/2014/main" id="{B43DA06F-54F9-4611-94DA-29A10D2AAE5D}"/>
              </a:ext>
            </a:extLst>
          </p:cNvPr>
          <p:cNvPicPr>
            <a:picLocks xmlns:a="http://schemas.openxmlformats.org/drawingml/2006/main" noChangeAspect="1"/>
          </p:cNvPicPr>
          <p:nvPr/>
        </p:nvPicPr>
        <p:blipFill>
          <a:blip xmlns:r="http://schemas.openxmlformats.org/officeDocument/2006/relationships" xmlns:a="http://schemas.openxmlformats.org/drawingml/2006/main" r:embed="R91ec0b4b095f4b76"/>
          <a:stretch xmlns:a="http://schemas.openxmlformats.org/drawingml/2006/main"/>
        </p:blipFill>
        <p:spPr>
          <a:xfrm xmlns:a="http://schemas.openxmlformats.org/drawingml/2006/main">
            <a:off x="533400" y="1485900"/>
            <a:ext cx="4286250" cy="4286250"/>
          </a:xfrm>
          <a:prstGeom xmlns:a="http://schemas.openxmlformats.org/drawingml/2006/main" prst="rect">
            <a:avLst/>
          </a:prstGeom>
        </p:spPr>
      </p:pic>
      <p:sp>
        <p:nvSpPr>
          <p:cNvPr id="12" name="content">
            <a:extLst xmlns:a="http://schemas.openxmlformats.org/drawingml/2006/main">
              <a:ext uri="{FF2B5EF4-FFF2-40B4-BE49-F238E27FC236}">
                <a16:creationId xmlns:a16="http://schemas.microsoft.com/office/drawing/2014/main" id="{5A885CAF-AA76-4CCF-934C-6A0C9FAD083E}"/>
              </a:ext>
            </a:extLst>
          </p:cNvPr>
          <p:cNvSpPr>
            <a:spLocks xmlns:a="http://schemas.openxmlformats.org/drawingml/2006/main" noGrp="1"/>
          </p:cNvSpPr>
          <p:nvPr/>
        </p:nvSpPr>
        <p:spPr>
          <a:xfrm xmlns:a="http://schemas.openxmlformats.org/drawingml/2006/main">
            <a:off x="5238750" y="1562100"/>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01  Chạy và ghi lỗi</a:t>
            </a:r>
          </a:p>
        </p:txBody>
      </p:sp>
      <p:sp>
        <p:nvSpPr>
          <p:cNvPr id="13" name="content">
            <a:extLst xmlns:a="http://schemas.openxmlformats.org/drawingml/2006/main">
              <a:ext uri="{FF2B5EF4-FFF2-40B4-BE49-F238E27FC236}">
                <a16:creationId xmlns:a16="http://schemas.microsoft.com/office/drawing/2014/main" id="{AB031465-0FC8-4995-8932-A3C4AAE59AFA}"/>
              </a:ext>
            </a:extLst>
          </p:cNvPr>
          <p:cNvSpPr>
            <a:spLocks xmlns:a="http://schemas.openxmlformats.org/drawingml/2006/main" noGrp="1"/>
          </p:cNvSpPr>
          <p:nvPr/>
        </p:nvSpPr>
        <p:spPr>
          <a:xfrm xmlns:a="http://schemas.openxmlformats.org/drawingml/2006/main">
            <a:off x="5238750" y="1857375"/>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Trace, outcome, điều kiện xảy ra</a:t>
            </a:r>
          </a:p>
        </p:txBody>
      </p:sp>
      <p:sp>
        <p:nvSpPr>
          <p:cNvPr id="14" name="content">
            <a:extLst xmlns:a="http://schemas.openxmlformats.org/drawingml/2006/main">
              <a:ext uri="{FF2B5EF4-FFF2-40B4-BE49-F238E27FC236}">
                <a16:creationId xmlns:a16="http://schemas.microsoft.com/office/drawing/2014/main" id="{99820F8F-D802-4EF7-8A5F-FB5140735D1D}"/>
              </a:ext>
            </a:extLst>
          </p:cNvPr>
          <p:cNvSpPr>
            <a:spLocks xmlns:a="http://schemas.openxmlformats.org/drawingml/2006/main" noGrp="1"/>
          </p:cNvSpPr>
          <p:nvPr/>
        </p:nvSpPr>
        <p:spPr>
          <a:xfrm xmlns:a="http://schemas.openxmlformats.org/drawingml/2006/main">
            <a:off x="5238750" y="2162175"/>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02  Kiểm giả thuyết</a:t>
            </a:r>
          </a:p>
        </p:txBody>
      </p:sp>
      <p:sp>
        <p:nvSpPr>
          <p:cNvPr id="15" name="content">
            <a:extLst xmlns:a="http://schemas.openxmlformats.org/drawingml/2006/main">
              <a:ext uri="{FF2B5EF4-FFF2-40B4-BE49-F238E27FC236}">
                <a16:creationId xmlns:a16="http://schemas.microsoft.com/office/drawing/2014/main" id="{B5FB8308-8B22-4B84-8DF8-63673CEA2DC8}"/>
              </a:ext>
            </a:extLst>
          </p:cNvPr>
          <p:cNvSpPr>
            <a:spLocks xmlns:a="http://schemas.openxmlformats.org/drawingml/2006/main" noGrp="1"/>
          </p:cNvSpPr>
          <p:nvPr/>
        </p:nvSpPr>
        <p:spPr>
          <a:xfrm xmlns:a="http://schemas.openxmlformats.org/drawingml/2006/main">
            <a:off x="5238750" y="2457450"/>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Phân biệt hệ thống và dữ liệu</a:t>
            </a:r>
          </a:p>
        </p:txBody>
      </p:sp>
      <p:sp>
        <p:nvSpPr>
          <p:cNvPr id="16" name="content">
            <a:extLst xmlns:a="http://schemas.openxmlformats.org/drawingml/2006/main">
              <a:ext uri="{FF2B5EF4-FFF2-40B4-BE49-F238E27FC236}">
                <a16:creationId xmlns:a16="http://schemas.microsoft.com/office/drawing/2014/main" id="{62468D0F-CC46-463A-B9F7-258860BD1F2E}"/>
              </a:ext>
            </a:extLst>
          </p:cNvPr>
          <p:cNvSpPr>
            <a:spLocks xmlns:a="http://schemas.openxmlformats.org/drawingml/2006/main" noGrp="1"/>
          </p:cNvSpPr>
          <p:nvPr/>
        </p:nvSpPr>
        <p:spPr>
          <a:xfrm xmlns:a="http://schemas.openxmlformats.org/drawingml/2006/main">
            <a:off x="5238750" y="2762250"/>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878B"/>
                </a:solidFill>
                <a:latin typeface="Arial"/>
                <a:ea typeface="Arial"/>
                <a:cs typeface="Arial"/>
              </a:defRPr>
            </a:defPPr>
          </a:lstStyle>
          <a:p xmlns:a="http://schemas.openxmlformats.org/drawingml/2006/main">
            <a:pPr>
              <a:buNone/>
              <a:defRPr sz="2025" b="1">
                <a:solidFill>
                  <a:srgbClr val="00878B"/>
                </a:solidFill>
                <a:latin typeface="Arial"/>
                <a:ea typeface="Arial"/>
                <a:cs typeface="Arial"/>
              </a:defRPr>
            </a:pPr>
            <a:r>
              <a:rPr sz="2025" b="1">
                <a:solidFill>
                  <a:srgbClr val="00878B"/>
                </a:solidFill>
                <a:latin typeface="Arial"/>
                <a:ea typeface="Arial"/>
                <a:cs typeface="Arial"/>
              </a:rPr>
              <a:t>03  Chọn can thiệp</a:t>
            </a:r>
          </a:p>
        </p:txBody>
      </p:sp>
      <p:sp>
        <p:nvSpPr>
          <p:cNvPr id="17" name="content">
            <a:extLst xmlns:a="http://schemas.openxmlformats.org/drawingml/2006/main">
              <a:ext uri="{FF2B5EF4-FFF2-40B4-BE49-F238E27FC236}">
                <a16:creationId xmlns:a16="http://schemas.microsoft.com/office/drawing/2014/main" id="{938FB3FC-18E5-49F6-AD0C-F8765481FD37}"/>
              </a:ext>
            </a:extLst>
          </p:cNvPr>
          <p:cNvSpPr>
            <a:spLocks xmlns:a="http://schemas.openxmlformats.org/drawingml/2006/main" noGrp="1"/>
          </p:cNvSpPr>
          <p:nvPr/>
        </p:nvSpPr>
        <p:spPr>
          <a:xfrm xmlns:a="http://schemas.openxmlformats.org/drawingml/2006/main">
            <a:off x="5238750" y="3057525"/>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Reuse, correction, sim hoặc repair</a:t>
            </a:r>
          </a:p>
        </p:txBody>
      </p:sp>
      <p:sp>
        <p:nvSpPr>
          <p:cNvPr id="18" name="content">
            <a:extLst xmlns:a="http://schemas.openxmlformats.org/drawingml/2006/main">
              <a:ext uri="{FF2B5EF4-FFF2-40B4-BE49-F238E27FC236}">
                <a16:creationId xmlns:a16="http://schemas.microsoft.com/office/drawing/2014/main" id="{D13E9EDA-A588-4769-9435-A996D84C8535}"/>
              </a:ext>
            </a:extLst>
          </p:cNvPr>
          <p:cNvSpPr>
            <a:spLocks xmlns:a="http://schemas.openxmlformats.org/drawingml/2006/main" noGrp="1"/>
          </p:cNvSpPr>
          <p:nvPr/>
        </p:nvSpPr>
        <p:spPr>
          <a:xfrm xmlns:a="http://schemas.openxmlformats.org/drawingml/2006/main">
            <a:off x="5238750" y="3362325"/>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04  QA và phát hành</a:t>
            </a:r>
          </a:p>
        </p:txBody>
      </p:sp>
      <p:sp>
        <p:nvSpPr>
          <p:cNvPr id="19" name="content">
            <a:extLst xmlns:a="http://schemas.openxmlformats.org/drawingml/2006/main">
              <a:ext uri="{FF2B5EF4-FFF2-40B4-BE49-F238E27FC236}">
                <a16:creationId xmlns:a16="http://schemas.microsoft.com/office/drawing/2014/main" id="{4574AE41-922B-4D6A-88A5-7F3E6088DE66}"/>
              </a:ext>
            </a:extLst>
          </p:cNvPr>
          <p:cNvSpPr>
            <a:spLocks xmlns:a="http://schemas.openxmlformats.org/drawingml/2006/main" noGrp="1"/>
          </p:cNvSpPr>
          <p:nvPr/>
        </p:nvSpPr>
        <p:spPr>
          <a:xfrm xmlns:a="http://schemas.openxmlformats.org/drawingml/2006/main">
            <a:off x="5238750" y="3657600"/>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Giữ nguồn gốc, targets và splits</a:t>
            </a:r>
          </a:p>
        </p:txBody>
      </p:sp>
      <p:sp>
        <p:nvSpPr>
          <p:cNvPr id="20" name="content">
            <a:extLst xmlns:a="http://schemas.openxmlformats.org/drawingml/2006/main">
              <a:ext uri="{FF2B5EF4-FFF2-40B4-BE49-F238E27FC236}">
                <a16:creationId xmlns:a16="http://schemas.microsoft.com/office/drawing/2014/main" id="{F555DFDA-BE80-4C85-8943-B45B45444DB4}"/>
              </a:ext>
            </a:extLst>
          </p:cNvPr>
          <p:cNvSpPr>
            <a:spLocks xmlns:a="http://schemas.openxmlformats.org/drawingml/2006/main" noGrp="1"/>
          </p:cNvSpPr>
          <p:nvPr/>
        </p:nvSpPr>
        <p:spPr>
          <a:xfrm xmlns:a="http://schemas.openxmlformats.org/drawingml/2006/main">
            <a:off x="5238750" y="3962400"/>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05  Cập nhật model</a:t>
            </a:r>
          </a:p>
        </p:txBody>
      </p:sp>
      <p:sp>
        <p:nvSpPr>
          <p:cNvPr id="21" name="content">
            <a:extLst xmlns:a="http://schemas.openxmlformats.org/drawingml/2006/main">
              <a:ext uri="{FF2B5EF4-FFF2-40B4-BE49-F238E27FC236}">
                <a16:creationId xmlns:a16="http://schemas.microsoft.com/office/drawing/2014/main" id="{D4123089-32AA-4B87-928A-1AA16212D8F9}"/>
              </a:ext>
            </a:extLst>
          </p:cNvPr>
          <p:cNvSpPr>
            <a:spLocks xmlns:a="http://schemas.openxmlformats.org/drawingml/2006/main" noGrp="1"/>
          </p:cNvSpPr>
          <p:nvPr/>
        </p:nvSpPr>
        <p:spPr>
          <a:xfrm xmlns:a="http://schemas.openxmlformats.org/drawingml/2006/main">
            <a:off x="5238750" y="4257675"/>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Recipe xác định, có replay</a:t>
            </a:r>
          </a:p>
        </p:txBody>
      </p:sp>
      <p:sp>
        <p:nvSpPr>
          <p:cNvPr id="22" name="content">
            <a:extLst xmlns:a="http://schemas.openxmlformats.org/drawingml/2006/main">
              <a:ext uri="{FF2B5EF4-FFF2-40B4-BE49-F238E27FC236}">
                <a16:creationId xmlns:a16="http://schemas.microsoft.com/office/drawing/2014/main" id="{831E9957-729C-42B5-8EBC-DFA81E602127}"/>
              </a:ext>
            </a:extLst>
          </p:cNvPr>
          <p:cNvSpPr>
            <a:spLocks xmlns:a="http://schemas.openxmlformats.org/drawingml/2006/main" noGrp="1"/>
          </p:cNvSpPr>
          <p:nvPr/>
        </p:nvSpPr>
        <p:spPr>
          <a:xfrm xmlns:a="http://schemas.openxmlformats.org/drawingml/2006/main">
            <a:off x="5238750" y="4562475"/>
            <a:ext cx="6419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878B"/>
                </a:solidFill>
                <a:latin typeface="Arial"/>
                <a:ea typeface="Arial"/>
                <a:cs typeface="Arial"/>
              </a:defRPr>
            </a:defPPr>
          </a:lstStyle>
          <a:p xmlns:a="http://schemas.openxmlformats.org/drawingml/2006/main">
            <a:pPr>
              <a:buNone/>
              <a:defRPr sz="2025" b="1">
                <a:solidFill>
                  <a:srgbClr val="00878B"/>
                </a:solidFill>
                <a:latin typeface="Arial"/>
                <a:ea typeface="Arial"/>
                <a:cs typeface="Arial"/>
              </a:defRPr>
            </a:pPr>
            <a:r>
              <a:rPr sz="2025" b="1">
                <a:solidFill>
                  <a:srgbClr val="00878B"/>
                </a:solidFill>
                <a:latin typeface="Arial"/>
                <a:ea typeface="Arial"/>
                <a:cs typeface="Arial"/>
              </a:rPr>
              <a:t>06  Đo và quyết định</a:t>
            </a:r>
          </a:p>
        </p:txBody>
      </p:sp>
      <p:sp>
        <p:nvSpPr>
          <p:cNvPr id="23" name="content">
            <a:extLst xmlns:a="http://schemas.openxmlformats.org/drawingml/2006/main">
              <a:ext uri="{FF2B5EF4-FFF2-40B4-BE49-F238E27FC236}">
                <a16:creationId xmlns:a16="http://schemas.microsoft.com/office/drawing/2014/main" id="{190452E4-571F-46CD-9CE7-73774D05F163}"/>
              </a:ext>
            </a:extLst>
          </p:cNvPr>
          <p:cNvSpPr>
            <a:spLocks xmlns:a="http://schemas.openxmlformats.org/drawingml/2006/main" noGrp="1"/>
          </p:cNvSpPr>
          <p:nvPr/>
        </p:nvSpPr>
        <p:spPr>
          <a:xfrm xmlns:a="http://schemas.openxmlformats.org/drawingml/2006/main">
            <a:off x="5238750" y="4857750"/>
            <a:ext cx="6419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Gain / no-gain, regression, tổng công</a:t>
            </a:r>
          </a:p>
        </p:txBody>
      </p:sp>
      <p:sp>
        <p:nvSpPr>
          <p:cNvPr id="24" name="content">
            <a:extLst xmlns:a="http://schemas.openxmlformats.org/drawingml/2006/main">
              <a:ext uri="{FF2B5EF4-FFF2-40B4-BE49-F238E27FC236}">
                <a16:creationId xmlns:a16="http://schemas.microsoft.com/office/drawing/2014/main" id="{658708D9-0739-47FB-A3BC-AE7A6ED8B67B}"/>
              </a:ext>
            </a:extLst>
          </p:cNvPr>
          <p:cNvSpPr>
            <a:spLocks xmlns:a="http://schemas.openxmlformats.org/drawingml/2006/main" noGrp="1"/>
          </p:cNvSpPr>
          <p:nvPr/>
        </p:nvSpPr>
        <p:spPr>
          <a:xfrm xmlns:a="http://schemas.openxmlformats.org/drawingml/2006/main">
            <a:off x="5238750" y="5381625"/>
            <a:ext cx="64198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0878B"/>
                </a:solidFill>
                <a:latin typeface="Arial"/>
                <a:ea typeface="Arial"/>
                <a:cs typeface="Arial"/>
              </a:defRPr>
            </a:defPPr>
          </a:lstStyle>
          <a:p xmlns:a="http://schemas.openxmlformats.org/drawingml/2006/main">
            <a:pPr>
              <a:buNone/>
              <a:defRPr sz="2025" b="1">
                <a:solidFill>
                  <a:srgbClr val="00878B"/>
                </a:solidFill>
                <a:latin typeface="Arial"/>
                <a:ea typeface="Arial"/>
                <a:cs typeface="Arial"/>
              </a:defRPr>
            </a:pPr>
            <a:r>
              <a:rPr sz="2025" b="1">
                <a:solidFill>
                  <a:srgbClr val="00878B"/>
                </a:solidFill>
                <a:latin typeface="Arial"/>
                <a:ea typeface="Arial"/>
                <a:cs typeface="Arial"/>
              </a:rPr>
              <a:t>Kết quả vòng này quyết định dữ liệu vòng sau</a:t>
            </a:r>
          </a:p>
        </p:txBody>
      </p:sp>
      <p:sp>
        <p:nvSpPr>
          <p:cNvPr id="25" name="content">
            <a:extLst xmlns:a="http://schemas.openxmlformats.org/drawingml/2006/main">
              <a:ext uri="{FF2B5EF4-FFF2-40B4-BE49-F238E27FC236}">
                <a16:creationId xmlns:a16="http://schemas.microsoft.com/office/drawing/2014/main" id="{2B5A6097-25E6-4487-8AA7-ACA6A9878B4E}"/>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06 / 24</a:t>
            </a:r>
          </a:p>
        </p:txBody>
      </p:sp>
    </p:spTree>
    <p:extLst>
      <p:ext uri="{BB962C8B-B14F-4D97-AF65-F5344CB8AC3E}">
        <p14:creationId xmlns:p14="http://schemas.microsoft.com/office/powerpoint/2010/main" val="4191444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0D4835B4-D36A-4E96-9C32-A9A923C5EDA6}"/>
              </a:ext>
            </a:extLst>
          </p:cNvPr>
          <p:cNvPicPr>
            <a:picLocks xmlns:a="http://schemas.openxmlformats.org/drawingml/2006/main" noChangeAspect="1"/>
          </p:cNvPicPr>
          <p:nvPr/>
        </p:nvPicPr>
        <p:blipFill>
          <a:blip xmlns:r="http://schemas.openxmlformats.org/officeDocument/2006/relationships" xmlns:a="http://schemas.openxmlformats.org/drawingml/2006/main" r:embed="R13e65caf449b4036"/>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Model Engine Core</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Public-data pilot: RoboCasa / GR1</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FluxVLA hỗ trợ train, eval và robot deployment. Robot BTC cần profile tương thích; native của đội chưa chạy.</a:t>
            </a:r>
          </a:p>
        </p:txBody>
      </p:sp>
      <p:pic>
        <p:nvPicPr>
          <p:cNvPr id="11" name="">
            <a:extLst xmlns:a="http://schemas.openxmlformats.org/drawingml/2006/main">
              <a:ext uri="{FF2B5EF4-FFF2-40B4-BE49-F238E27FC236}">
                <a16:creationId xmlns:a16="http://schemas.microsoft.com/office/drawing/2014/main" id="{E46319D0-325C-4E5D-98EC-C866F86CC29D}"/>
              </a:ext>
            </a:extLst>
          </p:cNvPr>
          <p:cNvPicPr>
            <a:picLocks xmlns:a="http://schemas.openxmlformats.org/drawingml/2006/main" noChangeAspect="1"/>
          </p:cNvPicPr>
          <p:nvPr/>
        </p:nvPicPr>
        <p:blipFill>
          <a:blip xmlns:r="http://schemas.openxmlformats.org/officeDocument/2006/relationships" xmlns:a="http://schemas.openxmlformats.org/drawingml/2006/main" r:embed="R9caf182bd0a3463a"/>
          <a:stretch xmlns:a="http://schemas.openxmlformats.org/drawingml/2006/main"/>
        </p:blipFill>
        <p:spPr>
          <a:xfrm xmlns:a="http://schemas.openxmlformats.org/drawingml/2006/main">
            <a:off x="1419003" y="1524000"/>
            <a:ext cx="9353993" cy="39433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75627EB-D5E8-4F11-8EA1-EC0422052BED}"/>
              </a:ext>
            </a:extLst>
          </p:cNvPr>
          <p:cNvSpPr>
            <a:spLocks xmlns:a="http://schemas.openxmlformats.org/drawingml/2006/main" noGrp="1"/>
          </p:cNvSpPr>
          <p:nvPr/>
        </p:nvSpPr>
        <p:spPr>
          <a:xfrm xmlns:a="http://schemas.openxmlformats.org/drawingml/2006/main">
            <a:off x="533400" y="5562600"/>
            <a:ext cx="1112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53251"/>
                </a:solidFill>
                <a:latin typeface="Arial"/>
                <a:ea typeface="Arial"/>
                <a:cs typeface="Arial"/>
              </a:defRPr>
            </a:defPPr>
          </a:lstStyle>
          <a:p xmlns:a="http://schemas.openxmlformats.org/drawingml/2006/main">
            <a:pPr>
              <a:buNone/>
              <a:defRPr sz="1800" b="1">
                <a:solidFill>
                  <a:srgbClr val="153251"/>
                </a:solidFill>
                <a:latin typeface="Arial"/>
                <a:ea typeface="Arial"/>
                <a:cs typeface="Arial"/>
              </a:defRPr>
            </a:pPr>
            <a:r>
              <a:rPr sz="1800" b="1">
                <a:solidFill>
                  <a:srgbClr val="153251"/>
                </a:solidFill>
                <a:latin typeface="Arial"/>
                <a:ea typeface="Arial"/>
                <a:cs typeface="Arial"/>
              </a:rPr>
              <a:t>Framework: FluxVLA     Policy nền: GR00T N1.5     Môi trường đầu: RoboCasa / GR1</a:t>
            </a:r>
          </a:p>
        </p:txBody>
      </p:sp>
      <p:sp>
        <p:nvSpPr>
          <p:cNvPr id="14" name="">
            <a:extLst xmlns:a="http://schemas.openxmlformats.org/drawingml/2006/main">
              <a:ext uri="{FF2B5EF4-FFF2-40B4-BE49-F238E27FC236}">
                <a16:creationId xmlns:a16="http://schemas.microsoft.com/office/drawing/2014/main" id="{C5143C73-CDA8-4609-8449-3C6E92DFC51D}"/>
              </a:ext>
            </a:extLst>
          </p:cNvPr>
          <p:cNvSpPr>
            <a:spLocks xmlns:a="http://schemas.openxmlformats.org/drawingml/2006/main" noGrp="1"/>
          </p:cNvSpPr>
          <p:nvPr/>
        </p:nvSpPr>
        <p:spPr>
          <a:xfrm xmlns:a="http://schemas.openxmlformats.org/drawingml/2006/main">
            <a:off x="533400" y="1362075"/>
            <a:ext cx="11125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4B637B"/>
                </a:solidFill>
                <a:latin typeface="Arial"/>
                <a:ea typeface="Arial"/>
                <a:cs typeface="Arial"/>
              </a:defRPr>
            </a:defPPr>
          </a:lstStyle>
          <a:p xmlns:a="http://schemas.openxmlformats.org/drawingml/2006/main">
            <a:pPr>
              <a:buNone/>
              <a:defRPr sz="1125" b="0">
                <a:solidFill>
                  <a:srgbClr val="4B637B"/>
                </a:solidFill>
                <a:latin typeface="Arial"/>
                <a:ea typeface="Arial"/>
                <a:cs typeface="Arial"/>
              </a:defRPr>
            </a:pPr>
            <a:r>
              <a:rPr sz="1125" b="0">
                <a:solidFill>
                  <a:srgbClr val="4B637B"/>
                </a:solidFill>
                <a:latin typeface="Arial"/>
                <a:ea typeface="Arial"/>
                <a:cs typeface="Arial"/>
              </a:rPr>
              <a:t>Li và cộng sự, FluxVLA Figure 1 (2026), CC BY 4.0. Benchmarks trong hình là của tác giả.</a:t>
            </a:r>
          </a:p>
        </p:txBody>
      </p:sp>
      <p:sp>
        <p:nvSpPr>
          <p:cNvPr id="15" name="content">
            <a:extLst xmlns:a="http://schemas.openxmlformats.org/drawingml/2006/main">
              <a:ext uri="{FF2B5EF4-FFF2-40B4-BE49-F238E27FC236}">
                <a16:creationId xmlns:a16="http://schemas.microsoft.com/office/drawing/2014/main" id="{A3788E87-AE15-43B9-93E3-1258E38C881D}"/>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07 / 24</a:t>
            </a:r>
          </a:p>
        </p:txBody>
      </p:sp>
    </p:spTree>
    <p:extLst>
      <p:ext uri="{BB962C8B-B14F-4D97-AF65-F5344CB8AC3E}">
        <p14:creationId xmlns:p14="http://schemas.microsoft.com/office/powerpoint/2010/main" val="419144437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083C02E9-253C-463F-8E8F-883D19A18A54}"/>
              </a:ext>
            </a:extLst>
          </p:cNvPr>
          <p:cNvPicPr>
            <a:picLocks xmlns:a="http://schemas.openxmlformats.org/drawingml/2006/main" noChangeAspect="1"/>
          </p:cNvPicPr>
          <p:nvPr/>
        </p:nvPicPr>
        <p:blipFill>
          <a:blip xmlns:r="http://schemas.openxmlformats.org/officeDocument/2006/relationships" xmlns:a="http://schemas.openxmlformats.org/drawingml/2006/main" r:embed="Re563c3f8bfba4230"/>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Dữ liệu đi vào Model AI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PoC 30 ngày: data public trước</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Ưu tiên ACT/adapters, backbone frozen khi hỗ trợ. Phải kiểm modules, gradients và VRAM; chưa recipe đã chạy.</a:t>
            </a:r>
          </a:p>
        </p:txBody>
      </p:sp>
      <p:sp>
        <p:nvSpPr>
          <p:cNvPr id="11" name="content">
            <a:extLst xmlns:a="http://schemas.openxmlformats.org/drawingml/2006/main">
              <a:ext uri="{FF2B5EF4-FFF2-40B4-BE49-F238E27FC236}">
                <a16:creationId xmlns:a16="http://schemas.microsoft.com/office/drawing/2014/main" id="{B1481B0F-33EE-40CF-A124-D845651C9932}"/>
              </a:ext>
            </a:extLst>
          </p:cNvPr>
          <p:cNvSpPr>
            <a:spLocks xmlns:a="http://schemas.openxmlformats.org/drawingml/2006/main" noGrp="1"/>
          </p:cNvSpPr>
          <p:nvPr/>
        </p:nvSpPr>
        <p:spPr>
          <a:xfrm xmlns:a="http://schemas.openxmlformats.org/drawingml/2006/main">
            <a:off x="533400" y="1600200"/>
            <a:ext cx="11125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73451"/>
                </a:solidFill>
                <a:latin typeface="Arial"/>
                <a:ea typeface="Arial"/>
                <a:cs typeface="Arial"/>
              </a:defRPr>
            </a:defPPr>
          </a:lstStyle>
          <a:p xmlns:a="http://schemas.openxmlformats.org/drawingml/2006/main">
            <a:pPr>
              <a:buNone/>
              <a:defRPr sz="2025" b="1">
                <a:solidFill>
                  <a:srgbClr val="173451"/>
                </a:solidFill>
                <a:latin typeface="Arial"/>
                <a:ea typeface="Arial"/>
                <a:cs typeface="Arial"/>
              </a:defRPr>
            </a:pPr>
            <a:r>
              <a:rPr sz="2025" b="1">
                <a:solidFill>
                  <a:srgbClr val="173451"/>
                </a:solidFill>
                <a:latin typeface="Arial"/>
                <a:ea typeface="Arial"/>
                <a:cs typeface="Arial"/>
              </a:rPr>
              <a:t>Public task đúng nhãn trước. Real data đúng robot BTC sau.</a:t>
            </a:r>
          </a:p>
        </p:txBody>
      </p:sp>
      <p:sp>
        <p:nvSpPr>
          <p:cNvPr id="12" name="content">
            <a:extLst xmlns:a="http://schemas.openxmlformats.org/drawingml/2006/main">
              <a:ext uri="{FF2B5EF4-FFF2-40B4-BE49-F238E27FC236}">
                <a16:creationId xmlns:a16="http://schemas.microsoft.com/office/drawing/2014/main" id="{9664BE57-0DF7-45E8-858E-17B9BDA8EF7D}"/>
              </a:ext>
            </a:extLst>
          </p:cNvPr>
          <p:cNvSpPr>
            <a:spLocks xmlns:a="http://schemas.openxmlformats.org/drawingml/2006/main" noGrp="1"/>
          </p:cNvSpPr>
          <p:nvPr/>
        </p:nvSpPr>
        <p:spPr>
          <a:xfrm xmlns:a="http://schemas.openxmlformats.org/drawingml/2006/main">
            <a:off x="5334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01  Episode</a:t>
            </a:r>
          </a:p>
        </p:txBody>
      </p:sp>
      <p:sp>
        <p:nvSpPr>
          <p:cNvPr id="13" name="content">
            <a:extLst xmlns:a="http://schemas.openxmlformats.org/drawingml/2006/main">
              <a:ext uri="{FF2B5EF4-FFF2-40B4-BE49-F238E27FC236}">
                <a16:creationId xmlns:a16="http://schemas.microsoft.com/office/drawing/2014/main" id="{CE80CB13-2175-4D61-B708-C759F19A2AF2}"/>
              </a:ext>
            </a:extLst>
          </p:cNvPr>
          <p:cNvSpPr>
            <a:spLocks xmlns:a="http://schemas.openxmlformats.org/drawingml/2006/main" noGrp="1"/>
          </p:cNvSpPr>
          <p:nvPr/>
        </p:nvSpPr>
        <p:spPr>
          <a:xfrm xmlns:a="http://schemas.openxmlformats.org/drawingml/2006/main">
            <a:off x="5334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73451"/>
                </a:solidFill>
                <a:latin typeface="Arial"/>
                <a:ea typeface="Arial"/>
                <a:cs typeface="Arial"/>
              </a:defRPr>
            </a:defPPr>
          </a:lstStyle>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RGB trong MP4</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State / action trong Parquet</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Instruction và metadata</a:t>
            </a:r>
          </a:p>
        </p:txBody>
      </p:sp>
      <p:sp>
        <p:nvSpPr>
          <p:cNvPr id="14" name="content">
            <a:extLst xmlns:a="http://schemas.openxmlformats.org/drawingml/2006/main">
              <a:ext uri="{FF2B5EF4-FFF2-40B4-BE49-F238E27FC236}">
                <a16:creationId xmlns:a16="http://schemas.microsoft.com/office/drawing/2014/main" id="{01E9ACF5-F402-48C0-AD7C-4E2C0AB7597B}"/>
              </a:ext>
            </a:extLst>
          </p:cNvPr>
          <p:cNvSpPr>
            <a:spLocks xmlns:a="http://schemas.openxmlformats.org/drawingml/2006/main" noGrp="1"/>
          </p:cNvSpPr>
          <p:nvPr/>
        </p:nvSpPr>
        <p:spPr>
          <a:xfrm xmlns:a="http://schemas.openxmlformats.org/drawingml/2006/main">
            <a:off x="33909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02  Model batch</a:t>
            </a:r>
          </a:p>
        </p:txBody>
      </p:sp>
      <p:sp>
        <p:nvSpPr>
          <p:cNvPr id="15" name="content">
            <a:extLst xmlns:a="http://schemas.openxmlformats.org/drawingml/2006/main">
              <a:ext uri="{FF2B5EF4-FFF2-40B4-BE49-F238E27FC236}">
                <a16:creationId xmlns:a16="http://schemas.microsoft.com/office/drawing/2014/main" id="{A1A95A7B-B943-4501-86DA-DD160351D211}"/>
              </a:ext>
            </a:extLst>
          </p:cNvPr>
          <p:cNvSpPr>
            <a:spLocks xmlns:a="http://schemas.openxmlformats.org/drawingml/2006/main" noGrp="1"/>
          </p:cNvSpPr>
          <p:nvPr/>
        </p:nvSpPr>
        <p:spPr>
          <a:xfrm xmlns:a="http://schemas.openxmlformats.org/drawingml/2006/main">
            <a:off x="33909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73451"/>
                </a:solidFill>
                <a:latin typeface="Arial"/>
                <a:ea typeface="Arial"/>
                <a:cs typeface="Arial"/>
              </a:defRPr>
            </a:defPPr>
          </a:lstStyle>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Frames và text tokens</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State theo đúng profile</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Future action chunks + masks</a:t>
            </a:r>
          </a:p>
        </p:txBody>
      </p:sp>
      <p:sp>
        <p:nvSpPr>
          <p:cNvPr id="16" name="content">
            <a:extLst xmlns:a="http://schemas.openxmlformats.org/drawingml/2006/main">
              <a:ext uri="{FF2B5EF4-FFF2-40B4-BE49-F238E27FC236}">
                <a16:creationId xmlns:a16="http://schemas.microsoft.com/office/drawing/2014/main" id="{D0A2A7CC-5C8B-4216-B3DD-A3D2D1DCB45F}"/>
              </a:ext>
            </a:extLst>
          </p:cNvPr>
          <p:cNvSpPr>
            <a:spLocks xmlns:a="http://schemas.openxmlformats.org/drawingml/2006/main" noGrp="1"/>
          </p:cNvSpPr>
          <p:nvPr/>
        </p:nvSpPr>
        <p:spPr>
          <a:xfrm xmlns:a="http://schemas.openxmlformats.org/drawingml/2006/main">
            <a:off x="62484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03  Model và loss</a:t>
            </a:r>
          </a:p>
        </p:txBody>
      </p:sp>
      <p:sp>
        <p:nvSpPr>
          <p:cNvPr id="17" name="content">
            <a:extLst xmlns:a="http://schemas.openxmlformats.org/drawingml/2006/main">
              <a:ext uri="{FF2B5EF4-FFF2-40B4-BE49-F238E27FC236}">
                <a16:creationId xmlns:a16="http://schemas.microsoft.com/office/drawing/2014/main" id="{5971CCE3-AFD2-4CEE-9101-B50C7812B5BF}"/>
              </a:ext>
            </a:extLst>
          </p:cNvPr>
          <p:cNvSpPr>
            <a:spLocks xmlns:a="http://schemas.openxmlformats.org/drawingml/2006/main" noGrp="1"/>
          </p:cNvSpPr>
          <p:nvPr/>
        </p:nvSpPr>
        <p:spPr>
          <a:xfrm xmlns:a="http://schemas.openxmlformats.org/drawingml/2006/main">
            <a:off x="62484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173451"/>
                </a:solidFill>
                <a:latin typeface="Arial"/>
                <a:ea typeface="Arial"/>
                <a:cs typeface="Arial"/>
              </a:defRPr>
            </a:defPPr>
          </a:lstStyle>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Eagle mã hóa ảnh / text</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DiT: features, state,</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action nhiễu và time</a:t>
            </a:r>
          </a:p>
          <a:p xmlns:a="http://schemas.openxmlformats.org/drawingml/2006/main">
            <a:pPr>
              <a:buNone/>
              <a:defRPr sz="1875" b="0">
                <a:solidFill>
                  <a:srgbClr val="173451"/>
                </a:solidFill>
                <a:latin typeface="Arial"/>
                <a:ea typeface="Arial"/>
                <a:cs typeface="Arial"/>
              </a:defRPr>
            </a:pPr>
            <a:r>
              <a:rPr sz="1875" b="0">
                <a:solidFill>
                  <a:srgbClr val="173451"/>
                </a:solidFill>
                <a:latin typeface="Arial"/>
                <a:ea typeface="Arial"/>
                <a:cs typeface="Arial"/>
              </a:rPr>
              <a:t>Flow velocity action loss</a:t>
            </a:r>
          </a:p>
        </p:txBody>
      </p:sp>
      <p:sp>
        <p:nvSpPr>
          <p:cNvPr id="18" name="content">
            <a:extLst xmlns:a="http://schemas.openxmlformats.org/drawingml/2006/main">
              <a:ext uri="{FF2B5EF4-FFF2-40B4-BE49-F238E27FC236}">
                <a16:creationId xmlns:a16="http://schemas.microsoft.com/office/drawing/2014/main" id="{F0398503-CF9A-42F1-9AB8-4F89672B6E9D}"/>
              </a:ext>
            </a:extLst>
          </p:cNvPr>
          <p:cNvSpPr>
            <a:spLocks xmlns:a="http://schemas.openxmlformats.org/drawingml/2006/main" noGrp="1"/>
          </p:cNvSpPr>
          <p:nvPr/>
        </p:nvSpPr>
        <p:spPr>
          <a:xfrm xmlns:a="http://schemas.openxmlformats.org/drawingml/2006/main">
            <a:off x="9105900" y="2543175"/>
            <a:ext cx="257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1">
                <a:solidFill>
                  <a:srgbClr val="00878B"/>
                </a:solidFill>
                <a:latin typeface="Arial"/>
                <a:ea typeface="Arial"/>
                <a:cs typeface="Arial"/>
              </a:defRPr>
            </a:defPPr>
          </a:lstStyle>
          <a:p xmlns:a="http://schemas.openxmlformats.org/drawingml/2006/main">
            <a:pPr>
              <a:buNone/>
              <a:defRPr sz="1725" b="1">
                <a:solidFill>
                  <a:srgbClr val="00878B"/>
                </a:solidFill>
                <a:latin typeface="Arial"/>
                <a:ea typeface="Arial"/>
                <a:cs typeface="Arial"/>
              </a:defRPr>
            </a:pPr>
            <a:r>
              <a:rPr sz="1725" b="1">
                <a:solidFill>
                  <a:srgbClr val="00878B"/>
                </a:solidFill>
                <a:latin typeface="Arial"/>
                <a:ea typeface="Arial"/>
                <a:cs typeface="Arial"/>
              </a:rPr>
              <a:t>04  Cập nhật</a:t>
            </a:r>
          </a:p>
        </p:txBody>
      </p:sp>
      <p:sp>
        <p:nvSpPr>
          <p:cNvPr id="19" name="content">
            <a:extLst xmlns:a="http://schemas.openxmlformats.org/drawingml/2006/main">
              <a:ext uri="{FF2B5EF4-FFF2-40B4-BE49-F238E27FC236}">
                <a16:creationId xmlns:a16="http://schemas.microsoft.com/office/drawing/2014/main" id="{5D0567F6-46A1-4403-A488-01B573DCE506}"/>
              </a:ext>
            </a:extLst>
          </p:cNvPr>
          <p:cNvSpPr>
            <a:spLocks xmlns:a="http://schemas.openxmlformats.org/drawingml/2006/main" noGrp="1"/>
          </p:cNvSpPr>
          <p:nvPr/>
        </p:nvSpPr>
        <p:spPr>
          <a:xfrm xmlns:a="http://schemas.openxmlformats.org/drawingml/2006/main">
            <a:off x="9105900" y="3209925"/>
            <a:ext cx="257175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73451"/>
                </a:solidFill>
                <a:latin typeface="Arial"/>
                <a:ea typeface="Arial"/>
                <a:cs typeface="Arial"/>
              </a:defRPr>
            </a:defPPr>
          </a:lstStyle>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ACT / adapters theo recipe</a:t>
            </a:r>
          </a:p>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Backbone frozen nếu hỗ trợ</a:t>
            </a:r>
          </a:p>
          <a:p xmlns:a="http://schemas.openxmlformats.org/drawingml/2006/main">
            <a:pPr>
              <a:buNone/>
              <a:defRPr sz="1725" b="0">
                <a:solidFill>
                  <a:srgbClr val="173451"/>
                </a:solidFill>
                <a:latin typeface="Arial"/>
                <a:ea typeface="Arial"/>
                <a:cs typeface="Arial"/>
              </a:defRPr>
            </a:pPr>
            <a:r>
              <a:rPr sz="1725" b="0">
                <a:solidFill>
                  <a:srgbClr val="173451"/>
                </a:solidFill>
                <a:latin typeface="Arial"/>
                <a:ea typeface="Arial"/>
                <a:cs typeface="Arial"/>
              </a:rPr>
              <a:t>Checkpoint + stats + config</a:t>
            </a:r>
          </a:p>
        </p:txBody>
      </p:sp>
      <p:sp>
        <p:nvSpPr>
          <p:cNvPr id="20" name="content">
            <a:extLst xmlns:a="http://schemas.openxmlformats.org/drawingml/2006/main">
              <a:ext uri="{FF2B5EF4-FFF2-40B4-BE49-F238E27FC236}">
                <a16:creationId xmlns:a16="http://schemas.microsoft.com/office/drawing/2014/main" id="{78D0FAA8-5BA2-4832-A36D-805FAE74B010}"/>
              </a:ext>
            </a:extLst>
          </p:cNvPr>
          <p:cNvSpPr>
            <a:spLocks xmlns:a="http://schemas.openxmlformats.org/drawingml/2006/main" noGrp="1"/>
          </p:cNvSpPr>
          <p:nvPr/>
        </p:nvSpPr>
        <p:spPr>
          <a:xfrm xmlns:a="http://schemas.openxmlformats.org/drawingml/2006/main">
            <a:off x="533400" y="53244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173451"/>
                </a:solidFill>
                <a:latin typeface="Arial"/>
                <a:ea typeface="Arial"/>
                <a:cs typeface="Arial"/>
              </a:defRPr>
            </a:defPPr>
          </a:lstStyle>
          <a:p xmlns:a="http://schemas.openxmlformats.org/drawingml/2006/main">
            <a:pPr>
              <a:buNone/>
              <a:defRPr sz="1875" b="1">
                <a:solidFill>
                  <a:srgbClr val="173451"/>
                </a:solidFill>
                <a:latin typeface="Arial"/>
                <a:ea typeface="Arial"/>
                <a:cs typeface="Arial"/>
              </a:defRPr>
            </a:pPr>
            <a:r>
              <a:rPr sz="1875" b="1">
                <a:solidFill>
                  <a:srgbClr val="173451"/>
                </a:solidFill>
                <a:latin typeface="Arial"/>
                <a:ea typeface="Arial"/>
                <a:cs typeface="Arial"/>
              </a:rPr>
              <a:t>Baseline và candidate cùng recipe. Đo full-task sau update và reload.</a:t>
            </a:r>
          </a:p>
        </p:txBody>
      </p:sp>
      <p:sp>
        <p:nvSpPr>
          <p:cNvPr id="21" name="content">
            <a:extLst xmlns:a="http://schemas.openxmlformats.org/drawingml/2006/main">
              <a:ext uri="{FF2B5EF4-FFF2-40B4-BE49-F238E27FC236}">
                <a16:creationId xmlns:a16="http://schemas.microsoft.com/office/drawing/2014/main" id="{5EED0C0B-6B58-4AE0-96D2-14652F444475}"/>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08 / 24</a:t>
            </a:r>
          </a:p>
        </p:txBody>
      </p:sp>
    </p:spTree>
    <p:extLst>
      <p:ext uri="{BB962C8B-B14F-4D97-AF65-F5344CB8AC3E}">
        <p14:creationId xmlns:p14="http://schemas.microsoft.com/office/powerpoint/2010/main" val="419144437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7DBD9320-38CB-48A8-9238-7E78D48B141D}"/>
              </a:ext>
            </a:extLst>
          </p:cNvPr>
          <p:cNvPicPr>
            <a:picLocks xmlns:a="http://schemas.openxmlformats.org/drawingml/2006/main" noChangeAspect="1"/>
          </p:cNvPicPr>
          <p:nvPr/>
        </p:nvPicPr>
        <p:blipFill>
          <a:blip xmlns:r="http://schemas.openxmlformats.org/officeDocument/2006/relationships" xmlns:a="http://schemas.openxmlformats.org/drawingml/2006/main" r:embed="Rfaacff6623384f7b"/>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Ví dụ chọn dữ liệu cho A1</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Data Core và Model Engine</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Ví dụ có điều kiện, chưa phải kết quả đo. Logs thất bại giữ làm evidence, chưa dùng làm positive BC.</a:t>
            </a:r>
          </a:p>
        </p:txBody>
      </p:sp>
      <p:sp>
        <p:nvSpPr>
          <p:cNvPr id="11" name="content">
            <a:extLst xmlns:a="http://schemas.openxmlformats.org/drawingml/2006/main">
              <a:ext uri="{FF2B5EF4-FFF2-40B4-BE49-F238E27FC236}">
                <a16:creationId xmlns:a16="http://schemas.microsoft.com/office/drawing/2014/main" id="{EF717C0C-FA50-404C-82F3-693D194E4023}"/>
              </a:ext>
            </a:extLst>
          </p:cNvPr>
          <p:cNvSpPr>
            <a:spLocks xmlns:a="http://schemas.openxmlformats.org/drawingml/2006/main" noGrp="1"/>
          </p:cNvSpPr>
          <p:nvPr/>
        </p:nvSpPr>
        <p:spPr>
          <a:xfrm xmlns:a="http://schemas.openxmlformats.org/drawingml/2006/main">
            <a:off x="533400" y="1600200"/>
            <a:ext cx="11125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1">
                <a:solidFill>
                  <a:srgbClr val="173451"/>
                </a:solidFill>
                <a:latin typeface="Arial"/>
                <a:ea typeface="Arial"/>
                <a:cs typeface="Arial"/>
              </a:defRPr>
            </a:defPPr>
          </a:lstStyle>
          <a:p xmlns:a="http://schemas.openxmlformats.org/drawingml/2006/main">
            <a:pPr>
              <a:buNone/>
              <a:defRPr sz="2475" b="1">
                <a:solidFill>
                  <a:srgbClr val="173451"/>
                </a:solidFill>
                <a:latin typeface="Arial"/>
                <a:ea typeface="Arial"/>
                <a:cs typeface="Arial"/>
              </a:defRPr>
            </a:pPr>
            <a:r>
              <a:rPr sz="2475" b="1">
                <a:solidFill>
                  <a:srgbClr val="173451"/>
                </a:solidFill>
                <a:latin typeface="Arial"/>
                <a:ea typeface="Arial"/>
                <a:cs typeface="Arial"/>
              </a:rPr>
              <a:t>Ví dụ giả định: thiếu pose gắp, đã có expert correction</a:t>
            </a:r>
          </a:p>
        </p:txBody>
      </p:sp>
      <p:graphicFrame>
        <p:nvGraphicFramePr>
          <p:cNvPr id="12" name="">
            <a:extLst xmlns:a="http://schemas.openxmlformats.org/drawingml/2006/main">
              <a:ext uri="{FF2B5EF4-FFF2-40B4-BE49-F238E27FC236}">
                <a16:creationId xmlns:a16="http://schemas.microsoft.com/office/drawing/2014/main" id="{5E5A7033-B9E2-4AFA-84FC-FEC8C5A4D123}"/>
              </a:ext>
            </a:extLst>
          </p:cNvPr>
          <p:cNvGraphicFramePr/>
          <p:nvPr/>
        </p:nvGraphicFramePr>
        <p:xfrm>
          <a:off xmlns:a="http://schemas.openxmlformats.org/drawingml/2006/main" x="533400" y="2514600"/>
          <a:ext xmlns:a="http://schemas.openxmlformats.org/drawingml/2006/main" cx="11125200" cy="2609850"/>
        </p:xfrm>
        <a:graphic xmlns:a="http://schemas.openxmlformats.org/drawingml/2006/main">
          <a:graphicData uri="http://schemas.openxmlformats.org/drawingml/2006/table">
            <a:tbl>
              <a:tblPr/>
              <a:tblGrid>
                <a:gridCol w="3238500"/>
                <a:gridCol w="7886700"/>
              </a:tblGrid>
              <a:tr h="521970">
                <a:tc>
                  <a:txBody>
                    <a:bodyPr/>
                    <a:lstStyle/>
                    <a:p>
                      <a:r>
                        <a:rPr sz="1800" b="1">
                          <a:solidFill>
                            <a:srgbClr val="FFFFFF"/>
                          </a:solidFill>
                          <a:latin typeface="Arial"/>
                          <a:ea typeface="Arial"/>
                          <a:cs typeface="Arial"/>
                        </a:rPr>
                        <a:t>Quyết định</a:t>
                      </a:r>
                    </a:p>
                  </a:txBody>
                  <a:tcPr marL="91440" marR="91440" marT="45720" marB="45720">
                    <a:solidFill>
                      <a:srgbClr val="173451"/>
                    </a:solidFill>
                  </a:tcPr>
                </a:tc>
                <a:tc>
                  <a:txBody>
                    <a:bodyPr/>
                    <a:lstStyle/>
                    <a:p>
                      <a:r>
                        <a:rPr sz="1800" b="1">
                          <a:solidFill>
                            <a:srgbClr val="FFFFFF"/>
                          </a:solidFill>
                          <a:latin typeface="Arial"/>
                          <a:ea typeface="Arial"/>
                          <a:cs typeface="Arial"/>
                        </a:rPr>
                        <a:t>Lý do chọn và dữ liệu đi tiếp</a:t>
                      </a:r>
                    </a:p>
                  </a:txBody>
                  <a:tcPr marL="91440" marR="91440" marT="45720" marB="45720">
                    <a:solidFill>
                      <a:srgbClr val="173451"/>
                    </a:solidFill>
                  </a:tcPr>
                </a:tc>
              </a:tr>
              <a:tr h="521970">
                <a:tc>
                  <a:txBody>
                    <a:bodyPr/>
                    <a:lstStyle/>
                    <a:p>
                      <a:r>
                        <a:rPr sz="1800" b="0">
                          <a:solidFill>
                            <a:srgbClr val="173451"/>
                          </a:solidFill>
                          <a:latin typeface="Arial"/>
                          <a:ea typeface="Arial"/>
                          <a:cs typeface="Arial"/>
                        </a:rPr>
                        <a:t>Ưu tiên correction</a:t>
                      </a:r>
                    </a:p>
                  </a:txBody>
                  <a:tcPr marL="91440" marR="91440" marT="45720" marB="45720">
                    <a:solidFill>
                      <a:srgbClr val="FFFFFF"/>
                    </a:solidFill>
                  </a:tcPr>
                </a:tc>
                <a:tc>
                  <a:txBody>
                    <a:bodyPr/>
                    <a:lstStyle/>
                    <a:p>
                      <a:r>
                        <a:rPr sz="1800" b="0">
                          <a:solidFill>
                            <a:srgbClr val="173451"/>
                          </a:solidFill>
                          <a:latin typeface="Arial"/>
                          <a:ea typeface="Arial"/>
                          <a:cs typeface="Arial"/>
                        </a:rPr>
                        <a:t>Expert làm được cùng pose, lấy đoạn gắp–nâng–chuyển</a:t>
                      </a:r>
                    </a:p>
                  </a:txBody>
                  <a:tcPr marL="91440" marR="91440" marT="45720" marB="45720">
                    <a:solidFill>
                      <a:srgbClr val="FFFFFF"/>
                    </a:solidFill>
                  </a:tcPr>
                </a:tc>
              </a:tr>
              <a:tr h="521970">
                <a:tc>
                  <a:txBody>
                    <a:bodyPr/>
                    <a:lstStyle/>
                    <a:p>
                      <a:r>
                        <a:rPr sz="1800" b="0">
                          <a:solidFill>
                            <a:srgbClr val="173451"/>
                          </a:solidFill>
                          <a:latin typeface="Arial"/>
                          <a:ea typeface="Arial"/>
                          <a:cs typeface="Arial"/>
                        </a:rPr>
                        <a:t>Chưa chọn S_exec</a:t>
                      </a:r>
                    </a:p>
                  </a:txBody>
                  <a:tcPr marL="91440" marR="91440" marT="45720" marB="45720">
                    <a:solidFill>
                      <a:srgbClr val="FFFFFF"/>
                    </a:solidFill>
                  </a:tcPr>
                </a:tc>
                <a:tc>
                  <a:txBody>
                    <a:bodyPr/>
                    <a:lstStyle/>
                    <a:p>
                      <a:r>
                        <a:rPr sz="1800" b="0">
                          <a:solidFill>
                            <a:srgbClr val="173451"/>
                          </a:solidFill>
                          <a:latin typeface="Arial"/>
                          <a:ea typeface="Arial"/>
                          <a:cs typeface="Arial"/>
                        </a:rPr>
                        <a:t>Biến thể sim chưa qua kiểm contact và action labels</a:t>
                      </a:r>
                    </a:p>
                  </a:txBody>
                  <a:tcPr marL="91440" marR="91440" marT="45720" marB="45720">
                    <a:solidFill>
                      <a:srgbClr val="FFFFFF"/>
                    </a:solidFill>
                  </a:tcPr>
                </a:tc>
              </a:tr>
              <a:tr h="521970">
                <a:tc>
                  <a:txBody>
                    <a:bodyPr/>
                    <a:lstStyle/>
                    <a:p>
                      <a:r>
                        <a:rPr sz="1800" b="0">
                          <a:solidFill>
                            <a:srgbClr val="173451"/>
                          </a:solidFill>
                          <a:latin typeface="Arial"/>
                          <a:ea typeface="Arial"/>
                          <a:cs typeface="Arial"/>
                        </a:rPr>
                        <a:t>Release và huấn luyện</a:t>
                      </a:r>
                    </a:p>
                  </a:txBody>
                  <a:tcPr marL="91440" marR="91440" marT="45720" marB="45720">
                    <a:solidFill>
                      <a:srgbClr val="FFFFFF"/>
                    </a:solidFill>
                  </a:tcPr>
                </a:tc>
                <a:tc>
                  <a:txBody>
                    <a:bodyPr/>
                    <a:lstStyle/>
                    <a:p>
                      <a:r>
                        <a:rPr sz="1800" b="0">
                          <a:solidFill>
                            <a:srgbClr val="173451"/>
                          </a:solidFill>
                          <a:latin typeface="Arial"/>
                          <a:ea typeface="Arial"/>
                          <a:cs typeface="Arial"/>
                        </a:rPr>
                        <a:t>QA correction, giữ roots/splits, replay R, cập nhật theo recipe</a:t>
                      </a:r>
                    </a:p>
                  </a:txBody>
                  <a:tcPr marL="91440" marR="91440" marT="45720" marB="45720">
                    <a:solidFill>
                      <a:srgbClr val="FFFFFF"/>
                    </a:solidFill>
                  </a:tcPr>
                </a:tc>
              </a:tr>
              <a:tr h="521970">
                <a:tc>
                  <a:txBody>
                    <a:bodyPr/>
                    <a:lstStyle/>
                    <a:p>
                      <a:r>
                        <a:rPr sz="1800" b="0">
                          <a:solidFill>
                            <a:srgbClr val="173451"/>
                          </a:solidFill>
                          <a:latin typeface="Arial"/>
                          <a:ea typeface="Arial"/>
                          <a:cs typeface="Arial"/>
                        </a:rPr>
                        <a:t>Đo trên development</a:t>
                      </a:r>
                    </a:p>
                  </a:txBody>
                  <a:tcPr marL="91440" marR="91440" marT="45720" marB="45720">
                    <a:solidFill>
                      <a:srgbClr val="FFFFFF"/>
                    </a:solidFill>
                  </a:tcPr>
                </a:tc>
                <a:tc>
                  <a:txBody>
                    <a:bodyPr/>
                    <a:lstStyle/>
                    <a:p>
                      <a:r>
                        <a:rPr sz="1800" b="0">
                          <a:solidFill>
                            <a:srgbClr val="173451"/>
                          </a:solidFill>
                          <a:latin typeface="Arial"/>
                          <a:ea typeface="Arial"/>
                          <a:cs typeface="Arial"/>
                        </a:rPr>
                        <a:t>So baseline, kiểm regression, cộng công thu / QA / train / thử</a:t>
                      </a:r>
                    </a:p>
                  </a:txBody>
                  <a:tcPr marL="91440" marR="91440" marT="45720" marB="45720">
                    <a:solidFill>
                      <a:srgbClr val="FFFFFF"/>
                    </a:solidFill>
                  </a:tcPr>
                </a:tc>
              </a:tr>
            </a:tbl>
          </a:graphicData>
        </a:graphic>
      </p:graphicFrame>
      <p:sp>
        <p:nvSpPr>
          <p:cNvPr id="13" name="content">
            <a:extLst xmlns:a="http://schemas.openxmlformats.org/drawingml/2006/main">
              <a:ext uri="{FF2B5EF4-FFF2-40B4-BE49-F238E27FC236}">
                <a16:creationId xmlns:a16="http://schemas.microsoft.com/office/drawing/2014/main" id="{D513AC87-3807-4E06-96C2-EEE136F9F148}"/>
              </a:ext>
            </a:extLst>
          </p:cNvPr>
          <p:cNvSpPr>
            <a:spLocks xmlns:a="http://schemas.openxmlformats.org/drawingml/2006/main" noGrp="1"/>
          </p:cNvSpPr>
          <p:nvPr/>
        </p:nvSpPr>
        <p:spPr>
          <a:xfrm xmlns:a="http://schemas.openxmlformats.org/drawingml/2006/main">
            <a:off x="533400" y="53340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Không có lợi thì giữ baseline và đổi quyết định vòng tiếp theo</a:t>
            </a:r>
          </a:p>
        </p:txBody>
      </p:sp>
      <p:sp>
        <p:nvSpPr>
          <p:cNvPr id="14" name="content">
            <a:extLst xmlns:a="http://schemas.openxmlformats.org/drawingml/2006/main">
              <a:ext uri="{FF2B5EF4-FFF2-40B4-BE49-F238E27FC236}">
                <a16:creationId xmlns:a16="http://schemas.microsoft.com/office/drawing/2014/main" id="{0FFEBBF6-F7B6-4CDF-92D7-82C9F6185AF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09 / 24</a:t>
            </a:r>
          </a:p>
        </p:txBody>
      </p:sp>
    </p:spTree>
    <p:extLst>
      <p:ext uri="{BB962C8B-B14F-4D97-AF65-F5344CB8AC3E}">
        <p14:creationId xmlns:p14="http://schemas.microsoft.com/office/powerpoint/2010/main" val="41914443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4DA74C6E-DF88-4E53-8E8C-9B8C0A5BAEB9}"/>
              </a:ext>
            </a:extLst>
          </p:cNvPr>
          <p:cNvPicPr>
            <a:picLocks xmlns:a="http://schemas.openxmlformats.org/drawingml/2006/main" noChangeAspect="1"/>
          </p:cNvPicPr>
          <p:nvPr/>
        </p:nvPicPr>
        <p:blipFill>
          <a:blip xmlns:r="http://schemas.openxmlformats.org/officeDocument/2006/relationships" xmlns:a="http://schemas.openxmlformats.org/drawingml/2006/main" r:embed="R4bc6a45e49a342d4"/>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Inference và phản hồi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Đích PoC: inference trên robot thật</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Robot BTC chưa chốt. Public GR1 sim không tự chuyển sang robot khác; kiểm binding và adaptation riêng.</a:t>
            </a:r>
          </a:p>
        </p:txBody>
      </p:sp>
      <p:sp>
        <p:nvSpPr>
          <p:cNvPr id="11" name="content">
            <a:extLst xmlns:a="http://schemas.openxmlformats.org/drawingml/2006/main">
              <a:ext uri="{FF2B5EF4-FFF2-40B4-BE49-F238E27FC236}">
                <a16:creationId xmlns:a16="http://schemas.microsoft.com/office/drawing/2014/main" id="{6C9F1E4A-339E-4DA6-9B02-E4104AA3238A}"/>
              </a:ext>
            </a:extLst>
          </p:cNvPr>
          <p:cNvSpPr>
            <a:spLocks xmlns:a="http://schemas.openxmlformats.org/drawingml/2006/main" noGrp="1"/>
          </p:cNvSpPr>
          <p:nvPr/>
        </p:nvSpPr>
        <p:spPr>
          <a:xfrm xmlns:a="http://schemas.openxmlformats.org/drawingml/2006/main">
            <a:off x="533400" y="16002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3451"/>
                </a:solidFill>
                <a:latin typeface="Arial"/>
                <a:ea typeface="Arial"/>
                <a:cs typeface="Arial"/>
              </a:defRPr>
            </a:defPPr>
          </a:lstStyle>
          <a:p xmlns:a="http://schemas.openxmlformats.org/drawingml/2006/main">
            <a:pPr>
              <a:buNone/>
              <a:defRPr sz="2550" b="1">
                <a:solidFill>
                  <a:srgbClr val="173451"/>
                </a:solidFill>
                <a:latin typeface="Arial"/>
                <a:ea typeface="Arial"/>
                <a:cs typeface="Arial"/>
              </a:defRPr>
            </a:pPr>
            <a:r>
              <a:rPr sz="2550" b="1">
                <a:solidFill>
                  <a:srgbClr val="173451"/>
                </a:solidFill>
                <a:latin typeface="Arial"/>
                <a:ea typeface="Arial"/>
                <a:cs typeface="Arial"/>
              </a:rPr>
              <a:t>Checkpoint mới phải thể hiện lợi ích qua thực thi</a:t>
            </a:r>
          </a:p>
        </p:txBody>
      </p:sp>
      <p:graphicFrame>
        <p:nvGraphicFramePr>
          <p:cNvPr id="12" name="">
            <a:extLst xmlns:a="http://schemas.openxmlformats.org/drawingml/2006/main">
              <a:ext uri="{FF2B5EF4-FFF2-40B4-BE49-F238E27FC236}">
                <a16:creationId xmlns:a16="http://schemas.microsoft.com/office/drawing/2014/main" id="{7F0A5326-5F1B-4EA9-81F0-9A627F504E56}"/>
              </a:ext>
            </a:extLst>
          </p:cNvPr>
          <p:cNvGraphicFramePr/>
          <p:nvPr/>
        </p:nvGraphicFramePr>
        <p:xfrm>
          <a:off xmlns:a="http://schemas.openxmlformats.org/drawingml/2006/main" x="533400" y="2524125"/>
          <a:ext xmlns:a="http://schemas.openxmlformats.org/drawingml/2006/main" cx="11125200" cy="2447925"/>
        </p:xfrm>
        <a:graphic xmlns:a="http://schemas.openxmlformats.org/drawingml/2006/main">
          <a:graphicData uri="http://schemas.openxmlformats.org/drawingml/2006/table">
            <a:tbl>
              <a:tblPr/>
              <a:tblGrid>
                <a:gridCol w="2952750"/>
                <a:gridCol w="4086225"/>
                <a:gridCol w="4086225"/>
              </a:tblGrid>
              <a:tr h="611981">
                <a:tc>
                  <a:txBody>
                    <a:bodyPr/>
                    <a:lstStyle/>
                    <a:p>
                      <a:r>
                        <a:rPr sz="1875" b="1">
                          <a:solidFill>
                            <a:srgbClr val="FFFFFF"/>
                          </a:solidFill>
                          <a:latin typeface="Arial"/>
                          <a:ea typeface="Arial"/>
                          <a:cs typeface="Arial"/>
                        </a:rPr>
                        <a:t>Giai đoạn</a:t>
                      </a:r>
                    </a:p>
                  </a:txBody>
                  <a:tcPr marL="91440" marR="91440" marT="45720" marB="45720">
                    <a:solidFill>
                      <a:srgbClr val="173451"/>
                    </a:solidFill>
                  </a:tcPr>
                </a:tc>
                <a:tc>
                  <a:txBody>
                    <a:bodyPr/>
                    <a:lstStyle/>
                    <a:p>
                      <a:r>
                        <a:rPr sz="1875" b="1">
                          <a:solidFill>
                            <a:srgbClr val="FFFFFF"/>
                          </a:solidFill>
                          <a:latin typeface="Arial"/>
                          <a:ea typeface="Arial"/>
                          <a:cs typeface="Arial"/>
                        </a:rPr>
                        <a:t>Dữ liệu đi vào</a:t>
                      </a:r>
                    </a:p>
                  </a:txBody>
                  <a:tcPr marL="91440" marR="91440" marT="45720" marB="45720">
                    <a:solidFill>
                      <a:srgbClr val="173451"/>
                    </a:solidFill>
                  </a:tcPr>
                </a:tc>
                <a:tc>
                  <a:txBody>
                    <a:bodyPr/>
                    <a:lstStyle/>
                    <a:p>
                      <a:r>
                        <a:rPr sz="1875" b="1">
                          <a:solidFill>
                            <a:srgbClr val="FFFFFF"/>
                          </a:solidFill>
                          <a:latin typeface="Arial"/>
                          <a:ea typeface="Arial"/>
                          <a:cs typeface="Arial"/>
                        </a:rPr>
                        <a:t>Đầu ra trả về</a:t>
                      </a:r>
                    </a:p>
                  </a:txBody>
                  <a:tcPr marL="91440" marR="91440" marT="45720" marB="45720">
                    <a:solidFill>
                      <a:srgbClr val="173451"/>
                    </a:solidFill>
                  </a:tcPr>
                </a:tc>
              </a:tr>
              <a:tr h="611981">
                <a:tc>
                  <a:txBody>
                    <a:bodyPr/>
                    <a:lstStyle/>
                    <a:p>
                      <a:r>
                        <a:rPr sz="1875" b="0">
                          <a:solidFill>
                            <a:srgbClr val="173451"/>
                          </a:solidFill>
                          <a:latin typeface="Arial"/>
                          <a:ea typeface="Arial"/>
                          <a:cs typeface="Arial"/>
                        </a:rPr>
                        <a:t>Model inference</a:t>
                      </a:r>
                    </a:p>
                  </a:txBody>
                  <a:tcPr marL="91440" marR="91440" marT="45720" marB="45720">
                    <a:solidFill>
                      <a:srgbClr val="FFFFFF"/>
                    </a:solidFill>
                  </a:tcPr>
                </a:tc>
                <a:tc>
                  <a:txBody>
                    <a:bodyPr/>
                    <a:lstStyle/>
                    <a:p>
                      <a:r>
                        <a:rPr sz="1875" b="0">
                          <a:solidFill>
                            <a:srgbClr val="173451"/>
                          </a:solidFill>
                          <a:latin typeface="Arial"/>
                          <a:ea typeface="Arial"/>
                          <a:cs typeface="Arial"/>
                        </a:rPr>
                        <a:t>RGB, instruction, state hiện tại</a:t>
                      </a:r>
                    </a:p>
                  </a:txBody>
                  <a:tcPr marL="91440" marR="91440" marT="45720" marB="45720">
                    <a:solidFill>
                      <a:srgbClr val="FFFFFF"/>
                    </a:solidFill>
                  </a:tcPr>
                </a:tc>
                <a:tc>
                  <a:txBody>
                    <a:bodyPr/>
                    <a:lstStyle/>
                    <a:p>
                      <a:r>
                        <a:rPr sz="1875" b="0">
                          <a:solidFill>
                            <a:srgbClr val="173451"/>
                          </a:solidFill>
                          <a:latin typeface="Arial"/>
                          <a:ea typeface="Arial"/>
                          <a:cs typeface="Arial"/>
                        </a:rPr>
                        <a:t>Eagle features, DiT action chunks</a:t>
                      </a:r>
                    </a:p>
                  </a:txBody>
                  <a:tcPr marL="91440" marR="91440" marT="45720" marB="45720">
                    <a:solidFill>
                      <a:srgbClr val="FFFFFF"/>
                    </a:solidFill>
                  </a:tcPr>
                </a:tc>
              </a:tr>
              <a:tr h="611981">
                <a:tc>
                  <a:txBody>
                    <a:bodyPr/>
                    <a:lstStyle/>
                    <a:p>
                      <a:r>
                        <a:rPr sz="1875" b="0">
                          <a:solidFill>
                            <a:srgbClr val="173451"/>
                          </a:solidFill>
                          <a:latin typeface="Arial"/>
                          <a:ea typeface="Arial"/>
                          <a:cs typeface="Arial"/>
                        </a:rPr>
                        <a:t>Robot thực thi</a:t>
                      </a:r>
                    </a:p>
                  </a:txBody>
                  <a:tcPr marL="91440" marR="91440" marT="45720" marB="45720">
                    <a:solidFill>
                      <a:srgbClr val="FFFFFF"/>
                    </a:solidFill>
                  </a:tcPr>
                </a:tc>
                <a:tc>
                  <a:txBody>
                    <a:bodyPr/>
                    <a:lstStyle/>
                    <a:p>
                      <a:r>
                        <a:rPr sz="1875" b="0">
                          <a:solidFill>
                            <a:srgbClr val="173451"/>
                          </a:solidFill>
                          <a:latin typeface="Arial"/>
                          <a:ea typeface="Arial"/>
                          <a:cs typeface="Arial"/>
                        </a:rPr>
                        <a:t>Action đã denormalize và binding</a:t>
                      </a:r>
                    </a:p>
                  </a:txBody>
                  <a:tcPr marL="91440" marR="91440" marT="45720" marB="45720">
                    <a:solidFill>
                      <a:srgbClr val="FFFFFF"/>
                    </a:solidFill>
                  </a:tcPr>
                </a:tc>
                <a:tc>
                  <a:txBody>
                    <a:bodyPr/>
                    <a:lstStyle/>
                    <a:p>
                      <a:r>
                        <a:rPr sz="1875" b="0">
                          <a:solidFill>
                            <a:srgbClr val="173451"/>
                          </a:solidFill>
                          <a:latin typeface="Arial"/>
                          <a:ea typeface="Arial"/>
                          <a:cs typeface="Arial"/>
                        </a:rPr>
                        <a:t>Commands, response, quan sát mới</a:t>
                      </a:r>
                    </a:p>
                  </a:txBody>
                  <a:tcPr marL="91440" marR="91440" marT="45720" marB="45720">
                    <a:solidFill>
                      <a:srgbClr val="FFFFFF"/>
                    </a:solidFill>
                  </a:tcPr>
                </a:tc>
              </a:tr>
              <a:tr h="611981">
                <a:tc>
                  <a:txBody>
                    <a:bodyPr/>
                    <a:lstStyle/>
                    <a:p>
                      <a:r>
                        <a:rPr sz="1875" b="0">
                          <a:solidFill>
                            <a:srgbClr val="173451"/>
                          </a:solidFill>
                          <a:latin typeface="Arial"/>
                          <a:ea typeface="Arial"/>
                          <a:cs typeface="Arial"/>
                        </a:rPr>
                        <a:t>Đánh giá development</a:t>
                      </a:r>
                    </a:p>
                  </a:txBody>
                  <a:tcPr marL="91440" marR="91440" marT="45720" marB="45720">
                    <a:solidFill>
                      <a:srgbClr val="FFFFFF"/>
                    </a:solidFill>
                  </a:tcPr>
                </a:tc>
                <a:tc>
                  <a:txBody>
                    <a:bodyPr/>
                    <a:lstStyle/>
                    <a:p>
                      <a:r>
                        <a:rPr sz="1875" b="0">
                          <a:solidFill>
                            <a:srgbClr val="173451"/>
                          </a:solidFill>
                          <a:latin typeface="Arial"/>
                          <a:ea typeface="Arial"/>
                          <a:cs typeface="Arial"/>
                        </a:rPr>
                        <a:t>Object / contact / tiêu chí task</a:t>
                      </a:r>
                    </a:p>
                  </a:txBody>
                  <a:tcPr marL="91440" marR="91440" marT="45720" marB="45720">
                    <a:solidFill>
                      <a:srgbClr val="FFFFFF"/>
                    </a:solidFill>
                  </a:tcPr>
                </a:tc>
                <a:tc>
                  <a:txBody>
                    <a:bodyPr/>
                    <a:lstStyle/>
                    <a:p>
                      <a:r>
                        <a:rPr sz="1875" b="0">
                          <a:solidFill>
                            <a:srgbClr val="173451"/>
                          </a:solidFill>
                          <a:latin typeface="Arial"/>
                          <a:ea typeface="Arial"/>
                          <a:cs typeface="Arial"/>
                        </a:rPr>
                        <a:t>Full-task outcome, trace và tổng công</a:t>
                      </a:r>
                    </a:p>
                  </a:txBody>
                  <a:tcPr marL="91440" marR="91440" marT="45720" marB="45720">
                    <a:solidFill>
                      <a:srgbClr val="FFFFFF"/>
                    </a:solidFill>
                  </a:tcPr>
                </a:tc>
              </a:tr>
            </a:tbl>
          </a:graphicData>
        </a:graphic>
      </p:graphicFrame>
      <p:sp>
        <p:nvSpPr>
          <p:cNvPr id="13" name="content">
            <a:extLst xmlns:a="http://schemas.openxmlformats.org/drawingml/2006/main">
              <a:ext uri="{FF2B5EF4-FFF2-40B4-BE49-F238E27FC236}">
                <a16:creationId xmlns:a16="http://schemas.microsoft.com/office/drawing/2014/main" id="{8F8419AD-3FEB-46A6-92A5-9372F8CB630B}"/>
              </a:ext>
            </a:extLst>
          </p:cNvPr>
          <p:cNvSpPr>
            <a:spLocks xmlns:a="http://schemas.openxmlformats.org/drawingml/2006/main" noGrp="1"/>
          </p:cNvSpPr>
          <p:nvPr/>
        </p:nvSpPr>
        <p:spPr>
          <a:xfrm xmlns:a="http://schemas.openxmlformats.org/drawingml/2006/main">
            <a:off x="533400" y="53244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878B"/>
                </a:solidFill>
                <a:latin typeface="Arial"/>
                <a:ea typeface="Arial"/>
                <a:cs typeface="Arial"/>
              </a:defRPr>
            </a:defPPr>
          </a:lstStyle>
          <a:p xmlns:a="http://schemas.openxmlformats.org/drawingml/2006/main">
            <a:pPr>
              <a:buNone/>
              <a:defRPr sz="2175" b="1">
                <a:solidFill>
                  <a:srgbClr val="00878B"/>
                </a:solidFill>
                <a:latin typeface="Arial"/>
                <a:ea typeface="Arial"/>
                <a:cs typeface="Arial"/>
              </a:defRPr>
            </a:pPr>
            <a:r>
              <a:rPr sz="2175" b="1">
                <a:solidFill>
                  <a:srgbClr val="00878B"/>
                </a:solidFill>
                <a:latin typeface="Arial"/>
                <a:ea typeface="Arial"/>
                <a:cs typeface="Arial"/>
              </a:rPr>
              <a:t>Evidence quay về Data Core để chọn can thiệp tiếp theo</a:t>
            </a:r>
          </a:p>
        </p:txBody>
      </p:sp>
      <p:sp>
        <p:nvSpPr>
          <p:cNvPr id="14" name="content">
            <a:extLst xmlns:a="http://schemas.openxmlformats.org/drawingml/2006/main">
              <a:ext uri="{FF2B5EF4-FFF2-40B4-BE49-F238E27FC236}">
                <a16:creationId xmlns:a16="http://schemas.microsoft.com/office/drawing/2014/main" id="{04338F98-5423-4CEE-9D48-BA6B59AFFB4F}"/>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10 / 24</a:t>
            </a:r>
          </a:p>
        </p:txBody>
      </p:sp>
    </p:spTree>
    <p:extLst>
      <p:ext uri="{BB962C8B-B14F-4D97-AF65-F5344CB8AC3E}">
        <p14:creationId xmlns:p14="http://schemas.microsoft.com/office/powerpoint/2010/main" val="419144437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DFC0A155-33E3-4375-990D-888785092FE4}"/>
              </a:ext>
            </a:extLst>
          </p:cNvPr>
          <p:cNvPicPr>
            <a:picLocks xmlns:a="http://schemas.openxmlformats.org/drawingml/2006/main" noChangeAspect="1"/>
          </p:cNvPicPr>
          <p:nvPr/>
        </p:nvPicPr>
        <p:blipFill>
          <a:blip xmlns:r="http://schemas.openxmlformats.org/officeDocument/2006/relationships" xmlns:a="http://schemas.openxmlformats.org/drawingml/2006/main" r:embed="Rd3cee4cbe7944871"/>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Cách chứng minh điểm khác biệt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Hai mức chứng minh</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Một before/after cho thấy thay đổi kết quả; chưa đủ kết luận saving hoặc workflow vượt trội.</a:t>
            </a:r>
          </a:p>
        </p:txBody>
      </p:sp>
      <p:sp>
        <p:nvSpPr>
          <p:cNvPr id="11" name="content">
            <a:extLst xmlns:a="http://schemas.openxmlformats.org/drawingml/2006/main">
              <a:ext uri="{FF2B5EF4-FFF2-40B4-BE49-F238E27FC236}">
                <a16:creationId xmlns:a16="http://schemas.microsoft.com/office/drawing/2014/main" id="{480B12CC-309D-4B5F-8278-72BF3FA1A31D}"/>
              </a:ext>
            </a:extLst>
          </p:cNvPr>
          <p:cNvSpPr>
            <a:spLocks xmlns:a="http://schemas.openxmlformats.org/drawingml/2006/main" noGrp="1"/>
          </p:cNvSpPr>
          <p:nvPr/>
        </p:nvSpPr>
        <p:spPr>
          <a:xfrm xmlns:a="http://schemas.openxmlformats.org/drawingml/2006/main">
            <a:off x="533400" y="1600200"/>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3451"/>
                </a:solidFill>
                <a:latin typeface="Arial"/>
                <a:ea typeface="Arial"/>
                <a:cs typeface="Arial"/>
              </a:defRPr>
            </a:defPPr>
          </a:lstStyle>
          <a:p xmlns:a="http://schemas.openxmlformats.org/drawingml/2006/main">
            <a:pPr>
              <a:buNone/>
              <a:defRPr sz="2550" b="1">
                <a:solidFill>
                  <a:srgbClr val="173451"/>
                </a:solidFill>
                <a:latin typeface="Arial"/>
                <a:ea typeface="Arial"/>
                <a:cs typeface="Arial"/>
              </a:defRPr>
            </a:pPr>
            <a:r>
              <a:rPr sz="2550" b="1">
                <a:solidFill>
                  <a:srgbClr val="173451"/>
                </a:solidFill>
                <a:latin typeface="Arial"/>
                <a:ea typeface="Arial"/>
                <a:cs typeface="Arial"/>
              </a:rPr>
              <a:t>Đo cả lợi ích dữ liệu và lợi ích của quyết định</a:t>
            </a:r>
          </a:p>
        </p:txBody>
      </p:sp>
      <p:sp>
        <p:nvSpPr>
          <p:cNvPr id="13" name="content">
            <a:extLst xmlns:a="http://schemas.openxmlformats.org/drawingml/2006/main">
              <a:ext uri="{FF2B5EF4-FFF2-40B4-BE49-F238E27FC236}">
                <a16:creationId xmlns:a16="http://schemas.microsoft.com/office/drawing/2014/main" id="{B2496F6F-E717-4EE9-A977-1CB76A7BD026}"/>
              </a:ext>
            </a:extLst>
          </p:cNvPr>
          <p:cNvSpPr>
            <a:spLocks xmlns:a="http://schemas.openxmlformats.org/drawingml/2006/main" noGrp="1"/>
          </p:cNvSpPr>
          <p:nvPr/>
        </p:nvSpPr>
        <p:spPr>
          <a:xfrm xmlns:a="http://schemas.openxmlformats.org/drawingml/2006/main">
            <a:off x="533400" y="5162550"/>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00878B"/>
                </a:solidFill>
                <a:latin typeface="Arial"/>
                <a:ea typeface="Arial"/>
                <a:cs typeface="Arial"/>
              </a:defRPr>
            </a:defPPr>
          </a:lstStyle>
          <a:p xmlns:a="http://schemas.openxmlformats.org/drawingml/2006/main">
            <a:pPr>
              <a:buNone/>
              <a:defRPr sz="1950" b="1">
                <a:solidFill>
                  <a:srgbClr val="00878B"/>
                </a:solidFill>
                <a:latin typeface="Arial"/>
                <a:ea typeface="Arial"/>
                <a:cs typeface="Arial"/>
              </a:defRPr>
            </a:pPr>
            <a:r>
              <a:rPr sz="1950" b="1">
                <a:solidFill>
                  <a:srgbClr val="00878B"/>
                </a:solidFill>
                <a:latin typeface="Arial"/>
                <a:ea typeface="Arial"/>
                <a:cs typeface="Arial"/>
              </a:rPr>
              <a:t>Tổng công gồm operator, kỹ sư, robot, generation, QA, GPU và eval</a:t>
            </a:r>
          </a:p>
        </p:txBody>
      </p:sp>
      <p:sp>
        <p:nvSpPr>
          <p:cNvPr id="14" name="content">
            <a:extLst xmlns:a="http://schemas.openxmlformats.org/drawingml/2006/main">
              <a:ext uri="{FF2B5EF4-FFF2-40B4-BE49-F238E27FC236}">
                <a16:creationId xmlns:a16="http://schemas.microsoft.com/office/drawing/2014/main" id="{5F74B630-E69B-4BFC-877D-9827C4F7BC6F}"/>
              </a:ext>
            </a:extLst>
          </p:cNvPr>
          <p:cNvSpPr>
            <a:spLocks xmlns:a="http://schemas.openxmlformats.org/drawingml/2006/main" noGrp="1"/>
          </p:cNvSpPr>
          <p:nvPr/>
        </p:nvSpPr>
        <p:spPr>
          <a:xfrm xmlns:a="http://schemas.openxmlformats.org/drawingml/2006/main">
            <a:off x="533400" y="5581650"/>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3451"/>
                </a:solidFill>
                <a:latin typeface="Arial"/>
                <a:ea typeface="Arial"/>
                <a:cs typeface="Arial"/>
              </a:defRPr>
            </a:defPPr>
          </a:lstStyle>
          <a:p xmlns:a="http://schemas.openxmlformats.org/drawingml/2006/main">
            <a:pPr>
              <a:buNone/>
              <a:defRPr sz="1650" b="0">
                <a:solidFill>
                  <a:srgbClr val="173451"/>
                </a:solidFill>
                <a:latin typeface="Arial"/>
                <a:ea typeface="Arial"/>
                <a:cs typeface="Arial"/>
              </a:defRPr>
            </a:pPr>
            <a:r>
              <a:rPr sz="1650" b="0">
                <a:solidFill>
                  <a:srgbClr val="173451"/>
                </a:solidFill>
                <a:latin typeface="Arial"/>
                <a:ea typeface="Arial"/>
                <a:cs typeface="Arial"/>
              </a:rPr>
              <a:t>Source/workflow comparisons và skill 2 triển khai sau PoC, theo nguồn lực.</a:t>
            </a:r>
          </a:p>
        </p:txBody>
      </p:sp>
      <p:sp>
        <p:nvSpPr>
          <p:cNvPr id="15" name="content">
            <a:extLst xmlns:a="http://schemas.openxmlformats.org/drawingml/2006/main">
              <a:ext uri="{FF2B5EF4-FFF2-40B4-BE49-F238E27FC236}">
                <a16:creationId xmlns:a16="http://schemas.microsoft.com/office/drawing/2014/main" id="{D527D53C-7BA7-419E-9D45-538ED2C70DA8}"/>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11 / 24</a:t>
            </a:r>
          </a:p>
        </p:txBody>
      </p:sp>
      <p:graphicFrame>
        <p:nvGraphicFramePr>
          <p:cNvPr id="16" name="">
            <a:extLst xmlns:a="http://schemas.openxmlformats.org/drawingml/2006/main">
              <a:ext uri="{FF2B5EF4-FFF2-40B4-BE49-F238E27FC236}">
                <a16:creationId xmlns:a16="http://schemas.microsoft.com/office/drawing/2014/main" id="{87B68E64-B749-49F5-BF0D-C78002363C7F}"/>
              </a:ext>
            </a:extLst>
          </p:cNvPr>
          <p:cNvGraphicFramePr/>
          <p:nvPr/>
        </p:nvGraphicFramePr>
        <p:xfrm>
          <a:off xmlns:a="http://schemas.openxmlformats.org/drawingml/2006/main" x="533400" y="2333625"/>
          <a:ext xmlns:a="http://schemas.openxmlformats.org/drawingml/2006/main" cx="11125200" cy="2714625"/>
        </p:xfrm>
        <a:graphic xmlns:a="http://schemas.openxmlformats.org/drawingml/2006/main">
          <a:graphicData uri="http://schemas.openxmlformats.org/drawingml/2006/table">
            <a:tbl>
              <a:tblPr/>
              <a:tblGrid>
                <a:gridCol w="2571750"/>
                <a:gridCol w="4286250"/>
                <a:gridCol w="4267200"/>
              </a:tblGrid>
              <a:tr h="419100">
                <a:tc>
                  <a:txBody>
                    <a:bodyPr/>
                    <a:lstStyle/>
                    <a:p>
                      <a:r>
                        <a:rPr sz="1725" b="1">
                          <a:solidFill>
                            <a:srgbClr val="FFFFFF"/>
                          </a:solidFill>
                          <a:latin typeface="Arial"/>
                          <a:ea typeface="Arial"/>
                          <a:cs typeface="Arial"/>
                        </a:rPr>
                        <a:t>Câu hỏi</a:t>
                      </a:r>
                    </a:p>
                  </a:txBody>
                  <a:tcPr marL="91440" marR="91440" marT="45720" marB="45720">
                    <a:solidFill>
                      <a:srgbClr val="19344F"/>
                    </a:solidFill>
                  </a:tcPr>
                </a:tc>
                <a:tc>
                  <a:txBody>
                    <a:bodyPr/>
                    <a:lstStyle/>
                    <a:p>
                      <a:r>
                        <a:rPr sz="1725" b="1">
                          <a:solidFill>
                            <a:srgbClr val="FFFFFF"/>
                          </a:solidFill>
                          <a:latin typeface="Arial"/>
                          <a:ea typeface="Arial"/>
                          <a:cs typeface="Arial"/>
                        </a:rPr>
                        <a:t>PoC 30 ngày</a:t>
                      </a:r>
                    </a:p>
                  </a:txBody>
                  <a:tcPr marL="91440" marR="91440" marT="45720" marB="45720">
                    <a:solidFill>
                      <a:srgbClr val="19344F"/>
                    </a:solidFill>
                  </a:tcPr>
                </a:tc>
                <a:tc>
                  <a:txBody>
                    <a:bodyPr/>
                    <a:lstStyle/>
                    <a:p>
                      <a:r>
                        <a:rPr sz="1725" b="1">
                          <a:solidFill>
                            <a:srgbClr val="FFFFFF"/>
                          </a:solidFill>
                          <a:latin typeface="Arial"/>
                          <a:ea typeface="Arial"/>
                          <a:cs typeface="Arial"/>
                        </a:rPr>
                        <a:t>Kiểm chứng mở rộng</a:t>
                      </a:r>
                    </a:p>
                  </a:txBody>
                  <a:tcPr marL="91440" marR="91440" marT="45720" marB="45720">
                    <a:solidFill>
                      <a:srgbClr val="19344F"/>
                    </a:solidFill>
                  </a:tcPr>
                </a:tc>
              </a:tr>
              <a:tr h="1147763">
                <a:tc>
                  <a:txBody>
                    <a:bodyPr/>
                    <a:lstStyle/>
                    <a:p>
                      <a:r>
                        <a:rPr sz="1650" b="0">
                          <a:solidFill>
                            <a:srgbClr val="19344F"/>
                          </a:solidFill>
                          <a:latin typeface="Arial"/>
                          <a:ea typeface="Arial"/>
                          <a:cs typeface="Arial"/>
                        </a:rPr>
                        <a:t>Data update có ích?</a:t>
                      </a:r>
                    </a:p>
                  </a:txBody>
                  <a:tcPr marL="91440" marR="91440" marT="45720" marB="45720">
                    <a:solidFill>
                      <a:srgbClr val="FFFFFF"/>
                    </a:solidFill>
                  </a:tcPr>
                </a:tc>
                <a:tc>
                  <a:txBody>
                    <a:bodyPr/>
                    <a:lstStyle/>
                    <a:p>
                      <a:r>
                        <a:rPr sz="1650" b="0">
                          <a:solidFill>
                            <a:srgbClr val="19344F"/>
                          </a:solidFill>
                          <a:latin typeface="Arial"/>
                          <a:ea typeface="Arial"/>
                          <a:cs typeface="Arial"/>
                        </a:rPr>
                        <a:t>Baseline và candidate sau reuse / correction</a:t>
                      </a:r>
                    </a:p>
                    <a:p>
                      <a:r>
                        <a:rPr sz="1650" b="0">
                          <a:solidFill>
                            <a:srgbClr val="19344F"/>
                          </a:solidFill>
                          <a:latin typeface="Arial"/>
                          <a:ea typeface="Arial"/>
                          <a:cs typeface="Arial"/>
                        </a:rPr>
                        <a:t>Cùng recipe, đo regression và công</a:t>
                      </a:r>
                    </a:p>
                  </a:txBody>
                  <a:tcPr marL="91440" marR="91440" marT="45720" marB="45720">
                    <a:solidFill>
                      <a:srgbClr val="FFFFFF"/>
                    </a:solidFill>
                  </a:tcPr>
                </a:tc>
                <a:tc>
                  <a:txBody>
                    <a:bodyPr/>
                    <a:lstStyle/>
                    <a:p>
                      <a:r>
                        <a:rPr sz="1650" b="0">
                          <a:solidFill>
                            <a:srgbClr val="19344F"/>
                          </a:solidFill>
                          <a:latin typeface="Arial"/>
                          <a:ea typeface="Arial"/>
                          <a:cs typeface="Arial"/>
                        </a:rPr>
                        <a:t>So nguồn dữ liệu với đối chứng</a:t>
                      </a:r>
                    </a:p>
                    <a:p>
                      <a:r>
                        <a:rPr sz="1650" b="0">
                          <a:solidFill>
                            <a:srgbClr val="19344F"/>
                          </a:solidFill>
                          <a:latin typeface="Arial"/>
                          <a:ea typeface="Arial"/>
                          <a:cs typeface="Arial"/>
                        </a:rPr>
                        <a:t>Tính cả generation / QA / compute</a:t>
                      </a:r>
                    </a:p>
                  </a:txBody>
                  <a:tcPr marL="91440" marR="91440" marT="45720" marB="45720">
                    <a:solidFill>
                      <a:srgbClr val="FFFFFF"/>
                    </a:solidFill>
                  </a:tcPr>
                </a:tc>
              </a:tr>
              <a:tr h="1147763">
                <a:tc>
                  <a:txBody>
                    <a:bodyPr/>
                    <a:lstStyle/>
                    <a:p>
                      <a:r>
                        <a:rPr sz="1650" b="0">
                          <a:solidFill>
                            <a:srgbClr val="19344F"/>
                          </a:solidFill>
                          <a:latin typeface="Arial"/>
                          <a:ea typeface="Arial"/>
                          <a:cs typeface="Arial"/>
                        </a:rPr>
                        <a:t>Flywheel chọn tốt hơn?</a:t>
                      </a:r>
                    </a:p>
                  </a:txBody>
                  <a:tcPr marL="91440" marR="91440" marT="45720" marB="45720">
                    <a:solidFill>
                      <a:srgbClr val="FFFFFF"/>
                    </a:solidFill>
                  </a:tcPr>
                </a:tc>
                <a:tc>
                  <a:txBody>
                    <a:bodyPr/>
                    <a:lstStyle/>
                    <a:p>
                      <a:r>
                        <a:rPr sz="1650" b="0">
                          <a:solidFill>
                            <a:srgbClr val="19344F"/>
                          </a:solidFill>
                          <a:latin typeface="Arial"/>
                          <a:ea typeface="Arial"/>
                          <a:cs typeface="Arial"/>
                        </a:rPr>
                        <a:t>Một decision receipt từ lỗi tới data</a:t>
                      </a:r>
                    </a:p>
                    <a:p>
                      <a:r>
                        <a:rPr sz="1650" b="0">
                          <a:solidFill>
                            <a:srgbClr val="19344F"/>
                          </a:solidFill>
                          <a:latin typeface="Arial"/>
                          <a:ea typeface="Arial"/>
                          <a:cs typeface="Arial"/>
                        </a:rPr>
                        <a:t>Ghi cả no-gain và lựa chọn bị loại</a:t>
                      </a:r>
                    </a:p>
                  </a:txBody>
                  <a:tcPr marL="91440" marR="91440" marT="45720" marB="45720">
                    <a:solidFill>
                      <a:srgbClr val="FFFFFF"/>
                    </a:solidFill>
                  </a:tcPr>
                </a:tc>
                <a:tc>
                  <a:txBody>
                    <a:bodyPr/>
                    <a:lstStyle/>
                    <a:p>
                      <a:r>
                        <a:rPr sz="1650" b="0">
                          <a:solidFill>
                            <a:srgbClr val="19344F"/>
                          </a:solidFill>
                          <a:latin typeface="Arial"/>
                          <a:ea typeface="Arial"/>
                          <a:cs typeface="Arial"/>
                        </a:rPr>
                        <a:t>So workflow kỹ sư cùng ngân sách</a:t>
                      </a:r>
                    </a:p>
                    <a:p>
                      <a:r>
                        <a:rPr sz="1650" b="0">
                          <a:solidFill>
                            <a:srgbClr val="19344F"/>
                          </a:solidFill>
                          <a:latin typeface="Arial"/>
                          <a:ea typeface="Arial"/>
                          <a:cs typeface="Arial"/>
                        </a:rPr>
                        <a:t>Đo tổng công tới cùng quality</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0E66604-BBD9-4DAE-9215-8F998FDA2077}"/>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30 ngày phát triển PoC</a:t>
            </a:r>
            <a:endParaRPr/>
          </a:p>
        </p:txBody>
      </p:sp>
      <p:pic>
        <p:nvPicPr>
          <p:cNvPr id="3" name="">
            <a:extLst xmlns:a="http://schemas.openxmlformats.org/drawingml/2006/main">
              <a:ext uri="{FF2B5EF4-FFF2-40B4-BE49-F238E27FC236}">
                <a16:creationId xmlns:a16="http://schemas.microsoft.com/office/drawing/2014/main" id="{32B5FEB5-0458-45F6-9B3D-65320A5E0683}"/>
              </a:ext>
            </a:extLst>
          </p:cNvPr>
          <p:cNvPicPr>
            <a:picLocks xmlns:a="http://schemas.openxmlformats.org/drawingml/2006/main" noChangeAspect="1"/>
          </p:cNvPicPr>
          <p:nvPr/>
        </p:nvPicPr>
        <p:blipFill>
          <a:blip xmlns:r="http://schemas.openxmlformats.org/officeDocument/2006/relationships" xmlns:a="http://schemas.openxmlformats.org/drawingml/2006/main" r:embed="Rbbca924860e0403c"/>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486C94F-05A9-4905-AD1C-71F5BB4FCB3C}"/>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Public task trước, robot thật có điều kiện</a:t>
            </a:r>
          </a:p>
        </p:txBody>
      </p:sp>
      <p:sp>
        <p:nvSpPr>
          <p:cNvPr id="5" name="">
            <a:extLst xmlns:a="http://schemas.openxmlformats.org/drawingml/2006/main">
              <a:ext uri="{FF2B5EF4-FFF2-40B4-BE49-F238E27FC236}">
                <a16:creationId xmlns:a16="http://schemas.microsoft.com/office/drawing/2014/main" id="{4502B23B-7DA2-408C-B04C-5C016306B876}"/>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FFFFF"/>
                </a:solidFill>
                <a:latin typeface="Arial"/>
                <a:ea typeface="Arial"/>
                <a:cs typeface="Arial"/>
              </a:defRPr>
            </a:def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26/10 cần robot access, profile/task, camera/controller I/O và recipe update/reload. Không mặc định hai tuần đủ.</a:t>
            </a:r>
          </a:p>
        </p:txBody>
      </p:sp>
      <p:sp>
        <p:nvSpPr>
          <p:cNvPr id="7" name="">
            <a:extLst xmlns:a="http://schemas.openxmlformats.org/drawingml/2006/main">
              <a:ext uri="{FF2B5EF4-FFF2-40B4-BE49-F238E27FC236}">
                <a16:creationId xmlns:a16="http://schemas.microsoft.com/office/drawing/2014/main" id="{E355EFE5-0F71-4942-9289-4DF845AA3C45}"/>
              </a:ext>
            </a:extLst>
          </p:cNvPr>
          <p:cNvSpPr>
            <a:spLocks xmlns:a="http://schemas.openxmlformats.org/drawingml/2006/main" noGrp="1"/>
          </p:cNvSpPr>
          <p:nvPr/>
        </p:nvSpPr>
        <p:spPr>
          <a:xfrm xmlns:a="http://schemas.openxmlformats.org/drawingml/2006/main">
            <a:off x="533400" y="5514975"/>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12–15/11 dự phòng trước thuyết trình. Hardware chưa đạt thì báo rõ phần còn thiếu.</a:t>
            </a:r>
          </a:p>
        </p:txBody>
      </p:sp>
      <p:sp>
        <p:nvSpPr>
          <p:cNvPr id="8" name="content">
            <a:extLst xmlns:a="http://schemas.openxmlformats.org/drawingml/2006/main">
              <a:ext uri="{FF2B5EF4-FFF2-40B4-BE49-F238E27FC236}">
                <a16:creationId xmlns:a16="http://schemas.microsoft.com/office/drawing/2014/main" id="{71BE337D-6D94-45F7-9758-0A58CEC2A8F7}"/>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12 / 24</a:t>
            </a:r>
          </a:p>
        </p:txBody>
      </p:sp>
      <p:graphicFrame>
        <p:nvGraphicFramePr>
          <p:cNvPr id="9" name="">
            <a:extLst xmlns:a="http://schemas.openxmlformats.org/drawingml/2006/main">
              <a:ext uri="{FF2B5EF4-FFF2-40B4-BE49-F238E27FC236}">
                <a16:creationId xmlns:a16="http://schemas.microsoft.com/office/drawing/2014/main" id="{6EABC914-5D06-4DBF-B439-0882F4C06585}"/>
              </a:ext>
            </a:extLst>
          </p:cNvPr>
          <p:cNvGraphicFramePr/>
          <p:nvPr/>
        </p:nvGraphicFramePr>
        <p:xfrm>
          <a:off xmlns:a="http://schemas.openxmlformats.org/drawingml/2006/main" x="533400" y="1714500"/>
          <a:ext xmlns:a="http://schemas.openxmlformats.org/drawingml/2006/main" cx="11125200" cy="3667125"/>
        </p:xfrm>
        <a:graphic xmlns:a="http://schemas.openxmlformats.org/drawingml/2006/main">
          <a:graphicData uri="http://schemas.openxmlformats.org/drawingml/2006/table">
            <a:tbl>
              <a:tblPr/>
              <a:tblGrid>
                <a:gridCol w="2381250"/>
                <a:gridCol w="4429125"/>
                <a:gridCol w="4314825"/>
              </a:tblGrid>
              <a:tr h="419100">
                <a:tc>
                  <a:txBody>
                    <a:bodyPr/>
                    <a:lstStyle/>
                    <a:p>
                      <a:r>
                        <a:rPr sz="1725" b="1">
                          <a:solidFill>
                            <a:srgbClr val="FFFFFF"/>
                          </a:solidFill>
                          <a:latin typeface="Arial"/>
                          <a:ea typeface="Arial"/>
                          <a:cs typeface="Arial"/>
                        </a:rPr>
                        <a:t>Mốc</a:t>
                      </a:r>
                    </a:p>
                  </a:txBody>
                  <a:tcPr marL="91440" marR="91440" marT="45720" marB="45720">
                    <a:solidFill>
                      <a:srgbClr val="19344F"/>
                    </a:solidFill>
                  </a:tcPr>
                </a:tc>
                <a:tc>
                  <a:txBody>
                    <a:bodyPr/>
                    <a:lstStyle/>
                    <a:p>
                      <a:r>
                        <a:rPr sz="1725" b="1">
                          <a:solidFill>
                            <a:srgbClr val="FFFFFF"/>
                          </a:solidFill>
                          <a:latin typeface="Arial"/>
                          <a:ea typeface="Arial"/>
                          <a:cs typeface="Arial"/>
                        </a:rPr>
                        <a:t>Pipeline cần hoàn thành</a:t>
                      </a:r>
                    </a:p>
                  </a:txBody>
                  <a:tcPr marL="91440" marR="91440" marT="45720" marB="45720">
                    <a:solidFill>
                      <a:srgbClr val="19344F"/>
                    </a:solidFill>
                  </a:tcPr>
                </a:tc>
                <a:tc>
                  <a:txBody>
                    <a:bodyPr/>
                    <a:lstStyle/>
                    <a:p>
                      <a:r>
                        <a:rPr sz="1725" b="1">
                          <a:solidFill>
                            <a:srgbClr val="FFFFFF"/>
                          </a:solidFill>
                          <a:latin typeface="Arial"/>
                          <a:ea typeface="Arial"/>
                          <a:cs typeface="Arial"/>
                        </a:rPr>
                        <a:t>Bằng chứng</a:t>
                      </a:r>
                    </a:p>
                  </a:txBody>
                  <a:tcPr marL="91440" marR="91440" marT="45720" marB="45720">
                    <a:solidFill>
                      <a:srgbClr val="19344F"/>
                    </a:solidFill>
                  </a:tcPr>
                </a:tc>
              </a:tr>
              <a:tr h="812006">
                <a:tc>
                  <a:txBody>
                    <a:bodyPr/>
                    <a:lstStyle/>
                    <a:p>
                      <a:r>
                        <a:rPr sz="1650" b="0">
                          <a:solidFill>
                            <a:srgbClr val="19344F"/>
                          </a:solidFill>
                          <a:latin typeface="Arial"/>
                          <a:ea typeface="Arial"/>
                          <a:cs typeface="Arial"/>
                        </a:rPr>
                        <a:t>Tuần 1</a:t>
                      </a:r>
                    </a:p>
                    <a:p>
                      <a:r>
                        <a:rPr sz="1650" b="0">
                          <a:solidFill>
                            <a:srgbClr val="19344F"/>
                          </a:solidFill>
                          <a:latin typeface="Arial"/>
                          <a:ea typeface="Arial"/>
                          <a:cs typeface="Arial"/>
                        </a:rPr>
                        <a:t>13–19/10</a:t>
                      </a:r>
                    </a:p>
                  </a:txBody>
                  <a:tcPr marL="91440" marR="91440" marT="45720" marB="45720">
                    <a:solidFill>
                      <a:srgbClr val="FFFFFF"/>
                    </a:solidFill>
                  </a:tcPr>
                </a:tc>
                <a:tc>
                  <a:txBody>
                    <a:bodyPr/>
                    <a:lstStyle/>
                    <a:p>
                      <a:r>
                        <a:rPr sz="1650" b="0">
                          <a:solidFill>
                            <a:srgbClr val="19344F"/>
                          </a:solidFill>
                          <a:latin typeface="Arial"/>
                          <a:ea typeface="Arial"/>
                          <a:cs typeface="Arial"/>
                        </a:rPr>
                        <a:t>Public task, QA / splits</a:t>
                      </a:r>
                    </a:p>
                    <a:p>
                      <a:r>
                        <a:rPr sz="1650" b="0">
                          <a:solidFill>
                            <a:srgbClr val="19344F"/>
                          </a:solidFill>
                          <a:latin typeface="Arial"/>
                          <a:ea typeface="Arial"/>
                          <a:cs typeface="Arial"/>
                        </a:rPr>
                        <a:t>GPU batch, update và reload</a:t>
                      </a:r>
                    </a:p>
                  </a:txBody>
                  <a:tcPr marL="91440" marR="91440" marT="45720" marB="45720">
                    <a:solidFill>
                      <a:srgbClr val="FFFFFF"/>
                    </a:solidFill>
                  </a:tcPr>
                </a:tc>
                <a:tc>
                  <a:txBody>
                    <a:bodyPr/>
                    <a:lstStyle/>
                    <a:p>
                      <a:r>
                        <a:rPr sz="1650" b="0">
                          <a:solidFill>
                            <a:srgbClr val="19344F"/>
                          </a:solidFill>
                          <a:latin typeface="Arial"/>
                          <a:ea typeface="Arial"/>
                          <a:cs typeface="Arial"/>
                        </a:rPr>
                        <a:t>Release v1 + pretrained parent</a:t>
                      </a:r>
                    </a:p>
                    <a:p>
                      <a:r>
                        <a:rPr sz="1650" b="0">
                          <a:solidFill>
                            <a:srgbClr val="19344F"/>
                          </a:solidFill>
                          <a:latin typeface="Arial"/>
                          <a:ea typeface="Arial"/>
                          <a:cs typeface="Arial"/>
                        </a:rPr>
                        <a:t>Recipe đo vừa bộ nhớ</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Tuần 2</a:t>
                      </a:r>
                    </a:p>
                    <a:p>
                      <a:r>
                        <a:rPr sz="1650" b="0">
                          <a:solidFill>
                            <a:srgbClr val="19344F"/>
                          </a:solidFill>
                          <a:latin typeface="Arial"/>
                          <a:ea typeface="Arial"/>
                          <a:cs typeface="Arial"/>
                        </a:rPr>
                        <a:t>20–26/10</a:t>
                      </a:r>
                    </a:p>
                  </a:txBody>
                  <a:tcPr marL="91440" marR="91440" marT="45720" marB="45720">
                    <a:solidFill>
                      <a:srgbClr val="FFFFFF"/>
                    </a:solidFill>
                  </a:tcPr>
                </a:tc>
                <a:tc>
                  <a:txBody>
                    <a:bodyPr/>
                    <a:lstStyle/>
                    <a:p>
                      <a:r>
                        <a:rPr sz="1650" b="0">
                          <a:solidFill>
                            <a:srgbClr val="19344F"/>
                          </a:solidFill>
                          <a:latin typeface="Arial"/>
                          <a:ea typeface="Arial"/>
                          <a:cs typeface="Arial"/>
                        </a:rPr>
                        <a:t>Fine-tune và closed-loop sim</a:t>
                      </a:r>
                    </a:p>
                    <a:p>
                      <a:r>
                        <a:rPr sz="1650" b="0">
                          <a:solidFill>
                            <a:srgbClr val="19344F"/>
                          </a:solidFill>
                          <a:latin typeface="Arial"/>
                          <a:ea typeface="Arial"/>
                          <a:cs typeface="Arial"/>
                        </a:rPr>
                        <a:t>Kiểm robot BTC nếu có</a:t>
                      </a:r>
                    </a:p>
                  </a:txBody>
                  <a:tcPr marL="91440" marR="91440" marT="45720" marB="45720">
                    <a:solidFill>
                      <a:srgbClr val="FFFFFF"/>
                    </a:solidFill>
                  </a:tcPr>
                </a:tc>
                <a:tc>
                  <a:txBody>
                    <a:bodyPr/>
                    <a:lstStyle/>
                    <a:p>
                      <a:r>
                        <a:rPr sz="1650" b="0">
                          <a:solidFill>
                            <a:srgbClr val="19344F"/>
                          </a:solidFill>
                          <a:latin typeface="Arial"/>
                          <a:ea typeface="Arial"/>
                          <a:cs typeface="Arial"/>
                        </a:rPr>
                        <a:t>Learned baseline + all-trial report</a:t>
                      </a:r>
                    </a:p>
                    <a:p>
                      <a:r>
                        <a:rPr sz="1650" b="0">
                          <a:solidFill>
                            <a:srgbClr val="19344F"/>
                          </a:solidFill>
                          <a:latin typeface="Arial"/>
                          <a:ea typeface="Arial"/>
                          <a:cs typeface="Arial"/>
                        </a:rPr>
                        <a:t>26/10: gate tiến độ hardware</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Tuần 3</a:t>
                      </a:r>
                    </a:p>
                    <a:p>
                      <a:r>
                        <a:rPr sz="1650" b="0">
                          <a:solidFill>
                            <a:srgbClr val="19344F"/>
                          </a:solidFill>
                          <a:latin typeface="Arial"/>
                          <a:ea typeface="Arial"/>
                          <a:cs typeface="Arial"/>
                        </a:rPr>
                        <a:t>27/10–02/11</a:t>
                      </a:r>
                    </a:p>
                  </a:txBody>
                  <a:tcPr marL="91440" marR="91440" marT="45720" marB="45720">
                    <a:solidFill>
                      <a:srgbClr val="FFFFFF"/>
                    </a:solidFill>
                  </a:tcPr>
                </a:tc>
                <a:tc>
                  <a:txBody>
                    <a:bodyPr/>
                    <a:lstStyle/>
                    <a:p>
                      <a:r>
                        <a:rPr sz="1650" b="0">
                          <a:solidFill>
                            <a:srgbClr val="19344F"/>
                          </a:solidFill>
                          <a:latin typeface="Arial"/>
                          <a:ea typeface="Arial"/>
                          <a:cs typeface="Arial"/>
                        </a:rPr>
                        <a:t>Robot adaptation khi tương thích</a:t>
                      </a:r>
                    </a:p>
                    <a:p>
                      <a:r>
                        <a:rPr sz="1650" b="0">
                          <a:solidFill>
                            <a:srgbClr val="19344F"/>
                          </a:solidFill>
                          <a:latin typeface="Arial"/>
                          <a:ea typeface="Arial"/>
                          <a:cs typeface="Arial"/>
                        </a:rPr>
                        <a:t>Một failure bucket, correction / replay</a:t>
                      </a:r>
                    </a:p>
                  </a:txBody>
                  <a:tcPr marL="91440" marR="91440" marT="45720" marB="45720">
                    <a:solidFill>
                      <a:srgbClr val="FFFFFF"/>
                    </a:solidFill>
                  </a:tcPr>
                </a:tc>
                <a:tc>
                  <a:txBody>
                    <a:bodyPr/>
                    <a:lstStyle/>
                    <a:p>
                      <a:r>
                        <a:rPr sz="1650" b="0">
                          <a:solidFill>
                            <a:srgbClr val="19344F"/>
                          </a:solidFill>
                          <a:latin typeface="Arial"/>
                          <a:ea typeface="Arial"/>
                          <a:cs typeface="Arial"/>
                        </a:rPr>
                        <a:t>Release v2 + candidate</a:t>
                      </a:r>
                    </a:p>
                    <a:p>
                      <a:r>
                        <a:rPr sz="1650" b="0">
                          <a:solidFill>
                            <a:srgbClr val="19344F"/>
                          </a:solidFill>
                          <a:latin typeface="Arial"/>
                          <a:ea typeface="Arial"/>
                          <a:cs typeface="Arial"/>
                        </a:rPr>
                        <a:t>Development before / after</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Tuần 4</a:t>
                      </a:r>
                    </a:p>
                    <a:p>
                      <a:r>
                        <a:rPr sz="1650" b="0">
                          <a:solidFill>
                            <a:srgbClr val="19344F"/>
                          </a:solidFill>
                          <a:latin typeface="Arial"/>
                          <a:ea typeface="Arial"/>
                          <a:cs typeface="Arial"/>
                        </a:rPr>
                        <a:t>03–11/11</a:t>
                      </a:r>
                    </a:p>
                  </a:txBody>
                  <a:tcPr marL="91440" marR="91440" marT="45720" marB="45720">
                    <a:solidFill>
                      <a:srgbClr val="FFFFFF"/>
                    </a:solidFill>
                  </a:tcPr>
                </a:tc>
                <a:tc>
                  <a:txBody>
                    <a:bodyPr/>
                    <a:lstStyle/>
                    <a:p>
                      <a:r>
                        <a:rPr sz="1650" b="0">
                          <a:solidFill>
                            <a:srgbClr val="19344F"/>
                          </a:solidFill>
                          <a:latin typeface="Arial"/>
                          <a:ea typeface="Arial"/>
                          <a:cs typeface="Arial"/>
                        </a:rPr>
                        <a:t>Freeze policy / profile / scorer</a:t>
                      </a:r>
                    </a:p>
                    <a:p>
                      <a:r>
                        <a:rPr sz="1650" b="0">
                          <a:solidFill>
                            <a:srgbClr val="19344F"/>
                          </a:solidFill>
                          <a:latin typeface="Arial"/>
                          <a:ea typeface="Arial"/>
                          <a:cs typeface="Arial"/>
                        </a:rPr>
                        <a:t>Final giữ riêng, video, gói nạp lại</a:t>
                      </a:r>
                    </a:p>
                  </a:txBody>
                  <a:tcPr marL="91440" marR="91440" marT="45720" marB="45720">
                    <a:solidFill>
                      <a:srgbClr val="FFFFFF"/>
                    </a:solidFill>
                  </a:tcPr>
                </a:tc>
                <a:tc>
                  <a:txBody>
                    <a:bodyPr/>
                    <a:lstStyle/>
                    <a:p>
                      <a:r>
                        <a:rPr sz="1650" b="0">
                          <a:solidFill>
                            <a:srgbClr val="19344F"/>
                          </a:solidFill>
                          <a:latin typeface="Arial"/>
                          <a:ea typeface="Arial"/>
                          <a:cs typeface="Arial"/>
                        </a:rPr>
                        <a:t>Đích: demo thật + 20 lượt / policy</a:t>
                      </a:r>
                    </a:p>
                    <a:p>
                      <a:r>
                        <a:rPr sz="1650" b="0">
                          <a:solidFill>
                            <a:srgbClr val="19344F"/>
                          </a:solidFill>
                          <a:latin typeface="Arial"/>
                          <a:ea typeface="Arial"/>
                          <a:cs typeface="Arial"/>
                        </a:rPr>
                        <a:t>Sim và real báo riêng</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299883578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0E66604-BBD9-4DAE-9215-8F998FDA2077}"/>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Đúng nhịp ba vòng DENSO</a:t>
            </a:r>
            <a:endParaRPr/>
          </a:p>
        </p:txBody>
      </p:sp>
      <p:pic>
        <p:nvPicPr>
          <p:cNvPr id="3" name="">
            <a:extLst xmlns:a="http://schemas.openxmlformats.org/drawingml/2006/main">
              <a:ext uri="{FF2B5EF4-FFF2-40B4-BE49-F238E27FC236}">
                <a16:creationId xmlns:a16="http://schemas.microsoft.com/office/drawing/2014/main" id="{32B5FEB5-0458-45F6-9B3D-65320A5E0683}"/>
              </a:ext>
            </a:extLst>
          </p:cNvPr>
          <p:cNvPicPr>
            <a:picLocks xmlns:a="http://schemas.openxmlformats.org/drawingml/2006/main" noChangeAspect="1"/>
          </p:cNvPicPr>
          <p:nvPr/>
        </p:nvPicPr>
        <p:blipFill>
          <a:blip xmlns:r="http://schemas.openxmlformats.org/officeDocument/2006/relationships" xmlns:a="http://schemas.openxmlformats.org/drawingml/2006/main" r:embed="R3862cd61794846fd"/>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486C94F-05A9-4905-AD1C-71F5BB4FCB3C}"/>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Nguồn: densohackathon.vn và trang /challenges · kiểm 07/10/2026</a:t>
            </a:r>
          </a:p>
        </p:txBody>
      </p:sp>
      <p:sp>
        <p:nvSpPr>
          <p:cNvPr id="5" name="">
            <a:extLst xmlns:a="http://schemas.openxmlformats.org/drawingml/2006/main">
              <a:ext uri="{FF2B5EF4-FFF2-40B4-BE49-F238E27FC236}">
                <a16:creationId xmlns:a16="http://schemas.microsoft.com/office/drawing/2014/main" id="{4502B23B-7DA2-408C-B04C-5C016306B876}"/>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FFFFF"/>
                </a:solidFill>
                <a:latin typeface="Arial"/>
                <a:ea typeface="Arial"/>
                <a:cs typeface="Arial"/>
              </a:defRPr>
            </a:def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Các giai đoạn chồng nhau. Nộp chung kết trước 23:59:59 ngày 30/11, demo trực tiếp ngày 02/12.</a:t>
            </a:r>
          </a:p>
        </p:txBody>
      </p:sp>
      <p:sp>
        <p:nvSpPr>
          <p:cNvPr id="7" name="">
            <a:extLst xmlns:a="http://schemas.openxmlformats.org/drawingml/2006/main">
              <a:ext uri="{FF2B5EF4-FFF2-40B4-BE49-F238E27FC236}">
                <a16:creationId xmlns:a16="http://schemas.microsoft.com/office/drawing/2014/main" id="{E355EFE5-0F71-4942-9289-4DF845AA3C45}"/>
              </a:ext>
            </a:extLst>
          </p:cNvPr>
          <p:cNvSpPr>
            <a:spLocks xmlns:a="http://schemas.openxmlformats.org/drawingml/2006/main" noGrp="1"/>
          </p:cNvSpPr>
          <p:nvPr/>
        </p:nvSpPr>
        <p:spPr>
          <a:xfrm xmlns:a="http://schemas.openxmlformats.org/drawingml/2006/main">
            <a:off x="533400" y="5514975"/>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Vòng 2 có demo bắt buộc. Mục tiêu robot thật là đề xuất nhóm, phụ thuộc hardware.</a:t>
            </a:r>
          </a:p>
        </p:txBody>
      </p:sp>
      <p:sp>
        <p:nvSpPr>
          <p:cNvPr id="8" name="content">
            <a:extLst xmlns:a="http://schemas.openxmlformats.org/drawingml/2006/main">
              <a:ext uri="{FF2B5EF4-FFF2-40B4-BE49-F238E27FC236}">
                <a16:creationId xmlns:a16="http://schemas.microsoft.com/office/drawing/2014/main" id="{71BE337D-6D94-45F7-9758-0A58CEC2A8F7}"/>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13 / 24</a:t>
            </a:r>
          </a:p>
        </p:txBody>
      </p:sp>
      <p:graphicFrame>
        <p:nvGraphicFramePr>
          <p:cNvPr id="9" name="">
            <a:extLst xmlns:a="http://schemas.openxmlformats.org/drawingml/2006/main">
              <a:ext uri="{FF2B5EF4-FFF2-40B4-BE49-F238E27FC236}">
                <a16:creationId xmlns:a16="http://schemas.microsoft.com/office/drawing/2014/main" id="{D6F0A8D2-C250-4A5B-91BF-B34D960E79F7}"/>
              </a:ext>
            </a:extLst>
          </p:cNvPr>
          <p:cNvGraphicFramePr/>
          <p:nvPr/>
        </p:nvGraphicFramePr>
        <p:xfrm>
          <a:off xmlns:a="http://schemas.openxmlformats.org/drawingml/2006/main" x="533400" y="1714500"/>
          <a:ext xmlns:a="http://schemas.openxmlformats.org/drawingml/2006/main" cx="11125200" cy="3476625"/>
        </p:xfrm>
        <a:graphic xmlns:a="http://schemas.openxmlformats.org/drawingml/2006/main">
          <a:graphicData uri="http://schemas.openxmlformats.org/drawingml/2006/table">
            <a:tbl>
              <a:tblPr/>
              <a:tblGrid>
                <a:gridCol w="2667000"/>
                <a:gridCol w="4286250"/>
                <a:gridCol w="4171950"/>
              </a:tblGrid>
              <a:tr h="419100">
                <a:tc>
                  <a:txBody>
                    <a:bodyPr/>
                    <a:lstStyle/>
                    <a:p>
                      <a:r>
                        <a:rPr sz="1725" b="1">
                          <a:solidFill>
                            <a:srgbClr val="FFFFFF"/>
                          </a:solidFill>
                          <a:latin typeface="Arial"/>
                          <a:ea typeface="Arial"/>
                          <a:cs typeface="Arial"/>
                        </a:rPr>
                        <a:t>Mốc chính thức 2026</a:t>
                      </a:r>
                    </a:p>
                  </a:txBody>
                  <a:tcPr marL="91440" marR="91440" marT="45720" marB="45720">
                    <a:solidFill>
                      <a:srgbClr val="19344F"/>
                    </a:solidFill>
                  </a:tcPr>
                </a:tc>
                <a:tc>
                  <a:txBody>
                    <a:bodyPr/>
                    <a:lstStyle/>
                    <a:p>
                      <a:r>
                        <a:rPr sz="1725" b="1">
                          <a:solidFill>
                            <a:srgbClr val="FFFFFF"/>
                          </a:solidFill>
                          <a:latin typeface="Arial"/>
                          <a:ea typeface="Arial"/>
                          <a:cs typeface="Arial"/>
                        </a:rPr>
                        <a:t>Đội trình bày gì?</a:t>
                      </a:r>
                    </a:p>
                  </a:txBody>
                  <a:tcPr marL="91440" marR="91440" marT="45720" marB="45720">
                    <a:solidFill>
                      <a:srgbClr val="19344F"/>
                    </a:solidFill>
                  </a:tcPr>
                </a:tc>
                <a:tc>
                  <a:txBody>
                    <a:bodyPr/>
                    <a:lstStyle/>
                    <a:p>
                      <a:r>
                        <a:rPr sz="1725" b="1">
                          <a:solidFill>
                            <a:srgbClr val="FFFFFF"/>
                          </a:solidFill>
                          <a:latin typeface="Arial"/>
                          <a:ea typeface="Arial"/>
                          <a:cs typeface="Arial"/>
                        </a:rPr>
                        <a:t>Phần phát triển đề xuất</a:t>
                      </a:r>
                    </a:p>
                  </a:txBody>
                  <a:tcPr marL="91440" marR="91440" marT="45720" marB="45720">
                    <a:solidFill>
                      <a:srgbClr val="19344F"/>
                    </a:solidFill>
                  </a:tcPr>
                </a:tc>
              </a:tr>
              <a:tr h="1019175">
                <a:tc>
                  <a:txBody>
                    <a:bodyPr/>
                    <a:lstStyle/>
                    <a:p>
                      <a:r>
                        <a:rPr sz="1650" b="0">
                          <a:solidFill>
                            <a:srgbClr val="19344F"/>
                          </a:solidFill>
                          <a:latin typeface="Arial"/>
                          <a:ea typeface="Arial"/>
                          <a:cs typeface="Arial"/>
                        </a:rPr>
                        <a:t>Ý tưởng: 12/10</a:t>
                      </a:r>
                    </a:p>
                    <a:p>
                      <a:r>
                        <a:rPr sz="1650" b="0">
                          <a:solidFill>
                            <a:srgbClr val="19344F"/>
                          </a:solidFill>
                          <a:latin typeface="Arial"/>
                          <a:ea typeface="Arial"/>
                          <a:cs typeface="Arial"/>
                        </a:rPr>
                        <a:t>Xét online 13–19/10</a:t>
                      </a:r>
                    </a:p>
                  </a:txBody>
                  <a:tcPr marL="91440" marR="91440" marT="45720" marB="45720">
                    <a:solidFill>
                      <a:srgbClr val="FFFFFF"/>
                    </a:solidFill>
                  </a:tcPr>
                </a:tc>
                <a:tc>
                  <a:txBody>
                    <a:bodyPr/>
                    <a:lstStyle/>
                    <a:p>
                      <a:r>
                        <a:rPr sz="1650" b="0">
                          <a:solidFill>
                            <a:srgbClr val="19344F"/>
                          </a:solidFill>
                          <a:latin typeface="Arial"/>
                          <a:ea typeface="Arial"/>
                          <a:cs typeface="Arial"/>
                        </a:rPr>
                        <a:t>Problem, điểm nhấn và pipeline</a:t>
                      </a:r>
                    </a:p>
                    <a:p>
                      <a:r>
                        <a:rPr sz="1650" b="0">
                          <a:solidFill>
                            <a:srgbClr val="19344F"/>
                          </a:solidFill>
                          <a:latin typeface="Arial"/>
                          <a:ea typeface="Arial"/>
                          <a:cs typeface="Arial"/>
                        </a:rPr>
                        <a:t>Dữ liệu sẵn có, nguồn lực, gates</a:t>
                      </a:r>
                    </a:p>
                  </a:txBody>
                  <a:tcPr marL="91440" marR="91440" marT="45720" marB="45720">
                    <a:solidFill>
                      <a:srgbClr val="FFFFFF"/>
                    </a:solidFill>
                  </a:tcPr>
                </a:tc>
                <a:tc>
                  <a:txBody>
                    <a:bodyPr/>
                    <a:lstStyle/>
                    <a:p>
                      <a:r>
                        <a:rPr sz="1650" b="0">
                          <a:solidFill>
                            <a:srgbClr val="19344F"/>
                          </a:solidFill>
                          <a:latin typeface="Arial"/>
                          <a:ea typeface="Arial"/>
                          <a:cs typeface="Arial"/>
                        </a:rPr>
                        <a:t>Bắt đầu PoC từ 13/10</a:t>
                      </a:r>
                    </a:p>
                    <a:p>
                      <a:r>
                        <a:rPr sz="1650" b="0">
                          <a:solidFill>
                            <a:srgbClr val="19344F"/>
                          </a:solidFill>
                          <a:latin typeface="Arial"/>
                          <a:ea typeface="Arial"/>
                          <a:cs typeface="Arial"/>
                        </a:rPr>
                        <a:t>Chưa nhận đây là kết quả đã có</a:t>
                      </a:r>
                    </a:p>
                  </a:txBody>
                  <a:tcPr marL="91440" marR="91440" marT="45720" marB="45720">
                    <a:solidFill>
                      <a:srgbClr val="FFFFFF"/>
                    </a:solidFill>
                  </a:tcPr>
                </a:tc>
              </a:tr>
              <a:tr h="1019175">
                <a:tc>
                  <a:txBody>
                    <a:bodyPr/>
                    <a:lstStyle/>
                    <a:p>
                      <a:r>
                        <a:rPr sz="1650" b="0">
                          <a:solidFill>
                            <a:srgbClr val="19344F"/>
                          </a:solidFill>
                          <a:latin typeface="Arial"/>
                          <a:ea typeface="Arial"/>
                          <a:cs typeface="Arial"/>
                        </a:rPr>
                        <a:t>Thuyết trình: 16/11</a:t>
                      </a:r>
                    </a:p>
                  </a:txBody>
                  <a:tcPr marL="91440" marR="91440" marT="45720" marB="45720">
                    <a:solidFill>
                      <a:srgbClr val="FFFFFF"/>
                    </a:solidFill>
                  </a:tcPr>
                </a:tc>
                <a:tc>
                  <a:txBody>
                    <a:bodyPr/>
                    <a:lstStyle/>
                    <a:p>
                      <a:r>
                        <a:rPr sz="1650" b="0">
                          <a:solidFill>
                            <a:srgbClr val="19344F"/>
                          </a:solidFill>
                          <a:latin typeface="Arial"/>
                          <a:ea typeface="Arial"/>
                          <a:cs typeface="Arial"/>
                        </a:rPr>
                        <a:t>Video demo tối đa 15 phút + pitch</a:t>
                      </a:r>
                    </a:p>
                    <a:p>
                      <a:r>
                        <a:rPr sz="1650" b="0">
                          <a:solidFill>
                            <a:srgbClr val="19344F"/>
                          </a:solidFill>
                          <a:latin typeface="Arial"/>
                          <a:ea typeface="Arial"/>
                          <a:cs typeface="Arial"/>
                        </a:rPr>
                        <a:t>Input/output, data, thiết bị, resource</a:t>
                      </a:r>
                    </a:p>
                  </a:txBody>
                  <a:tcPr marL="91440" marR="91440" marT="45720" marB="45720">
                    <a:solidFill>
                      <a:srgbClr val="FFFFFF"/>
                    </a:solidFill>
                  </a:tcPr>
                </a:tc>
                <a:tc>
                  <a:txBody>
                    <a:bodyPr/>
                    <a:lstStyle/>
                    <a:p>
                      <a:r>
                        <a:rPr sz="1650" b="0">
                          <a:solidFill>
                            <a:srgbClr val="19344F"/>
                          </a:solidFill>
                          <a:latin typeface="Arial"/>
                          <a:ea typeface="Arial"/>
                          <a:cs typeface="Arial"/>
                        </a:rPr>
                        <a:t>PoC 30 ngày + buffer</a:t>
                      </a:r>
                    </a:p>
                    <a:p>
                      <a:r>
                        <a:rPr sz="1650" b="0">
                          <a:solidFill>
                            <a:srgbClr val="19344F"/>
                          </a:solidFill>
                          <a:latin typeface="Arial"/>
                          <a:ea typeface="Arial"/>
                          <a:cs typeface="Arial"/>
                        </a:rPr>
                        <a:t>Robot thật khi hardware gate đạt</a:t>
                      </a:r>
                    </a:p>
                  </a:txBody>
                  <a:tcPr marL="91440" marR="91440" marT="45720" marB="45720">
                    <a:solidFill>
                      <a:srgbClr val="FFFFFF"/>
                    </a:solidFill>
                  </a:tcPr>
                </a:tc>
              </a:tr>
              <a:tr h="1019175">
                <a:tc>
                  <a:txBody>
                    <a:bodyPr/>
                    <a:lstStyle/>
                    <a:p>
                      <a:r>
                        <a:rPr sz="1650" b="0">
                          <a:solidFill>
                            <a:srgbClr val="19344F"/>
                          </a:solidFill>
                          <a:latin typeface="Arial"/>
                          <a:ea typeface="Arial"/>
                          <a:cs typeface="Arial"/>
                        </a:rPr>
                        <a:t>Nộp: 30/11</a:t>
                      </a:r>
                    </a:p>
                    <a:p>
                      <a:r>
                        <a:rPr sz="1650" b="0">
                          <a:solidFill>
                            <a:srgbClr val="19344F"/>
                          </a:solidFill>
                          <a:latin typeface="Arial"/>
                          <a:ea typeface="Arial"/>
                          <a:cs typeface="Arial"/>
                        </a:rPr>
                        <a:t>Chung kết: 02/12</a:t>
                      </a:r>
                    </a:p>
                  </a:txBody>
                  <a:tcPr marL="91440" marR="91440" marT="45720" marB="45720">
                    <a:solidFill>
                      <a:srgbClr val="FFFFFF"/>
                    </a:solidFill>
                  </a:tcPr>
                </a:tc>
                <a:tc>
                  <a:txBody>
                    <a:bodyPr/>
                    <a:lstStyle/>
                    <a:p>
                      <a:r>
                        <a:rPr sz="1650" b="0">
                          <a:solidFill>
                            <a:srgbClr val="19344F"/>
                          </a:solidFill>
                          <a:latin typeface="Arial"/>
                          <a:ea typeface="Arial"/>
                          <a:cs typeface="Arial"/>
                        </a:rPr>
                        <a:t>Demo trực tiếp và bảo vệ giải pháp</a:t>
                      </a:r>
                    </a:p>
                    <a:p>
                      <a:r>
                        <a:rPr sz="1650" b="0">
                          <a:solidFill>
                            <a:srgbClr val="19344F"/>
                          </a:solidFill>
                          <a:latin typeface="Arial"/>
                          <a:ea typeface="Arial"/>
                          <a:cs typeface="Arial"/>
                        </a:rPr>
                        <a:t>Slide PPTX hoặc Canva công khai</a:t>
                      </a:r>
                    </a:p>
                  </a:txBody>
                  <a:tcPr marL="91440" marR="91440" marT="45720" marB="45720">
                    <a:solidFill>
                      <a:srgbClr val="FFFFFF"/>
                    </a:solidFill>
                  </a:tcPr>
                </a:tc>
                <a:tc>
                  <a:txBody>
                    <a:bodyPr/>
                    <a:lstStyle/>
                    <a:p>
                      <a:r>
                        <a:rPr sz="1650" b="0">
                          <a:solidFill>
                            <a:srgbClr val="19344F"/>
                          </a:solidFill>
                          <a:latin typeface="Arial"/>
                          <a:ea typeface="Arial"/>
                          <a:cs typeface="Arial"/>
                        </a:rPr>
                        <a:t>Củng cố sau thuyết trình</a:t>
                      </a:r>
                    </a:p>
                    <a:p>
                      <a:r>
                        <a:rPr sz="1650" b="0">
                          <a:solidFill>
                            <a:srgbClr val="19344F"/>
                          </a:solidFill>
                          <a:latin typeface="Arial"/>
                          <a:ea typeface="Arial"/>
                          <a:cs typeface="Arial"/>
                        </a:rPr>
                        <a:t>Mentoring từ 20/10, không chờ cuối</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299883578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5" name="Picture 4">
            <a:extLst xmlns:a="http://schemas.openxmlformats.org/drawingml/2006/main">
              <a:ext uri="{FF2B5EF4-FFF2-40B4-BE49-F238E27FC236}">
                <a16:creationId xmlns:a16="http://schemas.microsoft.com/office/drawing/2014/main" id="{98669C0C-0BFA-41DE-AF3C-FDABE8F2B65B}"/>
              </a:ext>
            </a:extLst>
          </p:cNvPr>
          <p:cNvPicPr>
            <a:picLocks xmlns:a="http://schemas.openxmlformats.org/drawingml/2006/main" noChangeAspect="1"/>
          </p:cNvPicPr>
          <p:nvPr/>
        </p:nvPicPr>
        <p:blipFill>
          <a:blip xmlns:r="http://schemas.openxmlformats.org/officeDocument/2006/relationships" xmlns:a="http://schemas.openxmlformats.org/drawingml/2006/main" r:embed="R2d05fbd0e7384282">
            <a:lum bright="70000" contrast="-70000"/>
          </a:blip>
          <a:stretch xmlns:a="http://schemas.openxmlformats.org/drawingml/2006/main">
            <a:fillRect l="0" t="0" r="0" b="0"/>
          </a:stretch>
        </p:blipFill>
        <p:spPr>
          <a:xfrm xmlns:a="http://schemas.openxmlformats.org/drawingml/2006/main">
            <a:off x="399393" y="325821"/>
            <a:ext cx="1905000" cy="762000"/>
          </a:xfrm>
          <a:prstGeom xmlns:a="http://schemas.openxmlformats.org/drawingml/2006/main" prst="rect">
            <a:avLst/>
          </a:prstGeom>
        </p:spPr>
      </p:pic>
      <p:sp>
        <p:nvSpPr>
          <p:cNvPr id="2" name="content">
            <a:extLst xmlns:a="http://schemas.openxmlformats.org/drawingml/2006/main">
              <a:ext uri="{FF2B5EF4-FFF2-40B4-BE49-F238E27FC236}">
                <a16:creationId xmlns:a16="http://schemas.microsoft.com/office/drawing/2014/main" id="{523E21C8-7FAA-4B9C-A29C-881D3F0BBCC9}"/>
              </a:ext>
            </a:extLst>
          </p:cNvPr>
          <p:cNvSpPr>
            <a:spLocks xmlns:a="http://schemas.openxmlformats.org/drawingml/2006/main" noGrp="1"/>
          </p:cNvSpPr>
          <p:nvPr/>
        </p:nvSpPr>
        <p:spPr>
          <a:xfrm xmlns:a="http://schemas.openxmlformats.org/drawingml/2006/main">
            <a:off x="533400" y="2590800"/>
            <a:ext cx="111252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150" b="1">
                <a:solidFill>
                  <a:srgbClr val="FFFFFF"/>
                </a:solidFill>
                <a:latin typeface="Arial"/>
                <a:ea typeface="Arial"/>
                <a:cs typeface="Arial"/>
              </a:defRPr>
            </a:defPPr>
          </a:lstStyle>
          <a:p xmlns:a="http://schemas.openxmlformats.org/drawingml/2006/main">
            <a:pPr algn="l">
              <a:buNone/>
              <a:defRPr sz="3150" b="1">
                <a:solidFill>
                  <a:srgbClr val="FFFFFF"/>
                </a:solidFill>
                <a:latin typeface="Arial"/>
                <a:ea typeface="Arial"/>
                <a:cs typeface="Arial"/>
              </a:defRPr>
            </a:pPr>
            <a:r>
              <a:rPr sz="3150" b="1">
                <a:solidFill>
                  <a:srgbClr val="FFFFFF"/>
                </a:solidFill>
                <a:latin typeface="Arial"/>
                <a:ea typeface="Arial"/>
                <a:cs typeface="Arial"/>
              </a:rPr>
              <a:t>DỮ LIỆU CÓ ÍCH CHO KỸ NĂNG ROBOT</a:t>
            </a:r>
          </a:p>
        </p:txBody>
      </p:sp>
      <p:sp>
        <p:nvSpPr>
          <p:cNvPr id="3" name="content">
            <a:extLst xmlns:a="http://schemas.openxmlformats.org/drawingml/2006/main">
              <a:ext uri="{FF2B5EF4-FFF2-40B4-BE49-F238E27FC236}">
                <a16:creationId xmlns:a16="http://schemas.microsoft.com/office/drawing/2014/main" id="{F0A535AF-98CC-440B-957D-C613F7928F67}"/>
              </a:ext>
            </a:extLst>
          </p:cNvPr>
          <p:cNvSpPr>
            <a:spLocks xmlns:a="http://schemas.openxmlformats.org/drawingml/2006/main" noGrp="1"/>
          </p:cNvSpPr>
          <p:nvPr/>
        </p:nvSpPr>
        <p:spPr>
          <a:xfrm xmlns:a="http://schemas.openxmlformats.org/drawingml/2006/main">
            <a:off x="533400" y="3886200"/>
            <a:ext cx="111252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a:solidFill>
                  <a:srgbClr val="FFFFFF"/>
                </a:solidFill>
                <a:latin typeface="Arial"/>
                <a:ea typeface="Arial"/>
                <a:cs typeface="Arial"/>
              </a:defRPr>
            </a:defPPr>
          </a:lstStyle>
          <a:p xmlns:a="http://schemas.openxmlformats.org/drawingml/2006/main">
            <a:pPr algn="l">
              <a:buNone/>
              <a:defRPr sz="2175" b="0">
                <a:solidFill>
                  <a:srgbClr val="FFFFFF"/>
                </a:solidFill>
                <a:latin typeface="Arial"/>
                <a:ea typeface="Arial"/>
                <a:cs typeface="Arial"/>
              </a:defRPr>
            </a:pPr>
            <a:r>
              <a:rPr sz="2175" b="0">
                <a:solidFill>
                  <a:srgbClr val="FFFFFF"/>
                </a:solidFill>
                <a:latin typeface="Arial"/>
                <a:ea typeface="Arial"/>
                <a:cs typeface="Arial"/>
              </a:rPr>
              <a:t>PoC 30 ngày: model học task, checkpoint nạp lại, robot chạy ngoài đời.</a:t>
            </a:r>
          </a:p>
          <a:p xmlns:a="http://schemas.openxmlformats.org/drawingml/2006/main">
            <a:pPr algn="l">
              <a:buNone/>
              <a:defRPr sz="2175" b="0">
                <a:solidFill>
                  <a:srgbClr val="FFFFFF"/>
                </a:solidFill>
                <a:latin typeface="Arial"/>
                <a:ea typeface="Arial"/>
                <a:cs typeface="Arial"/>
              </a:defRPr>
            </a:pPr>
            <a:r>
              <a:rPr sz="2175" b="0">
                <a:solidFill>
                  <a:srgbClr val="FFFFFF"/>
                </a:solidFill>
                <a:latin typeface="Arial"/>
                <a:ea typeface="Arial"/>
                <a:cs typeface="Arial"/>
              </a:rPr>
              <a:t>Một vòng dữ liệu từ lỗi đến kết quả trước / sau.</a:t>
            </a:r>
          </a:p>
        </p:txBody>
      </p:sp>
      <p:sp>
        <p:nvSpPr>
          <p:cNvPr id="4" name="content">
            <a:extLst xmlns:a="http://schemas.openxmlformats.org/drawingml/2006/main">
              <a:ext uri="{FF2B5EF4-FFF2-40B4-BE49-F238E27FC236}">
                <a16:creationId xmlns:a16="http://schemas.microsoft.com/office/drawing/2014/main" id="{5FAD1278-6CE1-406B-890B-125FDE442B49}"/>
              </a:ext>
            </a:extLst>
          </p:cNvPr>
          <p:cNvSpPr>
            <a:spLocks xmlns:a="http://schemas.openxmlformats.org/drawingml/2006/main" noGrp="1"/>
          </p:cNvSpPr>
          <p:nvPr/>
        </p:nvSpPr>
        <p:spPr>
          <a:xfrm xmlns:a="http://schemas.openxmlformats.org/drawingml/2006/main">
            <a:off x="533400" y="598170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FFFFFF"/>
                </a:solidFill>
                <a:latin typeface="Arial"/>
                <a:ea typeface="Arial"/>
                <a:cs typeface="Arial"/>
              </a:defRPr>
            </a:pPr>
            <a:r>
              <a:rPr sz="1800" b="0">
                <a:solidFill>
                  <a:srgbClr val="FFFFFF"/>
                </a:solidFill>
                <a:latin typeface="Arial"/>
                <a:ea typeface="Arial"/>
                <a:cs typeface="Arial"/>
              </a:rPr>
              <a:t>Hồ sơ chi tiết: hiwe0305.github.io/denso-challenge/</a:t>
            </a:r>
          </a:p>
        </p:txBody>
      </p:sp>
      <p:sp>
        <p:nvSpPr>
          <p:cNvPr id="6" name="content">
            <a:extLst xmlns:a="http://schemas.openxmlformats.org/drawingml/2006/main">
              <a:ext uri="{FF2B5EF4-FFF2-40B4-BE49-F238E27FC236}">
                <a16:creationId xmlns:a16="http://schemas.microsoft.com/office/drawing/2014/main" id="{1397BAB5-E0B5-4B25-82A0-1B721E440B48}"/>
              </a:ext>
            </a:extLst>
          </p:cNvPr>
          <p:cNvSpPr>
            <a:spLocks xmlns:a="http://schemas.openxmlformats.org/drawingml/2006/main" noGrp="1"/>
          </p:cNvSpPr>
          <p:nvPr/>
        </p:nvSpPr>
        <p:spPr>
          <a:xfrm xmlns:a="http://schemas.openxmlformats.org/drawingml/2006/main">
            <a:off x="533400" y="5276850"/>
            <a:ext cx="1112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FFFFFF"/>
                </a:solidFill>
                <a:latin typeface="Arial"/>
                <a:ea typeface="Arial"/>
                <a:cs typeface="Arial"/>
              </a:defRPr>
            </a:def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Dùng data public ngay. Chốt robot, camera và lịch truy cập với BTC để đạt demo vật lý.</a:t>
            </a:r>
          </a:p>
        </p:txBody>
      </p:sp>
    </p:spTree>
    <p:extLst>
      <p:ext uri="{BB962C8B-B14F-4D97-AF65-F5344CB8AC3E}">
        <p14:creationId xmlns:p14="http://schemas.microsoft.com/office/powerpoint/2010/main" val="322705341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8C35264A-0B8A-4DC1-8546-445C977E9AC8}"/>
              </a:ext>
            </a:extLst>
          </p:cNvPr>
          <p:cNvPicPr>
            <a:picLocks xmlns:a="http://schemas.openxmlformats.org/drawingml/2006/main" noChangeAspect="1"/>
          </p:cNvPicPr>
          <p:nvPr/>
        </p:nvPicPr>
        <p:blipFill>
          <a:blip xmlns:r="http://schemas.openxmlformats.org/officeDocument/2006/relationships" xmlns:a="http://schemas.openxmlformats.org/drawingml/2006/main" r:embed="R01698692ee1f4720"/>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5905500" y="238125"/>
            <a:ext cx="5715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Proxy nghiên cứu A1</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Thiết kế mở rộng sau PoC public task</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A1 là task riêng, chưa dataset/rollout native. Không đổi nhãn public bottle-to-cabinet thành linh kiện vào khay.</a:t>
            </a:r>
          </a:p>
        </p:txBody>
      </p:sp>
      <p:pic>
        <p:nvPicPr>
          <p:cNvPr id="18" name="">
            <a:extLst xmlns:a="http://schemas.openxmlformats.org/drawingml/2006/main">
              <a:ext uri="{FF2B5EF4-FFF2-40B4-BE49-F238E27FC236}">
                <a16:creationId xmlns:a16="http://schemas.microsoft.com/office/drawing/2014/main" id="{3039E47E-3D01-4CDD-91A3-BD9BDFCB8C4E}"/>
              </a:ext>
            </a:extLst>
          </p:cNvPr>
          <p:cNvPicPr>
            <a:picLocks xmlns:a="http://schemas.openxmlformats.org/drawingml/2006/main" noChangeAspect="1"/>
          </p:cNvPicPr>
          <p:nvPr/>
        </p:nvPicPr>
        <p:blipFill>
          <a:blip xmlns:r="http://schemas.openxmlformats.org/officeDocument/2006/relationships" xmlns:a="http://schemas.openxmlformats.org/drawingml/2006/main" r:embed="Rd04b50689aa0407b"/>
          <a:stretch xmlns:a="http://schemas.openxmlformats.org/drawingml/2006/main"/>
        </p:blipFill>
        <p:spPr>
          <a:xfrm xmlns:a="http://schemas.openxmlformats.org/drawingml/2006/main">
            <a:off x="536391" y="1638300"/>
            <a:ext cx="5280393" cy="2971800"/>
          </a:xfrm>
          <a:prstGeom xmlns:a="http://schemas.openxmlformats.org/drawingml/2006/main" prst="rect">
            <a:avLst/>
          </a:prstGeom>
        </p:spPr>
      </p:pic>
      <p:sp>
        <p:nvSpPr>
          <p:cNvPr id="9" name="content">
            <a:extLst xmlns:a="http://schemas.openxmlformats.org/drawingml/2006/main">
              <a:ext uri="{FF2B5EF4-FFF2-40B4-BE49-F238E27FC236}">
                <a16:creationId xmlns:a16="http://schemas.microsoft.com/office/drawing/2014/main" id="{873357A5-FE21-4002-8322-2CE6CBC9C407}"/>
              </a:ext>
            </a:extLst>
          </p:cNvPr>
          <p:cNvSpPr>
            <a:spLocks xmlns:a="http://schemas.openxmlformats.org/drawingml/2006/main" noGrp="1"/>
          </p:cNvSpPr>
          <p:nvPr/>
        </p:nvSpPr>
        <p:spPr>
          <a:xfrm xmlns:a="http://schemas.openxmlformats.org/drawingml/2006/main">
            <a:off x="6248400" y="1609725"/>
            <a:ext cx="5334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153251"/>
                </a:solidFill>
                <a:latin typeface="Arial"/>
                <a:ea typeface="Arial"/>
                <a:cs typeface="Arial"/>
              </a:defRPr>
            </a:pPr>
            <a:r>
              <a:rPr sz="2250" b="1">
                <a:solidFill>
                  <a:srgbClr val="153251"/>
                </a:solidFill>
                <a:latin typeface="Arial"/>
                <a:ea typeface="Arial"/>
                <a:cs typeface="Arial"/>
              </a:rPr>
              <a:t>“Lấy linh kiện vàng, đặt vào A1,</a:t>
            </a:r>
          </a:p>
          <a:p xmlns:a="http://schemas.openxmlformats.org/drawingml/2006/main">
            <a:pPr algn="l">
              <a:buNone/>
              <a:defRPr sz="2250" b="1">
                <a:solidFill>
                  <a:srgbClr val="153251"/>
                </a:solidFill>
                <a:latin typeface="Arial"/>
                <a:ea typeface="Arial"/>
                <a:cs typeface="Arial"/>
              </a:defRPr>
            </a:pPr>
            <a:r>
              <a:rPr sz="2250" b="1">
                <a:solidFill>
                  <a:srgbClr val="153251"/>
                </a:solidFill>
                <a:latin typeface="Arial"/>
                <a:ea typeface="Arial"/>
                <a:cs typeface="Arial"/>
              </a:rPr>
              <a:t>nhả rồi rút tay.”</a:t>
            </a:r>
          </a:p>
        </p:txBody>
      </p:sp>
      <p:sp>
        <p:nvSpPr>
          <p:cNvPr id="10" name="content">
            <a:extLst xmlns:a="http://schemas.openxmlformats.org/drawingml/2006/main">
              <a:ext uri="{FF2B5EF4-FFF2-40B4-BE49-F238E27FC236}">
                <a16:creationId xmlns:a16="http://schemas.microsoft.com/office/drawing/2014/main" id="{0D8E12F2-1A23-4350-9C4F-419259A7DC33}"/>
              </a:ext>
            </a:extLst>
          </p:cNvPr>
          <p:cNvSpPr>
            <a:spLocks xmlns:a="http://schemas.openxmlformats.org/drawingml/2006/main" noGrp="1"/>
          </p:cNvSpPr>
          <p:nvPr/>
        </p:nvSpPr>
        <p:spPr>
          <a:xfrm xmlns:a="http://schemas.openxmlformats.org/drawingml/2006/main">
            <a:off x="6248400" y="2676525"/>
            <a:ext cx="53340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Lấy đúng ID vật</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Footprint nằm trọn trong A1</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Có mặt đỡ, vật ổn định</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Đã nhả và tay đã rút</a:t>
            </a:r>
          </a:p>
        </p:txBody>
      </p:sp>
      <p:sp>
        <p:nvSpPr>
          <p:cNvPr id="11" name="content">
            <a:extLst xmlns:a="http://schemas.openxmlformats.org/drawingml/2006/main">
              <a:ext uri="{FF2B5EF4-FFF2-40B4-BE49-F238E27FC236}">
                <a16:creationId xmlns:a16="http://schemas.microsoft.com/office/drawing/2014/main" id="{93E00171-F1B9-43E2-A12A-8AB8D858A951}"/>
              </a:ext>
            </a:extLst>
          </p:cNvPr>
          <p:cNvSpPr>
            <a:spLocks xmlns:a="http://schemas.openxmlformats.org/drawingml/2006/main" noGrp="1"/>
          </p:cNvSpPr>
          <p:nvPr/>
        </p:nvSpPr>
        <p:spPr>
          <a:xfrm xmlns:a="http://schemas.openxmlformats.org/drawingml/2006/main">
            <a:off x="533400" y="4667250"/>
            <a:ext cx="5286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4B637B"/>
                </a:solidFill>
                <a:latin typeface="Arial"/>
                <a:ea typeface="Arial"/>
                <a:cs typeface="Arial"/>
              </a:defRPr>
            </a:pPr>
            <a:r>
              <a:rPr sz="1350" b="0">
                <a:solidFill>
                  <a:srgbClr val="4B637B"/>
                </a:solidFill>
                <a:latin typeface="Arial"/>
                <a:ea typeface="Arial"/>
                <a:cs typeface="Arial"/>
              </a:rPr>
              <a:t>Ảnh minh họa AI, chưa là rollout native.</a:t>
            </a:r>
          </a:p>
        </p:txBody>
      </p:sp>
      <p:sp>
        <p:nvSpPr>
          <p:cNvPr id="12" name="content">
            <a:extLst xmlns:a="http://schemas.openxmlformats.org/drawingml/2006/main">
              <a:ext uri="{FF2B5EF4-FFF2-40B4-BE49-F238E27FC236}">
                <a16:creationId xmlns:a16="http://schemas.microsoft.com/office/drawing/2014/main" id="{1D0CAFEA-A62D-48A3-B03F-FBAD339C3C52}"/>
              </a:ext>
            </a:extLst>
          </p:cNvPr>
          <p:cNvSpPr>
            <a:spLocks xmlns:a="http://schemas.openxmlformats.org/drawingml/2006/main" noGrp="1"/>
          </p:cNvSpPr>
          <p:nvPr/>
        </p:nvSpPr>
        <p:spPr>
          <a:xfrm xmlns:a="http://schemas.openxmlformats.org/drawingml/2006/main">
            <a:off x="533400" y="493395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4B637B"/>
                </a:solidFill>
                <a:latin typeface="Arial"/>
                <a:ea typeface="Arial"/>
                <a:cs typeface="Arial"/>
              </a:defRPr>
            </a:pPr>
            <a:r>
              <a:rPr sz="1725" b="0">
                <a:solidFill>
                  <a:srgbClr val="4B637B"/>
                </a:solidFill>
                <a:latin typeface="Arial"/>
                <a:ea typeface="Arial"/>
                <a:cs typeface="Arial"/>
              </a:rPr>
              <a:t>Geometry đề xuất: vật 40 × 25 × 15 mm, vùng trong A1 80 × 60 mm.</a:t>
            </a:r>
          </a:p>
          <a:p xmlns:a="http://schemas.openxmlformats.org/drawingml/2006/main">
            <a:pPr algn="l">
              <a:buNone/>
              <a:defRPr sz="1725" b="0">
                <a:solidFill>
                  <a:srgbClr val="4B637B"/>
                </a:solidFill>
                <a:latin typeface="Arial"/>
                <a:ea typeface="Arial"/>
                <a:cs typeface="Arial"/>
              </a:defRPr>
            </a:pPr>
            <a:r>
              <a:rPr sz="1725" b="0">
                <a:solidFill>
                  <a:srgbClr val="4B637B"/>
                </a:solidFill>
                <a:latin typeface="Arial"/>
                <a:ea typeface="Arial"/>
                <a:cs typeface="Arial"/>
              </a:rPr>
              <a:t>Draft: timeout 30 s, ổn định 2 s. Không yêu cầu yaw trong MVP.</a:t>
            </a:r>
          </a:p>
        </p:txBody>
      </p:sp>
      <p:sp>
        <p:nvSpPr>
          <p:cNvPr id="19" name="content">
            <a:extLst xmlns:a="http://schemas.openxmlformats.org/drawingml/2006/main">
              <a:ext uri="{FF2B5EF4-FFF2-40B4-BE49-F238E27FC236}">
                <a16:creationId xmlns:a16="http://schemas.microsoft.com/office/drawing/2014/main" id="{14823F55-90AA-431E-B686-7D4974713101}"/>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15 / 24</a:t>
            </a:r>
          </a:p>
        </p:txBody>
      </p:sp>
    </p:spTree>
    <p:extLst>
      <p:ext uri="{BB962C8B-B14F-4D97-AF65-F5344CB8AC3E}">
        <p14:creationId xmlns:p14="http://schemas.microsoft.com/office/powerpoint/2010/main" val="419144437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EC7B2B6A-86F3-4A77-8AFB-1E12DC2A85D8}"/>
              </a:ext>
            </a:extLst>
          </p:cNvPr>
          <p:cNvPicPr>
            <a:picLocks xmlns:a="http://schemas.openxmlformats.org/drawingml/2006/main" noChangeAspect="1"/>
          </p:cNvPicPr>
          <p:nvPr/>
        </p:nvPicPr>
        <p:blipFill>
          <a:blip xmlns:r="http://schemas.openxmlformats.org/officeDocument/2006/relationships" xmlns:a="http://schemas.openxmlformats.org/drawingml/2006/main" r:embed="Rc325dcf05e2f4326"/>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Bằng chứng cho cơ hội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Số liệu bên ngoài theo protocol riêng. Chưa phải kết quả A1 hoặc số đo chi phí tại DENSO.</a:t>
            </a:r>
          </a:p>
        </p:txBody>
      </p:sp>
      <p:sp>
        <p:nvSpPr>
          <p:cNvPr id="11" name="">
            <a:extLst xmlns:a="http://schemas.openxmlformats.org/drawingml/2006/main">
              <a:ext uri="{FF2B5EF4-FFF2-40B4-BE49-F238E27FC236}">
                <a16:creationId xmlns:a16="http://schemas.microsoft.com/office/drawing/2014/main" id="{6A694D47-0EEA-4591-B721-B99B82EFDFF8}"/>
              </a:ext>
            </a:extLst>
          </p:cNvPr>
          <p:cNvSpPr>
            <a:spLocks xmlns:a="http://schemas.openxmlformats.org/drawingml/2006/main" noGrp="1"/>
          </p:cNvSpPr>
          <p:nvPr/>
        </p:nvSpPr>
        <p:spPr>
          <a:xfrm xmlns:a="http://schemas.openxmlformats.org/drawingml/2006/main">
            <a:off x="533400" y="16668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16 triệu video</a:t>
            </a:r>
          </a:p>
        </p:txBody>
      </p:sp>
      <p:sp>
        <p:nvSpPr>
          <p:cNvPr id="12" name="">
            <a:extLst xmlns:a="http://schemas.openxmlformats.org/drawingml/2006/main">
              <a:ext uri="{FF2B5EF4-FFF2-40B4-BE49-F238E27FC236}">
                <a16:creationId xmlns:a16="http://schemas.microsoft.com/office/drawing/2014/main" id="{A77FA06B-91D0-49FB-BDA9-A91F81704A9A}"/>
              </a:ext>
            </a:extLst>
          </p:cNvPr>
          <p:cNvSpPr>
            <a:spLocks xmlns:a="http://schemas.openxmlformats.org/drawingml/2006/main" noGrp="1"/>
          </p:cNvSpPr>
          <p:nvPr/>
        </p:nvSpPr>
        <p:spPr>
          <a:xfrm xmlns:a="http://schemas.openxmlformats.org/drawingml/2006/main">
            <a:off x="533400" y="24288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53251"/>
                </a:solidFill>
                <a:latin typeface="Arial"/>
                <a:ea typeface="Arial"/>
                <a:cs typeface="Arial"/>
              </a:defRPr>
            </a:defPPr>
          </a:lstStyle>
          <a:p xmlns:a="http://schemas.openxmlformats.org/drawingml/2006/main">
            <a:pPr>
              <a:buNone/>
              <a:defRPr sz="2325" b="1">
                <a:solidFill>
                  <a:srgbClr val="153251"/>
                </a:solidFill>
                <a:latin typeface="Arial"/>
                <a:ea typeface="Arial"/>
                <a:cs typeface="Arial"/>
              </a:defRPr>
            </a:pPr>
            <a:r>
              <a:rPr sz="2325" b="1">
                <a:solidFill>
                  <a:srgbClr val="153251"/>
                </a:solidFill>
                <a:latin typeface="Arial"/>
                <a:ea typeface="Arial"/>
                <a:cs typeface="Arial"/>
              </a:rPr>
              <a:t>15 triệu USD trả creators</a:t>
            </a:r>
          </a:p>
        </p:txBody>
      </p:sp>
      <p:sp>
        <p:nvSpPr>
          <p:cNvPr id="13" name="">
            <a:extLst xmlns:a="http://schemas.openxmlformats.org/drawingml/2006/main">
              <a:ext uri="{FF2B5EF4-FFF2-40B4-BE49-F238E27FC236}">
                <a16:creationId xmlns:a16="http://schemas.microsoft.com/office/drawing/2014/main" id="{7C5DADD9-84D3-478E-BF5B-B4744C5DA8EF}"/>
              </a:ext>
            </a:extLst>
          </p:cNvPr>
          <p:cNvSpPr>
            <a:spLocks xmlns:a="http://schemas.openxmlformats.org/drawingml/2006/main" noGrp="1"/>
          </p:cNvSpPr>
          <p:nvPr/>
        </p:nvSpPr>
        <p:spPr>
          <a:xfrm xmlns:a="http://schemas.openxmlformats.org/drawingml/2006/main">
            <a:off x="533400" y="3143250"/>
            <a:ext cx="5238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53251"/>
                </a:solidFill>
                <a:latin typeface="Arial"/>
                <a:ea typeface="Arial"/>
                <a:cs typeface="Arial"/>
              </a:defRPr>
            </a:defPPr>
          </a:lstStyle>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Figure Index vẫn cần filtering, dedup,</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cân bằng dữ liệu và annotation.</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Payout chỉ là một phần chi phí dataset.</a:t>
            </a:r>
          </a:p>
        </p:txBody>
      </p:sp>
      <p:sp>
        <p:nvSpPr>
          <p:cNvPr id="14" name="">
            <a:extLst xmlns:a="http://schemas.openxmlformats.org/drawingml/2006/main">
              <a:ext uri="{FF2B5EF4-FFF2-40B4-BE49-F238E27FC236}">
                <a16:creationId xmlns:a16="http://schemas.microsoft.com/office/drawing/2014/main" id="{30F7D939-613D-486E-AD51-3BD7653C4462}"/>
              </a:ext>
            </a:extLst>
          </p:cNvPr>
          <p:cNvSpPr>
            <a:spLocks xmlns:a="http://schemas.openxmlformats.org/drawingml/2006/main" noGrp="1"/>
          </p:cNvSpPr>
          <p:nvPr/>
        </p:nvSpPr>
        <p:spPr>
          <a:xfrm xmlns:a="http://schemas.openxmlformats.org/drawingml/2006/main">
            <a:off x="6429375" y="16668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89,9% so với 95,7%</a:t>
            </a:r>
          </a:p>
        </p:txBody>
      </p:sp>
      <p:sp>
        <p:nvSpPr>
          <p:cNvPr id="15" name="">
            <a:extLst xmlns:a="http://schemas.openxmlformats.org/drawingml/2006/main">
              <a:ext uri="{FF2B5EF4-FFF2-40B4-BE49-F238E27FC236}">
                <a16:creationId xmlns:a16="http://schemas.microsoft.com/office/drawing/2014/main" id="{5030AB49-88D7-4FEB-A6E4-59DF6C4739B4}"/>
              </a:ext>
            </a:extLst>
          </p:cNvPr>
          <p:cNvSpPr>
            <a:spLocks xmlns:a="http://schemas.openxmlformats.org/drawingml/2006/main" noGrp="1"/>
          </p:cNvSpPr>
          <p:nvPr/>
        </p:nvSpPr>
        <p:spPr>
          <a:xfrm xmlns:a="http://schemas.openxmlformats.org/drawingml/2006/main">
            <a:off x="6429375" y="24288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53251"/>
                </a:solidFill>
                <a:latin typeface="Arial"/>
                <a:ea typeface="Arial"/>
                <a:cs typeface="Arial"/>
              </a:defRPr>
            </a:defPPr>
          </a:lstStyle>
          <a:p xmlns:a="http://schemas.openxmlformats.org/drawingml/2006/main">
            <a:pPr>
              <a:buNone/>
              <a:defRPr sz="2325" b="1">
                <a:solidFill>
                  <a:srgbClr val="153251"/>
                </a:solidFill>
                <a:latin typeface="Arial"/>
                <a:ea typeface="Arial"/>
                <a:cs typeface="Arial"/>
              </a:defRPr>
            </a:pPr>
            <a:r>
              <a:rPr sz="2325" b="1">
                <a:solidFill>
                  <a:srgbClr val="153251"/>
                </a:solidFill>
                <a:latin typeface="Arial"/>
                <a:ea typeface="Arial"/>
                <a:cs typeface="Arial"/>
              </a:rPr>
              <a:t>FOCA + DreamGen trên LIBERO</a:t>
            </a:r>
          </a:p>
        </p:txBody>
      </p:sp>
      <p:sp>
        <p:nvSpPr>
          <p:cNvPr id="16" name="">
            <a:extLst xmlns:a="http://schemas.openxmlformats.org/drawingml/2006/main">
              <a:ext uri="{FF2B5EF4-FFF2-40B4-BE49-F238E27FC236}">
                <a16:creationId xmlns:a16="http://schemas.microsoft.com/office/drawing/2014/main" id="{BE25D8D4-E768-4D70-8A68-5CCB9FB98B3B}"/>
              </a:ext>
            </a:extLst>
          </p:cNvPr>
          <p:cNvSpPr>
            <a:spLocks xmlns:a="http://schemas.openxmlformats.org/drawingml/2006/main" noGrp="1"/>
          </p:cNvSpPr>
          <p:nvPr/>
        </p:nvSpPr>
        <p:spPr>
          <a:xfrm xmlns:a="http://schemas.openxmlformats.org/drawingml/2006/main">
            <a:off x="6429375" y="3143250"/>
            <a:ext cx="5238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53251"/>
                </a:solidFill>
                <a:latin typeface="Arial"/>
                <a:ea typeface="Arial"/>
                <a:cs typeface="Arial"/>
              </a:defRPr>
            </a:defPPr>
          </a:lstStyle>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π0 baseline và FOCA + DreamGen,</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cùng setting 40% robot demos.</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Robot adaptation vẫn dùng action labels.</a:t>
            </a:r>
          </a:p>
        </p:txBody>
      </p:sp>
      <p:sp>
        <p:nvSpPr>
          <p:cNvPr id="17" name="">
            <a:extLst xmlns:a="http://schemas.openxmlformats.org/drawingml/2006/main">
              <a:ext uri="{FF2B5EF4-FFF2-40B4-BE49-F238E27FC236}">
                <a16:creationId xmlns:a16="http://schemas.microsoft.com/office/drawing/2014/main" id="{9451EAD6-A454-49C2-A989-324FCD20D82D}"/>
              </a:ext>
            </a:extLst>
          </p:cNvPr>
          <p:cNvSpPr>
            <a:spLocks xmlns:a="http://schemas.openxmlformats.org/drawingml/2006/main" noGrp="1"/>
          </p:cNvSpPr>
          <p:nvPr/>
        </p:nvSpPr>
        <p:spPr>
          <a:xfrm xmlns:a="http://schemas.openxmlformats.org/drawingml/2006/main">
            <a:off x="533400" y="506730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53251"/>
                </a:solidFill>
                <a:latin typeface="Arial"/>
                <a:ea typeface="Arial"/>
                <a:cs typeface="Arial"/>
              </a:defRPr>
            </a:defPPr>
          </a:lstStyle>
          <a:p xmlns:a="http://schemas.openxmlformats.org/drawingml/2006/main">
            <a:pPr>
              <a:buNone/>
              <a:defRPr sz="2175" b="1">
                <a:solidFill>
                  <a:srgbClr val="153251"/>
                </a:solidFill>
                <a:latin typeface="Arial"/>
                <a:ea typeface="Arial"/>
                <a:cs typeface="Arial"/>
              </a:defRPr>
            </a:pPr>
            <a:r>
              <a:rPr sz="2175" b="1">
                <a:solidFill>
                  <a:srgbClr val="153251"/>
                </a:solidFill>
                <a:latin typeface="Arial"/>
                <a:ea typeface="Arial"/>
                <a:cs typeface="Arial"/>
              </a:rPr>
              <a:t>Supervision phù hợp và phép kiểm quyết định giá trị sử dụng của dữ liệu.</a:t>
            </a:r>
          </a:p>
        </p:txBody>
      </p:sp>
      <p:sp>
        <p:nvSpPr>
          <p:cNvPr id="18" name="content">
            <a:extLst xmlns:a="http://schemas.openxmlformats.org/drawingml/2006/main">
              <a:ext uri="{FF2B5EF4-FFF2-40B4-BE49-F238E27FC236}">
                <a16:creationId xmlns:a16="http://schemas.microsoft.com/office/drawing/2014/main" id="{6B414E86-F6C5-423C-8E6D-1FE8DF83128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16 / 24</a:t>
            </a:r>
          </a:p>
        </p:txBody>
      </p:sp>
    </p:spTree>
    <p:extLst>
      <p:ext uri="{BB962C8B-B14F-4D97-AF65-F5344CB8AC3E}">
        <p14:creationId xmlns:p14="http://schemas.microsoft.com/office/powerpoint/2010/main" val="419144437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FBC0A6B4-B425-4BA5-BBD4-C7313AEF92AA}"/>
              </a:ext>
            </a:extLst>
          </p:cNvPr>
          <p:cNvPicPr>
            <a:picLocks xmlns:a="http://schemas.openxmlformats.org/drawingml/2006/main" noChangeAspect="1"/>
          </p:cNvPicPr>
          <p:nvPr/>
        </p:nvPicPr>
        <p:blipFill>
          <a:blip xmlns:r="http://schemas.openxmlformats.org/officeDocument/2006/relationships" xmlns:a="http://schemas.openxmlformats.org/drawingml/2006/main" r:embed="Rd00501e08a9b468c"/>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Dataset cho PoC và mở rộng</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Synthetic là cách tạo dữ liệu. Loader và loss phụ thuộc supervision thực có, không phụ thuộc tên nguồn.</a:t>
            </a:r>
          </a:p>
        </p:txBody>
      </p:sp>
      <p:sp>
        <p:nvSpPr>
          <p:cNvPr id="15" name="">
            <a:extLst xmlns:a="http://schemas.openxmlformats.org/drawingml/2006/main">
              <a:ext uri="{FF2B5EF4-FFF2-40B4-BE49-F238E27FC236}">
                <a16:creationId xmlns:a16="http://schemas.microsoft.com/office/drawing/2014/main" id="{B7F868FE-F69D-4DDA-9CFA-5945DAECA91E}"/>
              </a:ext>
            </a:extLst>
          </p:cNvPr>
          <p:cNvSpPr>
            <a:spLocks xmlns:a="http://schemas.openxmlformats.org/drawingml/2006/main" noGrp="1"/>
          </p:cNvSpPr>
          <p:nvPr/>
        </p:nvSpPr>
        <p:spPr>
          <a:xfrm xmlns:a="http://schemas.openxmlformats.org/drawingml/2006/main">
            <a:off x="533400" y="555307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007F83"/>
                </a:solidFill>
                <a:latin typeface="Arial"/>
                <a:ea typeface="Arial"/>
                <a:cs typeface="Arial"/>
              </a:defRPr>
            </a:defPPr>
          </a:lstStyle>
          <a:p xmlns:a="http://schemas.openxmlformats.org/drawingml/2006/main">
            <a:pPr>
              <a:buNone/>
              <a:defRPr sz="1875" b="1">
                <a:solidFill>
                  <a:srgbClr val="007F83"/>
                </a:solidFill>
                <a:latin typeface="Arial"/>
                <a:ea typeface="Arial"/>
                <a:cs typeface="Arial"/>
              </a:defRPr>
            </a:pPr>
            <a:r>
              <a:rPr sz="1875" b="1">
                <a:solidFill>
                  <a:srgbClr val="007F83"/>
                </a:solidFill>
                <a:latin typeface="Arial"/>
                <a:ea typeface="Arial"/>
                <a:cs typeface="Arial"/>
              </a:rPr>
              <a:t>Chia roots trước khi sinh biến thể. 100 variants từ một root vẫn chỉ là một nguồn độc lập.</a:t>
            </a:r>
          </a:p>
        </p:txBody>
      </p:sp>
      <p:sp>
        <p:nvSpPr>
          <p:cNvPr id="16" name="content">
            <a:extLst xmlns:a="http://schemas.openxmlformats.org/drawingml/2006/main">
              <a:ext uri="{FF2B5EF4-FFF2-40B4-BE49-F238E27FC236}">
                <a16:creationId xmlns:a16="http://schemas.microsoft.com/office/drawing/2014/main" id="{68F45BFF-3BBB-4529-8EFA-A84BDDBFBF00}"/>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17 / 24</a:t>
            </a:r>
          </a:p>
        </p:txBody>
      </p:sp>
      <p:graphicFrame>
        <p:nvGraphicFramePr>
          <p:cNvPr id="17" name="">
            <a:extLst xmlns:a="http://schemas.openxmlformats.org/drawingml/2006/main">
              <a:ext uri="{FF2B5EF4-FFF2-40B4-BE49-F238E27FC236}">
                <a16:creationId xmlns:a16="http://schemas.microsoft.com/office/drawing/2014/main" id="{B4CA79EB-398A-4263-B8C0-037513A5A5CA}"/>
              </a:ext>
            </a:extLst>
          </p:cNvPr>
          <p:cNvGraphicFramePr/>
          <p:nvPr/>
        </p:nvGraphicFramePr>
        <p:xfrm>
          <a:off xmlns:a="http://schemas.openxmlformats.org/drawingml/2006/main" x="533400" y="1714500"/>
          <a:ext xmlns:a="http://schemas.openxmlformats.org/drawingml/2006/main" cx="11125200" cy="3667125"/>
        </p:xfrm>
        <a:graphic xmlns:a="http://schemas.openxmlformats.org/drawingml/2006/main">
          <a:graphicData uri="http://schemas.openxmlformats.org/drawingml/2006/table">
            <a:tbl>
              <a:tblPr/>
              <a:tblGrid>
                <a:gridCol w="2667000"/>
                <a:gridCol w="4381500"/>
                <a:gridCol w="4076700"/>
              </a:tblGrid>
              <a:tr h="419100">
                <a:tc>
                  <a:txBody>
                    <a:bodyPr/>
                    <a:lstStyle/>
                    <a:p>
                      <a:r>
                        <a:rPr sz="1725" b="1">
                          <a:solidFill>
                            <a:srgbClr val="FFFFFF"/>
                          </a:solidFill>
                          <a:latin typeface="Arial"/>
                          <a:ea typeface="Arial"/>
                          <a:cs typeface="Arial"/>
                        </a:rPr>
                        <a:t>Dữ liệu</a:t>
                      </a:r>
                    </a:p>
                  </a:txBody>
                  <a:tcPr marL="91440" marR="91440" marT="45720" marB="45720">
                    <a:solidFill>
                      <a:srgbClr val="19344F"/>
                    </a:solidFill>
                  </a:tcPr>
                </a:tc>
                <a:tc>
                  <a:txBody>
                    <a:bodyPr/>
                    <a:lstStyle/>
                    <a:p>
                      <a:r>
                        <a:rPr sz="1725" b="1">
                          <a:solidFill>
                            <a:srgbClr val="FFFFFF"/>
                          </a:solidFill>
                          <a:latin typeface="Arial"/>
                          <a:ea typeface="Arial"/>
                          <a:cs typeface="Arial"/>
                        </a:rPr>
                        <a:t>Format / tín hiệu</a:t>
                      </a:r>
                    </a:p>
                  </a:txBody>
                  <a:tcPr marL="91440" marR="91440" marT="45720" marB="45720">
                    <a:solidFill>
                      <a:srgbClr val="19344F"/>
                    </a:solidFill>
                  </a:tcPr>
                </a:tc>
                <a:tc>
                  <a:txBody>
                    <a:bodyPr/>
                    <a:lstStyle/>
                    <a:p>
                      <a:r>
                        <a:rPr sz="1725" b="1">
                          <a:solidFill>
                            <a:srgbClr val="FFFFFF"/>
                          </a:solidFill>
                          <a:latin typeface="Arial"/>
                          <a:ea typeface="Arial"/>
                          <a:cs typeface="Arial"/>
                        </a:rPr>
                        <a:t>Vai trò</a:t>
                      </a:r>
                    </a:p>
                  </a:txBody>
                  <a:tcPr marL="91440" marR="91440" marT="45720" marB="45720">
                    <a:solidFill>
                      <a:srgbClr val="19344F"/>
                    </a:solidFill>
                  </a:tcPr>
                </a:tc>
              </a:tr>
              <a:tr h="812006">
                <a:tc>
                  <a:txBody>
                    <a:bodyPr/>
                    <a:lstStyle/>
                    <a:p>
                      <a:r>
                        <a:rPr sz="1650" b="0">
                          <a:solidFill>
                            <a:srgbClr val="19344F"/>
                          </a:solidFill>
                          <a:latin typeface="Arial"/>
                          <a:ea typeface="Arial"/>
                          <a:cs typeface="Arial"/>
                        </a:rPr>
                        <a:t>FluxVLAData / GR1</a:t>
                      </a:r>
                    </a:p>
                    <a:p>
                      <a:r>
                        <a:rPr sz="1650" b="0">
                          <a:solidFill>
                            <a:srgbClr val="19344F"/>
                          </a:solidFill>
                          <a:latin typeface="Arial"/>
                          <a:ea typeface="Arial"/>
                          <a:cs typeface="Arial"/>
                        </a:rPr>
                        <a:t>Public task trước</a:t>
                      </a:r>
                    </a:p>
                  </a:txBody>
                  <a:tcPr marL="91440" marR="91440" marT="45720" marB="45720">
                    <a:solidFill>
                      <a:srgbClr val="FFFFFF"/>
                    </a:solidFill>
                  </a:tcPr>
                </a:tc>
                <a:tc>
                  <a:txBody>
                    <a:bodyPr/>
                    <a:lstStyle/>
                    <a:p>
                      <a:r>
                        <a:rPr sz="1650" b="0">
                          <a:solidFill>
                            <a:srgbClr val="19344F"/>
                          </a:solidFill>
                          <a:latin typeface="Arial"/>
                          <a:ea typeface="Arial"/>
                          <a:cs typeface="Arial"/>
                        </a:rPr>
                        <a:t>LeRobot v2.1: MP4 + Parquet</a:t>
                      </a:r>
                    </a:p>
                    <a:p>
                      <a:r>
                        <a:rPr sz="1650" b="0">
                          <a:solidFill>
                            <a:srgbClr val="19344F"/>
                          </a:solidFill>
                          <a:latin typeface="Arial"/>
                          <a:ea typeface="Arial"/>
                          <a:cs typeface="Arial"/>
                        </a:rPr>
                        <a:t>JSON/JSONL, state / action 29D</a:t>
                      </a:r>
                    </a:p>
                  </a:txBody>
                  <a:tcPr marL="91440" marR="91440" marT="45720" marB="45720">
                    <a:solidFill>
                      <a:srgbClr val="FFFFFF"/>
                    </a:solidFill>
                  </a:tcPr>
                </a:tc>
                <a:tc>
                  <a:txBody>
                    <a:bodyPr/>
                    <a:lstStyle/>
                    <a:p>
                      <a:r>
                        <a:rPr sz="1650" b="0">
                          <a:solidFill>
                            <a:srgbClr val="19344F"/>
                          </a:solidFill>
                          <a:latin typeface="Arial"/>
                          <a:ea typeface="Arial"/>
                          <a:cs typeface="Arial"/>
                        </a:rPr>
                        <a:t>Một task đúng nhãn, 30 episodes</a:t>
                      </a:r>
                    </a:p>
                    <a:p>
                      <a:r>
                        <a:rPr sz="1650" b="0">
                          <a:solidFill>
                            <a:srgbClr val="19344F"/>
                          </a:solidFill>
                          <a:latin typeface="Arial"/>
                          <a:ea typeface="Arial"/>
                          <a:cs typeface="Arial"/>
                        </a:rPr>
                        <a:t>Audit roots/splits và instruction</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Robot BTC</a:t>
                      </a:r>
                    </a:p>
                    <a:p>
                      <a:r>
                        <a:rPr sz="1650" b="0">
                          <a:solidFill>
                            <a:srgbClr val="19344F"/>
                          </a:solidFill>
                          <a:latin typeface="Arial"/>
                          <a:ea typeface="Arial"/>
                          <a:cs typeface="Arial"/>
                        </a:rPr>
                        <a:t>Khi có hardware</a:t>
                      </a:r>
                    </a:p>
                  </a:txBody>
                  <a:tcPr marL="91440" marR="91440" marT="45720" marB="45720">
                    <a:solidFill>
                      <a:srgbClr val="FFFFFF"/>
                    </a:solidFill>
                  </a:tcPr>
                </a:tc>
                <a:tc>
                  <a:txBody>
                    <a:bodyPr/>
                    <a:lstStyle/>
                    <a:p>
                      <a:r>
                        <a:rPr sz="1650" b="0">
                          <a:solidFill>
                            <a:srgbClr val="19344F"/>
                          </a:solidFill>
                          <a:latin typeface="Arial"/>
                          <a:ea typeface="Arial"/>
                          <a:cs typeface="Arial"/>
                        </a:rPr>
                        <a:t>Camera / state / action / time</a:t>
                      </a:r>
                    </a:p>
                    <a:p>
                      <a:r>
                        <a:rPr sz="1650" b="0">
                          <a:solidFill>
                            <a:srgbClr val="19344F"/>
                          </a:solidFill>
                          <a:latin typeface="Arial"/>
                          <a:ea typeface="Arial"/>
                          <a:cs typeface="Arial"/>
                        </a:rPr>
                        <a:t>Calibration và profile riêng</a:t>
                      </a:r>
                    </a:p>
                  </a:txBody>
                  <a:tcPr marL="91440" marR="91440" marT="45720" marB="45720">
                    <a:solidFill>
                      <a:srgbClr val="FFFFFF"/>
                    </a:solidFill>
                  </a:tcPr>
                </a:tc>
                <a:tc>
                  <a:txBody>
                    <a:bodyPr/>
                    <a:lstStyle/>
                    <a:p>
                      <a:r>
                        <a:rPr sz="1650" b="0">
                          <a:solidFill>
                            <a:srgbClr val="19344F"/>
                          </a:solidFill>
                          <a:latin typeface="Arial"/>
                          <a:ea typeface="Arial"/>
                          <a:cs typeface="Arial"/>
                        </a:rPr>
                        <a:t>Demonstrations / corrections</a:t>
                      </a:r>
                    </a:p>
                    <a:p>
                      <a:r>
                        <a:rPr sz="1650" b="0">
                          <a:solidFill>
                            <a:srgbClr val="19344F"/>
                          </a:solidFill>
                          <a:latin typeface="Arial"/>
                          <a:ea typeface="Arial"/>
                          <a:cs typeface="Arial"/>
                        </a:rPr>
                        <a:t>Adaptation đúng embodiment</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S_exec / augmentation</a:t>
                      </a:r>
                    </a:p>
                    <a:p>
                      <a:r>
                        <a:rPr sz="1650" b="0">
                          <a:solidFill>
                            <a:srgbClr val="19344F"/>
                          </a:solidFill>
                          <a:latin typeface="Arial"/>
                          <a:ea typeface="Arial"/>
                          <a:cs typeface="Arial"/>
                        </a:rPr>
                        <a:t>Có điều kiện</a:t>
                      </a:r>
                    </a:p>
                  </a:txBody>
                  <a:tcPr marL="91440" marR="91440" marT="45720" marB="45720">
                    <a:solidFill>
                      <a:srgbClr val="FFFFFF"/>
                    </a:solidFill>
                  </a:tcPr>
                </a:tc>
                <a:tc>
                  <a:txBody>
                    <a:bodyPr/>
                    <a:lstStyle/>
                    <a:p>
                      <a:r>
                        <a:rPr sz="1650" b="0">
                          <a:solidFill>
                            <a:srgbClr val="19344F"/>
                          </a:solidFill>
                          <a:latin typeface="Arial"/>
                          <a:ea typeface="Arial"/>
                          <a:cs typeface="Arial"/>
                        </a:rPr>
                        <a:t>Train roots + provenance</a:t>
                      </a:r>
                    </a:p>
                    <a:p>
                      <a:r>
                        <a:rPr sz="1650" b="0">
                          <a:solidFill>
                            <a:srgbClr val="19344F"/>
                          </a:solidFill>
                          <a:latin typeface="Arial"/>
                          <a:ea typeface="Arial"/>
                          <a:cs typeface="Arial"/>
                        </a:rPr>
                        <a:t>Targets hợp lệ sau transform / execute</a:t>
                      </a:r>
                    </a:p>
                  </a:txBody>
                  <a:tcPr marL="91440" marR="91440" marT="45720" marB="45720">
                    <a:solidFill>
                      <a:srgbClr val="FFFFFF"/>
                    </a:solidFill>
                  </a:tcPr>
                </a:tc>
                <a:tc>
                  <a:txBody>
                    <a:bodyPr/>
                    <a:lstStyle/>
                    <a:p>
                      <a:r>
                        <a:rPr sz="1650" b="0">
                          <a:solidFill>
                            <a:srgbClr val="19344F"/>
                          </a:solidFill>
                          <a:latin typeface="Arial"/>
                          <a:ea typeface="Arial"/>
                          <a:cs typeface="Arial"/>
                        </a:rPr>
                        <a:t>Cách tạo mẫu, không modality mới</a:t>
                      </a:r>
                    </a:p>
                    <a:p>
                      <a:r>
                        <a:rPr sz="1650" b="0">
                          <a:solidFill>
                            <a:srgbClr val="19344F"/>
                          </a:solidFill>
                          <a:latin typeface="Arial"/>
                          <a:ea typeface="Arial"/>
                          <a:cs typeface="Arial"/>
                        </a:rPr>
                        <a:t>QA nhãn / physics trước dùng</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Human / video</a:t>
                      </a:r>
                    </a:p>
                    <a:p>
                      <a:r>
                        <a:rPr sz="1650" b="0">
                          <a:solidFill>
                            <a:srgbClr val="19344F"/>
                          </a:solidFill>
                          <a:latin typeface="Arial"/>
                          <a:ea typeface="Arial"/>
                          <a:cs typeface="Arial"/>
                        </a:rPr>
                        <a:t>Nhánh mở rộng</a:t>
                      </a:r>
                    </a:p>
                  </a:txBody>
                  <a:tcPr marL="91440" marR="91440" marT="45720" marB="45720">
                    <a:solidFill>
                      <a:srgbClr val="FFFFFF"/>
                    </a:solidFill>
                  </a:tcPr>
                </a:tc>
                <a:tc>
                  <a:txBody>
                    <a:bodyPr/>
                    <a:lstStyle/>
                    <a:p>
                      <a:r>
                        <a:rPr sz="1650" b="0">
                          <a:solidFill>
                            <a:srgbClr val="19344F"/>
                          </a:solidFill>
                          <a:latin typeface="Arial"/>
                          <a:ea typeface="Arial"/>
                          <a:cs typeface="Arial"/>
                        </a:rPr>
                        <a:t>RGB + text / time / masks</a:t>
                      </a:r>
                    </a:p>
                    <a:p>
                      <a:r>
                        <a:rPr sz="1650" b="0">
                          <a:solidFill>
                            <a:srgbClr val="19344F"/>
                          </a:solidFill>
                          <a:latin typeface="Arial"/>
                          <a:ea typeface="Arial"/>
                          <a:cs typeface="Arial"/>
                        </a:rPr>
                        <a:t>Wrist labels nếu thực có</a:t>
                      </a:r>
                    </a:p>
                  </a:txBody>
                  <a:tcPr marL="91440" marR="91440" marT="45720" marB="45720">
                    <a:solidFill>
                      <a:srgbClr val="FFFFFF"/>
                    </a:solidFill>
                  </a:tcPr>
                </a:tc>
                <a:tc>
                  <a:txBody>
                    <a:bodyPr/>
                    <a:lstStyle/>
                    <a:p>
                      <a:r>
                        <a:rPr sz="1650" b="0">
                          <a:solidFill>
                            <a:srgbClr val="19344F"/>
                          </a:solidFill>
                          <a:latin typeface="Arial"/>
                          <a:ea typeface="Arial"/>
                          <a:cs typeface="Arial"/>
                        </a:rPr>
                        <a:t>Objective riêng, chưa critical path</a:t>
                      </a:r>
                    </a:p>
                    <a:p>
                      <a:r>
                        <a:rPr sz="1650" b="0">
                          <a:solidFill>
                            <a:srgbClr val="19344F"/>
                          </a:solidFill>
                          <a:latin typeface="Arial"/>
                          <a:ea typeface="Arial"/>
                          <a:cs typeface="Arial"/>
                        </a:rPr>
                        <a:t>Không thay action robot thiếu</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0FDAEB74-2819-41F9-82BE-B03732CA6989}"/>
              </a:ext>
            </a:extLst>
          </p:cNvPr>
          <p:cNvPicPr>
            <a:picLocks xmlns:a="http://schemas.openxmlformats.org/drawingml/2006/main" noChangeAspect="1"/>
          </p:cNvPicPr>
          <p:nvPr/>
        </p:nvPicPr>
        <p:blipFill>
          <a:blip xmlns:r="http://schemas.openxmlformats.org/officeDocument/2006/relationships" xmlns:a="http://schemas.openxmlformats.org/drawingml/2006/main" r:embed="R879d7f2352f447ee"/>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Episode thành model batch</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Hình gốc FluxVLA Figure 2. Đội phải kiểm sample–batch, camera, timebase, units và action masks cho A1.</a:t>
            </a:r>
          </a:p>
        </p:txBody>
      </p:sp>
      <p:pic>
        <p:nvPicPr>
          <p:cNvPr id="11" name="">
            <a:extLst xmlns:a="http://schemas.openxmlformats.org/drawingml/2006/main">
              <a:ext uri="{FF2B5EF4-FFF2-40B4-BE49-F238E27FC236}">
                <a16:creationId xmlns:a16="http://schemas.microsoft.com/office/drawing/2014/main" id="{803FFA42-936C-47ED-A03A-4471A05B683E}"/>
              </a:ext>
            </a:extLst>
          </p:cNvPr>
          <p:cNvPicPr>
            <a:picLocks xmlns:a="http://schemas.openxmlformats.org/drawingml/2006/main" noChangeAspect="1"/>
          </p:cNvPicPr>
          <p:nvPr/>
        </p:nvPicPr>
        <p:blipFill>
          <a:blip xmlns:r="http://schemas.openxmlformats.org/officeDocument/2006/relationships" xmlns:a="http://schemas.openxmlformats.org/drawingml/2006/main" r:embed="R180de31f1cb240ba"/>
          <a:stretch xmlns:a="http://schemas.openxmlformats.org/drawingml/2006/main"/>
        </p:blipFill>
        <p:spPr>
          <a:xfrm xmlns:a="http://schemas.openxmlformats.org/drawingml/2006/main">
            <a:off x="1119768" y="1524000"/>
            <a:ext cx="9952463" cy="4000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2888DF9-AF34-4C54-AF1B-92FE0D99E8D5}"/>
              </a:ext>
            </a:extLst>
          </p:cNvPr>
          <p:cNvSpPr>
            <a:spLocks xmlns:a="http://schemas.openxmlformats.org/drawingml/2006/main" noGrp="1"/>
          </p:cNvSpPr>
          <p:nvPr/>
        </p:nvSpPr>
        <p:spPr>
          <a:xfrm xmlns:a="http://schemas.openxmlformats.org/drawingml/2006/main">
            <a:off x="533400" y="5562600"/>
            <a:ext cx="1112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007F83"/>
                </a:solidFill>
                <a:latin typeface="Arial"/>
                <a:ea typeface="Arial"/>
                <a:cs typeface="Arial"/>
              </a:defRPr>
            </a:defPPr>
          </a:lstStyle>
          <a:p xmlns:a="http://schemas.openxmlformats.org/drawingml/2006/main">
            <a:pPr>
              <a:buNone/>
              <a:defRPr sz="1950" b="1">
                <a:solidFill>
                  <a:srgbClr val="007F83"/>
                </a:solidFill>
                <a:latin typeface="Arial"/>
                <a:ea typeface="Arial"/>
                <a:cs typeface="Arial"/>
              </a:defRPr>
            </a:pPr>
            <a:r>
              <a:rPr sz="1950" b="1">
                <a:solidFill>
                  <a:srgbClr val="007F83"/>
                </a:solidFill>
                <a:latin typeface="Arial"/>
                <a:ea typeface="Arial"/>
                <a:cs typeface="Arial"/>
              </a:rPr>
              <a:t>Episode lưu trữ, sample thời gian và batch model là ba mức dữ liệu khác nhau</a:t>
            </a:r>
          </a:p>
        </p:txBody>
      </p:sp>
      <p:sp>
        <p:nvSpPr>
          <p:cNvPr id="14" name="">
            <a:extLst xmlns:a="http://schemas.openxmlformats.org/drawingml/2006/main">
              <a:ext uri="{FF2B5EF4-FFF2-40B4-BE49-F238E27FC236}">
                <a16:creationId xmlns:a16="http://schemas.microsoft.com/office/drawing/2014/main" id="{ED006F2C-6591-4B62-8A73-75CDE50131F9}"/>
              </a:ext>
            </a:extLst>
          </p:cNvPr>
          <p:cNvSpPr>
            <a:spLocks xmlns:a="http://schemas.openxmlformats.org/drawingml/2006/main" noGrp="1"/>
          </p:cNvSpPr>
          <p:nvPr/>
        </p:nvSpPr>
        <p:spPr>
          <a:xfrm xmlns:a="http://schemas.openxmlformats.org/drawingml/2006/main">
            <a:off x="533400" y="1362075"/>
            <a:ext cx="11125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4B637B"/>
                </a:solidFill>
                <a:latin typeface="Arial"/>
                <a:ea typeface="Arial"/>
                <a:cs typeface="Arial"/>
              </a:defRPr>
            </a:defPPr>
          </a:lstStyle>
          <a:p xmlns:a="http://schemas.openxmlformats.org/drawingml/2006/main">
            <a:pPr>
              <a:buNone/>
              <a:defRPr sz="1125" b="0">
                <a:solidFill>
                  <a:srgbClr val="4B637B"/>
                </a:solidFill>
                <a:latin typeface="Arial"/>
                <a:ea typeface="Arial"/>
                <a:cs typeface="Arial"/>
              </a:defRPr>
            </a:pPr>
            <a:r>
              <a:rPr sz="1125" b="0">
                <a:solidFill>
                  <a:srgbClr val="4B637B"/>
                </a:solidFill>
                <a:latin typeface="Arial"/>
                <a:ea typeface="Arial"/>
                <a:cs typeface="Arial"/>
              </a:rPr>
              <a:t>Li và cộng sự, FluxVLA Figure 2 (2026), CC BY 4.0. Hình trích nguyên từ paper.</a:t>
            </a:r>
          </a:p>
        </p:txBody>
      </p:sp>
      <p:sp>
        <p:nvSpPr>
          <p:cNvPr id="15" name="content">
            <a:extLst xmlns:a="http://schemas.openxmlformats.org/drawingml/2006/main">
              <a:ext uri="{FF2B5EF4-FFF2-40B4-BE49-F238E27FC236}">
                <a16:creationId xmlns:a16="http://schemas.microsoft.com/office/drawing/2014/main" id="{A52A8B68-0A14-40F7-83F4-B719CF74559B}"/>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18 / 24</a:t>
            </a:r>
          </a:p>
        </p:txBody>
      </p:sp>
    </p:spTree>
    <p:extLst>
      <p:ext uri="{BB962C8B-B14F-4D97-AF65-F5344CB8AC3E}">
        <p14:creationId xmlns:p14="http://schemas.microsoft.com/office/powerpoint/2010/main" val="4191444374"/>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6" name="Picture 6">
            <a:extLst xmlns:a="http://schemas.openxmlformats.org/drawingml/2006/main">
              <a:ext uri="{FF2B5EF4-FFF2-40B4-BE49-F238E27FC236}">
                <a16:creationId xmlns:a16="http://schemas.microsoft.com/office/drawing/2014/main" id="{38AB6F81-2A1F-4632-8ED5-B45515829B70}"/>
              </a:ext>
            </a:extLst>
          </p:cNvPr>
          <p:cNvPicPr>
            <a:picLocks xmlns:a="http://schemas.openxmlformats.org/drawingml/2006/main" noChangeAspect="1"/>
          </p:cNvPicPr>
          <p:nvPr/>
        </p:nvPicPr>
        <p:blipFill>
          <a:blip xmlns:r="http://schemas.openxmlformats.org/officeDocument/2006/relationships" xmlns:a="http://schemas.openxmlformats.org/drawingml/2006/main" r:embed="Rb1083e1dbb6e4e0b"/>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Model AI học như thế nào</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350"/>
            </a:defPPr>
          </a:lstStyle>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Kế thừa pretrained weights, chốt recipe bằng smoke run</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00"/>
            </a:defPPr>
          </a:lstStyle>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Flux ACT+visual recipe cũ là reference khác. PoC freeze/adapter route chưa được đội kiểm trên GPU hiện có.</a:t>
            </a:r>
          </a:p>
        </p:txBody>
      </p:sp>
      <p:sp>
        <p:nvSpPr>
          <p:cNvPr id="18" name="">
            <a:extLst xmlns:a="http://schemas.openxmlformats.org/drawingml/2006/main">
              <a:ext uri="{FF2B5EF4-FFF2-40B4-BE49-F238E27FC236}">
                <a16:creationId xmlns:a16="http://schemas.microsoft.com/office/drawing/2014/main" id="{0330EAFB-AC21-4FE5-9AAF-A9EF46747549}"/>
              </a:ext>
            </a:extLst>
          </p:cNvPr>
          <p:cNvSpPr>
            <a:spLocks xmlns:a="http://schemas.openxmlformats.org/drawingml/2006/main" noGrp="1"/>
          </p:cNvSpPr>
          <p:nvPr/>
        </p:nvSpPr>
        <p:spPr>
          <a:xfrm xmlns:a="http://schemas.openxmlformats.org/drawingml/2006/main">
            <a:off x="533400" y="5476875"/>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007F83"/>
                </a:solidFill>
                <a:latin typeface="Arial"/>
                <a:ea typeface="Arial"/>
                <a:cs typeface="Arial"/>
              </a:defRPr>
            </a:defPPr>
          </a:lstStyle>
          <a:p xmlns:a="http://schemas.openxmlformats.org/drawingml/2006/main">
            <a:pPr>
              <a:buNone/>
              <a:defRPr sz="1650" b="1">
                <a:solidFill>
                  <a:srgbClr val="007F83"/>
                </a:solidFill>
                <a:latin typeface="Arial"/>
                <a:ea typeface="Arial"/>
                <a:cs typeface="Arial"/>
              </a:defRPr>
            </a:pPr>
            <a:r>
              <a:rPr sz="1650" b="1">
                <a:solidFill>
                  <a:srgbClr val="007F83"/>
                </a:solidFill>
                <a:latin typeface="Arial"/>
                <a:ea typeface="Arial"/>
                <a:cs typeface="Arial"/>
              </a:rPr>
              <a:t>PoC ưu tiên ACT/adapters, backbone frozen khi recipe hỗ trợ. Đo gradients và VRAM trước run.</a:t>
            </a:r>
          </a:p>
        </p:txBody>
      </p:sp>
      <p:sp>
        <p:nvSpPr>
          <p:cNvPr id="19" name="content">
            <a:extLst xmlns:a="http://schemas.openxmlformats.org/drawingml/2006/main">
              <a:ext uri="{FF2B5EF4-FFF2-40B4-BE49-F238E27FC236}">
                <a16:creationId xmlns:a16="http://schemas.microsoft.com/office/drawing/2014/main" id="{E5A592B0-ED48-4746-8028-4FB566447C0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19 / 24</a:t>
            </a:r>
          </a:p>
        </p:txBody>
      </p:sp>
      <p:graphicFrame>
        <p:nvGraphicFramePr>
          <p:cNvPr id="20" name="">
            <a:extLst xmlns:a="http://schemas.openxmlformats.org/drawingml/2006/main">
              <a:ext uri="{FF2B5EF4-FFF2-40B4-BE49-F238E27FC236}">
                <a16:creationId xmlns:a16="http://schemas.microsoft.com/office/drawing/2014/main" id="{BE6CDEC2-3E4C-49F4-ABA7-26F584999F30}"/>
              </a:ext>
            </a:extLst>
          </p:cNvPr>
          <p:cNvGraphicFramePr/>
          <p:nvPr/>
        </p:nvGraphicFramePr>
        <p:xfrm>
          <a:off xmlns:a="http://schemas.openxmlformats.org/drawingml/2006/main" x="533400" y="1714500"/>
          <a:ext xmlns:a="http://schemas.openxmlformats.org/drawingml/2006/main" cx="11125200" cy="3667125"/>
        </p:xfrm>
        <a:graphic xmlns:a="http://schemas.openxmlformats.org/drawingml/2006/main">
          <a:graphicData uri="http://schemas.openxmlformats.org/drawingml/2006/table">
            <a:tbl>
              <a:tblPr/>
              <a:tblGrid>
                <a:gridCol w="2571750"/>
                <a:gridCol w="4572000"/>
                <a:gridCol w="3981450"/>
              </a:tblGrid>
              <a:tr h="419100">
                <a:tc>
                  <a:txBody>
                    <a:bodyPr/>
                    <a:lstStyle/>
                    <a:p>
                      <a:r>
                        <a:rPr sz="1725" b="1">
                          <a:solidFill>
                            <a:srgbClr val="FFFFFF"/>
                          </a:solidFill>
                          <a:latin typeface="Arial"/>
                          <a:ea typeface="Arial"/>
                          <a:cs typeface="Arial"/>
                        </a:rPr>
                        <a:t>Bước</a:t>
                      </a:r>
                    </a:p>
                  </a:txBody>
                  <a:tcPr marL="91440" marR="91440" marT="45720" marB="45720">
                    <a:solidFill>
                      <a:srgbClr val="19344F"/>
                    </a:solidFill>
                  </a:tcPr>
                </a:tc>
                <a:tc>
                  <a:txBody>
                    <a:bodyPr/>
                    <a:lstStyle/>
                    <a:p>
                      <a:r>
                        <a:rPr sz="1725" b="1">
                          <a:solidFill>
                            <a:srgbClr val="FFFFFF"/>
                          </a:solidFill>
                          <a:latin typeface="Arial"/>
                          <a:ea typeface="Arial"/>
                          <a:cs typeface="Arial"/>
                        </a:rPr>
                        <a:t>Tensor / target</a:t>
                      </a:r>
                    </a:p>
                  </a:txBody>
                  <a:tcPr marL="91440" marR="91440" marT="45720" marB="45720">
                    <a:solidFill>
                      <a:srgbClr val="19344F"/>
                    </a:solidFill>
                  </a:tcPr>
                </a:tc>
                <a:tc>
                  <a:txBody>
                    <a:bodyPr/>
                    <a:lstStyle/>
                    <a:p>
                      <a:r>
                        <a:rPr sz="1725" b="1">
                          <a:solidFill>
                            <a:srgbClr val="FFFFFF"/>
                          </a:solidFill>
                          <a:latin typeface="Arial"/>
                          <a:ea typeface="Arial"/>
                          <a:cs typeface="Arial"/>
                        </a:rPr>
                        <a:t>Phần được học</a:t>
                      </a:r>
                    </a:p>
                  </a:txBody>
                  <a:tcPr marL="91440" marR="91440" marT="45720" marB="45720">
                    <a:solidFill>
                      <a:srgbClr val="19344F"/>
                    </a:solidFill>
                  </a:tcPr>
                </a:tc>
              </a:tr>
              <a:tr h="812006">
                <a:tc>
                  <a:txBody>
                    <a:bodyPr/>
                    <a:lstStyle/>
                    <a:p>
                      <a:r>
                        <a:rPr sz="1650" b="0">
                          <a:solidFill>
                            <a:srgbClr val="19344F"/>
                          </a:solidFill>
                          <a:latin typeface="Arial"/>
                          <a:ea typeface="Arial"/>
                          <a:cs typeface="Arial"/>
                        </a:rPr>
                        <a:t>01 Public baseline</a:t>
                      </a:r>
                    </a:p>
                  </a:txBody>
                  <a:tcPr marL="91440" marR="91440" marT="45720" marB="45720">
                    <a:solidFill>
                      <a:srgbClr val="FFFFFF"/>
                    </a:solidFill>
                  </a:tcPr>
                </a:tc>
                <a:tc>
                  <a:txBody>
                    <a:bodyPr/>
                    <a:lstStyle/>
                    <a:p>
                      <a:r>
                        <a:rPr sz="1650" b="0">
                          <a:solidFill>
                            <a:srgbClr val="19344F"/>
                          </a:solidFill>
                          <a:latin typeface="Arial"/>
                          <a:ea typeface="Arial"/>
                          <a:cs typeface="Arial"/>
                        </a:rPr>
                        <a:t>RGB/text qua VLM thành features</a:t>
                      </a:r>
                    </a:p>
                    <a:p>
                      <a:r>
                        <a:rPr sz="1650" b="0">
                          <a:solidFill>
                            <a:srgbClr val="19344F"/>
                          </a:solidFill>
                          <a:latin typeface="Arial"/>
                          <a:ea typeface="Arial"/>
                          <a:cs typeface="Arial"/>
                        </a:rPr>
                        <a:t>State + noisy actions/time vào ACT</a:t>
                      </a:r>
                    </a:p>
                    <a:p>
                      <a:r>
                        <a:rPr sz="1650" b="0">
                          <a:solidFill>
                            <a:srgbClr val="19344F"/>
                          </a:solidFill>
                          <a:latin typeface="Arial"/>
                          <a:ea typeface="Arial"/>
                          <a:cs typeface="Arial"/>
                        </a:rPr>
                        <a:t>Flow target từ future actions</a:t>
                      </a:r>
                    </a:p>
                  </a:txBody>
                  <a:tcPr marL="91440" marR="91440" marT="45720" marB="45720">
                    <a:solidFill>
                      <a:srgbClr val="FFFFFF"/>
                    </a:solidFill>
                  </a:tcPr>
                </a:tc>
                <a:tc>
                  <a:txBody>
                    <a:bodyPr/>
                    <a:lstStyle/>
                    <a:p>
                      <a:r>
                        <a:rPr sz="1650" b="0">
                          <a:solidFill>
                            <a:srgbClr val="19344F"/>
                          </a:solidFill>
                          <a:latin typeface="Arial"/>
                          <a:ea typeface="Arial"/>
                          <a:cs typeface="Arial"/>
                        </a:rPr>
                        <a:t>ACT / adapters theo manifest</a:t>
                      </a:r>
                    </a:p>
                    <a:p>
                      <a:r>
                        <a:rPr sz="1650" b="0">
                          <a:solidFill>
                            <a:srgbClr val="19344F"/>
                          </a:solidFill>
                          <a:latin typeface="Arial"/>
                          <a:ea typeface="Arial"/>
                          <a:cs typeface="Arial"/>
                        </a:rPr>
                        <a:t>Backbone frozen nếu hỗ trợ</a:t>
                      </a:r>
                    </a:p>
                    <a:p>
                      <a:r>
                        <a:rPr sz="1650" b="0">
                          <a:solidFill>
                            <a:srgbClr val="19344F"/>
                          </a:solidFill>
                          <a:latin typeface="Arial"/>
                          <a:ea typeface="Arial"/>
                          <a:cs typeface="Arial"/>
                        </a:rPr>
                        <a:t>Cần update / reload proof</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02 Data update</a:t>
                      </a:r>
                    </a:p>
                  </a:txBody>
                  <a:tcPr marL="91440" marR="91440" marT="45720" marB="45720">
                    <a:solidFill>
                      <a:srgbClr val="FFFFFF"/>
                    </a:solidFill>
                  </a:tcPr>
                </a:tc>
                <a:tc>
                  <a:txBody>
                    <a:bodyPr/>
                    <a:lstStyle/>
                    <a:p>
                      <a:r>
                        <a:rPr sz="1650" b="0">
                          <a:solidFill>
                            <a:srgbClr val="19344F"/>
                          </a:solidFill>
                          <a:latin typeface="Arial"/>
                          <a:ea typeface="Arial"/>
                          <a:cs typeface="Arial"/>
                        </a:rPr>
                        <a:t>Reuse / correction hợp lệ + replay</a:t>
                      </a:r>
                    </a:p>
                    <a:p>
                      <a:r>
                        <a:rPr sz="1650" b="0">
                          <a:solidFill>
                            <a:srgbClr val="19344F"/>
                          </a:solidFill>
                          <a:latin typeface="Arial"/>
                          <a:ea typeface="Arial"/>
                          <a:cs typeface="Arial"/>
                        </a:rPr>
                        <a:t>Cùng schema robot và root split</a:t>
                      </a:r>
                    </a:p>
                  </a:txBody>
                  <a:tcPr marL="91440" marR="91440" marT="45720" marB="45720">
                    <a:solidFill>
                      <a:srgbClr val="FFFFFF"/>
                    </a:solidFill>
                  </a:tcPr>
                </a:tc>
                <a:tc>
                  <a:txBody>
                    <a:bodyPr/>
                    <a:lstStyle/>
                    <a:p>
                      <a:r>
                        <a:rPr sz="1650" b="0">
                          <a:solidFill>
                            <a:srgbClr val="19344F"/>
                          </a:solidFill>
                          <a:latin typeface="Arial"/>
                          <a:ea typeface="Arial"/>
                          <a:cs typeface="Arial"/>
                        </a:rPr>
                        <a:t>Cùng recipe với baseline</a:t>
                      </a:r>
                    </a:p>
                    <a:p>
                      <a:r>
                        <a:rPr sz="1650" b="0">
                          <a:solidFill>
                            <a:srgbClr val="19344F"/>
                          </a:solidFill>
                          <a:latin typeface="Arial"/>
                          <a:ea typeface="Arial"/>
                          <a:cs typeface="Arial"/>
                        </a:rPr>
                        <a:t>Kiểm gain, regression và công</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03 Video pilot sau PoC</a:t>
                      </a:r>
                    </a:p>
                  </a:txBody>
                  <a:tcPr marL="91440" marR="91440" marT="45720" marB="45720">
                    <a:solidFill>
                      <a:srgbClr val="FFFFFF"/>
                    </a:solidFill>
                  </a:tcPr>
                </a:tc>
                <a:tc>
                  <a:txBody>
                    <a:bodyPr/>
                    <a:lstStyle/>
                    <a:p>
                      <a:r>
                        <a:rPr sz="1650" b="0">
                          <a:solidFill>
                            <a:srgbClr val="19344F"/>
                          </a:solidFill>
                          <a:latin typeface="Arial"/>
                          <a:ea typeface="Arial"/>
                          <a:cs typeface="Arial"/>
                        </a:rPr>
                        <a:t>Current / future features</a:t>
                      </a:r>
                    </a:p>
                    <a:p>
                      <a:r>
                        <a:rPr sz="1650" b="0">
                          <a:solidFill>
                            <a:srgbClr val="19344F"/>
                          </a:solidFill>
                          <a:latin typeface="Arial"/>
                          <a:ea typeface="Arial"/>
                          <a:cs typeface="Arial"/>
                        </a:rPr>
                        <a:t>Frozen future target encoder</a:t>
                      </a:r>
                    </a:p>
                  </a:txBody>
                  <a:tcPr marL="91440" marR="91440" marT="45720" marB="45720">
                    <a:solidFill>
                      <a:srgbClr val="FFFFFF"/>
                    </a:solidFill>
                  </a:tcPr>
                </a:tc>
                <a:tc>
                  <a:txBody>
                    <a:bodyPr/>
                    <a:lstStyle/>
                    <a:p>
                      <a:r>
                        <a:rPr sz="1650" b="0">
                          <a:solidFill>
                            <a:srgbClr val="19344F"/>
                          </a:solidFill>
                          <a:latin typeface="Arial"/>
                          <a:ea typeface="Arial"/>
                          <a:cs typeface="Arial"/>
                        </a:rPr>
                        <a:t>FOCA-style implicit objective</a:t>
                      </a:r>
                    </a:p>
                    <a:p>
                      <a:r>
                        <a:rPr sz="1650" b="0">
                          <a:solidFill>
                            <a:srgbClr val="19344F"/>
                          </a:solidFill>
                          <a:latin typeface="Arial"/>
                          <a:ea typeface="Arial"/>
                          <a:cs typeface="Arial"/>
                        </a:rPr>
                        <a:t>Robot phase vẫn cần action loss</a:t>
                      </a:r>
                    </a:p>
                  </a:txBody>
                  <a:tcPr marL="91440" marR="91440" marT="45720" marB="45720">
                    <a:solidFill>
                      <a:srgbClr val="FFFFFF"/>
                    </a:solidFill>
                  </a:tcPr>
                </a:tc>
              </a:tr>
              <a:tr h="812006">
                <a:tc>
                  <a:txBody>
                    <a:bodyPr/>
                    <a:lstStyle/>
                    <a:p>
                      <a:r>
                        <a:rPr sz="1650" b="0">
                          <a:solidFill>
                            <a:srgbClr val="19344F"/>
                          </a:solidFill>
                          <a:latin typeface="Arial"/>
                          <a:ea typeface="Arial"/>
                          <a:cs typeface="Arial"/>
                        </a:rPr>
                        <a:t>04 Human pilot sau PoC</a:t>
                      </a:r>
                    </a:p>
                  </a:txBody>
                  <a:tcPr marL="91440" marR="91440" marT="45720" marB="45720">
                    <a:solidFill>
                      <a:srgbClr val="FFFFFF"/>
                    </a:solidFill>
                  </a:tcPr>
                </a:tc>
                <a:tc>
                  <a:txBody>
                    <a:bodyPr/>
                    <a:lstStyle/>
                    <a:p>
                      <a:r>
                        <a:rPr sz="1650" b="0">
                          <a:solidFill>
                            <a:srgbClr val="19344F"/>
                          </a:solidFill>
                          <a:latin typeface="Arial"/>
                          <a:ea typeface="Arial"/>
                          <a:cs typeface="Arial"/>
                        </a:rPr>
                        <a:t>Wrists / geometry / valid masks</a:t>
                      </a:r>
                    </a:p>
                    <a:p>
                      <a:r>
                        <a:rPr sz="1650" b="0">
                          <a:solidFill>
                            <a:srgbClr val="19344F"/>
                          </a:solidFill>
                          <a:latin typeface="Arial"/>
                          <a:ea typeface="Arial"/>
                          <a:cs typeface="Arial"/>
                        </a:rPr>
                        <a:t>Common motion targets</a:t>
                      </a:r>
                    </a:p>
                  </a:txBody>
                  <a:tcPr marL="91440" marR="91440" marT="45720" marB="45720">
                    <a:solidFill>
                      <a:srgbClr val="FFFFFF"/>
                    </a:solidFill>
                  </a:tcPr>
                </a:tc>
                <a:tc>
                  <a:txBody>
                    <a:bodyPr/>
                    <a:lstStyle/>
                    <a:p>
                      <a:r>
                        <a:rPr sz="1650" b="0">
                          <a:solidFill>
                            <a:srgbClr val="19344F"/>
                          </a:solidFill>
                          <a:latin typeface="Arial"/>
                          <a:ea typeface="Arial"/>
                          <a:cs typeface="Arial"/>
                        </a:rPr>
                        <a:t>Custom common head / trunk</a:t>
                      </a:r>
                    </a:p>
                    <a:p>
                      <a:r>
                        <a:rPr sz="1650" b="0">
                          <a:solidFill>
                            <a:srgbClr val="19344F"/>
                          </a:solidFill>
                          <a:latin typeface="Arial"/>
                          <a:ea typeface="Arial"/>
                          <a:cs typeface="Arial"/>
                        </a:rPr>
                        <a:t>Chưa human transfer result</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419144437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85F162F0-21D0-41DC-B64E-EE2F276141E7}"/>
              </a:ext>
            </a:extLst>
          </p:cNvPr>
          <p:cNvPicPr>
            <a:picLocks xmlns:a="http://schemas.openxmlformats.org/drawingml/2006/main" noChangeAspect="1"/>
          </p:cNvPicPr>
          <p:nvPr/>
        </p:nvPicPr>
        <p:blipFill>
          <a:blip xmlns:r="http://schemas.openxmlformats.org/officeDocument/2006/relationships" xmlns:a="http://schemas.openxmlformats.org/drawingml/2006/main" r:embed="R97eb1f545df74def"/>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Inference trên robot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Inference dùng quan sát hiện tại. Future action targets và privileged scorer state không đi vào policy.</a:t>
            </a:r>
          </a:p>
        </p:txBody>
      </p:sp>
      <p:graphicFrame>
        <p:nvGraphicFramePr>
          <p:cNvPr id="11" name="">
            <a:extLst xmlns:a="http://schemas.openxmlformats.org/drawingml/2006/main">
              <a:ext uri="{FF2B5EF4-FFF2-40B4-BE49-F238E27FC236}">
                <a16:creationId xmlns:a16="http://schemas.microsoft.com/office/drawing/2014/main" id="{998A8E40-CFD0-4B24-9E4B-002E68237453}"/>
              </a:ext>
            </a:extLst>
          </p:cNvPr>
          <p:cNvGraphicFramePr/>
          <p:nvPr/>
        </p:nvGraphicFramePr>
        <p:xfrm>
          <a:off xmlns:a="http://schemas.openxmlformats.org/drawingml/2006/main" x="533400" y="1619250"/>
          <a:ext xmlns:a="http://schemas.openxmlformats.org/drawingml/2006/main" cx="11125200" cy="3667125"/>
        </p:xfrm>
        <a:graphic xmlns:a="http://schemas.openxmlformats.org/drawingml/2006/main">
          <a:graphicData uri="http://schemas.openxmlformats.org/drawingml/2006/table">
            <a:tbl>
              <a:tblPr/>
              <a:tblGrid>
                <a:gridCol w="2714625"/>
                <a:gridCol w="4381500"/>
                <a:gridCol w="4029075"/>
              </a:tblGrid>
              <a:tr h="419100">
                <a:tc>
                  <a:txBody>
                    <a:bodyPr>
                      <a:noAutofit/>
                    </a:bodyPr>
                    <a:lstStyle/>
                    <a:p>
                      <a:r>
                        <a:rPr sz="1800" b="1">
                          <a:solidFill>
                            <a:srgbClr val="FFFFFF"/>
                          </a:solidFill>
                          <a:latin typeface="Arial"/>
                          <a:ea typeface="Arial"/>
                          <a:cs typeface="Arial"/>
                        </a:rPr>
                        <a:t>Ranh giới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Dữ liệu đầu vào</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Dữ liệu đầu ra</a:t>
                      </a:r>
                    </a:p>
                  </a:txBody>
                  <a:tcPr marL="95250" marR="95250" marT="76200" marB="66675" anchor="t">
                    <a:solidFill>
                      <a:srgbClr val="153251"/>
                    </a:solidFill>
                  </a:tcPr>
                </a:tc>
              </a:tr>
              <a:tr h="649605">
                <a:tc>
                  <a:txBody>
                    <a:bodyPr>
                      <a:noAutofit/>
                    </a:bodyPr>
                    <a:lstStyle/>
                    <a:p>
                      <a:r>
                        <a:rPr sz="1725" b="0">
                          <a:solidFill>
                            <a:srgbClr val="153251"/>
                          </a:solidFill>
                          <a:latin typeface="Arial"/>
                          <a:ea typeface="Arial"/>
                          <a:cs typeface="Arial"/>
                        </a:rPr>
                        <a:t>Camera và preprocessing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RGB + instruction + measured state</a:t>
                      </a:r>
                    </a:p>
                    <a:p>
                      <a:r>
                        <a:rPr sz="1725" b="0">
                          <a:solidFill>
                            <a:srgbClr val="153251"/>
                          </a:solidFill>
                          <a:latin typeface="Arial"/>
                          <a:ea typeface="Arial"/>
                          <a:cs typeface="Arial"/>
                        </a:rPr>
                        <a:t>Processor / camera / timing đã pin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Image tensors, tokens, masks</a:t>
                      </a:r>
                    </a:p>
                    <a:p>
                      <a:r>
                        <a:rPr sz="1725" b="0">
                          <a:solidFill>
                            <a:srgbClr val="153251"/>
                          </a:solidFill>
                          <a:latin typeface="Arial"/>
                          <a:ea typeface="Arial"/>
                          <a:cs typeface="Arial"/>
                        </a:rPr>
                        <a:t>State theo robot profile</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Eagle VLM</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Images + text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Encoded features có layer/shape/version</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DiT Action Expert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Features + state + noise/time</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Action chunk theo horizon đã khóa</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Binding và controller</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Chunk đã denormalize</a:t>
                      </a:r>
                    </a:p>
                    <a:p>
                      <a:r>
                        <a:rPr sz="1725" b="0">
                          <a:solidFill>
                            <a:srgbClr val="153251"/>
                          </a:solidFill>
                          <a:latin typeface="Arial"/>
                          <a:ea typeface="Arial"/>
                          <a:cs typeface="Arial"/>
                        </a:rPr>
                        <a:t>Order, units, limits, execution prefix</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Sent commands + robot readback</a:t>
                      </a:r>
                    </a:p>
                    <a:p>
                      <a:r>
                        <a:rPr sz="1725" b="0">
                          <a:solidFill>
                            <a:srgbClr val="153251"/>
                          </a:solidFill>
                          <a:latin typeface="Arial"/>
                          <a:ea typeface="Arial"/>
                          <a:cs typeface="Arial"/>
                        </a:rPr>
                        <a:t>Quan sát mới cho closed-loop</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Scorer độc lập</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Object / contact / task criteria</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Full-task, stage, timeout, unknown</a:t>
                      </a:r>
                    </a:p>
                    <a:p>
                      <a:r>
                        <a:rPr sz="1725" b="0">
                          <a:solidFill>
                            <a:srgbClr val="153251"/>
                          </a:solidFill>
                          <a:latin typeface="Arial"/>
                          <a:ea typeface="Arial"/>
                          <a:cs typeface="Arial"/>
                        </a:rPr>
                        <a:t>Evidence gửi về flywheel</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68F09DD1-2194-44CF-8D91-7E12F6F72349}"/>
              </a:ext>
            </a:extLst>
          </p:cNvPr>
          <p:cNvSpPr>
            <a:spLocks xmlns:a="http://schemas.openxmlformats.org/drawingml/2006/main" noGrp="1"/>
          </p:cNvSpPr>
          <p:nvPr/>
        </p:nvSpPr>
        <p:spPr>
          <a:xfrm xmlns:a="http://schemas.openxmlformats.org/drawingml/2006/main">
            <a:off x="533400" y="5543550"/>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1">
                <a:solidFill>
                  <a:srgbClr val="007F83"/>
                </a:solidFill>
                <a:latin typeface="Arial"/>
                <a:ea typeface="Arial"/>
                <a:cs typeface="Arial"/>
              </a:defRPr>
            </a:defPPr>
          </a:lstStyle>
          <a:p xmlns:a="http://schemas.openxmlformats.org/drawingml/2006/main">
            <a:pPr>
              <a:buNone/>
              <a:defRPr sz="1725" b="1">
                <a:solidFill>
                  <a:srgbClr val="007F83"/>
                </a:solidFill>
                <a:latin typeface="Arial"/>
                <a:ea typeface="Arial"/>
                <a:cs typeface="Arial"/>
              </a:defRPr>
            </a:pPr>
            <a:r>
              <a:rPr sz="1725" b="1">
                <a:solidFill>
                  <a:srgbClr val="007F83"/>
                </a:solidFill>
                <a:latin typeface="Arial"/>
                <a:ea typeface="Arial"/>
                <a:cs typeface="Arial"/>
              </a:rPr>
              <a:t>Đích PoC: closed-loop thật khi robot BTC tương thích. Public sim và real có profile, release riêng.</a:t>
            </a:r>
          </a:p>
        </p:txBody>
      </p:sp>
      <p:sp>
        <p:nvSpPr>
          <p:cNvPr id="13" name="content">
            <a:extLst xmlns:a="http://schemas.openxmlformats.org/drawingml/2006/main">
              <a:ext uri="{FF2B5EF4-FFF2-40B4-BE49-F238E27FC236}">
                <a16:creationId xmlns:a16="http://schemas.microsoft.com/office/drawing/2014/main" id="{BAC65C46-0016-43F0-A119-4508D14521EA}"/>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20 / 24</a:t>
            </a:r>
          </a:p>
        </p:txBody>
      </p:sp>
    </p:spTree>
    <p:extLst>
      <p:ext uri="{BB962C8B-B14F-4D97-AF65-F5344CB8AC3E}">
        <p14:creationId xmlns:p14="http://schemas.microsoft.com/office/powerpoint/2010/main" val="4191444374"/>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3F269B-5EF9-4D07-98F2-086120AD0FF4}"/>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300"/>
            </a:defPPr>
          </a:lstStyle>
          <a:p xmlns:a="http://schemas.openxmlformats.org/drawingml/2006/main">
            <a:pPr algn="ctr">
              <a:buNone/>
              <a:defRPr sz="3300" b="1">
                <a:solidFill>
                  <a:srgbClr val="FFFFFF"/>
                </a:solidFill>
                <a:latin typeface="Times New Roman"/>
                <a:ea typeface="Times New Roman"/>
                <a:cs typeface="Times New Roman"/>
              </a:defRPr>
            </a:pPr>
            <a:r>
              <a:rPr sz="3300" b="1">
                <a:solidFill>
                  <a:srgbClr val="FFFFFF"/>
                </a:solidFill>
                <a:latin typeface="Times New Roman"/>
                <a:ea typeface="Times New Roman"/>
                <a:cs typeface="Times New Roman"/>
              </a:rPr>
              <a:t>Nghiên cứu eval mở rộng</a:t>
            </a:r>
          </a:p>
        </p:txBody>
      </p:sp>
      <p:pic>
        <p:nvPicPr>
          <p:cNvPr id="7" name="">
            <a:extLst xmlns:a="http://schemas.openxmlformats.org/drawingml/2006/main">
              <a:ext uri="{FF2B5EF4-FFF2-40B4-BE49-F238E27FC236}">
                <a16:creationId xmlns:a16="http://schemas.microsoft.com/office/drawing/2014/main" id="{CC95DAE9-0646-492C-A8F8-B6CD9CCA9489}"/>
              </a:ext>
            </a:extLst>
          </p:cNvPr>
          <p:cNvPicPr>
            <a:picLocks xmlns:a="http://schemas.openxmlformats.org/drawingml/2006/main" noChangeAspect="1"/>
          </p:cNvPicPr>
          <p:nvPr/>
        </p:nvPicPr>
        <p:blipFill>
          <a:blip xmlns:r="http://schemas.openxmlformats.org/officeDocument/2006/relationships" xmlns:a="http://schemas.openxmlformats.org/drawingml/2006/main" r:embed="Rcb200cef361842db"/>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B65230A-01A5-49C5-89B5-E34C6E9514DD}"/>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Protocol A1 mở rộng, không phải gate PoC 30 ngày</a:t>
            </a:r>
          </a:p>
        </p:txBody>
      </p:sp>
      <p:sp>
        <p:nvSpPr>
          <p:cNvPr id="9" name="">
            <a:extLst xmlns:a="http://schemas.openxmlformats.org/drawingml/2006/main">
              <a:ext uri="{FF2B5EF4-FFF2-40B4-BE49-F238E27FC236}">
                <a16:creationId xmlns:a16="http://schemas.microsoft.com/office/drawing/2014/main" id="{9C62AF44-F974-40EA-BD73-6EBC3DBF918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FFFFFF"/>
                </a:solidFill>
                <a:latin typeface="Arial"/>
                <a:ea typeface="Arial"/>
                <a:cs typeface="Arial"/>
              </a:defRPr>
            </a:defPPr>
          </a:lstStyle>
          <a:p xmlns:a="http://schemas.openxmlformats.org/drawingml/2006/main">
            <a:pPr>
              <a:buNone/>
              <a:defRPr sz="1200" b="0">
                <a:solidFill>
                  <a:srgbClr val="FFFFFF"/>
                </a:solidFill>
                <a:latin typeface="Arial"/>
                <a:ea typeface="Arial"/>
                <a:cs typeface="Arial"/>
              </a:defRPr>
            </a:pPr>
            <a:r>
              <a:rPr sz="1200" b="0">
                <a:solidFill>
                  <a:srgbClr val="FFFFFF"/>
                </a:solidFill>
                <a:latin typeface="Arial"/>
                <a:ea typeface="Arial"/>
                <a:cs typeface="Arial"/>
              </a:rPr>
              <a:t>PoC đề xuất 20 lượt/policy, candidate ≥16/20. Protocol n=100 bên trên cần nguồn lực và sampling riêng.</a:t>
            </a:r>
          </a:p>
        </p:txBody>
      </p:sp>
      <p:graphicFrame>
        <p:nvGraphicFramePr>
          <p:cNvPr id="10" name="">
            <a:extLst xmlns:a="http://schemas.openxmlformats.org/drawingml/2006/main">
              <a:ext uri="{FF2B5EF4-FFF2-40B4-BE49-F238E27FC236}">
                <a16:creationId xmlns:a16="http://schemas.microsoft.com/office/drawing/2014/main" id="{18952F58-B6C9-4E99-8456-812951BE2FE1}"/>
              </a:ext>
            </a:extLst>
          </p:cNvPr>
          <p:cNvGraphicFramePr/>
          <p:nvPr/>
        </p:nvGraphicFramePr>
        <p:xfrm>
          <a:off xmlns:a="http://schemas.openxmlformats.org/drawingml/2006/main" x="533400" y="1619250"/>
          <a:ext xmlns:a="http://schemas.openxmlformats.org/drawingml/2006/main" cx="11125200" cy="2667000"/>
        </p:xfrm>
        <a:graphic xmlns:a="http://schemas.openxmlformats.org/drawingml/2006/main">
          <a:graphicData uri="http://schemas.openxmlformats.org/drawingml/2006/table">
            <a:tbl>
              <a:tblPr/>
              <a:tblGrid>
                <a:gridCol w="3238500"/>
                <a:gridCol w="3333750"/>
                <a:gridCol w="4552950"/>
              </a:tblGrid>
              <a:tr h="419100">
                <a:tc>
                  <a:txBody>
                    <a:bodyPr>
                      <a:noAutofit/>
                    </a:bodyPr>
                    <a:lstStyle/>
                    <a:p>
                      <a:r>
                        <a:rPr sz="1800" b="1">
                          <a:solidFill>
                            <a:srgbClr val="FFFFFF"/>
                          </a:solidFill>
                          <a:latin typeface="Arial"/>
                          <a:ea typeface="Arial"/>
                          <a:cs typeface="Arial"/>
                        </a:rPr>
                        <a:t>Câu hỏi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Đối chứng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Cách giữ phép so công bằng</a:t>
                      </a:r>
                    </a:p>
                  </a:txBody>
                  <a:tcPr marL="95250" marR="95250" marT="76200" marB="66675" anchor="t">
                    <a:solidFill>
                      <a:srgbClr val="153251"/>
                    </a:solidFill>
                  </a:tcPr>
                </a:tc>
              </a:tr>
              <a:tr h="749300">
                <a:tc>
                  <a:txBody>
                    <a:bodyPr>
                      <a:noAutofit/>
                    </a:bodyPr>
                    <a:lstStyle/>
                    <a:p>
                      <a:r>
                        <a:rPr sz="1800" b="0">
                          <a:solidFill>
                            <a:srgbClr val="153251"/>
                          </a:solidFill>
                          <a:latin typeface="Arial"/>
                          <a:ea typeface="Arial"/>
                          <a:cs typeface="Arial"/>
                        </a:rPr>
                        <a:t>Nguồn synthetic có ích?</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R so với R + S_exec</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Cùng roots, recipe, domain, scorer</a:t>
                      </a:r>
                    </a:p>
                    <a:p>
                      <a:r>
                        <a:rPr sz="1800" b="0">
                          <a:solidFill>
                            <a:srgbClr val="153251"/>
                          </a:solidFill>
                          <a:latin typeface="Arial"/>
                          <a:ea typeface="Arial"/>
                          <a:cs typeface="Arial"/>
                        </a:rPr>
                        <a:t>Ghi thêm công và compute của S</a:t>
                      </a:r>
                    </a:p>
                  </a:txBody>
                  <a:tcPr marL="95250" marR="95250" marT="76200" marB="66675" anchor="t">
                    <a:solidFill>
                      <a:srgbClr val="FFFFFF"/>
                    </a:solidFill>
                  </a:tcPr>
                </a:tc>
              </a:tr>
              <a:tr h="749300">
                <a:tc>
                  <a:txBody>
                    <a:bodyPr>
                      <a:noAutofit/>
                    </a:bodyPr>
                    <a:lstStyle/>
                    <a:p>
                      <a:r>
                        <a:rPr sz="1800" b="0">
                          <a:solidFill>
                            <a:srgbClr val="153251"/>
                          </a:solidFill>
                          <a:latin typeface="Arial"/>
                          <a:ea typeface="Arial"/>
                          <a:cs typeface="Arial"/>
                        </a:rPr>
                        <a:t>Flywheel chọn tốt hơn?</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Quy trình thường so với</a:t>
                      </a:r>
                    </a:p>
                    <a:p>
                      <a:r>
                        <a:rPr sz="1800" b="0">
                          <a:solidFill>
                            <a:srgbClr val="153251"/>
                          </a:solidFill>
                          <a:latin typeface="Arial"/>
                          <a:ea typeface="Arial"/>
                          <a:cs typeface="Arial"/>
                        </a:rPr>
                        <a:t>quy trình có evidence</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Matched parent–case pairs, cùng cap</a:t>
                      </a:r>
                    </a:p>
                    <a:p>
                      <a:r>
                        <a:rPr sz="1800" b="0">
                          <a:solidFill>
                            <a:srgbClr val="153251"/>
                          </a:solidFill>
                          <a:latin typeface="Arial"/>
                          <a:ea typeface="Arial"/>
                          <a:cs typeface="Arial"/>
                        </a:rPr>
                        <a:t>Cùng quyền can thiệp, đảo thứ tự case</a:t>
                      </a:r>
                    </a:p>
                  </a:txBody>
                  <a:tcPr marL="95250" marR="95250" marT="76200" marB="66675" anchor="t">
                    <a:solidFill>
                      <a:srgbClr val="FFFFFF"/>
                    </a:solidFill>
                  </a:tcPr>
                </a:tc>
              </a:tr>
              <a:tr h="749300">
                <a:tc>
                  <a:txBody>
                    <a:bodyPr>
                      <a:noAutofit/>
                    </a:bodyPr>
                    <a:lstStyle/>
                    <a:p>
                      <a:r>
                        <a:rPr sz="1800" b="0">
                          <a:solidFill>
                            <a:srgbClr val="153251"/>
                          </a:solidFill>
                          <a:latin typeface="Arial"/>
                          <a:ea typeface="Arial"/>
                          <a:cs typeface="Arial"/>
                        </a:rPr>
                        <a:t>Skill đạt yêu cầu?</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Freeze rồi independent final</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100 scene starts độc lập, full-task</a:t>
                      </a:r>
                    </a:p>
                    <a:p>
                      <a:r>
                        <a:rPr sz="1800" b="0">
                          <a:solidFill>
                            <a:srgbClr val="153251"/>
                          </a:solidFill>
                          <a:latin typeface="Arial"/>
                          <a:ea typeface="Arial"/>
                          <a:cs typeface="Arial"/>
                        </a:rPr>
                        <a:t>Ghi cả timeout / unknown / intervention</a:t>
                      </a:r>
                    </a:p>
                  </a:txBody>
                  <a:tcPr marL="95250" marR="95250" marT="76200" marB="66675" anchor="t">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4B60CF7-7D67-4864-9EDF-EFEED0E177D6}"/>
              </a:ext>
            </a:extLst>
          </p:cNvPr>
          <p:cNvSpPr>
            <a:spLocks xmlns:a="http://schemas.openxmlformats.org/drawingml/2006/main" noGrp="1"/>
          </p:cNvSpPr>
          <p:nvPr/>
        </p:nvSpPr>
        <p:spPr>
          <a:xfrm xmlns:a="http://schemas.openxmlformats.org/drawingml/2006/main">
            <a:off x="533400" y="4591050"/>
            <a:ext cx="11125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007F83"/>
                </a:solidFill>
                <a:latin typeface="Arial"/>
                <a:ea typeface="Arial"/>
                <a:cs typeface="Arial"/>
              </a:defRPr>
            </a:defPPr>
          </a:lstStyle>
          <a:p xmlns:a="http://schemas.openxmlformats.org/drawingml/2006/main">
            <a:pPr>
              <a:buNone/>
              <a:defRPr sz="2325" b="1">
                <a:solidFill>
                  <a:srgbClr val="007F83"/>
                </a:solidFill>
                <a:latin typeface="Arial"/>
                <a:ea typeface="Arial"/>
                <a:cs typeface="Arial"/>
              </a:defRPr>
            </a:pPr>
            <a:r>
              <a:rPr sz="2325" b="1">
                <a:solidFill>
                  <a:srgbClr val="007F83"/>
                </a:solidFill>
                <a:latin typeface="Arial"/>
                <a:ea typeface="Arial"/>
                <a:cs typeface="Arial"/>
              </a:rPr>
              <a:t>Gate đề xuất: lower bound exact một phía 95% ≥ 90%</a:t>
            </a:r>
          </a:p>
        </p:txBody>
      </p:sp>
      <p:sp>
        <p:nvSpPr>
          <p:cNvPr id="12" name="">
            <a:extLst xmlns:a="http://schemas.openxmlformats.org/drawingml/2006/main">
              <a:ext uri="{FF2B5EF4-FFF2-40B4-BE49-F238E27FC236}">
                <a16:creationId xmlns:a16="http://schemas.microsoft.com/office/drawing/2014/main" id="{7454677C-AB30-4D77-817C-03228D5EB6E5}"/>
              </a:ext>
            </a:extLst>
          </p:cNvPr>
          <p:cNvSpPr>
            <a:spLocks xmlns:a="http://schemas.openxmlformats.org/drawingml/2006/main" noGrp="1"/>
          </p:cNvSpPr>
          <p:nvPr/>
        </p:nvSpPr>
        <p:spPr>
          <a:xfrm xmlns:a="http://schemas.openxmlformats.org/drawingml/2006/main">
            <a:off x="533400" y="5210175"/>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53251"/>
                </a:solidFill>
                <a:latin typeface="Arial"/>
                <a:ea typeface="Arial"/>
                <a:cs typeface="Arial"/>
              </a:defRPr>
            </a:defPPr>
          </a:lstStyle>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Với n = 100 và giả định IID Bernoulli, cần ít nhất 96 successes.</a:t>
            </a:r>
          </a:p>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Chất lượng đạt gate chưa chứng minh saving. So tổng công ở cùng quality và coverage.</a:t>
            </a:r>
          </a:p>
        </p:txBody>
      </p:sp>
      <p:sp>
        <p:nvSpPr>
          <p:cNvPr id="13" name="content">
            <a:extLst xmlns:a="http://schemas.openxmlformats.org/drawingml/2006/main">
              <a:ext uri="{FF2B5EF4-FFF2-40B4-BE49-F238E27FC236}">
                <a16:creationId xmlns:a16="http://schemas.microsoft.com/office/drawing/2014/main" id="{264934B3-AADB-4BC4-9C59-A9CDA528AEB1}"/>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21 / 24</a:t>
            </a:r>
          </a:p>
        </p:txBody>
      </p:sp>
    </p:spTree>
    <p:extLst>
      <p:ext uri="{BB962C8B-B14F-4D97-AF65-F5344CB8AC3E}">
        <p14:creationId xmlns:p14="http://schemas.microsoft.com/office/powerpoint/2010/main" val="254179327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46BCE10A-72A6-491E-AE70-1DAEA89D0B16}"/>
              </a:ext>
            </a:extLst>
          </p:cNvPr>
          <p:cNvPicPr>
            <a:picLocks xmlns:a="http://schemas.openxmlformats.org/drawingml/2006/main" noChangeAspect="1"/>
          </p:cNvPicPr>
          <p:nvPr/>
        </p:nvPicPr>
        <p:blipFill>
          <a:blip xmlns:r="http://schemas.openxmlformats.org/officeDocument/2006/relationships" xmlns:a="http://schemas.openxmlformats.org/drawingml/2006/main" r:embed="Rbaedd98747b449f7"/>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Phụ lục: các hướng model</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Các phương pháp giải bài toán khác nhau. Không ghép kết quả khác robot, task và budget thành một leaderboard.</a:t>
            </a:r>
          </a:p>
        </p:txBody>
      </p:sp>
      <p:graphicFrame>
        <p:nvGraphicFramePr>
          <p:cNvPr id="11" name="">
            <a:extLst xmlns:a="http://schemas.openxmlformats.org/drawingml/2006/main">
              <a:ext uri="{FF2B5EF4-FFF2-40B4-BE49-F238E27FC236}">
                <a16:creationId xmlns:a16="http://schemas.microsoft.com/office/drawing/2014/main" id="{9A9972C0-2D95-4CE8-9193-729650ED5029}"/>
              </a:ext>
            </a:extLst>
          </p:cNvPr>
          <p:cNvGraphicFramePr/>
          <p:nvPr/>
        </p:nvGraphicFramePr>
        <p:xfrm>
          <a:off xmlns:a="http://schemas.openxmlformats.org/drawingml/2006/main" x="533400" y="1619250"/>
          <a:ext xmlns:a="http://schemas.openxmlformats.org/drawingml/2006/main" cx="11125200" cy="3810000"/>
        </p:xfrm>
        <a:graphic xmlns:a="http://schemas.openxmlformats.org/drawingml/2006/main">
          <a:graphicData uri="http://schemas.openxmlformats.org/drawingml/2006/table">
            <a:tbl>
              <a:tblPr/>
              <a:tblGrid>
                <a:gridCol w="2476500"/>
                <a:gridCol w="4667250"/>
                <a:gridCol w="3981450"/>
              </a:tblGrid>
              <a:tr h="419100">
                <a:tc>
                  <a:txBody>
                    <a:bodyPr>
                      <a:noAutofit/>
                    </a:bodyPr>
                    <a:lstStyle/>
                    <a:p>
                      <a:r>
                        <a:rPr sz="1800" b="1">
                          <a:solidFill>
                            <a:srgbClr val="FFFFFF"/>
                          </a:solidFill>
                          <a:latin typeface="Arial"/>
                          <a:ea typeface="Arial"/>
                          <a:cs typeface="Arial"/>
                        </a:rPr>
                        <a:t>Hướng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Supervision / cách học</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Mapping vào idea</a:t>
                      </a:r>
                    </a:p>
                  </a:txBody>
                  <a:tcPr marL="95250" marR="95250" marT="76200" marB="66675" anchor="t">
                    <a:solidFill>
                      <a:srgbClr val="153251"/>
                    </a:solidFill>
                  </a:tcPr>
                </a:tc>
              </a:tr>
              <a:tr h="678180">
                <a:tc>
                  <a:txBody>
                    <a:bodyPr>
                      <a:noAutofit/>
                    </a:bodyPr>
                    <a:lstStyle/>
                    <a:p>
                      <a:r>
                        <a:rPr sz="1650" b="0">
                          <a:solidFill>
                            <a:srgbClr val="153251"/>
                          </a:solidFill>
                          <a:latin typeface="Arial"/>
                          <a:ea typeface="Arial"/>
                          <a:cs typeface="Arial"/>
                        </a:rPr>
                        <a:t>OpenVLA / π0</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Robot trajectories có actions</a:t>
                      </a:r>
                    </a:p>
                    <a:p>
                      <a:r>
                        <a:rPr sz="1650" b="0">
                          <a:solidFill>
                            <a:srgbClr val="153251"/>
                          </a:solidFill>
                          <a:latin typeface="Arial"/>
                          <a:ea typeface="Arial"/>
                          <a:cs typeface="Arial"/>
                        </a:rPr>
                        <a:t>Action tokens hoặc flow objective</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Pretrained policy adaptation</a:t>
                      </a:r>
                    </a:p>
                    <a:p>
                      <a:r>
                        <a:rPr sz="1650" b="0">
                          <a:solidFill>
                            <a:srgbClr val="153251"/>
                          </a:solidFill>
                          <a:latin typeface="Arial"/>
                          <a:ea typeface="Arial"/>
                          <a:cs typeface="Arial"/>
                        </a:rPr>
                        <a:t>Freeze / tune phụ thuộc recipe</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GR00T N1.5</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Eagle + DiT, robot action learning</a:t>
                      </a:r>
                    </a:p>
                    <a:p>
                      <a:r>
                        <a:rPr sz="1650" b="0">
                          <a:solidFill>
                            <a:srgbClr val="153251"/>
                          </a:solidFill>
                          <a:latin typeface="Arial"/>
                          <a:ea typeface="Arial"/>
                          <a:cs typeface="Arial"/>
                        </a:rPr>
                        <a:t>Official frozen VLM + FLARE</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Policy ưu tiên cho public GR1</a:t>
                      </a:r>
                    </a:p>
                    <a:p>
                      <a:r>
                        <a:rPr sz="1650" b="0">
                          <a:solidFill>
                            <a:srgbClr val="153251"/>
                          </a:solidFill>
                          <a:latin typeface="Arial"/>
                          <a:ea typeface="Arial"/>
                          <a:cs typeface="Arial"/>
                        </a:rPr>
                        <a:t>PoC ACT/adapters nếu phù hợp VRAM</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FOCA</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Video action-free học future alignment</a:t>
                      </a:r>
                    </a:p>
                    <a:p>
                      <a:r>
                        <a:rPr sz="1650" b="0">
                          <a:solidFill>
                            <a:srgbClr val="153251"/>
                          </a:solidFill>
                          <a:latin typeface="Arial"/>
                          <a:ea typeface="Arial"/>
                          <a:cs typeface="Arial"/>
                        </a:rPr>
                        <a:t>Robot phase học action + implicit</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Pilot few-shot có gate riêng</a:t>
                      </a:r>
                    </a:p>
                    <a:p>
                      <a:r>
                        <a:rPr sz="1650" b="0">
                          <a:solidFill>
                            <a:srgbClr val="153251"/>
                          </a:solidFill>
                          <a:latin typeface="Arial"/>
                          <a:ea typeface="Arial"/>
                          <a:cs typeface="Arial"/>
                        </a:rPr>
                        <a:t>Chưa port vào A1</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DreamGen</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Sinh video offline theo task</a:t>
                      </a:r>
                    </a:p>
                    <a:p>
                      <a:r>
                        <a:rPr sz="1650" b="0">
                          <a:solidFill>
                            <a:srgbClr val="153251"/>
                          </a:solidFill>
                          <a:latin typeface="Arial"/>
                          <a:ea typeface="Arial"/>
                          <a:cs typeface="Arial"/>
                        </a:rPr>
                        <a:t>Video sinh thường không có robot actions</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Nguồn kinh nghiệm bổ sung</a:t>
                      </a:r>
                    </a:p>
                    <a:p>
                      <a:r>
                        <a:rPr sz="1650" b="0">
                          <a:solidFill>
                            <a:srgbClr val="153251"/>
                          </a:solidFill>
                          <a:latin typeface="Arial"/>
                          <a:ea typeface="Arial"/>
                          <a:cs typeface="Arial"/>
                        </a:rPr>
                        <a:t>Cần objective / nhãn thích hợp</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DreamZero / DreamerV3</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Joint world-action hoặc dynamics / RL</a:t>
                      </a:r>
                    </a:p>
                    <a:p>
                      <a:r>
                        <a:rPr sz="1650" b="0">
                          <a:solidFill>
                            <a:srgbClr val="153251"/>
                          </a:solidFill>
                          <a:latin typeface="Arial"/>
                          <a:ea typeface="Arial"/>
                          <a:cs typeface="Arial"/>
                        </a:rPr>
                        <a:t>Objective và runtime riêng</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Alternative stack để nghiên cứu</a:t>
                      </a:r>
                    </a:p>
                    <a:p>
                      <a:r>
                        <a:rPr sz="1650" b="0">
                          <a:solidFill>
                            <a:srgbClr val="153251"/>
                          </a:solidFill>
                          <a:latin typeface="Arial"/>
                          <a:ea typeface="Arial"/>
                          <a:cs typeface="Arial"/>
                        </a:rPr>
                        <a:t>Chưa là component bắt buộc MVP</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EB0AFAED-035E-40AA-9AB3-B138E3B9DFDA}"/>
              </a:ext>
            </a:extLst>
          </p:cNvPr>
          <p:cNvSpPr>
            <a:spLocks xmlns:a="http://schemas.openxmlformats.org/drawingml/2006/main" noGrp="1"/>
          </p:cNvSpPr>
          <p:nvPr/>
        </p:nvSpPr>
        <p:spPr>
          <a:xfrm xmlns:a="http://schemas.openxmlformats.org/drawingml/2006/main">
            <a:off x="533400" y="55530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Human wrist pilot: common motion 18D, giữ native robot head riêng, kiểm transfer bằng đối chứng.</a:t>
            </a:r>
          </a:p>
        </p:txBody>
      </p:sp>
      <p:sp>
        <p:nvSpPr>
          <p:cNvPr id="13" name="content">
            <a:extLst xmlns:a="http://schemas.openxmlformats.org/drawingml/2006/main">
              <a:ext uri="{FF2B5EF4-FFF2-40B4-BE49-F238E27FC236}">
                <a16:creationId xmlns:a16="http://schemas.microsoft.com/office/drawing/2014/main" id="{EADB7F43-6AA5-4ED3-954F-E26DFFCB3B19}"/>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22 / 24</a:t>
            </a:r>
          </a:p>
        </p:txBody>
      </p:sp>
    </p:spTree>
    <p:extLst>
      <p:ext uri="{BB962C8B-B14F-4D97-AF65-F5344CB8AC3E}">
        <p14:creationId xmlns:p14="http://schemas.microsoft.com/office/powerpoint/2010/main" val="4191444374"/>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41" name="Picture 6">
            <a:extLst xmlns:a="http://schemas.openxmlformats.org/drawingml/2006/main">
              <a:ext uri="{FF2B5EF4-FFF2-40B4-BE49-F238E27FC236}">
                <a16:creationId xmlns:a16="http://schemas.microsoft.com/office/drawing/2014/main" id="{5F9B2021-7361-4B6C-8C4C-EA4228DF8E8D}"/>
              </a:ext>
            </a:extLst>
          </p:cNvPr>
          <p:cNvPicPr>
            <a:picLocks xmlns:a="http://schemas.openxmlformats.org/drawingml/2006/main" noChangeAspect="1"/>
          </p:cNvPicPr>
          <p:nvPr/>
        </p:nvPicPr>
        <p:blipFill>
          <a:blip xmlns:r="http://schemas.openxmlformats.org/officeDocument/2006/relationships" xmlns:a="http://schemas.openxmlformats.org/drawingml/2006/main" r:embed="R2aa15bed33ad4c2f"/>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pic>
        <p:nvPicPr>
          <p:cNvPr id="42" name="Image 0">
            <a:extLst xmlns:a="http://schemas.openxmlformats.org/drawingml/2006/main">
              <a:ext uri="{FF2B5EF4-FFF2-40B4-BE49-F238E27FC236}">
                <a16:creationId xmlns:a16="http://schemas.microsoft.com/office/drawing/2014/main" id="{B65F687B-11F7-4615-BF95-AB09B6AF9227}"/>
              </a:ext>
            </a:extLst>
          </p:cNvPr>
          <p:cNvPicPr>
            <a:picLocks xmlns:a="http://schemas.openxmlformats.org/drawingml/2006/main" noChangeAspect="1"/>
          </p:cNvPicPr>
          <p:nvPr/>
        </p:nvPicPr>
        <p:blipFill>
          <a:blip xmlns:r="http://schemas.openxmlformats.org/officeDocument/2006/relationships" xmlns:a="http://schemas.openxmlformats.org/drawingml/2006/main" r:embed="R457070972dd54753"/>
          <a:stretch xmlns:a="http://schemas.openxmlformats.org/drawingml/2006/main">
            <a:fillRect l="0" t="0" r="0" b="0"/>
          </a:stretch>
        </p:blipFill>
        <p:spPr>
          <a:xfrm xmlns:a="http://schemas.openxmlformats.org/drawingml/2006/main">
            <a:off x="0" y="0"/>
            <a:ext cx="12191695" cy="868680"/>
          </a:xfrm>
          <a:prstGeom xmlns:a="http://schemas.openxmlformats.org/drawingml/2006/main" prst="rect">
            <a:avLst/>
          </a:prstGeom>
        </p:spPr>
      </p:pic>
      <p:pic>
        <p:nvPicPr>
          <p:cNvPr id="43" name="Image 1">
            <a:extLst xmlns:a="http://schemas.openxmlformats.org/drawingml/2006/main">
              <a:ext uri="{FF2B5EF4-FFF2-40B4-BE49-F238E27FC236}">
                <a16:creationId xmlns:a16="http://schemas.microsoft.com/office/drawing/2014/main" id="{E563B3BA-8B3A-4885-BCD6-23A98C7BC9FB}"/>
              </a:ext>
            </a:extLst>
          </p:cNvPr>
          <p:cNvPicPr>
            <a:picLocks xmlns:a="http://schemas.openxmlformats.org/drawingml/2006/main" noChangeAspect="1"/>
          </p:cNvPicPr>
          <p:nvPr/>
        </p:nvPicPr>
        <p:blipFill>
          <a:blip xmlns:r="http://schemas.openxmlformats.org/officeDocument/2006/relationships" xmlns:a="http://schemas.openxmlformats.org/drawingml/2006/main" r:embed="R1cd65cee5adc408d"/>
          <a:stretch xmlns:a="http://schemas.openxmlformats.org/drawingml/2006/main">
            <a:fillRect l="0" t="0" r="0" b="0"/>
          </a:stretch>
        </p:blipFill>
        <p:spPr>
          <a:xfrm xmlns:a="http://schemas.openxmlformats.org/drawingml/2006/main">
            <a:off x="292608" y="210312"/>
            <a:ext cx="2423160" cy="60350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3C8B3D6C-B253-4FF7-9ACE-C9C1226C9F00}"/>
              </a:ext>
            </a:extLst>
          </p:cNvPr>
          <p:cNvSpPr>
            <a:spLocks xmlns:a="http://schemas.openxmlformats.org/drawingml/2006/main" noGrp="1"/>
          </p:cNvSpPr>
          <p:nvPr/>
        </p:nvSpPr>
        <p:spPr>
          <a:xfrm xmlns:a="http://schemas.openxmlformats.org/drawingml/2006/main">
            <a:off x="2971800" y="228600"/>
            <a:ext cx="6309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800" b="1">
                <a:solidFill>
                  <a:srgbClr val="FFFFFF"/>
                </a:solidFill>
                <a:latin typeface="Arial"/>
                <a:ea typeface="Arial"/>
                <a:cs typeface="Arial"/>
              </a:rPr>
              <a:t>CHECKLIST TỰ ĐÁNH GIÁ TRƯỚC KHI NỘP</a:t>
            </a:r>
            <a:endParaRPr sz="1800"/>
          </a:p>
        </p:txBody>
      </p:sp>
      <p:sp>
        <p:nvSpPr>
          <p:cNvPr id="31" name="Shape 27">
            <a:extLst xmlns:a="http://schemas.openxmlformats.org/drawingml/2006/main">
              <a:ext uri="{FF2B5EF4-FFF2-40B4-BE49-F238E27FC236}">
                <a16:creationId xmlns:a16="http://schemas.microsoft.com/office/drawing/2014/main" id="{4B2FEE6C-E748-43BA-8541-D0C996F4452A}"/>
              </a:ext>
            </a:extLst>
          </p:cNvPr>
          <p:cNvSpPr>
            <a:spLocks xmlns:a="http://schemas.openxmlformats.org/drawingml/2006/main" noGrp="1"/>
          </p:cNvSpPr>
          <p:nvPr/>
        </p:nvSpPr>
        <p:spPr>
          <a:xfrm xmlns:a="http://schemas.openxmlformats.org/drawingml/2006/main">
            <a:off x="270630" y="5869214"/>
            <a:ext cx="10424160" cy="731520"/>
          </a:xfrm>
          <a:prstGeom xmlns:a="http://schemas.openxmlformats.org/drawingml/2006/main" prst="roundRect">
            <a:avLst>
              <a:gd name="adj" fmla="val 10000"/>
            </a:avLst>
          </a:prstGeom>
          <a:noFill xmlns:a="http://schemas.openxmlformats.org/drawingml/2006/main"/>
          <a:ln xmlns:a="http://schemas.openxmlformats.org/drawingml/2006/main" w="10160">
            <a:noFill/>
            <a:prstDash val="solid"/>
          </a:ln>
        </p:spPr>
        <p:txBody>
          <a:bodyPr xmlns:a="http://schemas.openxmlformats.org/drawingml/2006/main"/>
          <a:lstStyle xmlns:a="http://schemas.openxmlformats.org/drawingml/2006/main"/>
          <a:p xmlns:a="http://schemas.openxmlformats.org/drawingml/2006/main">
            <a:endParaRPr/>
          </a:p>
        </p:txBody>
      </p:sp>
      <p:sp>
        <p:nvSpPr>
          <p:cNvPr id="33" name="Text 29">
            <a:extLst xmlns:a="http://schemas.openxmlformats.org/drawingml/2006/main">
              <a:ext uri="{FF2B5EF4-FFF2-40B4-BE49-F238E27FC236}">
                <a16:creationId xmlns:a16="http://schemas.microsoft.com/office/drawing/2014/main" id="{703CF707-D563-4209-BD44-6D81670FECEA}"/>
              </a:ext>
            </a:extLst>
          </p:cNvPr>
          <p:cNvSpPr>
            <a:spLocks xmlns:a="http://schemas.openxmlformats.org/drawingml/2006/main" noGrp="1"/>
          </p:cNvSpPr>
          <p:nvPr/>
        </p:nvSpPr>
        <p:spPr>
          <a:xfrm xmlns:a="http://schemas.openxmlformats.org/drawingml/2006/main">
            <a:off x="495300" y="6038850"/>
            <a:ext cx="10668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34" name="Text 30">
            <a:extLst xmlns:a="http://schemas.openxmlformats.org/drawingml/2006/main">
              <a:ext uri="{FF2B5EF4-FFF2-40B4-BE49-F238E27FC236}">
                <a16:creationId xmlns:a16="http://schemas.microsoft.com/office/drawing/2014/main" id="{52C79F75-DA4E-43A4-B777-8E328C0FEC3F}"/>
              </a:ext>
            </a:extLst>
          </p:cNvPr>
          <p:cNvSpPr>
            <a:spLocks xmlns:a="http://schemas.openxmlformats.org/drawingml/2006/main" noGrp="1"/>
          </p:cNvSpPr>
          <p:nvPr/>
        </p:nvSpPr>
        <p:spPr>
          <a:xfrm xmlns:a="http://schemas.openxmlformats.org/drawingml/2006/main">
            <a:off x="495300" y="6334125"/>
            <a:ext cx="10668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200" b="0">
                <a:solidFill>
                  <a:srgbClr val="FFFFFF"/>
                </a:solidFill>
                <a:latin typeface="Arial"/>
                <a:ea typeface="Arial"/>
                <a:cs typeface="Arial"/>
              </a:defRPr>
            </a:pPr>
            <a:r>
              <a:rPr sz="1200" b="0">
                <a:solidFill>
                  <a:srgbClr val="FFFFFF"/>
                </a:solidFill>
                <a:latin typeface="Arial"/>
                <a:ea typeface="Arial"/>
                <a:cs typeface="Arial"/>
              </a:rPr>
              <a:t>Chọn dữ liệu có ích, kiểm cả kỹ năng và tổng công, giữ bằng chứng cho mỗi quyết định.</a:t>
            </a:r>
            <a:endParaRPr sz="950">
              <a:solidFill>
                <a:schemeClr val="bg1"/>
              </a:solidFill>
              <a:latin typeface="Arial"/>
              <a:ea typeface="Arial"/>
              <a:cs typeface="Arial"/>
            </a:endParaRPr>
          </a:p>
        </p:txBody>
      </p:sp>
      <p:sp>
        <p:nvSpPr>
          <p:cNvPr id="35" name="Shape 31">
            <a:extLst xmlns:a="http://schemas.openxmlformats.org/drawingml/2006/main">
              <a:ext uri="{FF2B5EF4-FFF2-40B4-BE49-F238E27FC236}">
                <a16:creationId xmlns:a16="http://schemas.microsoft.com/office/drawing/2014/main" id="{3F8018F7-C36D-41EA-AA7F-4ECDA4D68B76}"/>
              </a:ext>
            </a:extLst>
          </p:cNvPr>
          <p:cNvSpPr>
            <a:spLocks xmlns:a="http://schemas.openxmlformats.org/drawingml/2006/main" noGrp="1"/>
          </p:cNvSpPr>
          <p:nvPr/>
        </p:nvSpPr>
        <p:spPr>
          <a:xfrm xmlns:a="http://schemas.openxmlformats.org/drawingml/2006/main">
            <a:off x="411480" y="5972175"/>
            <a:ext cx="11384280" cy="0"/>
          </a:xfrm>
          <a:prstGeom xmlns:a="http://schemas.openxmlformats.org/drawingml/2006/main" prst="line">
            <a:avLst/>
          </a:prstGeom>
          <a:noFill xmlns:a="http://schemas.openxmlformats.org/drawingml/2006/main"/>
          <a:ln xmlns:a="http://schemas.openxmlformats.org/drawingml/2006/main" w="8890">
            <a:solidFill>
              <a:srgbClr val="D9E2EC"/>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Text 32">
            <a:extLst xmlns:a="http://schemas.openxmlformats.org/drawingml/2006/main">
              <a:ext uri="{FF2B5EF4-FFF2-40B4-BE49-F238E27FC236}">
                <a16:creationId xmlns:a16="http://schemas.microsoft.com/office/drawing/2014/main" id="{386B97EA-038A-4346-A4F4-32768A4FDC59}"/>
              </a:ext>
            </a:extLst>
          </p:cNvPr>
          <p:cNvSpPr>
            <a:spLocks xmlns:a="http://schemas.openxmlformats.org/drawingml/2006/main" noGrp="1"/>
          </p:cNvSpPr>
          <p:nvPr/>
        </p:nvSpPr>
        <p:spPr>
          <a:xfrm xmlns:a="http://schemas.openxmlformats.org/drawingml/2006/main">
            <a:off x="457200" y="6556248"/>
            <a:ext cx="77724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20">
                <a:solidFill>
                  <a:srgbClr val="7A869A"/>
                </a:solidFill>
                <a:latin typeface="Arial"/>
                <a:ea typeface="Arial"/>
                <a:cs typeface="Arial"/>
              </a:rPr>
              <a:t>DENSO Factory Hacks 2026  |  Submission Template</a:t>
            </a:r>
            <a:endParaRPr sz="720"/>
          </a:p>
        </p:txBody>
      </p:sp>
      <p:graphicFrame>
        <p:nvGraphicFramePr>
          <p:cNvPr id="50" name="Table 40">
            <a:extLst xmlns:a="http://schemas.openxmlformats.org/drawingml/2006/main">
              <a:ext uri="{FF2B5EF4-FFF2-40B4-BE49-F238E27FC236}">
                <a16:creationId xmlns:a16="http://schemas.microsoft.com/office/drawing/2014/main" id="{8C652EAC-1CF0-4621-9A0B-C64C0DE7A1E5}"/>
              </a:ext>
            </a:extLst>
          </p:cNvPr>
          <p:cNvGraphicFramePr/>
          <p:nvPr/>
        </p:nvGraphicFramePr>
        <p:xfrm>
          <a:off xmlns:a="http://schemas.openxmlformats.org/drawingml/2006/main" x="533701" y="2444877"/>
          <a:ext xmlns:a="http://schemas.openxmlformats.org/drawingml/2006/main" cx="10992499" cy="2938909"/>
        </p:xfrm>
        <a:graphic xmlns:a="http://schemas.openxmlformats.org/drawingml/2006/main">
          <a:graphicData uri="http://schemas.openxmlformats.org/drawingml/2006/table">
            <a:tbl>
              <a:tblPr firstRow="1" bandRow="1">
                <a:tableStyleId>{5C22544A-7EE6-4342-B048-85BDC9FD1C3A}</a:tableStyleId>
              </a:tblPr>
              <a:tblGrid>
                <a:gridCol w="5238999"/>
                <a:gridCol w="5753500"/>
              </a:tblGrid>
              <a:tr h="275792">
                <a:tc>
                  <a:txBody>
                    <a:bodyPr/>
                    <a:lstStyle/>
                    <a:p>
                      <a:pPr marL="0" marR="0" lvl="0" indent="0" algn="ctr" defTabSz="914400">
                        <a:lnSpc>
                          <a:spcPct val="100000"/>
                        </a:lnSpc>
                        <a:spcBef>
                          <a:spcPts val="0"/>
                        </a:spcBef>
                        <a:spcAft>
                          <a:spcPts val="0"/>
                        </a:spcAft>
                        <a:buClrTx/>
                        <a:buSzTx/>
                        <a:buFontTx/>
                        <a:buNone/>
                      </a:pPr>
                      <a:r>
                        <a:rPr sz="1100" b="1">
                          <a:solidFill>
                            <a:schemeClr val="bg1"/>
                          </a:solidFill>
                          <a:latin typeface="Segoe UI"/>
                          <a:ea typeface="Segoe UI"/>
                          <a:cs typeface="Segoe UI"/>
                        </a:rPr>
                        <a:t>CÂU HỎI</a:t>
                      </a:r>
                    </a:p>
                  </a:txBody>
                  <a:tcPr marL="91440" marR="91440" marT="45720" marB="45720" anchor="ctr">
                    <a:lnB w="12700">
                      <a:solidFill>
                        <a:schemeClr val="tx1"/>
                      </a:solidFill>
                    </a:lnB>
                    <a:solidFill>
                      <a:schemeClr val="accent5">
                        <a:lumMod val="50000"/>
                      </a:schemeClr>
                    </a:solidFill>
                  </a:tcPr>
                </a:tc>
                <a:tc>
                  <a:txBody>
                    <a:bodyPr/>
                    <a:lstStyle/>
                    <a:p>
                      <a:pPr marL="0" marR="0" lvl="0" indent="0" algn="ctr" defTabSz="914400">
                        <a:lnSpc>
                          <a:spcPct val="100000"/>
                        </a:lnSpc>
                        <a:spcBef>
                          <a:spcPts val="0"/>
                        </a:spcBef>
                        <a:spcAft>
                          <a:spcPts val="0"/>
                        </a:spcAft>
                        <a:buClrTx/>
                        <a:buSzTx/>
                        <a:buFontTx/>
                        <a:buNone/>
                      </a:pPr>
                      <a:r>
                        <a:rPr sz="1100" b="1">
                          <a:solidFill>
                            <a:schemeClr val="bg1"/>
                          </a:solidFill>
                          <a:latin typeface="Segoe UI"/>
                          <a:ea typeface="Segoe UI"/>
                          <a:cs typeface="Segoe UI"/>
                        </a:rPr>
                        <a:t>TRẢ LỜI</a:t>
                      </a:r>
                    </a:p>
                  </a:txBody>
                  <a:tcPr marL="91440" marR="91440" marT="45720" marB="45720" anchor="ctr">
                    <a:lnB w="12700">
                      <a:solidFill>
                        <a:schemeClr val="tx1"/>
                      </a:solidFill>
                    </a:lnB>
                    <a:solidFill>
                      <a:schemeClr val="accent5">
                        <a:lumMod val="50000"/>
                      </a:schemeClr>
                    </a:solidFill>
                  </a:tcPr>
                </a:tc>
              </a:tr>
              <a:tr h="430925">
                <a:tc>
                  <a:txBody>
                    <a:bodyPr wrap="square" lIns="76200" tIns="38100" rIns="76200" bIns="38100"/>
                    <a:lstStyle/>
                    <a:p>
                      <a:pPr>
                        <a:lnSpc>
                          <a:spcPts val="1500"/>
                        </a:lnSpc>
                        <a:buNone/>
                      </a:pPr>
                      <a:r>
                        <a:rPr sz="1200" b="0" i="0">
                          <a:solidFill>
                            <a:srgbClr val="153251"/>
                          </a:solidFill>
                          <a:latin typeface="Arial"/>
                          <a:ea typeface="Arial"/>
                          <a:cs typeface="Arial"/>
                        </a:rPr>
                        <a:t>1. </a:t>
                      </a:r>
                      <a:r>
                        <a:rPr sz="1200" b="0" i="0">
                          <a:solidFill>
                            <a:srgbClr val="153251"/>
                          </a:solidFill>
                          <a:latin typeface="Arial"/>
                          <a:ea typeface="Arial"/>
                          <a:cs typeface="Arial"/>
                        </a:rPr>
                        <a:t>Trình</a:t>
                      </a:r>
                      <a:r>
                        <a:rPr sz="1200" b="0" i="0">
                          <a:solidFill>
                            <a:srgbClr val="153251"/>
                          </a:solidFill>
                          <a:latin typeface="Arial"/>
                          <a:ea typeface="Arial"/>
                          <a:cs typeface="Arial"/>
                        </a:rPr>
                        <a:t> </a:t>
                      </a:r>
                      <a:r>
                        <a:rPr sz="1200" b="0" i="0">
                          <a:solidFill>
                            <a:srgbClr val="153251"/>
                          </a:solidFill>
                          <a:latin typeface="Arial"/>
                          <a:ea typeface="Arial"/>
                          <a:cs typeface="Arial"/>
                        </a:rPr>
                        <a:t>bày</a:t>
                      </a:r>
                      <a:r>
                        <a:rPr sz="1200" b="0" i="0">
                          <a:solidFill>
                            <a:srgbClr val="153251"/>
                          </a:solidFill>
                          <a:latin typeface="Arial"/>
                          <a:ea typeface="Arial"/>
                          <a:cs typeface="Arial"/>
                        </a:rPr>
                        <a:t> </a:t>
                      </a:r>
                      <a:r>
                        <a:rPr sz="1200" b="0" i="0">
                          <a:solidFill>
                            <a:srgbClr val="153251"/>
                          </a:solidFill>
                          <a:latin typeface="Arial"/>
                          <a:ea typeface="Arial"/>
                          <a:cs typeface="Arial"/>
                        </a:rPr>
                        <a:t>điểm</a:t>
                      </a:r>
                      <a:r>
                        <a:rPr sz="1200" b="0" i="0">
                          <a:solidFill>
                            <a:srgbClr val="153251"/>
                          </a:solidFill>
                          <a:latin typeface="Arial"/>
                          <a:ea typeface="Arial"/>
                          <a:cs typeface="Arial"/>
                        </a:rPr>
                        <a:t> </a:t>
                      </a:r>
                      <a:r>
                        <a:rPr sz="1200" b="0" i="0">
                          <a:solidFill>
                            <a:srgbClr val="153251"/>
                          </a:solidFill>
                          <a:latin typeface="Arial"/>
                          <a:ea typeface="Arial"/>
                          <a:cs typeface="Arial"/>
                        </a:rPr>
                        <a:t>mới</a:t>
                      </a:r>
                      <a:r>
                        <a:rPr sz="1200" b="0" i="0">
                          <a:solidFill>
                            <a:srgbClr val="153251"/>
                          </a:solidFill>
                          <a:latin typeface="Arial"/>
                          <a:ea typeface="Arial"/>
                          <a:cs typeface="Arial"/>
                        </a:rPr>
                        <a:t>, </a:t>
                      </a:r>
                      <a:r>
                        <a:rPr sz="1200" b="0" i="0">
                          <a:solidFill>
                            <a:srgbClr val="153251"/>
                          </a:solidFill>
                          <a:latin typeface="Arial"/>
                          <a:ea typeface="Arial"/>
                          <a:cs typeface="Arial"/>
                        </a:rPr>
                        <a:t>đột</a:t>
                      </a:r>
                      <a:r>
                        <a:rPr sz="1200" b="0" i="0">
                          <a:solidFill>
                            <a:srgbClr val="153251"/>
                          </a:solidFill>
                          <a:latin typeface="Arial"/>
                          <a:ea typeface="Arial"/>
                          <a:cs typeface="Arial"/>
                        </a:rPr>
                        <a:t> </a:t>
                      </a:r>
                      <a:r>
                        <a:rPr sz="1200" b="0" i="0">
                          <a:solidFill>
                            <a:srgbClr val="153251"/>
                          </a:solidFill>
                          <a:latin typeface="Arial"/>
                          <a:ea typeface="Arial"/>
                          <a:cs typeface="Arial"/>
                        </a:rPr>
                        <a:t>phá</a:t>
                      </a:r>
                      <a:r>
                        <a:rPr sz="1200" b="0" i="0">
                          <a:solidFill>
                            <a:srgbClr val="153251"/>
                          </a:solidFill>
                          <a:latin typeface="Arial"/>
                          <a:ea typeface="Arial"/>
                          <a:cs typeface="Arial"/>
                        </a:rPr>
                        <a:t> so </a:t>
                      </a:r>
                      <a:r>
                        <a:rPr sz="1200" b="0" i="0">
                          <a:solidFill>
                            <a:srgbClr val="153251"/>
                          </a:solidFill>
                          <a:latin typeface="Arial"/>
                          <a:ea typeface="Arial"/>
                          <a:cs typeface="Arial"/>
                        </a:rPr>
                        <a:t>với</a:t>
                      </a:r>
                      <a:r>
                        <a:rPr sz="1200" b="0" i="0">
                          <a:solidFill>
                            <a:srgbClr val="153251"/>
                          </a:solidFill>
                          <a:latin typeface="Arial"/>
                          <a:ea typeface="Arial"/>
                          <a:cs typeface="Arial"/>
                        </a:rPr>
                        <a:t> </a:t>
                      </a:r>
                      <a:r>
                        <a:rPr sz="1200" b="0" i="0">
                          <a:solidFill>
                            <a:srgbClr val="153251"/>
                          </a:solidFill>
                          <a:latin typeface="Arial"/>
                          <a:ea typeface="Arial"/>
                          <a:cs typeface="Arial"/>
                        </a:rPr>
                        <a:t>các</a:t>
                      </a:r>
                      <a:r>
                        <a:rPr sz="1200" b="0" i="0">
                          <a:solidFill>
                            <a:srgbClr val="153251"/>
                          </a:solidFill>
                          <a:latin typeface="Arial"/>
                          <a:ea typeface="Arial"/>
                          <a:cs typeface="Arial"/>
                        </a:rPr>
                        <a:t> </a:t>
                      </a:r>
                      <a:r>
                        <a:rPr sz="1200" b="0" i="0">
                          <a:solidFill>
                            <a:srgbClr val="153251"/>
                          </a:solidFill>
                          <a:latin typeface="Arial"/>
                          <a:ea typeface="Arial"/>
                          <a:cs typeface="Arial"/>
                        </a:rPr>
                        <a:t>giải</a:t>
                      </a:r>
                      <a:r>
                        <a:rPr sz="1200" b="0" i="0">
                          <a:solidFill>
                            <a:srgbClr val="153251"/>
                          </a:solidFill>
                          <a:latin typeface="Arial"/>
                          <a:ea typeface="Arial"/>
                          <a:cs typeface="Arial"/>
                        </a:rPr>
                        <a:t> </a:t>
                      </a:r>
                      <a:r>
                        <a:rPr sz="1200" b="0" i="0">
                          <a:solidFill>
                            <a:srgbClr val="153251"/>
                          </a:solidFill>
                          <a:latin typeface="Arial"/>
                          <a:ea typeface="Arial"/>
                          <a:cs typeface="Arial"/>
                        </a:rPr>
                        <a:t>pháp</a:t>
                      </a:r>
                      <a:r>
                        <a:rPr sz="1200" b="0" i="0">
                          <a:solidFill>
                            <a:srgbClr val="153251"/>
                          </a:solidFill>
                          <a:latin typeface="Arial"/>
                          <a:ea typeface="Arial"/>
                          <a:cs typeface="Arial"/>
                        </a:rPr>
                        <a:t> </a:t>
                      </a:r>
                      <a:r>
                        <a:rPr sz="1200" b="0" i="0">
                          <a:solidFill>
                            <a:srgbClr val="153251"/>
                          </a:solidFill>
                          <a:latin typeface="Arial"/>
                          <a:ea typeface="Arial"/>
                          <a:cs typeface="Arial"/>
                        </a:rPr>
                        <a:t>truyền</a:t>
                      </a:r>
                      <a:r>
                        <a:rPr sz="1200" b="0" i="0">
                          <a:solidFill>
                            <a:srgbClr val="153251"/>
                          </a:solidFill>
                          <a:latin typeface="Arial"/>
                          <a:ea typeface="Arial"/>
                          <a:cs typeface="Arial"/>
                        </a:rPr>
                        <a:t> </a:t>
                      </a:r>
                      <a:r>
                        <a:rPr sz="1200" b="0" i="0">
                          <a:solidFill>
                            <a:srgbClr val="153251"/>
                          </a:solidFill>
                          <a:latin typeface="Arial"/>
                          <a:ea typeface="Arial"/>
                          <a:cs typeface="Arial"/>
                        </a:rPr>
                        <a:t>thống</a:t>
                      </a:r>
                      <a:r>
                        <a:rPr sz="1200" b="0" i="0">
                          <a:solidFill>
                            <a:srgbClr val="153251"/>
                          </a:solidFill>
                          <a:latin typeface="Arial"/>
                          <a:ea typeface="Arial"/>
                          <a:cs typeface="Arial"/>
                        </a:rPr>
                        <a:t>?</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Data quyết định từ trace, QA/lineage và cost gate. Lợi ích riêng cần đối chứng.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30925">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2. </a:t>
                      </a:r>
                      <a:r>
                        <a:rPr sz="1200" b="0" i="0">
                          <a:solidFill>
                            <a:srgbClr val="153251"/>
                          </a:solidFill>
                          <a:latin typeface="Arial"/>
                          <a:ea typeface="Arial"/>
                          <a:cs typeface="Arial"/>
                        </a:rPr>
                        <a:t>Ý tưởng này đang giải quyết vấn đề gì</a:t>
                      </a:r>
                      <a:r>
                        <a:rPr sz="1200" b="0" i="0">
                          <a:solidFill>
                            <a:srgbClr val="153251"/>
                          </a:solidFill>
                          <a:latin typeface="Arial"/>
                          <a:ea typeface="Arial"/>
                          <a:cs typeface="Arial"/>
                        </a:rPr>
                        <a:t> </a:t>
                      </a:r>
                      <a:r>
                        <a:rPr sz="1200" b="0" i="0">
                          <a:solidFill>
                            <a:srgbClr val="153251"/>
                          </a:solidFill>
                          <a:latin typeface="Arial"/>
                          <a:ea typeface="Arial"/>
                          <a:cs typeface="Arial"/>
                        </a:rPr>
                        <a:t>tại</a:t>
                      </a:r>
                      <a:r>
                        <a:rPr sz="1200" b="0" i="0">
                          <a:solidFill>
                            <a:srgbClr val="153251"/>
                          </a:solidFill>
                          <a:latin typeface="Arial"/>
                          <a:ea typeface="Arial"/>
                          <a:cs typeface="Arial"/>
                        </a:rPr>
                        <a:t> Denso</a:t>
                      </a:r>
                      <a:r>
                        <a:rPr sz="1200" b="0" i="0">
                          <a:solidFill>
                            <a:srgbClr val="153251"/>
                          </a:solidFill>
                          <a:latin typeface="Arial"/>
                          <a:ea typeface="Arial"/>
                          <a:cs typeface="Arial"/>
                        </a:rPr>
                        <a:t>? </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Giảm công phát triển skill. Hiện trạng DENSO cần task owner xác nhận.</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05069">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3. Phương </a:t>
                      </a:r>
                      <a:r>
                        <a:rPr sz="1200" b="0" i="0">
                          <a:solidFill>
                            <a:srgbClr val="153251"/>
                          </a:solidFill>
                          <a:latin typeface="Arial"/>
                          <a:ea typeface="Arial"/>
                          <a:cs typeface="Arial"/>
                        </a:rPr>
                        <a:t>pháp</a:t>
                      </a:r>
                      <a:r>
                        <a:rPr sz="1200" b="0" i="0">
                          <a:solidFill>
                            <a:srgbClr val="153251"/>
                          </a:solidFill>
                          <a:latin typeface="Arial"/>
                          <a:ea typeface="Arial"/>
                          <a:cs typeface="Arial"/>
                        </a:rPr>
                        <a:t>/</a:t>
                      </a:r>
                      <a:r>
                        <a:rPr sz="1200" b="0" i="0">
                          <a:solidFill>
                            <a:srgbClr val="153251"/>
                          </a:solidFill>
                          <a:latin typeface="Arial"/>
                          <a:ea typeface="Arial"/>
                          <a:cs typeface="Arial"/>
                        </a:rPr>
                        <a:t>công</a:t>
                      </a:r>
                      <a:r>
                        <a:rPr sz="1200" b="0" i="0">
                          <a:solidFill>
                            <a:srgbClr val="153251"/>
                          </a:solidFill>
                          <a:latin typeface="Arial"/>
                          <a:ea typeface="Arial"/>
                          <a:cs typeface="Arial"/>
                        </a:rPr>
                        <a:t> </a:t>
                      </a:r>
                      <a:r>
                        <a:rPr sz="1200" b="0" i="0">
                          <a:solidFill>
                            <a:srgbClr val="153251"/>
                          </a:solidFill>
                          <a:latin typeface="Arial"/>
                          <a:ea typeface="Arial"/>
                          <a:cs typeface="Arial"/>
                        </a:rPr>
                        <a:t>cụ</a:t>
                      </a:r>
                      <a:r>
                        <a:rPr sz="1200" b="0" i="0">
                          <a:solidFill>
                            <a:srgbClr val="153251"/>
                          </a:solidFill>
                          <a:latin typeface="Arial"/>
                          <a:ea typeface="Arial"/>
                          <a:cs typeface="Arial"/>
                        </a:rPr>
                        <a:t> </a:t>
                      </a:r>
                      <a:r>
                        <a:rPr sz="1200" b="0" i="0">
                          <a:solidFill>
                            <a:srgbClr val="153251"/>
                          </a:solidFill>
                          <a:latin typeface="Arial"/>
                          <a:ea typeface="Arial"/>
                          <a:cs typeface="Arial"/>
                        </a:rPr>
                        <a:t>áp</a:t>
                      </a:r>
                      <a:r>
                        <a:rPr sz="1200" b="0" i="0">
                          <a:solidFill>
                            <a:srgbClr val="153251"/>
                          </a:solidFill>
                          <a:latin typeface="Arial"/>
                          <a:ea typeface="Arial"/>
                          <a:cs typeface="Arial"/>
                        </a:rPr>
                        <a:t> </a:t>
                      </a:r>
                      <a:r>
                        <a:rPr sz="1200" b="0" i="0">
                          <a:solidFill>
                            <a:srgbClr val="153251"/>
                          </a:solidFill>
                          <a:latin typeface="Arial"/>
                          <a:ea typeface="Arial"/>
                          <a:cs typeface="Arial"/>
                        </a:rPr>
                        <a:t>dụng</a:t>
                      </a:r>
                      <a:r>
                        <a:rPr sz="1200" b="0" i="0">
                          <a:solidFill>
                            <a:srgbClr val="153251"/>
                          </a:solidFill>
                          <a:latin typeface="Arial"/>
                          <a:ea typeface="Arial"/>
                          <a:cs typeface="Arial"/>
                        </a:rPr>
                        <a:t> </a:t>
                      </a:r>
                      <a:r>
                        <a:rPr sz="1200" b="0" i="0">
                          <a:solidFill>
                            <a:srgbClr val="153251"/>
                          </a:solidFill>
                          <a:latin typeface="Arial"/>
                          <a:ea typeface="Arial"/>
                          <a:cs typeface="Arial"/>
                        </a:rPr>
                        <a:t>và</a:t>
                      </a:r>
                      <a:r>
                        <a:rPr sz="1200" b="0" i="0">
                          <a:solidFill>
                            <a:srgbClr val="153251"/>
                          </a:solidFill>
                          <a:latin typeface="Arial"/>
                          <a:ea typeface="Arial"/>
                          <a:cs typeface="Arial"/>
                        </a:rPr>
                        <a:t> </a:t>
                      </a:r>
                      <a:r>
                        <a:rPr sz="1200" b="0" i="0">
                          <a:solidFill>
                            <a:srgbClr val="153251"/>
                          </a:solidFill>
                          <a:latin typeface="Arial"/>
                          <a:ea typeface="Arial"/>
                          <a:cs typeface="Arial"/>
                        </a:rPr>
                        <a:t>thời</a:t>
                      </a:r>
                      <a:r>
                        <a:rPr sz="1200" b="0" i="0">
                          <a:solidFill>
                            <a:srgbClr val="153251"/>
                          </a:solidFill>
                          <a:latin typeface="Arial"/>
                          <a:ea typeface="Arial"/>
                          <a:cs typeface="Arial"/>
                        </a:rPr>
                        <a:t> </a:t>
                      </a:r>
                      <a:r>
                        <a:rPr sz="1200" b="0" i="0">
                          <a:solidFill>
                            <a:srgbClr val="153251"/>
                          </a:solidFill>
                          <a:latin typeface="Arial"/>
                          <a:ea typeface="Arial"/>
                          <a:cs typeface="Arial"/>
                        </a:rPr>
                        <a:t>gian</a:t>
                      </a:r>
                      <a:r>
                        <a:rPr sz="1200" b="0" i="0">
                          <a:solidFill>
                            <a:srgbClr val="153251"/>
                          </a:solidFill>
                          <a:latin typeface="Arial"/>
                          <a:ea typeface="Arial"/>
                          <a:cs typeface="Arial"/>
                        </a:rPr>
                        <a:t> </a:t>
                      </a:r>
                      <a:r>
                        <a:rPr sz="1200" b="0" i="0">
                          <a:solidFill>
                            <a:srgbClr val="153251"/>
                          </a:solidFill>
                          <a:latin typeface="Arial"/>
                          <a:ea typeface="Arial"/>
                          <a:cs typeface="Arial"/>
                        </a:rPr>
                        <a:t>thực</a:t>
                      </a:r>
                      <a:r>
                        <a:rPr sz="1200" b="0" i="0">
                          <a:solidFill>
                            <a:srgbClr val="153251"/>
                          </a:solidFill>
                          <a:latin typeface="Arial"/>
                          <a:ea typeface="Arial"/>
                          <a:cs typeface="Arial"/>
                        </a:rPr>
                        <a:t> </a:t>
                      </a:r>
                      <a:r>
                        <a:rPr sz="1200" b="0" i="0">
                          <a:solidFill>
                            <a:srgbClr val="153251"/>
                          </a:solidFill>
                          <a:latin typeface="Arial"/>
                          <a:ea typeface="Arial"/>
                          <a:cs typeface="Arial"/>
                        </a:rPr>
                        <a:t>hiện</a:t>
                      </a:r>
                      <a:r>
                        <a:rPr sz="1200" b="0" i="0">
                          <a:solidFill>
                            <a:srgbClr val="153251"/>
                          </a:solidFill>
                          <a:latin typeface="Arial"/>
                          <a:ea typeface="Arial"/>
                          <a:cs typeface="Arial"/>
                        </a:rPr>
                        <a:t> </a:t>
                      </a:r>
                      <a:r>
                        <a:rPr sz="1200" b="0" i="0">
                          <a:solidFill>
                            <a:srgbClr val="153251"/>
                          </a:solidFill>
                          <a:latin typeface="Arial"/>
                          <a:ea typeface="Arial"/>
                          <a:cs typeface="Arial"/>
                        </a:rPr>
                        <a:t>dự</a:t>
                      </a:r>
                      <a:r>
                        <a:rPr sz="1200" b="0" i="0">
                          <a:solidFill>
                            <a:srgbClr val="153251"/>
                          </a:solidFill>
                          <a:latin typeface="Arial"/>
                          <a:ea typeface="Arial"/>
                          <a:cs typeface="Arial"/>
                        </a:rPr>
                        <a:t> </a:t>
                      </a:r>
                      <a:r>
                        <a:rPr sz="1200" b="0" i="0">
                          <a:solidFill>
                            <a:srgbClr val="153251"/>
                          </a:solidFill>
                          <a:latin typeface="Arial"/>
                          <a:ea typeface="Arial"/>
                          <a:cs typeface="Arial"/>
                        </a:rPr>
                        <a:t>án</a:t>
                      </a:r>
                      <a:r>
                        <a:rPr sz="1200" b="0" i="0">
                          <a:solidFill>
                            <a:srgbClr val="153251"/>
                          </a:solidFill>
                          <a:latin typeface="Arial"/>
                          <a:ea typeface="Arial"/>
                          <a:cs typeface="Arial"/>
                        </a:rPr>
                        <a:t>?</a:t>
                      </a:r>
                      <a:endParaRPr sz="1100" b="0" i="0" kern="1200">
                        <a:solidFill>
                          <a:schemeClr val="dk1"/>
                        </a:solidFill>
                        <a:latin typeface="Segoe UI"/>
                        <a:ea typeface="Segoe UI"/>
                        <a:cs typeface="Segoe UI"/>
                      </a:endParaRP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FluxVLA + pretrained VLA. PoC 30 ngày: public data trước, robot BTC có gate.</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13688">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4. </a:t>
                      </a:r>
                      <a:r>
                        <a:rPr sz="1200" b="0" i="0">
                          <a:solidFill>
                            <a:srgbClr val="153251"/>
                          </a:solidFill>
                          <a:latin typeface="Arial"/>
                          <a:ea typeface="Arial"/>
                          <a:cs typeface="Arial"/>
                        </a:rPr>
                        <a:t>Ý tưởng này mang lại hiệu quả gì?</a:t>
                      </a:r>
                      <a:r>
                        <a:rPr sz="1200" b="0" i="0">
                          <a:solidFill>
                            <a:srgbClr val="153251"/>
                          </a:solidFill>
                          <a:latin typeface="Arial"/>
                          <a:ea typeface="Arial"/>
                          <a:cs typeface="Arial"/>
                        </a:rPr>
                        <a:t> Cho </a:t>
                      </a:r>
                      <a:r>
                        <a:rPr sz="1200" b="0" i="0">
                          <a:solidFill>
                            <a:srgbClr val="153251"/>
                          </a:solidFill>
                          <a:latin typeface="Arial"/>
                          <a:ea typeface="Arial"/>
                          <a:cs typeface="Arial"/>
                        </a:rPr>
                        <a:t>số</a:t>
                      </a:r>
                      <a:r>
                        <a:rPr sz="1200" b="0" i="0">
                          <a:solidFill>
                            <a:srgbClr val="153251"/>
                          </a:solidFill>
                          <a:latin typeface="Arial"/>
                          <a:ea typeface="Arial"/>
                          <a:cs typeface="Arial"/>
                        </a:rPr>
                        <a:t> </a:t>
                      </a:r>
                      <a:r>
                        <a:rPr sz="1200" b="0" i="0">
                          <a:solidFill>
                            <a:srgbClr val="153251"/>
                          </a:solidFill>
                          <a:latin typeface="Arial"/>
                          <a:ea typeface="Arial"/>
                          <a:cs typeface="Arial"/>
                        </a:rPr>
                        <a:t>liệu</a:t>
                      </a:r>
                      <a:r>
                        <a:rPr sz="1200" b="0" i="0">
                          <a:solidFill>
                            <a:srgbClr val="153251"/>
                          </a:solidFill>
                          <a:latin typeface="Arial"/>
                          <a:ea typeface="Arial"/>
                          <a:cs typeface="Arial"/>
                        </a:rPr>
                        <a:t>.</a:t>
                      </a:r>
                      <a:endParaRPr sz="1100" b="0" i="0" kern="1200">
                        <a:solidFill>
                          <a:schemeClr val="tx1"/>
                        </a:solidFill>
                        <a:latin typeface="Segoe UI"/>
                        <a:ea typeface="Segoe UI"/>
                        <a:cs typeface="Segoe UI"/>
                      </a:endParaRP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Đích: model học task + robot inference + một vòng data update. Chưa saving/ROI.</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74018">
                <a:tc>
                  <a:txBody>
                    <a:bodyPr wrap="square" lIns="76200" tIns="38100" rIns="76200" bIns="38100"/>
                    <a:lstStyle/>
                    <a:p>
                      <a:pPr marL="0" algn="l">
                        <a:lnSpc>
                          <a:spcPts val="1500"/>
                        </a:lnSpc>
                        <a:buNone/>
                      </a:pPr>
                      <a:r>
                        <a:rPr sz="1200" b="0" i="0">
                          <a:solidFill>
                            <a:srgbClr val="153251"/>
                          </a:solidFill>
                          <a:latin typeface="Arial"/>
                          <a:ea typeface="Arial"/>
                          <a:cs typeface="Arial"/>
                        </a:rPr>
                        <a:t>5. </a:t>
                      </a:r>
                      <a:r>
                        <a:rPr sz="1200" b="0" i="0">
                          <a:solidFill>
                            <a:srgbClr val="153251"/>
                          </a:solidFill>
                          <a:latin typeface="Arial"/>
                          <a:ea typeface="Arial"/>
                          <a:cs typeface="Arial"/>
                        </a:rPr>
                        <a:t> Khả năng mở rộng, triển khai ngang của dự án là gì (trong nội bộ Denso hoặc các nhà máy khác)? </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Task 2 cùng robot để đo reuse. Robot mới cần binding và nghiệm thu riêng.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508492">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6. </a:t>
                      </a:r>
                      <a:r>
                        <a:rPr sz="1200" b="0" i="0">
                          <a:solidFill>
                            <a:srgbClr val="153251"/>
                          </a:solidFill>
                          <a:latin typeface="Arial"/>
                          <a:ea typeface="Arial"/>
                          <a:cs typeface="Arial"/>
                        </a:rPr>
                        <a:t>Nhóm đã có những kiến thức hoặc kinh nghiệm nào giúp </a:t>
                      </a:r>
                      <a:r>
                        <a:rPr sz="1200" b="0" i="0">
                          <a:solidFill>
                            <a:srgbClr val="153251"/>
                          </a:solidFill>
                          <a:latin typeface="Arial"/>
                          <a:ea typeface="Arial"/>
                          <a:cs typeface="Arial"/>
                        </a:rPr>
                        <a:t>thực</a:t>
                      </a:r>
                      <a:r>
                        <a:rPr sz="1200" b="0" i="0">
                          <a:solidFill>
                            <a:srgbClr val="153251"/>
                          </a:solidFill>
                          <a:latin typeface="Arial"/>
                          <a:ea typeface="Arial"/>
                          <a:cs typeface="Arial"/>
                        </a:rPr>
                        <a:t> </a:t>
                      </a:r>
                      <a:r>
                        <a:rPr sz="1200" b="0" i="0">
                          <a:solidFill>
                            <a:srgbClr val="153251"/>
                          </a:solidFill>
                          <a:latin typeface="Arial"/>
                          <a:ea typeface="Arial"/>
                          <a:cs typeface="Arial"/>
                        </a:rPr>
                        <a:t>hiện</a:t>
                      </a:r>
                      <a:r>
                        <a:rPr sz="1200" b="0" i="0">
                          <a:solidFill>
                            <a:srgbClr val="153251"/>
                          </a:solidFill>
                          <a:latin typeface="Arial"/>
                          <a:ea typeface="Arial"/>
                          <a:cs typeface="Arial"/>
                        </a:rPr>
                        <a:t> </a:t>
                      </a:r>
                      <a:r>
                        <a:rPr sz="1200" b="0" i="0">
                          <a:solidFill>
                            <a:srgbClr val="153251"/>
                          </a:solidFill>
                          <a:latin typeface="Arial"/>
                          <a:ea typeface="Arial"/>
                          <a:cs typeface="Arial"/>
                        </a:rPr>
                        <a:t>giải</a:t>
                      </a:r>
                      <a:r>
                        <a:rPr sz="1200" b="0" i="0">
                          <a:solidFill>
                            <a:srgbClr val="153251"/>
                          </a:solidFill>
                          <a:latin typeface="Arial"/>
                          <a:ea typeface="Arial"/>
                          <a:cs typeface="Arial"/>
                        </a:rPr>
                        <a:t> </a:t>
                      </a:r>
                      <a:r>
                        <a:rPr sz="1200" b="0" i="0">
                          <a:solidFill>
                            <a:srgbClr val="153251"/>
                          </a:solidFill>
                          <a:latin typeface="Arial"/>
                          <a:ea typeface="Arial"/>
                          <a:cs typeface="Arial"/>
                        </a:rPr>
                        <a:t>pháp</a:t>
                      </a:r>
                      <a:r>
                        <a:rPr sz="1200" b="0" i="0">
                          <a:solidFill>
                            <a:srgbClr val="153251"/>
                          </a:solidFill>
                          <a:latin typeface="Arial"/>
                          <a:ea typeface="Arial"/>
                          <a:cs typeface="Arial"/>
                        </a:rPr>
                        <a:t>? </a:t>
                      </a:r>
                    </a:p>
                  </a:txBody>
                  <a:tcPr marL="91440" marR="91440" marT="45720" marB="45720">
                    <a:lnL w="12700">
                      <a:solidFill>
                        <a:schemeClr val="tx1"/>
                      </a:solidFill>
                    </a:lnL>
                    <a:lnR w="12700">
                      <a:solidFill>
                        <a:schemeClr val="tx1"/>
                      </a:solidFill>
                    </a:lnR>
                    <a:lnT w="12700">
                      <a:solidFill>
                        <a:schemeClr val="tx1"/>
                      </a:solidFill>
                    </a:lnT>
                    <a:lnB w="12700" cmpd="sng">
                      <a:solidFill>
                        <a:schemeClr val="tx1"/>
                      </a:solidFill>
                      <a:prstDash val="solid"/>
                    </a:lnB>
                    <a:solidFill>
                      <a:schemeClr val="bg1"/>
                    </a:solidFill>
                  </a:tcPr>
                </a:tc>
                <a:tc>
                  <a:txBody>
                    <a:bodyPr wrap="square" lIns="76200" tIns="38100" rIns="76200" bIns="38100"/>
                    <a:lstStyle/>
                    <a:p>
                      <a:r>
                        <a:rPr sz="1200">
                          <a:solidFill>
                            <a:srgbClr val="153251"/>
                          </a:solidFill>
                          <a:latin typeface="Arial"/>
                          <a:ea typeface="Arial"/>
                          <a:cs typeface="Arial"/>
                        </a:rPr>
                        <a:t>Bổ sung tên đội/năng lực. Ghi robot/task/lịch BTC còn pending trước nộp.</a:t>
                      </a:r>
                      <a:endParaRPr sz="1000"/>
                    </a:p>
                  </a:txBody>
                  <a:tcPr marL="91440" marR="91440" marT="45720" marB="45720">
                    <a:lnL w="12700">
                      <a:solidFill>
                        <a:schemeClr val="tx1"/>
                      </a:solidFill>
                    </a:lnL>
                    <a:lnR w="12700">
                      <a:solidFill>
                        <a:schemeClr val="tx1"/>
                      </a:solidFill>
                    </a:lnR>
                    <a:lnT w="12700">
                      <a:solidFill>
                        <a:schemeClr val="tx1"/>
                      </a:solidFill>
                    </a:lnT>
                    <a:lnB w="12700" cmpd="sng">
                      <a:solidFill>
                        <a:schemeClr val="tx1"/>
                      </a:solidFill>
                      <a:prstDash val="solid"/>
                    </a:lnB>
                    <a:solidFill>
                      <a:schemeClr val="bg1"/>
                    </a:solidFill>
                  </a:tcPr>
                </a:tc>
              </a:tr>
            </a:tbl>
          </a:graphicData>
        </a:graphic>
      </p:graphicFrame>
      <p:sp>
        <p:nvSpPr>
          <p:cNvPr id="11" name="TextBox 10">
            <a:extLst xmlns:a="http://schemas.openxmlformats.org/drawingml/2006/main">
              <a:ext uri="{FF2B5EF4-FFF2-40B4-BE49-F238E27FC236}">
                <a16:creationId xmlns:a16="http://schemas.microsoft.com/office/drawing/2014/main" id="{348D47AE-57F8-687A-CBC0-75FCFD9999EA}"/>
              </a:ext>
            </a:extLst>
          </p:cNvPr>
          <p:cNvSpPr>
            <a:spLocks xmlns:a="http://schemas.openxmlformats.org/drawingml/2006/main" noGrp="1"/>
          </p:cNvSpPr>
          <p:nvPr/>
        </p:nvSpPr>
        <p:spPr>
          <a:xfrm xmlns:a="http://schemas.openxmlformats.org/drawingml/2006/main">
            <a:off x="409575" y="1019175"/>
            <a:ext cx="10001250" cy="388620"/>
          </a:xfrm>
          <a:prstGeom xmlns:a="http://schemas.openxmlformats.org/drawingml/2006/main" prst="rect">
            <a:avLst/>
          </a:prstGeom>
          <a:noFill xmlns:a="http://schemas.openxmlformats.org/drawingml/2006/main"/>
        </p:spPr>
        <p:txBody>
          <a:bodyPr xmlns:a="http://schemas.openxmlformats.org/drawingml/2006/main" rot="0" spcFirstLastPara="0" vert="horz" wrap="square" lIns="0" tIns="0" rIns="0" bIns="0" anchor="t">
            <a:noAutofit/>
          </a:bodyPr>
          <a:lstStyle xmlns:a="http://schemas.openxmlformats.org/drawingml/2006/main"/>
          <a:p xmlns:a="http://schemas.openxmlformats.org/drawingml/2006/main">
            <a:pPr algn="l">
              <a:buNone/>
              <a:defRPr sz="1950" b="1">
                <a:solidFill>
                  <a:srgbClr val="153251"/>
                </a:solidFill>
                <a:latin typeface="Arial"/>
                <a:ea typeface="Arial"/>
                <a:cs typeface="Arial"/>
              </a:defRPr>
            </a:pPr>
            <a:r>
              <a:rPr sz="1950" b="1">
                <a:solidFill>
                  <a:srgbClr val="153251"/>
                </a:solidFill>
                <a:latin typeface="Arial"/>
                <a:ea typeface="Arial"/>
                <a:cs typeface="Arial"/>
              </a:rPr>
              <a:t>CHỦ ĐỀ: HUMANOID &amp; ROBOT</a:t>
            </a:r>
            <a:endParaRPr sz="1000">
              <a:solidFill>
                <a:schemeClr val="dk1"/>
              </a:solidFill>
              <a:latin typeface="Segoe UI"/>
              <a:ea typeface="Segoe UI"/>
              <a:cs typeface="Segoe UI"/>
            </a:endParaRPr>
          </a:p>
        </p:txBody>
      </p:sp>
      <p:sp>
        <p:nvSpPr>
          <p:cNvPr id="13" name="Text 29">
            <a:extLst xmlns:a="http://schemas.openxmlformats.org/drawingml/2006/main">
              <a:ext uri="{FF2B5EF4-FFF2-40B4-BE49-F238E27FC236}">
                <a16:creationId xmlns:a16="http://schemas.microsoft.com/office/drawing/2014/main" id="{25E15B6E-A7C7-308A-A4B0-A746D6D3C5B1}"/>
              </a:ext>
            </a:extLst>
          </p:cNvPr>
          <p:cNvSpPr>
            <a:spLocks xmlns:a="http://schemas.openxmlformats.org/drawingml/2006/main" noGrp="1"/>
          </p:cNvSpPr>
          <p:nvPr/>
        </p:nvSpPr>
        <p:spPr>
          <a:xfrm xmlns:a="http://schemas.openxmlformats.org/drawingml/2006/main">
            <a:off x="534365" y="1543093"/>
            <a:ext cx="100126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r>
              <a:rPr sz="1100" b="1">
                <a:solidFill>
                  <a:schemeClr val="dk1"/>
                </a:solidFill>
                <a:latin typeface="Segoe UI"/>
                <a:ea typeface="Segoe UI"/>
                <a:cs typeface="Segoe UI"/>
              </a:rPr>
              <a:t>Ý tưởng của nhóm thuộc chủ đề nào trong các nhóm sau?</a:t>
            </a:r>
            <a:endParaRPr sz="1100" b="1">
              <a:solidFill>
                <a:schemeClr val="dk1"/>
              </a:solidFill>
              <a:latin typeface="Segoe UI"/>
              <a:ea typeface="Segoe UI"/>
              <a:cs typeface="Segoe UI"/>
            </a:endParaRPr>
          </a:p>
        </p:txBody>
      </p:sp>
      <p:sp>
        <p:nvSpPr>
          <p:cNvPr id="14" name="Text 30">
            <a:extLst xmlns:a="http://schemas.openxmlformats.org/drawingml/2006/main">
              <a:ext uri="{FF2B5EF4-FFF2-40B4-BE49-F238E27FC236}">
                <a16:creationId xmlns:a16="http://schemas.microsoft.com/office/drawing/2014/main" id="{9AEA12A2-25BB-E01E-514F-6A1F1EA3F660}"/>
              </a:ext>
            </a:extLst>
          </p:cNvPr>
          <p:cNvSpPr>
            <a:spLocks xmlns:a="http://schemas.openxmlformats.org/drawingml/2006/main" noGrp="1"/>
          </p:cNvSpPr>
          <p:nvPr/>
        </p:nvSpPr>
        <p:spPr>
          <a:xfrm xmlns:a="http://schemas.openxmlformats.org/drawingml/2006/main">
            <a:off x="847742" y="1873192"/>
            <a:ext cx="1588812" cy="90523"/>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AI - Dự báo &amp; Tri thức</a:t>
            </a:r>
            <a:endParaRPr sz="1000">
              <a:solidFill>
                <a:srgbClr val="1E293B"/>
              </a:solidFill>
              <a:latin typeface="Arial"/>
              <a:ea typeface="Arial"/>
              <a:cs typeface="Arial"/>
            </a:endParaRPr>
          </a:p>
        </p:txBody>
      </p:sp>
      <p:sp>
        <p:nvSpPr>
          <p:cNvPr id="15" name="Text 30">
            <a:extLst xmlns:a="http://schemas.openxmlformats.org/drawingml/2006/main">
              <a:ext uri="{FF2B5EF4-FFF2-40B4-BE49-F238E27FC236}">
                <a16:creationId xmlns:a16="http://schemas.microsoft.com/office/drawing/2014/main" id="{4D97672C-B0A2-BBA9-5911-1896C95FA7C9}"/>
              </a:ext>
            </a:extLst>
          </p:cNvPr>
          <p:cNvSpPr>
            <a:spLocks xmlns:a="http://schemas.openxmlformats.org/drawingml/2006/main" noGrp="1"/>
          </p:cNvSpPr>
          <p:nvPr/>
        </p:nvSpPr>
        <p:spPr>
          <a:xfrm xmlns:a="http://schemas.openxmlformats.org/drawingml/2006/main">
            <a:off x="2837684" y="1868740"/>
            <a:ext cx="1588812" cy="90523"/>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Humanoid &amp; Robot</a:t>
            </a:r>
            <a:endParaRPr sz="1000">
              <a:solidFill>
                <a:srgbClr val="1E293B"/>
              </a:solidFill>
              <a:latin typeface="Arial"/>
              <a:ea typeface="Arial"/>
              <a:cs typeface="Arial"/>
            </a:endParaRPr>
          </a:p>
        </p:txBody>
      </p:sp>
      <p:sp>
        <p:nvSpPr>
          <p:cNvPr id="16" name="Text 30">
            <a:extLst xmlns:a="http://schemas.openxmlformats.org/drawingml/2006/main">
              <a:ext uri="{FF2B5EF4-FFF2-40B4-BE49-F238E27FC236}">
                <a16:creationId xmlns:a16="http://schemas.microsoft.com/office/drawing/2014/main" id="{A4AED8C6-3272-F355-D7B8-869D77C106D4}"/>
              </a:ext>
            </a:extLst>
          </p:cNvPr>
          <p:cNvSpPr>
            <a:spLocks xmlns:a="http://schemas.openxmlformats.org/drawingml/2006/main" noGrp="1"/>
          </p:cNvSpPr>
          <p:nvPr/>
        </p:nvSpPr>
        <p:spPr>
          <a:xfrm xmlns:a="http://schemas.openxmlformats.org/drawingml/2006/main">
            <a:off x="4944071" y="1877816"/>
            <a:ext cx="1804758" cy="859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Data - Chuẩn hóa &amp; Khai thác</a:t>
            </a:r>
            <a:endParaRPr sz="1000">
              <a:solidFill>
                <a:srgbClr val="1E293B"/>
              </a:solidFill>
              <a:latin typeface="Arial"/>
              <a:ea typeface="Arial"/>
              <a:cs typeface="Arial"/>
            </a:endParaRPr>
          </a:p>
        </p:txBody>
      </p:sp>
      <p:sp>
        <p:nvSpPr>
          <p:cNvPr id="17" name="Rectangle 16">
            <a:extLst xmlns:a="http://schemas.openxmlformats.org/drawingml/2006/main">
              <a:ext uri="{FF2B5EF4-FFF2-40B4-BE49-F238E27FC236}">
                <a16:creationId xmlns:a16="http://schemas.microsoft.com/office/drawing/2014/main" id="{6F20411B-B2D9-55D7-722A-6EB4D6330013}"/>
              </a:ext>
            </a:extLst>
          </p:cNvPr>
          <p:cNvSpPr>
            <a:spLocks xmlns:a="http://schemas.openxmlformats.org/drawingml/2006/main" noGrp="1"/>
          </p:cNvSpPr>
          <p:nvPr/>
        </p:nvSpPr>
        <p:spPr>
          <a:xfrm xmlns:a="http://schemas.openxmlformats.org/drawingml/2006/main">
            <a:off x="644238" y="1873192"/>
            <a:ext cx="144882" cy="90523"/>
          </a:xfrm>
          <a:prstGeom xmlns:a="http://schemas.openxmlformats.org/drawingml/2006/main" prst="rect">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D796DE39-E33D-7996-C1FA-B4CD2F89DAEC}"/>
              </a:ext>
            </a:extLst>
          </p:cNvPr>
          <p:cNvSpPr>
            <a:spLocks xmlns:a="http://schemas.openxmlformats.org/drawingml/2006/main" noGrp="1"/>
          </p:cNvSpPr>
          <p:nvPr/>
        </p:nvSpPr>
        <p:spPr>
          <a:xfrm xmlns:a="http://schemas.openxmlformats.org/drawingml/2006/main">
            <a:off x="2616202" y="1868574"/>
            <a:ext cx="144882" cy="90523"/>
          </a:xfrm>
          <a:prstGeom xmlns:a="http://schemas.openxmlformats.org/drawingml/2006/main" prst="rect">
            <a:avLst/>
          </a:prstGeom>
          <a:solidFill xmlns:a="http://schemas.openxmlformats.org/drawingml/2006/main">
            <a:srgbClr val="30D158"/>
          </a:solidFill>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CE1310F5-42A6-B302-EE06-21793C461251}"/>
              </a:ext>
            </a:extLst>
          </p:cNvPr>
          <p:cNvSpPr>
            <a:spLocks xmlns:a="http://schemas.openxmlformats.org/drawingml/2006/main" noGrp="1"/>
          </p:cNvSpPr>
          <p:nvPr/>
        </p:nvSpPr>
        <p:spPr>
          <a:xfrm xmlns:a="http://schemas.openxmlformats.org/drawingml/2006/main">
            <a:off x="4749805" y="1868576"/>
            <a:ext cx="144882" cy="90523"/>
          </a:xfrm>
          <a:prstGeom xmlns:a="http://schemas.openxmlformats.org/drawingml/2006/main" prst="rect">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9" name="Shape 28">
            <a:extLst xmlns:a="http://schemas.openxmlformats.org/drawingml/2006/main">
              <a:ext uri="{FF2B5EF4-FFF2-40B4-BE49-F238E27FC236}">
                <a16:creationId xmlns:a16="http://schemas.microsoft.com/office/drawing/2014/main" id="{1FDDD6C1-3C1C-4899-6C67-E2AC5AD563DD}"/>
              </a:ext>
            </a:extLst>
          </p:cNvPr>
          <p:cNvSpPr>
            <a:spLocks xmlns:a="http://schemas.openxmlformats.org/drawingml/2006/main" noGrp="1"/>
          </p:cNvSpPr>
          <p:nvPr/>
        </p:nvSpPr>
        <p:spPr>
          <a:xfrm xmlns:a="http://schemas.openxmlformats.org/drawingml/2006/main">
            <a:off x="292652" y="6027855"/>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content">
            <a:extLst xmlns:a="http://schemas.openxmlformats.org/drawingml/2006/main">
              <a:ext uri="{FF2B5EF4-FFF2-40B4-BE49-F238E27FC236}">
                <a16:creationId xmlns:a16="http://schemas.microsoft.com/office/drawing/2014/main" id="{6AB3DFAD-14E6-4D33-B7F5-189BF184AC55}"/>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23 / 24</a:t>
            </a:r>
          </a:p>
        </p:txBody>
      </p:sp>
    </p:spTree>
    <p:extLst>
      <p:ext uri="{BB962C8B-B14F-4D97-AF65-F5344CB8AC3E}">
        <p14:creationId xmlns:p14="http://schemas.microsoft.com/office/powerpoint/2010/main" val="27423217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1" name="Picture 6">
            <a:extLst xmlns:a="http://schemas.openxmlformats.org/drawingml/2006/main">
              <a:ext uri="{FF2B5EF4-FFF2-40B4-BE49-F238E27FC236}">
                <a16:creationId xmlns:a16="http://schemas.microsoft.com/office/drawing/2014/main" id="{C30A4440-DD38-4073-B060-89895774AFA3}"/>
              </a:ext>
            </a:extLst>
          </p:cNvPr>
          <p:cNvPicPr>
            <a:picLocks xmlns:a="http://schemas.openxmlformats.org/drawingml/2006/main" noChangeAspect="1"/>
          </p:cNvPicPr>
          <p:nvPr/>
        </p:nvPicPr>
        <p:blipFill>
          <a:blip xmlns:r="http://schemas.openxmlformats.org/officeDocument/2006/relationships" xmlns:a="http://schemas.openxmlformats.org/drawingml/2006/main" r:embed="Rd91a07060ac24e7e"/>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D33BC64F-5E82-48DD-B32A-BE17827A4F3E}"/>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Phụ lục: đội triển khai</a:t>
            </a:r>
          </a:p>
        </p:txBody>
      </p:sp>
      <p:sp>
        <p:nvSpPr>
          <p:cNvPr id="4" name="Shape 28">
            <a:extLst xmlns:a="http://schemas.openxmlformats.org/drawingml/2006/main">
              <a:ext uri="{FF2B5EF4-FFF2-40B4-BE49-F238E27FC236}">
                <a16:creationId xmlns:a16="http://schemas.microsoft.com/office/drawing/2014/main" id="{64A27266-1499-7603-74F4-281AD3DA2227}"/>
              </a:ext>
            </a:extLst>
          </p:cNvPr>
          <p:cNvSpPr>
            <a:spLocks xmlns:a="http://schemas.openxmlformats.org/drawingml/2006/main" noGrp="1"/>
          </p:cNvSpPr>
          <p:nvPr/>
        </p:nvSpPr>
        <p:spPr>
          <a:xfrm xmlns:a="http://schemas.openxmlformats.org/drawingml/2006/main">
            <a:off x="229152" y="6191141"/>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92A4CF22-A9C8-0580-4EBB-62E891BDEEA4}"/>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Phụ lục kỹ thuật và bằng chứng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434FE321-E1C3-D3A5-8585-506D365F2710}"/>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275" b="0">
                <a:solidFill>
                  <a:srgbClr val="FFFFFF"/>
                </a:solidFill>
                <a:latin typeface="Arial"/>
                <a:ea typeface="Arial"/>
                <a:cs typeface="Arial"/>
              </a:defRPr>
            </a:pPr>
            <a:r>
              <a:rPr sz="1275" b="0">
                <a:solidFill>
                  <a:srgbClr val="FFFFFF"/>
                </a:solidFill>
                <a:latin typeface="Arial"/>
                <a:ea typeface="Arial"/>
                <a:cs typeface="Arial"/>
              </a:rPr>
              <a:t>Vai trò là nhu cầu triển khai. Chưa xác nhận nhân sự hoặc kinh nghiệm của đội.</a:t>
            </a:r>
          </a:p>
        </p:txBody>
      </p:sp>
      <p:sp>
        <p:nvSpPr>
          <p:cNvPr id="8" name="content">
            <a:extLst xmlns:a="http://schemas.openxmlformats.org/drawingml/2006/main">
              <a:ext uri="{FF2B5EF4-FFF2-40B4-BE49-F238E27FC236}">
                <a16:creationId xmlns:a16="http://schemas.microsoft.com/office/drawing/2014/main" id="{692C5EAA-3B23-49E5-BDE2-60FECEA9CBF5}"/>
              </a:ext>
            </a:extLst>
          </p:cNvPr>
          <p:cNvSpPr>
            <a:spLocks xmlns:a="http://schemas.openxmlformats.org/drawingml/2006/main" noGrp="1"/>
          </p:cNvSpPr>
          <p:nvPr/>
        </p:nvSpPr>
        <p:spPr>
          <a:xfrm xmlns:a="http://schemas.openxmlformats.org/drawingml/2006/main">
            <a:off x="533400" y="1590675"/>
            <a:ext cx="1095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153251"/>
                </a:solidFill>
                <a:latin typeface="Arial"/>
                <a:ea typeface="Arial"/>
                <a:cs typeface="Arial"/>
              </a:defRPr>
            </a:pPr>
            <a:r>
              <a:rPr sz="2550" b="1">
                <a:solidFill>
                  <a:srgbClr val="153251"/>
                </a:solidFill>
                <a:latin typeface="Arial"/>
                <a:ea typeface="Arial"/>
                <a:cs typeface="Arial"/>
              </a:rPr>
              <a:t>Thông tin đội cần bổ sung</a:t>
            </a:r>
          </a:p>
        </p:txBody>
      </p:sp>
      <p:sp>
        <p:nvSpPr>
          <p:cNvPr id="9" name="content">
            <a:extLst xmlns:a="http://schemas.openxmlformats.org/drawingml/2006/main">
              <a:ext uri="{FF2B5EF4-FFF2-40B4-BE49-F238E27FC236}">
                <a16:creationId xmlns:a16="http://schemas.microsoft.com/office/drawing/2014/main" id="{E3B6640D-437B-4118-8034-7B81F220DB07}"/>
              </a:ext>
            </a:extLst>
          </p:cNvPr>
          <p:cNvSpPr>
            <a:spLocks xmlns:a="http://schemas.openxmlformats.org/drawingml/2006/main" noGrp="1"/>
          </p:cNvSpPr>
          <p:nvPr/>
        </p:nvSpPr>
        <p:spPr>
          <a:xfrm xmlns:a="http://schemas.openxmlformats.org/drawingml/2006/main">
            <a:off x="533400" y="214312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4B637B"/>
                </a:solidFill>
                <a:latin typeface="Arial"/>
                <a:ea typeface="Arial"/>
                <a:cs typeface="Arial"/>
              </a:defRPr>
            </a:pPr>
            <a:r>
              <a:rPr sz="1950" b="0">
                <a:solidFill>
                  <a:srgbClr val="4B637B"/>
                </a:solidFill>
                <a:latin typeface="Arial"/>
                <a:ea typeface="Arial"/>
                <a:cs typeface="Arial"/>
              </a:rPr>
              <a:t>Chưa có tên đội, thành viên hoặc hồ sơ năng lực thực tế.</a:t>
            </a:r>
          </a:p>
        </p:txBody>
      </p:sp>
      <p:graphicFrame>
        <p:nvGraphicFramePr>
          <p:cNvPr id="18" name="">
            <a:extLst xmlns:a="http://schemas.openxmlformats.org/drawingml/2006/main">
              <a:ext uri="{FF2B5EF4-FFF2-40B4-BE49-F238E27FC236}">
                <a16:creationId xmlns:a16="http://schemas.microsoft.com/office/drawing/2014/main" id="{396FFC2A-3DCE-4120-B229-DCB168EE6D22}"/>
              </a:ext>
            </a:extLst>
          </p:cNvPr>
          <p:cNvGraphicFramePr/>
          <p:nvPr/>
        </p:nvGraphicFramePr>
        <p:xfrm>
          <a:off xmlns:a="http://schemas.openxmlformats.org/drawingml/2006/main" x="533400" y="3009900"/>
          <a:ext xmlns:a="http://schemas.openxmlformats.org/drawingml/2006/main" cx="11125200" cy="2514600"/>
        </p:xfrm>
        <a:graphic xmlns:a="http://schemas.openxmlformats.org/drawingml/2006/main">
          <a:graphicData uri="http://schemas.openxmlformats.org/drawingml/2006/table">
            <a:tbl>
              <a:tblPr firstRow="1" bandRow="0"/>
              <a:tblGrid>
                <a:gridCol w="4000500"/>
                <a:gridCol w="7124700"/>
              </a:tblGrid>
              <a:tr h="381000">
                <a:tc>
                  <a:txBody>
                    <a:bodyPr wrap="square" lIns="85725" tIns="57150" rIns="85725" bIns="57150">
                      <a:noAutofit/>
                    </a:bodyPr>
                    <a:lstStyle/>
                    <a:p>
                      <a:r>
                        <a:rPr sz="1650" b="1">
                          <a:solidFill>
                            <a:srgbClr val="FFFFFF"/>
                          </a:solidFill>
                          <a:latin typeface="Arial"/>
                          <a:ea typeface="Arial"/>
                          <a:cs typeface="Arial"/>
                        </a:rPr>
                        <a:t>Vai trò cần có</a:t>
                      </a:r>
                    </a:p>
                  </a:txBody>
                  <a:tcPr marL="91440" marR="91440" marT="45720" marB="45720">
                    <a:solidFill>
                      <a:srgbClr val="203F68"/>
                    </a:solidFill>
                  </a:tcPr>
                </a:tc>
                <a:tc>
                  <a:txBody>
                    <a:bodyPr wrap="square" lIns="85725" tIns="57150" rIns="85725" bIns="57150">
                      <a:noAutofit/>
                    </a:bodyPr>
                    <a:lstStyle/>
                    <a:p>
                      <a:r>
                        <a:rPr sz="1650" b="1">
                          <a:solidFill>
                            <a:srgbClr val="FFFFFF"/>
                          </a:solidFill>
                          <a:latin typeface="Arial"/>
                          <a:ea typeface="Arial"/>
                          <a:cs typeface="Arial"/>
                        </a:rPr>
                        <a:t>Phần việc</a:t>
                      </a:r>
                    </a:p>
                  </a:txBody>
                  <a:tcPr marL="91440" marR="91440" marT="45720" marB="45720">
                    <a:solidFill>
                      <a:srgbClr val="203F68"/>
                    </a:solidFill>
                  </a:tcPr>
                </a:tc>
              </a:tr>
              <a:tr h="533400">
                <a:tc>
                  <a:txBody>
                    <a:bodyPr wrap="square" lIns="85725" tIns="57150" rIns="85725" bIns="57150">
                      <a:noAutofit/>
                    </a:bodyPr>
                    <a:lstStyle/>
                    <a:p>
                      <a:r>
                        <a:rPr sz="1650" b="0">
                          <a:solidFill>
                            <a:srgbClr val="153251"/>
                          </a:solidFill>
                          <a:latin typeface="Arial"/>
                          <a:ea typeface="Arial"/>
                          <a:cs typeface="Arial"/>
                        </a:rPr>
                        <a:t>Robot learning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Native trainer, bridge và kiểm loss/gradient</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Robotics / simulation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Binding, controller, TaskSpec và scorer</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Operator / data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Thu seed, correction, QA và lineage</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Task owner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Chốt domain, yêu cầu và nghiệm thu</a:t>
                      </a:r>
                    </a:p>
                  </a:txBody>
                  <a:tcPr marL="91440" marR="91440" marT="45720" marB="45720">
                    <a:solidFill>
                      <a:srgbClr val="FFFFFF"/>
                    </a:solidFill>
                  </a:tcPr>
                </a:tc>
              </a:tr>
            </a:tbl>
          </a:graphicData>
        </a:graphic>
      </p:graphicFrame>
      <p:sp>
        <p:nvSpPr>
          <p:cNvPr id="19" name="content">
            <a:extLst xmlns:a="http://schemas.openxmlformats.org/drawingml/2006/main">
              <a:ext uri="{FF2B5EF4-FFF2-40B4-BE49-F238E27FC236}">
                <a16:creationId xmlns:a16="http://schemas.microsoft.com/office/drawing/2014/main" id="{A991C789-3C1B-40DD-A723-C5F05C4AA307}"/>
              </a:ext>
            </a:extLst>
          </p:cNvPr>
          <p:cNvSpPr>
            <a:spLocks xmlns:a="http://schemas.openxmlformats.org/drawingml/2006/main" noGrp="1"/>
          </p:cNvSpPr>
          <p:nvPr/>
        </p:nvSpPr>
        <p:spPr>
          <a:xfrm xmlns:a="http://schemas.openxmlformats.org/drawingml/2006/main">
            <a:off x="11049000" y="6648450"/>
            <a:ext cx="90487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24 / 24</a:t>
            </a:r>
          </a:p>
        </p:txBody>
      </p:sp>
    </p:spTree>
    <p:extLst>
      <p:ext uri="{BB962C8B-B14F-4D97-AF65-F5344CB8AC3E}">
        <p14:creationId xmlns:p14="http://schemas.microsoft.com/office/powerpoint/2010/main" val="2663236439"/>
      </p:ext>
    </p:extLst>
  </p:cSld>
</p:sld>
</file>

<file path=ppt/theme/theme1.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2026-10-07T15:50:51.2420000Z</dcterms:created>
  <dcterms:modified xsi:type="dcterms:W3CDTF">2026-10-07T15:50:51.2420000Z</dcterms:modified>
</coreProperties>
</file>